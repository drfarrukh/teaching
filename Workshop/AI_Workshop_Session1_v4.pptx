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7" r:id="rId5"/>
    <p:sldId id="258" r:id="rId6"/>
    <p:sldId id="259" r:id="rId7"/>
    <p:sldId id="260" r:id="rId8"/>
    <p:sldId id="325" r:id="rId74"/>
    <p:sldId id="326" r:id="rId75"/>
    <p:sldId id="262" r:id="rId10"/>
    <p:sldId id="263" r:id="rId11"/>
    <p:sldId id="264" r:id="rId12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327" r:id="rId76"/>
    <p:sldId id="276" r:id="rId24"/>
    <p:sldId id="328" r:id="rId77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3" r:id="rId41"/>
    <p:sldId id="294" r:id="rId42"/>
    <p:sldId id="295" r:id="rId43"/>
    <p:sldId id="296" r:id="rId44"/>
    <p:sldId id="297" r:id="rId45"/>
    <p:sldId id="298" r:id="rId46"/>
    <p:sldId id="301" r:id="rId49"/>
    <p:sldId id="299" r:id="rId47"/>
    <p:sldId id="300" r:id="rId48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9" r:id="rId78"/>
    <p:sldId id="324" r:id="rId7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presProps" Target="presProps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slide" Target="slides/slide73.xml"/><Relationship Id="rId78" Type="http://schemas.openxmlformats.org/officeDocument/2006/relationships/slide" Target="slides/slide7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900" b="1">
                <a:latin typeface="Arial"/>
              </a:rPr>
              <a:t>Training loss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Scratch CNN</c:v>
                </c:pt>
              </c:strCache>
            </c:strRef>
          </c:tx>
          <c:spPr>
            <a:ln w="31750">
              <a:solidFill>
                <a:srgbClr val="AF5700"/>
              </a:solidFill>
            </a:ln>
          </c:spPr>
          <c:marker>
            <c:size val="7"/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0.814</c:v>
                </c:pt>
                <c:pt idx="1">
                  <c:v>0.65</c:v>
                </c:pt>
                <c:pt idx="2">
                  <c:v>0.613</c:v>
                </c:pt>
                <c:pt idx="3">
                  <c:v>0.561</c:v>
                </c:pt>
                <c:pt idx="4">
                  <c:v>0.535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400">
                    <a:latin typeface="Arial"/>
                  </a:rPr>
                  <a:t>Epoch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525C66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7EA"/>
              </a:solidFill>
            </a:ln>
          </c:spPr>
        </c:majorGridlines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525C66"/>
                </a:solidFill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900" b="1">
                <a:latin typeface="Arial"/>
              </a:rPr>
              <a:t>Test accuracy (%)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Scratch CNN</c:v>
                </c:pt>
              </c:strCache>
            </c:strRef>
          </c:tx>
          <c:spPr>
            <a:ln w="31750">
              <a:solidFill>
                <a:srgbClr val="AF5700"/>
              </a:solidFill>
            </a:ln>
          </c:spPr>
          <c:marker>
            <c:size val="7"/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64.1</c:v>
                </c:pt>
                <c:pt idx="1">
                  <c:v>68.1</c:v>
                </c:pt>
                <c:pt idx="2">
                  <c:v>68.1</c:v>
                </c:pt>
                <c:pt idx="3">
                  <c:v>68.9</c:v>
                </c:pt>
                <c:pt idx="4">
                  <c:v>71.8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400">
                    <a:latin typeface="Arial"/>
                  </a:rPr>
                  <a:t>Epoch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525C66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7EA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525C66"/>
                </a:solidFill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900" b="1">
                <a:latin typeface="Arial"/>
              </a:rPr>
              <a:t>Training loss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Scratch CNN</c:v>
                </c:pt>
              </c:strCache>
            </c:strRef>
          </c:tx>
          <c:spPr>
            <a:ln w="31750">
              <a:solidFill>
                <a:srgbClr val="AF5700"/>
              </a:solidFill>
            </a:ln>
          </c:spPr>
          <c:marker>
            <c:size val="7"/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0.814</c:v>
                </c:pt>
                <c:pt idx="1">
                  <c:v>0.65</c:v>
                </c:pt>
                <c:pt idx="2">
                  <c:v>0.613</c:v>
                </c:pt>
                <c:pt idx="3">
                  <c:v>0.561</c:v>
                </c:pt>
                <c:pt idx="4">
                  <c:v>0.535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400">
                    <a:latin typeface="Arial"/>
                  </a:rPr>
                  <a:t>Epoch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525C66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7EA"/>
              </a:solidFill>
            </a:ln>
          </c:spPr>
        </c:majorGridlines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525C66"/>
                </a:solidFill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900" b="1">
                <a:latin typeface="Arial"/>
              </a:rPr>
              <a:t>Test accuracy (%)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Scratch CNN</c:v>
                </c:pt>
              </c:strCache>
            </c:strRef>
          </c:tx>
          <c:spPr>
            <a:ln w="31750">
              <a:solidFill>
                <a:srgbClr val="AF5700"/>
              </a:solidFill>
            </a:ln>
          </c:spPr>
          <c:marker>
            <c:size val="7"/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64.1</c:v>
                </c:pt>
                <c:pt idx="1">
                  <c:v>68.1</c:v>
                </c:pt>
                <c:pt idx="2">
                  <c:v>68.1</c:v>
                </c:pt>
                <c:pt idx="3">
                  <c:v>68.9</c:v>
                </c:pt>
                <c:pt idx="4">
                  <c:v>71.8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400">
                    <a:latin typeface="Arial"/>
                  </a:rPr>
                  <a:t>Epoch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525C66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7EA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525C66"/>
                </a:solidFill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900" b="1">
                <a:latin typeface="Arial"/>
              </a:rPr>
              <a:t>Training loss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Scratch CNN</c:v>
                </c:pt>
              </c:strCache>
            </c:strRef>
          </c:tx>
          <c:spPr>
            <a:ln w="31750">
              <a:solidFill>
                <a:srgbClr val="AF5700"/>
              </a:solidFill>
            </a:ln>
          </c:spPr>
          <c:marker>
            <c:size val="7"/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0.814</c:v>
                </c:pt>
                <c:pt idx="1">
                  <c:v>0.65</c:v>
                </c:pt>
                <c:pt idx="2">
                  <c:v>0.613</c:v>
                </c:pt>
                <c:pt idx="3">
                  <c:v>0.561</c:v>
                </c:pt>
                <c:pt idx="4">
                  <c:v>0.535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Frozen ResNet18 + head</c:v>
                </c:pt>
              </c:strCache>
            </c:strRef>
          </c:tx>
          <c:spPr>
            <a:ln w="31750">
              <a:solidFill>
                <a:srgbClr val="087D73"/>
              </a:solidFill>
            </a:ln>
          </c:spPr>
          <c:marker>
            <c:size val="7"/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0.553</c:v>
                </c:pt>
                <c:pt idx="1">
                  <c:v>0.35</c:v>
                </c:pt>
                <c:pt idx="2">
                  <c:v>0.334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400">
                    <a:latin typeface="Arial"/>
                  </a:rPr>
                  <a:t>Epoch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525C66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7EA"/>
              </a:solidFill>
            </a:ln>
          </c:spPr>
        </c:majorGridlines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525C66"/>
                </a:solidFill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3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900" b="1">
                <a:latin typeface="Arial"/>
              </a:rPr>
              <a:t>Test accuracy (%)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Scratch CNN</c:v>
                </c:pt>
              </c:strCache>
            </c:strRef>
          </c:tx>
          <c:spPr>
            <a:ln w="31750">
              <a:solidFill>
                <a:srgbClr val="AF5700"/>
              </a:solidFill>
            </a:ln>
          </c:spPr>
          <c:marker>
            <c:size val="7"/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64.1</c:v>
                </c:pt>
                <c:pt idx="1">
                  <c:v>68.1</c:v>
                </c:pt>
                <c:pt idx="2">
                  <c:v>68.1</c:v>
                </c:pt>
                <c:pt idx="3">
                  <c:v>68.9</c:v>
                </c:pt>
                <c:pt idx="4">
                  <c:v>71.8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Frozen ResNet18 + head</c:v>
                </c:pt>
              </c:strCache>
            </c:strRef>
          </c:tx>
          <c:spPr>
            <a:ln w="31750">
              <a:solidFill>
                <a:srgbClr val="087D73"/>
              </a:solidFill>
            </a:ln>
          </c:spPr>
          <c:marker>
            <c:size val="7"/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83.8</c:v>
                </c:pt>
                <c:pt idx="1">
                  <c:v>84.7</c:v>
                </c:pt>
                <c:pt idx="2">
                  <c:v>84.9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400">
                    <a:latin typeface="Arial"/>
                  </a:rPr>
                  <a:t>Epoch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525C66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7EA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525C66"/>
                </a:solidFill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3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900" b="1">
                <a:latin typeface="Arial"/>
              </a:rPr>
              <a:t>Test accuracy (%)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ResNet18 head</c:v>
                </c:pt>
              </c:strCache>
            </c:strRef>
          </c:tx>
          <c:spPr>
            <a:ln w="31750">
              <a:solidFill>
                <a:srgbClr val="AF5700"/>
              </a:solidFill>
            </a:ln>
          </c:spPr>
          <c:marker>
            <c:size val="7"/>
          </c:marker>
          <c:cat>
            <c:strRef>
              <c:f>Sheet1!$A$2:$A$4</c:f>
              <c:strCach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83.8</c:v>
                </c:pt>
                <c:pt idx="1">
                  <c:v>84.7</c:v>
                </c:pt>
                <c:pt idx="2">
                  <c:v>84.9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400">
                    <a:latin typeface="Arial"/>
                  </a:rPr>
                  <a:t>Epoch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525C66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7EA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525C66"/>
                </a:solidFill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CF0855F-8CDB-4972-B785-F147BC4B50E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Ask the audience before revealing the next slide.</a:t>
            </a:r>
          </a:p>
        </p:txBody>
      </p:sp>
      <p:sp>
        <p:nvSpPr>
          <p:cNvPr id="93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5F453C-C941-4CFA-A812-59A7C57123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Human perception supplies semantic meaning; the next slides reveal numerical representation.</a:t>
            </a:r>
          </a:p>
        </p:txBody>
      </p:sp>
      <p:sp>
        <p:nvSpPr>
          <p:cNvPr id="94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39E1D0-2E83-4F51-8230-9543A9B28B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digital photograph is a rectangular array of pixel values.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3B3ADB-0CB2-4AC4-A834-C4A3C3E1DA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The three grid slides deliberately remain separate for the presenter to merge. All numbers come from the same original 8x8 crop; coordinates are in evidence/classical.json.</a:t>
            </a:r>
          </a:p>
        </p:txBody>
      </p:sp>
      <p:sp>
        <p:nvSpPr>
          <p:cNvPr id="94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F7B12F-0828-4D1D-AB08-D06907D89B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 what pixel value would be white, black, mid-gray.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71A0D3-02B2-48C9-B9E5-F3865110D9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Optional: discuss pixels versus information; more pixels do not automatically mean better recognition.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Flex/optional — drop this slide first if time runs short.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8A4EE1-B23A-41E2-812C-C95288B971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RGB channels: each pixel stores three intensities, not an object label.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674794-60AD-478A-8FC2-338AA6FBCE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Square, circle and oval outlines search the entire Canny edge image at one fixed scale. Animation samples candidate positions; each score comes from the computed normalized-correlation response map. Circle overlaps an eye here; square/oval can select non-eye regions. No eye detector, hand-selected best location or probability of correctness is claimed. A fixed geometric template cannot reliably find all eyes under changes in scale, pose or illumination.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HSV range is documented in evidence/classical.json. This is colour thresholding, not a weed recognition model. Lighting and shared colours are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Optional if pre-processing is covered in lab: compare source image and resized array.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Flex/optional — drop this slide first if time runs short.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8FC0C9-6C8F-457F-AA57-2A2F3847CE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Poll: which of these three would a model do best from? Land the point that all three are numeric arrays — the model never sees a “picture”.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18816C-5C07-45D6-B6C7-EC4339548A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 slide: link the previous visuals to the upcoming question.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1BBDF7-3B7C-49F7-A06F-4DC771BC9E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Live analogy: brightening is numerical transformation, not learning.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B7E159-FAD9-4CAF-94E8-887AA03B5B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Describe the trade-off: smoothing reduces noise while weakening edges.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4F89E4-F638-406F-BFB1-BC8C6D9569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Edge response highlights intensity transitions, not semantic interpretation.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E86910-20B7-4EE6-B0E8-3638C45CB8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Thresholding produces a binary mask. Adjustable threshold changes which pixels are selected.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59A903-7C5E-4FE6-8A02-92938D7752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Contours connect candidate edge boundaries. They may not correspond to whole semantic objects.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Flex/optional — drop this slide first if time runs short.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4A0440-D925-4DE6-AF24-D94BEF7CC7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Thresholding based on colour can isolate an orange car if colours separate well. But lighting breaks fixed thresholds.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F2A4FA-CE7B-4C81-B1BF-3823A137EE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Template matching: slide a known reference pattern over an image to identify close matches; boxes are illustrative.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Flex/optional — drop this slide first if time runs short.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00D25D-45D9-491F-8DE8-8AE23EF740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Emphasize strengths of classical methods when controlled lighting and shapes suffice.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9DF56A-CDBC-47D9-A2D7-6BE3BA7CA84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The middle photograph is mirrored horizontally, as requested. All panels retain the same scene.</a:t>
            </a:r>
          </a:p>
        </p:txBody>
      </p:sp>
      <p:sp>
        <p:nvSpPr>
          <p:cNvPr id="100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279F15-719C-42A3-ADF4-D2C69B2413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Transition: learned representations can adapt to patterns in training examples.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0434D6-60A8-4242-BA9A-985B654EDA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 slide: link the previous visuals to the upcoming question.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42A069-1C85-4659-A2A6-EEEFB22C5B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Classification identifies content; the output does not describe location.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84B4F9-04C4-4B39-8EE5-3607E9CFF1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These probabilities are schematic for instructional purposes, not actual model output.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0D1F2C-86CE-4BD2-A25A-32142956CC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These are image-level annotation examples, not claimed multi-label inference. Bus and person are two categories; three people do not create three distinct class labels.</a:t>
            </a:r>
          </a:p>
        </p:txBody>
      </p:sp>
      <p:sp>
        <p:nvSpPr>
          <p:cNvPr id="1016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150E64-B89F-4E03-8C0B-70BE601AC7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Detection adds location. Bounding boxes are drawn examples, not measured model predictions.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E2E79C-9138-4D71-AAAF-15E3C6CD12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Only the predicted bus box is shown. Coordinates refer to the original image, with origin at the upper-left. A model score is not calibrated proof of correctness.</a:t>
            </a:r>
          </a:p>
        </p:txBody>
      </p:sp>
      <p:sp>
        <p:nvSpPr>
          <p:cNvPr id="1022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30498F-6306-4FB5-8D0F-2C5FF52F79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Box A and box B are deterministic teaching rectangles, not human ground truth. Their coordinates and executed IoU calculation are preserved in manifest.json.</a:t>
            </a:r>
          </a:p>
        </p:txBody>
      </p:sp>
      <p:sp>
        <p:nvSpPr>
          <p:cNvPr id="1025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47EFB2-D1F6-4456-B385-5B14B99BF3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DeepLabV3 MobileNetV3 inference. Bus is red and person is blue; background is left unpainted. These are predicted labels, not annotations.</a:t>
            </a:r>
          </a:p>
        </p:txBody>
      </p:sp>
      <p:sp>
        <p:nvSpPr>
          <p:cNvPr id="1028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66E93E-04B4-4D2C-BBE0-176F9BF2F6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Semantic: both cars share class color. The background is another class/implicit category.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1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C6A92A-278D-4895-81C5-CAC95BBC2F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Right panel is connected-component post-processing of a semantic cat mask, not inference from an instance-segmentation network. It illustrates the desired instance distinction only; touching cats could merge.</a:t>
            </a:r>
          </a:p>
        </p:txBody>
      </p:sp>
      <p:sp>
        <p:nvSpPr>
          <p:cNvPr id="103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12F990-A6A8-4A2F-A09B-2DD7762923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key synthesis slide. Ask students: identify each of three output types.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619B03-649D-4D16-B559-AB274F909C6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Image-level cat label and teaching rectangle are manually defined. Pixel-mask panel is cropped from the user-supplied figure labelled Ground truth (Segmented_weed.png). Class colour names were not supplied; do not guess them.</a:t>
            </a:r>
          </a:p>
        </p:txBody>
      </p:sp>
      <p:sp>
        <p:nvSpPr>
          <p:cNvPr id="104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936A1B-F6C2-4B65-9B67-7109EA886B6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three grid slides deliberately remain separate for the presenter to merge. All numbers come from the same original 8x8 crop; coordinates are in evidence/classical.json.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User-supplied weed assets. Colours encode the supplied classes; the class-name legend and model provenance were not supplied. Do not report an mIoU from the embedded figure without its evaluation record.</a:t>
            </a:r>
          </a:p>
        </p:txBody>
      </p:sp>
      <p:sp>
        <p:nvSpPr>
          <p:cNvPr id="104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FD289B-FD0C-4FD5-99BB-A5E8F391B5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Run the three scenarios as a quick quiz; let the room commit to an answer before you name the task type. Mapping: name the species → classification, count the cars → detection, mark every pixel → segmentation.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A611E7-BEB5-42E9-9952-47B5F2AE91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 slide: link the previous visuals to the upcoming question.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02BD1B-3693-41A0-98AE-8AC66EBD38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Compare engineer-designed feature pipeline and learned feature pipeline; neither universally dominates.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841BD1-624A-4C19-86AD-DF8771777E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Animated fixed edge-kernel calculation; not a learned CNN kernel. The first frame includes a completed output for static export.</a:t>
            </a:r>
          </a:p>
        </p:txBody>
      </p:sp>
      <p:sp>
        <p:nvSpPr>
          <p:cNvPr id="1058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EAEFE8-64A0-4461-B154-D10C9E6CB8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Animated fixed edge-kernel calculation; not a learned CNN kernel. The first frame includes a completed output for static export.</a:t>
            </a:r>
          </a:p>
        </p:txBody>
      </p:sp>
      <p:sp>
        <p:nvSpPr>
          <p:cNvPr id="1061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2A4244-BF65-4CCE-980D-2F13B1EA15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Four channels with highest spatial variance are shown in each layer. These are measured activations, not explanations of semantic concepts. Per-channel min-max scaling prevents intensity comparisons across channels/layers. All tensors and selection IDs are saved.</a:t>
            </a:r>
          </a:p>
        </p:txBody>
      </p:sp>
      <p:sp>
        <p:nvSpPr>
          <p:cNvPr id="1064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77795A-4F7F-4B66-ABA3-163FD2CD2D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512-channel layer4 features are global-average-pooled and passed to the ImageNet linear head, then softmax. Selected maps alone do not explain the prediction. Reconstructing logits from the saved pooled vector and head agrees within 1e-5. Cat probability grouping is separate from top-one breed prediction.</a:t>
            </a:r>
          </a:p>
        </p:txBody>
      </p:sp>
      <p:sp>
        <p:nvSpPr>
          <p:cNvPr id="1067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870558-85AF-4AE7-8359-53E0322502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Merged ReLU and pooling. Values come from a pretrained ResNet18 ReLU channel. Actual architecture uses 3x3 max pooling, stride2, padding1; an aligned interior patch is displayed. Negative inputs become zero through ReLU. GIF first frame contains the complete pooled output.</a:t>
            </a:r>
          </a:p>
        </p:txBody>
      </p:sp>
      <p:sp>
        <p:nvSpPr>
          <p:cNvPr id="1070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E653B1-646C-4F12-8110-43A236290A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three grid slides deliberately remain separate for the presenter to merge. All numbers come from the same original 8x8 crop; coordinates are in evidence/classical.json.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3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Do not name a channel “eye” or “fur” without evidence. These are selected layer1 activations, independently scaled, with channel IDs saved in the manifest.</a:t>
            </a:r>
          </a:p>
        </p:txBody>
      </p:sp>
      <p:sp>
        <p:nvSpPr>
          <p:cNvPr id="1076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30BB6D-EE39-4A00-B9EA-C67009B521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CNN typically has a feature extractor followed by a classifier/task head.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9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82F144-0933-4577-8102-45C7AEEE7C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Cycle: data and labels, prediction, loss, optimizer update. If class has training lab, keep short.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2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9E3FE5-8CEF-407E-B079-8DEB18F111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Historical scratch run: 6000 training images, 900 test images, 5 epochs. Test accuracy was reported each epoch; teach a separate validation set for model selection. Curves are native editable charts using parsed executed-notebook outputs.</a:t>
            </a:r>
          </a:p>
        </p:txBody>
      </p:sp>
      <p:sp>
        <p:nvSpPr>
          <p:cNvPr id="1085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57BE93-CD76-49B1-8E7B-1EFD99EF9D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The supplied historical notebook reports test accuracy each epoch. Repeated reporting alone is not proof of tuning leakage, but a robust workflow separates validation from final testing. No lab code is changed in this deck task.</a:t>
            </a:r>
          </a:p>
        </p:txBody>
      </p:sp>
      <p:sp>
        <p:nvSpPr>
          <p:cNvPr id="1088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9EF371-FCEC-47C1-BA86-D7FE8DC741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backbone is shared idea, but pretrained weights are not necessarily the same across three released models.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1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0D9D46-19F2-4683-B824-3E7C8CD20F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 slide: link the previous visuals to the upcoming question.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4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E27A4D-6D4D-490F-B689-2D9C91DD62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MobileNetV3-Small IMAGENET1K_V1 weights were downloaded with user authorization and verified by checkpoint hash. The chart displays measured top-three class probabilities.</a:t>
            </a:r>
          </a:p>
        </p:txBody>
      </p:sp>
      <p:sp>
        <p:nvSpPr>
          <p:cNvPr id="1097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E09E35-197D-44F0-B86D-2C7CB680FC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SSDLite COCO_V1, threshold0.55. On this cat–dog photo the model returns two cat-labelled boxes: disclose the wrong label; do not replace the output with Faster R-CNN detections.</a:t>
            </a:r>
          </a:p>
        </p:txBody>
      </p:sp>
      <p:sp>
        <p:nvSpPr>
          <p:cNvPr id="1100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965B6F-9439-46FB-A174-E9575F4B47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LRASPP COCO_WITH_VOC_LABELS_V1. Purple=cat, green=dog, blue=sofa; background remains unpainted. Compact model outputs are not DeepLab outputs.</a:t>
            </a:r>
          </a:p>
        </p:txBody>
      </p:sp>
      <p:sp>
        <p:nvSpPr>
          <p:cNvPr id="1103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AC54B4-0432-47E7-A3EA-57317B5E35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Transfer learning: pretrained network reused. Backbone frozen in beginner lab, classifier head trained on target dataset.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6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B2C7B8-5C2D-4787-9F96-B061EE22AB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This section combines existing notebook results with newly executed pretrained inference. Training is not rerun. Model names distinguish the examples from the compact architectures in section05.</a:t>
            </a:r>
          </a:p>
        </p:txBody>
      </p:sp>
      <p:sp>
        <p:nvSpPr>
          <p:cNvPr id="1109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6E0AD0-B65E-4CF9-8193-FFAAF548E4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Historical executed-notebook results. Architecture: three conv/ReLU/max-pool blocks (3→16→32→64 channels), then classifier. Timings omitted because this slide is not a portable speed benchmark.</a:t>
            </a:r>
          </a:p>
        </p:txBody>
      </p:sp>
      <p:sp>
        <p:nvSpPr>
          <p:cNvPr id="1112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C5FA14-46C3-4869-94D0-8684AE9C12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Historical run: scratch5epochs versus pretrained ResNet18 with frozen backbone and replacement3-class head3epochs. Only1539 headparameters trainable. Useful demonstration, not a controlled claim that transfer learning always wins.</a:t>
            </a:r>
          </a:p>
        </p:txBody>
      </p:sp>
      <p:sp>
        <p:nvSpPr>
          <p:cNvPr id="1115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FA09F7-AD27-48EA-B585-1C897F5B3B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Read one row to show how to use the matrix: 291/300 airplanes right. Cats and dogs trade mistakes (52 + 51). Prompt: which class would you collect more data for?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8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8544C8-2F0E-4E09-9223-BEE8668C05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This is a single-label ImageNet classifier; one top prediction is a decision rule, not a limitation of all classifiers. Grouped cat/dog probabilities include their respective ImageNet classes and the remaining “other” probability mass. Size does not guarantee which object wins.</a:t>
            </a:r>
          </a:p>
        </p:txBody>
      </p:sp>
      <p:sp>
        <p:nvSpPr>
          <p:cNvPr id="1121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5F3332-0494-4FC5-8D2C-CC5DBCE0C4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Wins first (dog 1.00; cat + dog together). Then the surprises: the Samoyed called “cat” 0.96 while the classifier says Samoyed; toy breeds called “teddy bear” and “sheep”. Prompt: did the model fail, or is the label set wrong?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4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432B9D-041F-4679-AE59-7A60F98C99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Coverage numbers are the story: cat 80%, sofa + cat, the fence read as “chair”. Remind: only 21 VOC classes — the labels are the ceiling.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7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947C51-71D2-4043-9065-8E4D9C0824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Classification: MobileNetV3-Large. Detection: Faster R-CNN MobileNetV3-320. Segmentation: DeepLabV3 MobileNetV3. Each model uses its own weights’ transforms and supported labels; compare output types, not a shared architecture.</a:t>
            </a:r>
          </a:p>
        </p:txBody>
      </p:sp>
      <p:sp>
        <p:nvSpPr>
          <p:cNvPr id="1130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97E6BA-80F7-4F66-B1E6-82C48362E5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Hand over to lab engineer now. Practical focus is classification training with one dataset, avoid training all three in two hours.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3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3882C1-04DA-4832-BB11-9428F40375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Prediction is an external example photograph, not a claimed held-out test example. Values cat99.7%,dog0.2%,airplane0.1% are parsed from executed-notebook stdout. Curve and matrix are from that same trained3-class head. No trained checkpoint was supplied, so no claim of rerunning that head is made.</a:t>
            </a:r>
          </a:p>
        </p:txBody>
      </p:sp>
      <p:sp>
        <p:nvSpPr>
          <p:cNvPr id="1136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4034AA-C698-4D0F-9567-9618646D4D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t>Attribution is based on existing supplied credits, not an independent license audit. Weed image model/class provenance and bus original-photographer details remain to be confirmed before public redistribution.</a:t>
            </a:r>
          </a:p>
        </p:txBody>
      </p:sp>
      <p:sp>
        <p:nvSpPr>
          <p:cNvPr id="1139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21BA2B-E139-45BD-BF1F-954CFB8672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7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65.png"/><Relationship Id="rId2" Type="http://schemas.openxmlformats.org/officeDocument/2006/relationships/image" Target="../media/image64.pn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Relationship Id="rId4" Type="http://schemas.openxmlformats.org/officeDocument/2006/relationships/image" Target="../media/image6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Relationship Id="rId4" Type="http://schemas.openxmlformats.org/officeDocument/2006/relationships/image" Target="../media/image3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6.png"/><Relationship Id="rId3" Type="http://schemas.openxmlformats.org/officeDocument/2006/relationships/image" Target="../media/image35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38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5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Relationship Id="rId5" Type="http://schemas.openxmlformats.org/officeDocument/2006/relationships/image" Target="../media/image4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67.png"/><Relationship Id="rId2" Type="http://schemas.openxmlformats.org/officeDocument/2006/relationships/image" Target="../media/image48.png"/><Relationship Id="rId3" Type="http://schemas.openxmlformats.org/officeDocument/2006/relationships/image" Target="../media/image4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45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6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Relationship Id="rId4" Type="http://schemas.openxmlformats.org/officeDocument/2006/relationships/chart" Target="../charts/chart2.xml"/></Relationships>
</file>

<file path=ppt/slides/_rels/slide5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Relationship Id="rId4" Type="http://schemas.openxmlformats.org/officeDocument/2006/relationships/image" Target="../media/image6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Relationship Id="rId4" Type="http://schemas.openxmlformats.org/officeDocument/2006/relationships/image" Target="../media/image5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Relationship Id="rId4" Type="http://schemas.openxmlformats.org/officeDocument/2006/relationships/image" Target="../media/image5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Relationship Id="rId4" Type="http://schemas.openxmlformats.org/officeDocument/2006/relationships/chart" Target="../charts/chart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Relationship Id="rId4" Type="http://schemas.openxmlformats.org/officeDocument/2006/relationships/chart" Target="../charts/chart6.xml"/></Relationships>
</file>

<file path=ppt/slides/_rels/slide6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Relationship Id="rId4" Type="http://schemas.openxmlformats.org/officeDocument/2006/relationships/image" Target="../media/image54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Relationship Id="rId4" Type="http://schemas.openxmlformats.org/officeDocument/2006/relationships/image" Target="../media/image5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image" Target="../media/image56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Relationship Id="rId4" Type="http://schemas.openxmlformats.org/officeDocument/2006/relationships/image" Target="../media/image57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2" Type="http://schemas.openxmlformats.org/officeDocument/2006/relationships/chart" Target="../charts/chart7.xml"/><Relationship Id="rId3" Type="http://schemas.openxmlformats.org/officeDocument/2006/relationships/image" Target="../media/image5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42.png"/><Relationship Id="rId4" Type="http://schemas.openxmlformats.org/officeDocument/2006/relationships/notesSlide" Target="../notesSlides/notesSlide4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43.png"/><Relationship Id="rId4" Type="http://schemas.openxmlformats.org/officeDocument/2006/relationships/notesSlide" Target="../notesSlides/notesSlide3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4.png"/><Relationship Id="rId3" Type="http://schemas.openxmlformats.org/officeDocument/2006/relationships/image" Target="../media/image49.png"/><Relationship Id="rId4" Type="http://schemas.openxmlformats.org/officeDocument/2006/relationships/notesSlide" Target="../notesSlides/notesSlide1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3.gif"/><Relationship Id="rId3" Type="http://schemas.openxmlformats.org/officeDocument/2006/relationships/notesSlide" Target="../notesSlides/notesSlide1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at" descr="ca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2730" y="411480"/>
            <a:ext cx="7743490" cy="5166360"/>
          </a:xfrm>
          <a:prstGeom prst="rect">
            <a:avLst/>
          </a:prstGeom>
        </p:spPr>
      </p:pic>
      <p:sp>
        <p:nvSpPr>
          <p:cNvPr id="3" name="V4 text"/>
          <p:cNvSpPr txBox="1"/>
          <p:nvPr/>
        </p:nvSpPr>
        <p:spPr>
          <a:xfrm>
            <a:off x="777240" y="5705856"/>
            <a:ext cx="1063447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500" b="1">
                <a:solidFill>
                  <a:srgbClr val="111111"/>
                </a:solidFill>
                <a:latin typeface="Arial"/>
              </a:rPr>
              <a:t>What do you see?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at" descr="ca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2730" y="411480"/>
            <a:ext cx="7743490" cy="5166360"/>
          </a:xfrm>
          <a:prstGeom prst="rect">
            <a:avLst/>
          </a:prstGeom>
        </p:spPr>
      </p:pic>
      <p:sp>
        <p:nvSpPr>
          <p:cNvPr id="3" name="V4 text"/>
          <p:cNvSpPr txBox="1"/>
          <p:nvPr/>
        </p:nvSpPr>
        <p:spPr>
          <a:xfrm>
            <a:off x="777240" y="5705856"/>
            <a:ext cx="1063447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500" b="1">
                <a:solidFill>
                  <a:srgbClr val="111111"/>
                </a:solidFill>
                <a:latin typeface="Arial"/>
              </a:rPr>
              <a:t>Cat · Fur · Eyes · Whiskers…</a:t>
            </a:r>
          </a:p>
        </p:txBody>
      </p:sp>
      <p:sp>
        <p:nvSpPr>
          <p:cNvPr id="4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2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01 / IMAGE AS DATA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A photograph is a grid of pixels</a:t>
            </a:r>
          </a:p>
        </p:txBody>
      </p:sp>
      <p:pic>
        <p:nvPicPr>
          <p:cNvPr id="4" name="cat" descr="c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73126"/>
            <a:ext cx="5349240" cy="3568946"/>
          </a:xfrm>
          <a:prstGeom prst="rect">
            <a:avLst/>
          </a:prstGeom>
        </p:spPr>
      </p:pic>
      <p:pic>
        <p:nvPicPr>
          <p:cNvPr id="5" name="cat_pixel_grid" descr="cat pixel gri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352" y="1874519"/>
            <a:ext cx="5349240" cy="3566160"/>
          </a:xfrm>
          <a:prstGeom prst="rect">
            <a:avLst/>
          </a:prstGeom>
        </p:spPr>
      </p:pic>
      <p:sp>
        <p:nvSpPr>
          <p:cNvPr id="6" name="V4 text"/>
          <p:cNvSpPr txBox="1"/>
          <p:nvPr/>
        </p:nvSpPr>
        <p:spPr>
          <a:xfrm>
            <a:off x="594360" y="5623559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25C66"/>
                </a:solidFill>
                <a:latin typeface="Arial"/>
              </a:rPr>
              <a:t>Photograph</a:t>
            </a:r>
          </a:p>
        </p:txBody>
      </p:sp>
      <p:sp>
        <p:nvSpPr>
          <p:cNvPr id="7" name="V4 text"/>
          <p:cNvSpPr txBox="1"/>
          <p:nvPr/>
        </p:nvSpPr>
        <p:spPr>
          <a:xfrm>
            <a:off x="6245352" y="5623559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25C66"/>
                </a:solidFill>
                <a:latin typeface="Arial"/>
              </a:rPr>
              <a:t>24 × 16 samples; nearest-neighbour enlargement</a:t>
            </a:r>
          </a:p>
        </p:txBody>
      </p:sp>
      <p:sp>
        <p:nvSpPr>
          <p:cNvPr id="8" name="V4 text"/>
          <p:cNvSpPr txBox="1"/>
          <p:nvPr/>
        </p:nvSpPr>
        <p:spPr>
          <a:xfrm>
            <a:off x="594360" y="5989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  <a:latin typeface="Arial"/>
              </a:rPr>
              <a:t>Zoom in: each cell is one pixel.</a:t>
            </a:r>
          </a:p>
        </p:txBody>
      </p:sp>
      <p:sp>
        <p:nvSpPr>
          <p:cNvPr id="9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3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01 / IMAGE AS DATA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A small patch of the image</a:t>
            </a:r>
          </a:p>
        </p:txBody>
      </p:sp>
      <p:pic>
        <p:nvPicPr>
          <p:cNvPr id="4" name="pixel_source" descr="pixel sour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00523"/>
            <a:ext cx="5486400" cy="3660457"/>
          </a:xfrm>
          <a:prstGeom prst="rect">
            <a:avLst/>
          </a:prstGeom>
        </p:spPr>
      </p:pic>
      <p:pic>
        <p:nvPicPr>
          <p:cNvPr id="5" name="pixels_shades" descr="pixels shad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8252" y="1673352"/>
            <a:ext cx="4114800" cy="4114800"/>
          </a:xfrm>
          <a:prstGeom prst="rect">
            <a:avLst/>
          </a:prstGeom>
        </p:spPr>
      </p:pic>
      <p:sp>
        <p:nvSpPr>
          <p:cNvPr id="6" name="V4 text"/>
          <p:cNvSpPr txBox="1"/>
          <p:nvPr/>
        </p:nvSpPr>
        <p:spPr>
          <a:xfrm>
            <a:off x="594360" y="5989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  <a:latin typeface="Arial"/>
              </a:rPr>
              <a:t>The same 8 × 8 pixel patch, shown three ways.</a:t>
            </a:r>
          </a:p>
        </p:txBody>
      </p:sp>
      <p:sp>
        <p:nvSpPr>
          <p:cNvPr id="7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4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01 / IMAGE AS DATA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0 is black. 255 is white.</a:t>
            </a:r>
          </a:p>
        </p:txBody>
      </p:sp>
      <p:sp>
        <p:nvSpPr>
          <p:cNvPr id="4" name="V4 text"/>
          <p:cNvSpPr txBox="1"/>
          <p:nvPr/>
        </p:nvSpPr>
        <p:spPr>
          <a:xfrm>
            <a:off x="594360" y="13075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25C66"/>
                </a:solidFill>
                <a:latin typeface="Arial"/>
              </a:rPr>
              <a:t>8-bit grayscale has 256 possible intensity levels.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2194560"/>
            <a:ext cx="2743200" cy="2103120"/>
          </a:xfrm>
          <a:prstGeom prst="rect">
            <a:avLst/>
          </a:prstGeom>
          <a:solidFill>
            <a:srgbClr val="000000"/>
          </a:solidFill>
          <a:ln>
            <a:solidFill>
              <a:srgbClr val="9EA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4 text"/>
          <p:cNvSpPr txBox="1"/>
          <p:nvPr/>
        </p:nvSpPr>
        <p:spPr>
          <a:xfrm>
            <a:off x="960120" y="4590288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sp>
        <p:nvSpPr>
          <p:cNvPr id="7" name="V4 text"/>
          <p:cNvSpPr txBox="1"/>
          <p:nvPr/>
        </p:nvSpPr>
        <p:spPr>
          <a:xfrm>
            <a:off x="960120" y="52852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>
                <a:solidFill>
                  <a:srgbClr val="111111"/>
                </a:solidFill>
                <a:latin typeface="Arial"/>
              </a:rPr>
              <a:t>Black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2194560"/>
            <a:ext cx="2743200" cy="2103120"/>
          </a:xfrm>
          <a:prstGeom prst="rect">
            <a:avLst/>
          </a:prstGeom>
          <a:solidFill>
            <a:srgbClr val="808080"/>
          </a:solidFill>
          <a:ln>
            <a:solidFill>
              <a:srgbClr val="9EA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4 text"/>
          <p:cNvSpPr txBox="1"/>
          <p:nvPr/>
        </p:nvSpPr>
        <p:spPr>
          <a:xfrm>
            <a:off x="4709160" y="4590288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111111"/>
                </a:solidFill>
                <a:latin typeface="Arial"/>
              </a:rPr>
              <a:t>128</a:t>
            </a:r>
          </a:p>
        </p:txBody>
      </p:sp>
      <p:sp>
        <p:nvSpPr>
          <p:cNvPr id="10" name="V4 text"/>
          <p:cNvSpPr txBox="1"/>
          <p:nvPr/>
        </p:nvSpPr>
        <p:spPr>
          <a:xfrm>
            <a:off x="4709160" y="52852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>
                <a:solidFill>
                  <a:srgbClr val="111111"/>
                </a:solidFill>
                <a:latin typeface="Arial"/>
              </a:rPr>
              <a:t>Mid-grey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58200" y="2194560"/>
            <a:ext cx="274320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9EA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4 text"/>
          <p:cNvSpPr txBox="1"/>
          <p:nvPr/>
        </p:nvSpPr>
        <p:spPr>
          <a:xfrm>
            <a:off x="8458200" y="4590288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111111"/>
                </a:solidFill>
                <a:latin typeface="Arial"/>
              </a:rPr>
              <a:t>255</a:t>
            </a:r>
          </a:p>
        </p:txBody>
      </p:sp>
      <p:sp>
        <p:nvSpPr>
          <p:cNvPr id="13" name="V4 text"/>
          <p:cNvSpPr txBox="1"/>
          <p:nvPr/>
        </p:nvSpPr>
        <p:spPr>
          <a:xfrm>
            <a:off x="8458200" y="52852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>
                <a:solidFill>
                  <a:srgbClr val="111111"/>
                </a:solidFill>
                <a:latin typeface="Arial"/>
              </a:rPr>
              <a:t>White</a:t>
            </a:r>
          </a:p>
        </p:txBody>
      </p:sp>
      <p:sp>
        <p:nvSpPr>
          <p:cNvPr id="14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7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3"/>
          <p:cNvSpPr/>
          <p:nvPr/>
        </p:nvSpPr>
        <p:spPr>
          <a:xfrm>
            <a:off x="621720" y="6492240"/>
            <a:ext cx="10927080" cy="360"/>
          </a:xfrm>
          <a:prstGeom prst="line">
            <a:avLst/>
          </a:prstGeom>
          <a:ln w="1016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621720" y="50292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01 / IMAGE AS DATA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8"/>
          <p:cNvSpPr/>
          <p:nvPr/>
        </p:nvSpPr>
        <p:spPr>
          <a:xfrm>
            <a:off x="621720" y="914400"/>
            <a:ext cx="1097244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What changes when resolution changes?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9"/>
          <p:cNvSpPr/>
          <p:nvPr/>
        </p:nvSpPr>
        <p:spPr>
          <a:xfrm>
            <a:off x="640080" y="1600200"/>
            <a:ext cx="10606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Same photograph. Fewer samples. Less detail.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0"/>
          <p:cNvSpPr/>
          <p:nvPr/>
        </p:nvSpPr>
        <p:spPr>
          <a:xfrm>
            <a:off x="631080" y="1984320"/>
            <a:ext cx="3565800" cy="3904200"/>
          </a:xfrm>
          <a:prstGeom prst="roundRect">
            <a:avLst>
              <a:gd name="adj" fmla="val 4103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Image 0" descr="/mnt/data/cv_workshop_assets/cat_res_16.png"/>
          <p:cNvPicPr/>
          <p:nvPr/>
        </p:nvPicPr>
        <p:blipFill>
          <a:blip r:embed="rId1"/>
          <a:srcRect l="10829" t="0" r="10829" b="0"/>
          <a:stretch/>
        </p:blipFill>
        <p:spPr>
          <a:xfrm>
            <a:off x="749880" y="2103120"/>
            <a:ext cx="3328200" cy="283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 11"/>
          <p:cNvSpPr/>
          <p:nvPr/>
        </p:nvSpPr>
        <p:spPr>
          <a:xfrm>
            <a:off x="804600" y="5010840"/>
            <a:ext cx="32367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16 pixels wide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2"/>
          <p:cNvSpPr/>
          <p:nvPr/>
        </p:nvSpPr>
        <p:spPr>
          <a:xfrm>
            <a:off x="813960" y="5358240"/>
            <a:ext cx="3218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Coarse structure only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3"/>
          <p:cNvSpPr/>
          <p:nvPr/>
        </p:nvSpPr>
        <p:spPr>
          <a:xfrm>
            <a:off x="4434840" y="1984320"/>
            <a:ext cx="3565800" cy="3904200"/>
          </a:xfrm>
          <a:prstGeom prst="roundRect">
            <a:avLst>
              <a:gd name="adj" fmla="val 4103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Image 1" descr="/mnt/data/cv_workshop_assets/cat_res_48.png"/>
          <p:cNvPicPr/>
          <p:nvPr/>
        </p:nvPicPr>
        <p:blipFill>
          <a:blip r:embed="rId2"/>
          <a:srcRect l="10829" t="0" r="10829" b="0"/>
          <a:stretch/>
        </p:blipFill>
        <p:spPr>
          <a:xfrm>
            <a:off x="4553640" y="2103120"/>
            <a:ext cx="3328200" cy="283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 14"/>
          <p:cNvSpPr/>
          <p:nvPr/>
        </p:nvSpPr>
        <p:spPr>
          <a:xfrm>
            <a:off x="4608720" y="5010840"/>
            <a:ext cx="32367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48 pixels wide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5"/>
          <p:cNvSpPr/>
          <p:nvPr/>
        </p:nvSpPr>
        <p:spPr>
          <a:xfrm>
            <a:off x="4617720" y="5358240"/>
            <a:ext cx="3218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Recognizable outline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6"/>
          <p:cNvSpPr/>
          <p:nvPr/>
        </p:nvSpPr>
        <p:spPr>
          <a:xfrm>
            <a:off x="8238600" y="1984320"/>
            <a:ext cx="3565800" cy="3904200"/>
          </a:xfrm>
          <a:prstGeom prst="roundRect">
            <a:avLst>
              <a:gd name="adj" fmla="val 4103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Image 2" descr="/mnt/data/cv_workshop_assets/cat_res_512.png"/>
          <p:cNvPicPr/>
          <p:nvPr/>
        </p:nvPicPr>
        <p:blipFill>
          <a:blip r:embed="rId3"/>
          <a:srcRect l="10829" t="0" r="10829" b="0"/>
          <a:stretch/>
        </p:blipFill>
        <p:spPr>
          <a:xfrm>
            <a:off x="8357760" y="2103120"/>
            <a:ext cx="3328200" cy="283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 17"/>
          <p:cNvSpPr/>
          <p:nvPr/>
        </p:nvSpPr>
        <p:spPr>
          <a:xfrm>
            <a:off x="8412480" y="5010840"/>
            <a:ext cx="32367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512 pixels wide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8"/>
          <p:cNvSpPr/>
          <p:nvPr/>
        </p:nvSpPr>
        <p:spPr>
          <a:xfrm>
            <a:off x="8421480" y="5358240"/>
            <a:ext cx="3218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Fine visual details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8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3"/>
          <p:cNvSpPr/>
          <p:nvPr/>
        </p:nvSpPr>
        <p:spPr>
          <a:xfrm>
            <a:off x="621720" y="6492240"/>
            <a:ext cx="10927080" cy="360"/>
          </a:xfrm>
          <a:prstGeom prst="line">
            <a:avLst/>
          </a:prstGeom>
          <a:ln w="1016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621720" y="50292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01 / IMAGE AS DATA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621720" y="914400"/>
            <a:ext cx="1097244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Colour = three channels, not one.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640080" y="1600200"/>
            <a:ext cx="10606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Red, green and blue intensities form one RGB image.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9"/>
          <p:cNvSpPr/>
          <p:nvPr/>
        </p:nvSpPr>
        <p:spPr>
          <a:xfrm>
            <a:off x="631080" y="1965960"/>
            <a:ext cx="3565800" cy="3904200"/>
          </a:xfrm>
          <a:prstGeom prst="roundRect">
            <a:avLst>
              <a:gd name="adj" fmla="val 4103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0" descr="/mnt/data/cv_workshop_assets/cat_red.png"/>
          <p:cNvPicPr/>
          <p:nvPr/>
        </p:nvPicPr>
        <p:blipFill>
          <a:blip r:embed="rId1"/>
          <a:srcRect l="10829" t="0" r="10829" b="0"/>
          <a:stretch/>
        </p:blipFill>
        <p:spPr>
          <a:xfrm>
            <a:off x="749880" y="2084760"/>
            <a:ext cx="3328200" cy="283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10"/>
          <p:cNvSpPr/>
          <p:nvPr/>
        </p:nvSpPr>
        <p:spPr>
          <a:xfrm>
            <a:off x="804600" y="4992480"/>
            <a:ext cx="32367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Red channel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1"/>
          <p:cNvSpPr/>
          <p:nvPr/>
        </p:nvSpPr>
        <p:spPr>
          <a:xfrm>
            <a:off x="813960" y="5340240"/>
            <a:ext cx="3218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R intensity only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2"/>
          <p:cNvSpPr/>
          <p:nvPr/>
        </p:nvSpPr>
        <p:spPr>
          <a:xfrm>
            <a:off x="4434840" y="1965960"/>
            <a:ext cx="3565800" cy="3904200"/>
          </a:xfrm>
          <a:prstGeom prst="roundRect">
            <a:avLst>
              <a:gd name="adj" fmla="val 4103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age 1" descr="/mnt/data/cv_workshop_assets/cat_green.png"/>
          <p:cNvPicPr/>
          <p:nvPr/>
        </p:nvPicPr>
        <p:blipFill>
          <a:blip r:embed="rId2"/>
          <a:srcRect l="10829" t="0" r="10829" b="0"/>
          <a:stretch/>
        </p:blipFill>
        <p:spPr>
          <a:xfrm>
            <a:off x="4553640" y="2084760"/>
            <a:ext cx="3328200" cy="283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13"/>
          <p:cNvSpPr/>
          <p:nvPr/>
        </p:nvSpPr>
        <p:spPr>
          <a:xfrm>
            <a:off x="4608720" y="4992480"/>
            <a:ext cx="32367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Green channel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4"/>
          <p:cNvSpPr/>
          <p:nvPr/>
        </p:nvSpPr>
        <p:spPr>
          <a:xfrm>
            <a:off x="4617720" y="5340240"/>
            <a:ext cx="3218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G intensity only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5"/>
          <p:cNvSpPr/>
          <p:nvPr/>
        </p:nvSpPr>
        <p:spPr>
          <a:xfrm>
            <a:off x="8238600" y="1965960"/>
            <a:ext cx="3565800" cy="3904200"/>
          </a:xfrm>
          <a:prstGeom prst="roundRect">
            <a:avLst>
              <a:gd name="adj" fmla="val 4103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Image 2" descr="/mnt/data/cv_workshop_assets/cat_blue.png"/>
          <p:cNvPicPr/>
          <p:nvPr/>
        </p:nvPicPr>
        <p:blipFill>
          <a:blip r:embed="rId3"/>
          <a:srcRect l="10829" t="0" r="10829" b="0"/>
          <a:stretch/>
        </p:blipFill>
        <p:spPr>
          <a:xfrm>
            <a:off x="8357760" y="2084760"/>
            <a:ext cx="3328200" cy="283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 16"/>
          <p:cNvSpPr/>
          <p:nvPr/>
        </p:nvSpPr>
        <p:spPr>
          <a:xfrm>
            <a:off x="8412480" y="4992480"/>
            <a:ext cx="32367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Blue channel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7"/>
          <p:cNvSpPr/>
          <p:nvPr/>
        </p:nvSpPr>
        <p:spPr>
          <a:xfrm>
            <a:off x="8421480" y="5340240"/>
            <a:ext cx="3218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B intensity only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9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3"/>
          <p:cNvSpPr/>
          <p:nvPr/>
        </p:nvSpPr>
        <p:spPr>
          <a:xfrm>
            <a:off x="621720" y="6492240"/>
            <a:ext cx="10927080" cy="360"/>
          </a:xfrm>
          <a:prstGeom prst="line">
            <a:avLst/>
          </a:prstGeom>
          <a:ln w="1016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7"/>
          <p:cNvSpPr/>
          <p:nvPr/>
        </p:nvSpPr>
        <p:spPr>
          <a:xfrm>
            <a:off x="621720" y="50292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01 / IMAGE AS DATA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8"/>
          <p:cNvSpPr/>
          <p:nvPr/>
        </p:nvSpPr>
        <p:spPr>
          <a:xfrm>
            <a:off x="621720" y="914400"/>
            <a:ext cx="1097244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Models require consistent inputs.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640080" y="1600200"/>
            <a:ext cx="10606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Resize, scale numerical values and form batches.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0"/>
          <p:cNvSpPr/>
          <p:nvPr/>
        </p:nvSpPr>
        <p:spPr>
          <a:xfrm>
            <a:off x="640080" y="280728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1"/>
          <p:cNvSpPr/>
          <p:nvPr/>
        </p:nvSpPr>
        <p:spPr>
          <a:xfrm>
            <a:off x="786240" y="294444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2"/>
          <p:cNvSpPr/>
          <p:nvPr/>
        </p:nvSpPr>
        <p:spPr>
          <a:xfrm>
            <a:off x="786240" y="332856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READ IMAGE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3"/>
          <p:cNvSpPr/>
          <p:nvPr/>
        </p:nvSpPr>
        <p:spPr>
          <a:xfrm>
            <a:off x="2701080" y="3483720"/>
            <a:ext cx="127800" cy="360"/>
          </a:xfrm>
          <a:prstGeom prst="line">
            <a:avLst/>
          </a:prstGeom>
          <a:ln w="190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4"/>
          <p:cNvSpPr/>
          <p:nvPr/>
        </p:nvSpPr>
        <p:spPr>
          <a:xfrm>
            <a:off x="2847600" y="280728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E8EEF4"/>
          </a:solidFill>
          <a:ln w="12700">
            <a:solidFill>
              <a:srgbClr val="D8E2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5"/>
          <p:cNvSpPr/>
          <p:nvPr/>
        </p:nvSpPr>
        <p:spPr>
          <a:xfrm>
            <a:off x="2993760" y="294444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6"/>
          <p:cNvSpPr/>
          <p:nvPr/>
        </p:nvSpPr>
        <p:spPr>
          <a:xfrm>
            <a:off x="2993760" y="332856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RESIZE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7"/>
          <p:cNvSpPr/>
          <p:nvPr/>
        </p:nvSpPr>
        <p:spPr>
          <a:xfrm>
            <a:off x="4908240" y="3483720"/>
            <a:ext cx="128160" cy="360"/>
          </a:xfrm>
          <a:prstGeom prst="line">
            <a:avLst/>
          </a:prstGeom>
          <a:ln w="190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8"/>
          <p:cNvSpPr/>
          <p:nvPr/>
        </p:nvSpPr>
        <p:spPr>
          <a:xfrm>
            <a:off x="5054760" y="280728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9"/>
          <p:cNvSpPr/>
          <p:nvPr/>
        </p:nvSpPr>
        <p:spPr>
          <a:xfrm>
            <a:off x="5201280" y="294444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0"/>
          <p:cNvSpPr/>
          <p:nvPr/>
        </p:nvSpPr>
        <p:spPr>
          <a:xfrm>
            <a:off x="5201280" y="332856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NORMALIZE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1"/>
          <p:cNvSpPr/>
          <p:nvPr/>
        </p:nvSpPr>
        <p:spPr>
          <a:xfrm>
            <a:off x="7115760" y="3483720"/>
            <a:ext cx="127800" cy="360"/>
          </a:xfrm>
          <a:prstGeom prst="line">
            <a:avLst/>
          </a:prstGeom>
          <a:ln w="190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2"/>
          <p:cNvSpPr/>
          <p:nvPr/>
        </p:nvSpPr>
        <p:spPr>
          <a:xfrm>
            <a:off x="7262280" y="280728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E8EEF4"/>
          </a:solidFill>
          <a:ln w="12700">
            <a:solidFill>
              <a:srgbClr val="D8E2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3"/>
          <p:cNvSpPr/>
          <p:nvPr/>
        </p:nvSpPr>
        <p:spPr>
          <a:xfrm>
            <a:off x="7408440" y="294444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4"/>
          <p:cNvSpPr/>
          <p:nvPr/>
        </p:nvSpPr>
        <p:spPr>
          <a:xfrm>
            <a:off x="7408440" y="332856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BATCH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5"/>
          <p:cNvSpPr/>
          <p:nvPr/>
        </p:nvSpPr>
        <p:spPr>
          <a:xfrm>
            <a:off x="9322920" y="3483720"/>
            <a:ext cx="128160" cy="360"/>
          </a:xfrm>
          <a:prstGeom prst="line">
            <a:avLst/>
          </a:prstGeom>
          <a:ln w="190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6"/>
          <p:cNvSpPr/>
          <p:nvPr/>
        </p:nvSpPr>
        <p:spPr>
          <a:xfrm>
            <a:off x="9469440" y="280728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7"/>
          <p:cNvSpPr/>
          <p:nvPr/>
        </p:nvSpPr>
        <p:spPr>
          <a:xfrm>
            <a:off x="9615960" y="294444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8"/>
          <p:cNvSpPr/>
          <p:nvPr/>
        </p:nvSpPr>
        <p:spPr>
          <a:xfrm>
            <a:off x="9615960" y="332856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MODEL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9"/>
          <p:cNvSpPr/>
          <p:nvPr/>
        </p:nvSpPr>
        <p:spPr>
          <a:xfrm>
            <a:off x="1234440" y="4736520"/>
            <a:ext cx="987516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Image preprocessing should match the pretrained model weights.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10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3"/>
          <p:cNvSpPr/>
          <p:nvPr/>
        </p:nvSpPr>
        <p:spPr>
          <a:xfrm>
            <a:off x="621720" y="6492240"/>
            <a:ext cx="10927080" cy="360"/>
          </a:xfrm>
          <a:prstGeom prst="line">
            <a:avLst/>
          </a:prstGeom>
          <a:ln w="1016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7"/>
          <p:cNvSpPr/>
          <p:nvPr/>
        </p:nvSpPr>
        <p:spPr>
          <a:xfrm>
            <a:off x="621720" y="50292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01 / IMAGE AS DATA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8"/>
          <p:cNvSpPr/>
          <p:nvPr/>
        </p:nvSpPr>
        <p:spPr>
          <a:xfrm>
            <a:off x="621720" y="914400"/>
            <a:ext cx="1097244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All three are numbers to the model.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9"/>
          <p:cNvSpPr/>
          <p:nvPr/>
        </p:nvSpPr>
        <p:spPr>
          <a:xfrm>
            <a:off x="640080" y="1600200"/>
            <a:ext cx="10606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Full colour, grayscale and edge maps — same scene, different arrays.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0"/>
          <p:cNvSpPr/>
          <p:nvPr/>
        </p:nvSpPr>
        <p:spPr>
          <a:xfrm>
            <a:off x="631080" y="1984320"/>
            <a:ext cx="3565800" cy="3904200"/>
          </a:xfrm>
          <a:prstGeom prst="roundRect">
            <a:avLst>
              <a:gd name="adj" fmla="val 4103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" name="Image 0" descr="/mnt/data/cv_workshop_assets/cat.png"/>
          <p:cNvPicPr/>
          <p:nvPr/>
        </p:nvPicPr>
        <p:blipFill>
          <a:blip r:embed="rId1"/>
          <a:srcRect l="10829" t="0" r="10829" b="0"/>
          <a:stretch/>
        </p:blipFill>
        <p:spPr>
          <a:xfrm>
            <a:off x="749880" y="2103120"/>
            <a:ext cx="3328200" cy="283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Text 11"/>
          <p:cNvSpPr/>
          <p:nvPr/>
        </p:nvSpPr>
        <p:spPr>
          <a:xfrm>
            <a:off x="804600" y="5010840"/>
            <a:ext cx="32367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Full-colour photograph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2"/>
          <p:cNvSpPr/>
          <p:nvPr/>
        </p:nvSpPr>
        <p:spPr>
          <a:xfrm>
            <a:off x="4434840" y="1984320"/>
            <a:ext cx="3565800" cy="3904200"/>
          </a:xfrm>
          <a:prstGeom prst="roundRect">
            <a:avLst>
              <a:gd name="adj" fmla="val 4103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2" name="Image 1" descr="/mnt/data/cv_workshop_assets/cat_gray.png"/>
          <p:cNvPicPr/>
          <p:nvPr/>
        </p:nvPicPr>
        <p:blipFill>
          <a:blip r:embed="rId2"/>
          <a:srcRect l="10829" t="0" r="10829" b="0"/>
          <a:stretch/>
        </p:blipFill>
        <p:spPr>
          <a:xfrm>
            <a:off x="4553640" y="2103120"/>
            <a:ext cx="3328200" cy="283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Text 13"/>
          <p:cNvSpPr/>
          <p:nvPr/>
        </p:nvSpPr>
        <p:spPr>
          <a:xfrm>
            <a:off x="4608720" y="5010840"/>
            <a:ext cx="32367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Grayscale intensities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4"/>
          <p:cNvSpPr/>
          <p:nvPr/>
        </p:nvSpPr>
        <p:spPr>
          <a:xfrm>
            <a:off x="8238600" y="1984320"/>
            <a:ext cx="3565800" cy="3904200"/>
          </a:xfrm>
          <a:prstGeom prst="roundRect">
            <a:avLst>
              <a:gd name="adj" fmla="val 4103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5" name="Image 2" descr="/mnt/data/cv_workshop_assets/cat_edges.png"/>
          <p:cNvPicPr/>
          <p:nvPr/>
        </p:nvPicPr>
        <p:blipFill>
          <a:blip r:embed="rId3"/>
          <a:srcRect l="10829" t="0" r="10829" b="0"/>
          <a:stretch/>
        </p:blipFill>
        <p:spPr>
          <a:xfrm>
            <a:off x="8357760" y="2103120"/>
            <a:ext cx="3328200" cy="283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Text 15"/>
          <p:cNvSpPr/>
          <p:nvPr/>
        </p:nvSpPr>
        <p:spPr>
          <a:xfrm>
            <a:off x="8412480" y="5010840"/>
            <a:ext cx="32367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Edge-response image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11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3"/>
          <p:cNvSpPr/>
          <p:nvPr/>
        </p:nvSpPr>
        <p:spPr>
          <a:xfrm>
            <a:off x="621720" y="6492240"/>
            <a:ext cx="10927080" cy="360"/>
          </a:xfrm>
          <a:prstGeom prst="line">
            <a:avLst/>
          </a:prstGeom>
          <a:ln w="1016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6"/>
          <p:cNvSpPr/>
          <p:nvPr/>
        </p:nvSpPr>
        <p:spPr>
          <a:xfrm>
            <a:off x="603360" y="1097280"/>
            <a:ext cx="10954080" cy="4845960"/>
          </a:xfrm>
          <a:prstGeom prst="roundRect">
            <a:avLst>
              <a:gd name="adj" fmla="val 4151"/>
            </a:avLst>
          </a:prstGeom>
          <a:solidFill>
            <a:srgbClr val="F1F4F7"/>
          </a:solidFill>
          <a:ln w="12700">
            <a:solidFill>
              <a:srgbClr val="E4EAF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7"/>
          <p:cNvSpPr/>
          <p:nvPr/>
        </p:nvSpPr>
        <p:spPr>
          <a:xfrm>
            <a:off x="1005840" y="1600200"/>
            <a:ext cx="8229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02 / CLASSICAL COMPUTER VISION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8"/>
          <p:cNvSpPr/>
          <p:nvPr/>
        </p:nvSpPr>
        <p:spPr>
          <a:xfrm>
            <a:off x="1005840" y="2331720"/>
            <a:ext cx="98751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1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Before deep learning,</a:t>
            </a:r>
            <a:endParaRPr lang="en-US" sz="5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1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we processed images.</a:t>
            </a:r>
            <a:endParaRPr lang="en-US" sz="5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9"/>
          <p:cNvSpPr/>
          <p:nvPr/>
        </p:nvSpPr>
        <p:spPr>
          <a:xfrm>
            <a:off x="1005840" y="4800600"/>
            <a:ext cx="9600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Filters · thresholds · contours · templates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12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3"/>
          <p:cNvSpPr/>
          <p:nvPr/>
        </p:nvSpPr>
        <p:spPr>
          <a:xfrm>
            <a:off x="621720" y="6492240"/>
            <a:ext cx="10927080" cy="360"/>
          </a:xfrm>
          <a:prstGeom prst="line">
            <a:avLst/>
          </a:prstGeom>
          <a:ln w="1016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6"/>
          <p:cNvSpPr/>
          <p:nvPr/>
        </p:nvSpPr>
        <p:spPr>
          <a:xfrm>
            <a:off x="621720" y="50292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02 / CLASSICAL VISION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7"/>
          <p:cNvSpPr/>
          <p:nvPr/>
        </p:nvSpPr>
        <p:spPr>
          <a:xfrm>
            <a:off x="621720" y="914400"/>
            <a:ext cx="1097244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Brightness and contrast change pixels.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8"/>
          <p:cNvSpPr/>
          <p:nvPr/>
        </p:nvSpPr>
        <p:spPr>
          <a:xfrm>
            <a:off x="640080" y="1600200"/>
            <a:ext cx="10606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Useful preprocessing ≠ object understanding.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9"/>
          <p:cNvSpPr/>
          <p:nvPr/>
        </p:nvSpPr>
        <p:spPr>
          <a:xfrm>
            <a:off x="631080" y="1984320"/>
            <a:ext cx="3565800" cy="3904200"/>
          </a:xfrm>
          <a:prstGeom prst="roundRect">
            <a:avLst>
              <a:gd name="adj" fmla="val 4103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9" name="Image 0" descr="/mnt/data/cv_workshop_assets/cat_dark.png"/>
          <p:cNvPicPr/>
          <p:nvPr/>
        </p:nvPicPr>
        <p:blipFill>
          <a:blip r:embed="rId1"/>
          <a:srcRect l="10829" t="0" r="10829" b="0"/>
          <a:stretch/>
        </p:blipFill>
        <p:spPr>
          <a:xfrm>
            <a:off x="749880" y="2103120"/>
            <a:ext cx="3328200" cy="283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Text 10"/>
          <p:cNvSpPr/>
          <p:nvPr/>
        </p:nvSpPr>
        <p:spPr>
          <a:xfrm>
            <a:off x="804600" y="5010840"/>
            <a:ext cx="32367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Lower brightness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1"/>
          <p:cNvSpPr/>
          <p:nvPr/>
        </p:nvSpPr>
        <p:spPr>
          <a:xfrm>
            <a:off x="4434840" y="1984320"/>
            <a:ext cx="3565800" cy="3904200"/>
          </a:xfrm>
          <a:prstGeom prst="roundRect">
            <a:avLst>
              <a:gd name="adj" fmla="val 4103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2" name="Image 1" descr="/mnt/data/cv_workshop_assets/cat.png"/>
          <p:cNvPicPr/>
          <p:nvPr/>
        </p:nvPicPr>
        <p:blipFill>
          <a:blip r:embed="rId2"/>
          <a:srcRect l="10829" t="0" r="10829" b="0"/>
          <a:stretch/>
        </p:blipFill>
        <p:spPr>
          <a:xfrm>
            <a:off x="4553640" y="2103120"/>
            <a:ext cx="3328200" cy="283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Text 12"/>
          <p:cNvSpPr/>
          <p:nvPr/>
        </p:nvSpPr>
        <p:spPr>
          <a:xfrm>
            <a:off x="4608720" y="5010840"/>
            <a:ext cx="32367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Original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3"/>
          <p:cNvSpPr/>
          <p:nvPr/>
        </p:nvSpPr>
        <p:spPr>
          <a:xfrm>
            <a:off x="8238600" y="1984320"/>
            <a:ext cx="3565800" cy="3904200"/>
          </a:xfrm>
          <a:prstGeom prst="roundRect">
            <a:avLst>
              <a:gd name="adj" fmla="val 4103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5" name="Image 2" descr="/mnt/data/cv_workshop_assets/cat_contrast_high.png"/>
          <p:cNvPicPr/>
          <p:nvPr/>
        </p:nvPicPr>
        <p:blipFill>
          <a:blip r:embed="rId3"/>
          <a:srcRect l="10829" t="0" r="10829" b="0"/>
          <a:stretch/>
        </p:blipFill>
        <p:spPr>
          <a:xfrm>
            <a:off x="8357760" y="2103120"/>
            <a:ext cx="3328200" cy="283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 14"/>
          <p:cNvSpPr/>
          <p:nvPr/>
        </p:nvSpPr>
        <p:spPr>
          <a:xfrm>
            <a:off x="8412480" y="5010840"/>
            <a:ext cx="32367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Higher contrast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13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3"/>
          <p:cNvSpPr/>
          <p:nvPr/>
        </p:nvSpPr>
        <p:spPr>
          <a:xfrm>
            <a:off x="621720" y="6492240"/>
            <a:ext cx="10927080" cy="360"/>
          </a:xfrm>
          <a:prstGeom prst="line">
            <a:avLst/>
          </a:prstGeom>
          <a:ln w="1016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6"/>
          <p:cNvSpPr/>
          <p:nvPr/>
        </p:nvSpPr>
        <p:spPr>
          <a:xfrm>
            <a:off x="621720" y="50292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02 / CLASSICAL VISION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7"/>
          <p:cNvSpPr/>
          <p:nvPr/>
        </p:nvSpPr>
        <p:spPr>
          <a:xfrm>
            <a:off x="621720" y="914400"/>
            <a:ext cx="1097244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Smoothing can remove noise.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8"/>
          <p:cNvSpPr/>
          <p:nvPr/>
        </p:nvSpPr>
        <p:spPr>
          <a:xfrm>
            <a:off x="640080" y="1600200"/>
            <a:ext cx="10606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A filter combines neighboring pixel values.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9"/>
          <p:cNvSpPr/>
          <p:nvPr/>
        </p:nvSpPr>
        <p:spPr>
          <a:xfrm>
            <a:off x="612720" y="1993320"/>
            <a:ext cx="5321520" cy="3968280"/>
          </a:xfrm>
          <a:prstGeom prst="roundRect">
            <a:avLst>
              <a:gd name="adj" fmla="val 3226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0"/>
          <p:cNvSpPr/>
          <p:nvPr/>
        </p:nvSpPr>
        <p:spPr>
          <a:xfrm>
            <a:off x="6126480" y="1993320"/>
            <a:ext cx="5421960" cy="3968280"/>
          </a:xfrm>
          <a:prstGeom prst="roundRect">
            <a:avLst>
              <a:gd name="adj" fmla="val 3226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4" name="Image 0" descr="/mnt/data/cv_workshop_assets/cat_noise.png"/>
          <p:cNvPicPr/>
          <p:nvPr/>
        </p:nvPicPr>
        <p:blipFill>
          <a:blip r:embed="rId1"/>
          <a:srcRect l="0" t="2407" r="0" b="2407"/>
          <a:stretch/>
        </p:blipFill>
        <p:spPr>
          <a:xfrm>
            <a:off x="768240" y="2267640"/>
            <a:ext cx="5010480" cy="318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5" name="Image 1" descr="/mnt/data/cv_workshop_assets/cat_blur.png"/>
          <p:cNvPicPr/>
          <p:nvPr/>
        </p:nvPicPr>
        <p:blipFill>
          <a:blip r:embed="rId2"/>
          <a:srcRect l="0" t="3092" r="0" b="3092"/>
          <a:stretch/>
        </p:blipFill>
        <p:spPr>
          <a:xfrm>
            <a:off x="6282000" y="2267640"/>
            <a:ext cx="5083560" cy="318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Text 11"/>
          <p:cNvSpPr/>
          <p:nvPr/>
        </p:nvSpPr>
        <p:spPr>
          <a:xfrm>
            <a:off x="932760" y="5513760"/>
            <a:ext cx="4388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F3F3F"/>
                </a:solidFill>
                <a:effectLst/>
                <a:uFillTx/>
                <a:latin typeface="Aptos Display"/>
                <a:ea typeface="Aptos Display"/>
              </a:rPr>
              <a:t>NOISY / HIGH DETAIL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2"/>
          <p:cNvSpPr/>
          <p:nvPr/>
        </p:nvSpPr>
        <p:spPr>
          <a:xfrm>
            <a:off x="6437520" y="5513760"/>
            <a:ext cx="4388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SMOOTHED / LESS DETAIL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14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3"/>
          <p:cNvSpPr/>
          <p:nvPr/>
        </p:nvSpPr>
        <p:spPr>
          <a:xfrm>
            <a:off x="621720" y="6492240"/>
            <a:ext cx="10927080" cy="360"/>
          </a:xfrm>
          <a:prstGeom prst="line">
            <a:avLst/>
          </a:prstGeom>
          <a:ln w="1016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6"/>
          <p:cNvSpPr/>
          <p:nvPr/>
        </p:nvSpPr>
        <p:spPr>
          <a:xfrm>
            <a:off x="621720" y="50292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02 / CLASSICAL VISION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7"/>
          <p:cNvSpPr/>
          <p:nvPr/>
        </p:nvSpPr>
        <p:spPr>
          <a:xfrm>
            <a:off x="621720" y="914400"/>
            <a:ext cx="1097244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Edges mark rapid changes.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8"/>
          <p:cNvSpPr/>
          <p:nvPr/>
        </p:nvSpPr>
        <p:spPr>
          <a:xfrm>
            <a:off x="640080" y="1600200"/>
            <a:ext cx="10606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A classical edge detector is not a cat detector.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9"/>
          <p:cNvSpPr/>
          <p:nvPr/>
        </p:nvSpPr>
        <p:spPr>
          <a:xfrm>
            <a:off x="612720" y="1993320"/>
            <a:ext cx="5321520" cy="3968280"/>
          </a:xfrm>
          <a:prstGeom prst="roundRect">
            <a:avLst>
              <a:gd name="adj" fmla="val 3226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0"/>
          <p:cNvSpPr/>
          <p:nvPr/>
        </p:nvSpPr>
        <p:spPr>
          <a:xfrm>
            <a:off x="6126480" y="1993320"/>
            <a:ext cx="5421960" cy="3968280"/>
          </a:xfrm>
          <a:prstGeom prst="roundRect">
            <a:avLst>
              <a:gd name="adj" fmla="val 3226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5" name="Image 0" descr="/mnt/data/cv_workshop_assets/cat.png"/>
          <p:cNvPicPr/>
          <p:nvPr/>
        </p:nvPicPr>
        <p:blipFill>
          <a:blip r:embed="rId1"/>
          <a:srcRect l="0" t="2407" r="0" b="2407"/>
          <a:stretch/>
        </p:blipFill>
        <p:spPr>
          <a:xfrm>
            <a:off x="768240" y="2267640"/>
            <a:ext cx="5010480" cy="318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6" name="Image 1" descr="/mnt/data/cv_workshop_assets/cat_edges.png"/>
          <p:cNvPicPr/>
          <p:nvPr/>
        </p:nvPicPr>
        <p:blipFill>
          <a:blip r:embed="rId2"/>
          <a:srcRect l="0" t="3092" r="0" b="3092"/>
          <a:stretch/>
        </p:blipFill>
        <p:spPr>
          <a:xfrm>
            <a:off x="6282000" y="2267640"/>
            <a:ext cx="5083560" cy="318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7" name="Text 11"/>
          <p:cNvSpPr/>
          <p:nvPr/>
        </p:nvSpPr>
        <p:spPr>
          <a:xfrm>
            <a:off x="932760" y="5513760"/>
            <a:ext cx="4388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F3F3F"/>
                </a:solidFill>
                <a:effectLst/>
                <a:uFillTx/>
                <a:latin typeface="Aptos Display"/>
                <a:ea typeface="Aptos Display"/>
              </a:rPr>
              <a:t>ORIGINAL RGB IMAGE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2"/>
          <p:cNvSpPr/>
          <p:nvPr/>
        </p:nvSpPr>
        <p:spPr>
          <a:xfrm>
            <a:off x="6437520" y="5513760"/>
            <a:ext cx="4388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CANNY EDGE MAP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15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3"/>
          <p:cNvSpPr/>
          <p:nvPr/>
        </p:nvSpPr>
        <p:spPr>
          <a:xfrm>
            <a:off x="621720" y="6492240"/>
            <a:ext cx="10927080" cy="360"/>
          </a:xfrm>
          <a:prstGeom prst="line">
            <a:avLst/>
          </a:prstGeom>
          <a:ln w="1016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6"/>
          <p:cNvSpPr/>
          <p:nvPr/>
        </p:nvSpPr>
        <p:spPr>
          <a:xfrm>
            <a:off x="621720" y="50292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02 / CLASSICAL VISION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7"/>
          <p:cNvSpPr/>
          <p:nvPr/>
        </p:nvSpPr>
        <p:spPr>
          <a:xfrm>
            <a:off x="621720" y="914400"/>
            <a:ext cx="1097244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Thresholding makes a pixel decision.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8"/>
          <p:cNvSpPr/>
          <p:nvPr/>
        </p:nvSpPr>
        <p:spPr>
          <a:xfrm>
            <a:off x="640080" y="1600200"/>
            <a:ext cx="10606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A numerical rule converts grayscale into a binary mask.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9"/>
          <p:cNvSpPr/>
          <p:nvPr/>
        </p:nvSpPr>
        <p:spPr>
          <a:xfrm>
            <a:off x="612720" y="1993320"/>
            <a:ext cx="5321520" cy="3968280"/>
          </a:xfrm>
          <a:prstGeom prst="roundRect">
            <a:avLst>
              <a:gd name="adj" fmla="val 3226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0"/>
          <p:cNvSpPr/>
          <p:nvPr/>
        </p:nvSpPr>
        <p:spPr>
          <a:xfrm>
            <a:off x="6126480" y="1993320"/>
            <a:ext cx="5421960" cy="3968280"/>
          </a:xfrm>
          <a:prstGeom prst="roundRect">
            <a:avLst>
              <a:gd name="adj" fmla="val 3226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6" name="Image 0" descr="/mnt/data/cv_workshop_assets/cat_gray.png"/>
          <p:cNvPicPr/>
          <p:nvPr/>
        </p:nvPicPr>
        <p:blipFill>
          <a:blip r:embed="rId1"/>
          <a:srcRect l="0" t="2407" r="0" b="2407"/>
          <a:stretch/>
        </p:blipFill>
        <p:spPr>
          <a:xfrm>
            <a:off x="768240" y="2267640"/>
            <a:ext cx="5010480" cy="318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7" name="Image 1" descr="/mnt/data/cv_workshop_assets/cat_threshold.png"/>
          <p:cNvPicPr/>
          <p:nvPr/>
        </p:nvPicPr>
        <p:blipFill>
          <a:blip r:embed="rId2"/>
          <a:srcRect l="0" t="3092" r="0" b="3092"/>
          <a:stretch/>
        </p:blipFill>
        <p:spPr>
          <a:xfrm>
            <a:off x="6282000" y="2267640"/>
            <a:ext cx="5083560" cy="318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Text 11"/>
          <p:cNvSpPr/>
          <p:nvPr/>
        </p:nvSpPr>
        <p:spPr>
          <a:xfrm>
            <a:off x="932760" y="5513760"/>
            <a:ext cx="4388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F3F3F"/>
                </a:solidFill>
                <a:effectLst/>
                <a:uFillTx/>
                <a:latin typeface="Aptos Display"/>
                <a:ea typeface="Aptos Display"/>
              </a:rPr>
              <a:t>GRAYSCALE VALUES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2"/>
          <p:cNvSpPr/>
          <p:nvPr/>
        </p:nvSpPr>
        <p:spPr>
          <a:xfrm>
            <a:off x="6437520" y="5513760"/>
            <a:ext cx="4388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BINARY RESULT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16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02 / CLASSICAL VISION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Contours describe boundaries</a:t>
            </a:r>
          </a:p>
        </p:txBody>
      </p:sp>
      <p:sp>
        <p:nvSpPr>
          <p:cNvPr id="4" name="V4 text"/>
          <p:cNvSpPr txBox="1"/>
          <p:nvPr/>
        </p:nvSpPr>
        <p:spPr>
          <a:xfrm>
            <a:off x="594360" y="13075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25C66"/>
                </a:solidFill>
                <a:latin typeface="Arial"/>
              </a:rPr>
              <a:t>Enlarged cat-eye crop: threshold dark pixels, then trace the boundary.</a:t>
            </a:r>
          </a:p>
        </p:txBody>
      </p:sp>
      <p:pic>
        <p:nvPicPr>
          <p:cNvPr id="5" name="eye_binary_mask" descr="eye binary mas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882" y="1783080"/>
            <a:ext cx="4820194" cy="3749039"/>
          </a:xfrm>
          <a:prstGeom prst="rect">
            <a:avLst/>
          </a:prstGeom>
        </p:spPr>
      </p:pic>
      <p:pic>
        <p:nvPicPr>
          <p:cNvPr id="6" name="eye_contour" descr="eye contou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9874" y="1783080"/>
            <a:ext cx="4820194" cy="3749039"/>
          </a:xfrm>
          <a:prstGeom prst="rect">
            <a:avLst/>
          </a:prstGeom>
        </p:spPr>
      </p:pic>
      <p:sp>
        <p:nvSpPr>
          <p:cNvPr id="7" name="V4 text"/>
          <p:cNvSpPr txBox="1"/>
          <p:nvPr/>
        </p:nvSpPr>
        <p:spPr>
          <a:xfrm>
            <a:off x="594360" y="5623559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25C66"/>
                </a:solidFill>
                <a:latin typeface="Arial"/>
              </a:rPr>
              <a:t>Thresholded region</a:t>
            </a:r>
          </a:p>
        </p:txBody>
      </p:sp>
      <p:sp>
        <p:nvSpPr>
          <p:cNvPr id="8" name="V4 text"/>
          <p:cNvSpPr txBox="1"/>
          <p:nvPr/>
        </p:nvSpPr>
        <p:spPr>
          <a:xfrm>
            <a:off x="6245352" y="5623559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25C66"/>
                </a:solidFill>
                <a:latin typeface="Arial"/>
              </a:rPr>
              <a:t>Contour of the largest dark region</a:t>
            </a:r>
          </a:p>
        </p:txBody>
      </p:sp>
      <p:sp>
        <p:nvSpPr>
          <p:cNvPr id="9" name="V4 text"/>
          <p:cNvSpPr txBox="1"/>
          <p:nvPr/>
        </p:nvSpPr>
        <p:spPr>
          <a:xfrm>
            <a:off x="594360" y="5989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  <a:latin typeface="Arial"/>
              </a:rPr>
              <a:t>A boundary is geometry—not an object identity.</a:t>
            </a:r>
          </a:p>
        </p:txBody>
      </p:sp>
      <p:sp>
        <p:nvSpPr>
          <p:cNvPr id="10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17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3"/>
          <p:cNvSpPr/>
          <p:nvPr/>
        </p:nvSpPr>
        <p:spPr>
          <a:xfrm>
            <a:off x="621720" y="6492240"/>
            <a:ext cx="10927080" cy="360"/>
          </a:xfrm>
          <a:prstGeom prst="line">
            <a:avLst/>
          </a:prstGeom>
          <a:ln w="1016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6"/>
          <p:cNvSpPr/>
          <p:nvPr/>
        </p:nvSpPr>
        <p:spPr>
          <a:xfrm>
            <a:off x="621720" y="50292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02 / CLASSICAL VISION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7"/>
          <p:cNvSpPr/>
          <p:nvPr/>
        </p:nvSpPr>
        <p:spPr>
          <a:xfrm>
            <a:off x="621720" y="914400"/>
            <a:ext cx="1097244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Colour thresholds isolate regions.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8"/>
          <p:cNvSpPr/>
          <p:nvPr/>
        </p:nvSpPr>
        <p:spPr>
          <a:xfrm>
            <a:off x="640080" y="1600200"/>
            <a:ext cx="10606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A simple rule can find orange regions—until lighting changes.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9"/>
          <p:cNvSpPr/>
          <p:nvPr/>
        </p:nvSpPr>
        <p:spPr>
          <a:xfrm>
            <a:off x="612720" y="1993320"/>
            <a:ext cx="5321520" cy="3968280"/>
          </a:xfrm>
          <a:prstGeom prst="roundRect">
            <a:avLst>
              <a:gd name="adj" fmla="val 3226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0"/>
          <p:cNvSpPr/>
          <p:nvPr/>
        </p:nvSpPr>
        <p:spPr>
          <a:xfrm>
            <a:off x="6126480" y="1993320"/>
            <a:ext cx="5421960" cy="3968280"/>
          </a:xfrm>
          <a:prstGeom prst="roundRect">
            <a:avLst>
              <a:gd name="adj" fmla="val 3226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8" name="Image 0" descr="/mnt/data/cv_workshop_assets/road.png"/>
          <p:cNvPicPr/>
          <p:nvPr/>
        </p:nvPicPr>
        <p:blipFill>
          <a:blip r:embed="rId1"/>
          <a:srcRect l="5711" t="0" r="5711" b="0"/>
          <a:stretch/>
        </p:blipFill>
        <p:spPr>
          <a:xfrm>
            <a:off x="768240" y="2267640"/>
            <a:ext cx="5010480" cy="318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9" name="Image 1" descr="/mnt/data/cv_workshop_assets/road_orange_filter.png"/>
          <p:cNvPicPr/>
          <p:nvPr/>
        </p:nvPicPr>
        <p:blipFill>
          <a:blip r:embed="rId2"/>
          <a:srcRect l="5067" t="0" r="5067" b="0"/>
          <a:stretch/>
        </p:blipFill>
        <p:spPr>
          <a:xfrm>
            <a:off x="6282000" y="2267640"/>
            <a:ext cx="5083560" cy="318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Text 11"/>
          <p:cNvSpPr/>
          <p:nvPr/>
        </p:nvSpPr>
        <p:spPr>
          <a:xfrm>
            <a:off x="932760" y="5513760"/>
            <a:ext cx="4388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F3F3F"/>
                </a:solidFill>
                <a:effectLst/>
                <a:uFillTx/>
                <a:latin typeface="Aptos Display"/>
                <a:ea typeface="Aptos Display"/>
              </a:rPr>
              <a:t>STREET SCENE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2"/>
          <p:cNvSpPr/>
          <p:nvPr/>
        </p:nvSpPr>
        <p:spPr>
          <a:xfrm>
            <a:off x="6437520" y="5513760"/>
            <a:ext cx="4388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ORANGE-REGION FILTER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18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3"/>
          <p:cNvSpPr/>
          <p:nvPr/>
        </p:nvSpPr>
        <p:spPr>
          <a:xfrm>
            <a:off x="621720" y="6492240"/>
            <a:ext cx="10927080" cy="360"/>
          </a:xfrm>
          <a:prstGeom prst="line">
            <a:avLst/>
          </a:prstGeom>
          <a:ln w="1016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7"/>
          <p:cNvSpPr/>
          <p:nvPr/>
        </p:nvSpPr>
        <p:spPr>
          <a:xfrm>
            <a:off x="621720" y="50292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02 / CLASSICAL VISION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8"/>
          <p:cNvSpPr/>
          <p:nvPr/>
        </p:nvSpPr>
        <p:spPr>
          <a:xfrm>
            <a:off x="621720" y="914400"/>
            <a:ext cx="1097244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Template matching searches for a pattern.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9"/>
          <p:cNvSpPr/>
          <p:nvPr/>
        </p:nvSpPr>
        <p:spPr>
          <a:xfrm>
            <a:off x="640080" y="1600200"/>
            <a:ext cx="10606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A reference patch is compared across candidate image locations.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10"/>
          <p:cNvSpPr/>
          <p:nvPr/>
        </p:nvSpPr>
        <p:spPr>
          <a:xfrm>
            <a:off x="585360" y="1883520"/>
            <a:ext cx="8046360" cy="4233240"/>
          </a:xfrm>
          <a:prstGeom prst="roundRect">
            <a:avLst>
              <a:gd name="adj" fmla="val 3024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8" name="Image 0" descr="/mnt/data/cv_workshop_assets/road_template.png"/>
          <p:cNvPicPr/>
          <p:nvPr/>
        </p:nvPicPr>
        <p:blipFill>
          <a:blip r:embed="rId1"/>
          <a:srcRect l="0" t="4525" r="0" b="4525"/>
          <a:stretch/>
        </p:blipFill>
        <p:spPr>
          <a:xfrm>
            <a:off x="676800" y="1984320"/>
            <a:ext cx="7863480" cy="402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Text 11"/>
          <p:cNvSpPr/>
          <p:nvPr/>
        </p:nvSpPr>
        <p:spPr>
          <a:xfrm>
            <a:off x="8860680" y="2249280"/>
            <a:ext cx="2431800" cy="21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Known pattern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→ scan image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→ locate matches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20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3"/>
          <p:cNvSpPr/>
          <p:nvPr/>
        </p:nvSpPr>
        <p:spPr>
          <a:xfrm>
            <a:off x="621720" y="6492240"/>
            <a:ext cx="10927080" cy="360"/>
          </a:xfrm>
          <a:prstGeom prst="line">
            <a:avLst/>
          </a:prstGeom>
          <a:ln w="1016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6"/>
          <p:cNvSpPr/>
          <p:nvPr/>
        </p:nvSpPr>
        <p:spPr>
          <a:xfrm>
            <a:off x="621720" y="50292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02 / CLASSICAL VISION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7"/>
          <p:cNvSpPr/>
          <p:nvPr/>
        </p:nvSpPr>
        <p:spPr>
          <a:xfrm>
            <a:off x="621720" y="914400"/>
            <a:ext cx="1097244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The classic computer vision pipeline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8"/>
          <p:cNvSpPr/>
          <p:nvPr/>
        </p:nvSpPr>
        <p:spPr>
          <a:xfrm>
            <a:off x="640080" y="1600200"/>
            <a:ext cx="10606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Engineered features + designed decision rules.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9"/>
          <p:cNvSpPr/>
          <p:nvPr/>
        </p:nvSpPr>
        <p:spPr>
          <a:xfrm>
            <a:off x="640080" y="287136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0"/>
          <p:cNvSpPr/>
          <p:nvPr/>
        </p:nvSpPr>
        <p:spPr>
          <a:xfrm>
            <a:off x="786240" y="300852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1"/>
          <p:cNvSpPr/>
          <p:nvPr/>
        </p:nvSpPr>
        <p:spPr>
          <a:xfrm>
            <a:off x="786240" y="339228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CAPTURE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2"/>
          <p:cNvSpPr/>
          <p:nvPr/>
        </p:nvSpPr>
        <p:spPr>
          <a:xfrm>
            <a:off x="2701080" y="3547800"/>
            <a:ext cx="127800" cy="360"/>
          </a:xfrm>
          <a:prstGeom prst="line">
            <a:avLst/>
          </a:prstGeom>
          <a:ln w="190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3"/>
          <p:cNvSpPr/>
          <p:nvPr/>
        </p:nvSpPr>
        <p:spPr>
          <a:xfrm>
            <a:off x="2847600" y="287136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E8EEF4"/>
          </a:solidFill>
          <a:ln w="12700">
            <a:solidFill>
              <a:srgbClr val="D8E2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4"/>
          <p:cNvSpPr/>
          <p:nvPr/>
        </p:nvSpPr>
        <p:spPr>
          <a:xfrm>
            <a:off x="2993760" y="300852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5"/>
          <p:cNvSpPr/>
          <p:nvPr/>
        </p:nvSpPr>
        <p:spPr>
          <a:xfrm>
            <a:off x="2993760" y="339228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ENHANCE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6"/>
          <p:cNvSpPr/>
          <p:nvPr/>
        </p:nvSpPr>
        <p:spPr>
          <a:xfrm>
            <a:off x="4908240" y="3547800"/>
            <a:ext cx="128160" cy="360"/>
          </a:xfrm>
          <a:prstGeom prst="line">
            <a:avLst/>
          </a:prstGeom>
          <a:ln w="190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7"/>
          <p:cNvSpPr/>
          <p:nvPr/>
        </p:nvSpPr>
        <p:spPr>
          <a:xfrm>
            <a:off x="5054760" y="287136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8"/>
          <p:cNvSpPr/>
          <p:nvPr/>
        </p:nvSpPr>
        <p:spPr>
          <a:xfrm>
            <a:off x="5201280" y="300852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9"/>
          <p:cNvSpPr/>
          <p:nvPr/>
        </p:nvSpPr>
        <p:spPr>
          <a:xfrm>
            <a:off x="5201280" y="339228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EXTRACT FEATURES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20"/>
          <p:cNvSpPr/>
          <p:nvPr/>
        </p:nvSpPr>
        <p:spPr>
          <a:xfrm>
            <a:off x="7115760" y="3547800"/>
            <a:ext cx="127800" cy="360"/>
          </a:xfrm>
          <a:prstGeom prst="line">
            <a:avLst/>
          </a:prstGeom>
          <a:ln w="190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21"/>
          <p:cNvSpPr/>
          <p:nvPr/>
        </p:nvSpPr>
        <p:spPr>
          <a:xfrm>
            <a:off x="7262280" y="287136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E8EEF4"/>
          </a:solidFill>
          <a:ln w="12700">
            <a:solidFill>
              <a:srgbClr val="D8E2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2"/>
          <p:cNvSpPr/>
          <p:nvPr/>
        </p:nvSpPr>
        <p:spPr>
          <a:xfrm>
            <a:off x="7408440" y="300852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3"/>
          <p:cNvSpPr/>
          <p:nvPr/>
        </p:nvSpPr>
        <p:spPr>
          <a:xfrm>
            <a:off x="7408440" y="339228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MATCH / RULES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24"/>
          <p:cNvSpPr/>
          <p:nvPr/>
        </p:nvSpPr>
        <p:spPr>
          <a:xfrm>
            <a:off x="9322920" y="3547800"/>
            <a:ext cx="128160" cy="360"/>
          </a:xfrm>
          <a:prstGeom prst="line">
            <a:avLst/>
          </a:prstGeom>
          <a:ln w="190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25"/>
          <p:cNvSpPr/>
          <p:nvPr/>
        </p:nvSpPr>
        <p:spPr>
          <a:xfrm>
            <a:off x="9469440" y="287136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6"/>
          <p:cNvSpPr/>
          <p:nvPr/>
        </p:nvSpPr>
        <p:spPr>
          <a:xfrm>
            <a:off x="9615960" y="300852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7"/>
          <p:cNvSpPr/>
          <p:nvPr/>
        </p:nvSpPr>
        <p:spPr>
          <a:xfrm>
            <a:off x="9615960" y="339228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DECISION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8"/>
          <p:cNvSpPr/>
          <p:nvPr/>
        </p:nvSpPr>
        <p:spPr>
          <a:xfrm>
            <a:off x="1134000" y="4827960"/>
            <a:ext cx="10012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Excellent when environments are controlled and rules are interpretable.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22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02 / CLASSICAL VISION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The same scene can look different</a:t>
            </a:r>
          </a:p>
        </p:txBody>
      </p:sp>
      <p:pic>
        <p:nvPicPr>
          <p:cNvPr id="4" name="cat_dark" descr="cat d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21315"/>
            <a:ext cx="3474720" cy="2318289"/>
          </a:xfrm>
          <a:prstGeom prst="rect">
            <a:avLst/>
          </a:prstGeom>
        </p:spPr>
      </p:pic>
      <p:sp>
        <p:nvSpPr>
          <p:cNvPr id="5" name="V4 text"/>
          <p:cNvSpPr txBox="1"/>
          <p:nvPr/>
        </p:nvSpPr>
        <p:spPr>
          <a:xfrm>
            <a:off x="594360" y="559612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  <a:latin typeface="Arial"/>
              </a:rPr>
              <a:t>Poor lighting</a:t>
            </a:r>
          </a:p>
        </p:txBody>
      </p:sp>
      <p:pic>
        <p:nvPicPr>
          <p:cNvPr id="6" name="cat_flipped" descr="cat flipp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2521315"/>
            <a:ext cx="3474720" cy="2318289"/>
          </a:xfrm>
          <a:prstGeom prst="rect">
            <a:avLst/>
          </a:prstGeom>
        </p:spPr>
      </p:pic>
      <p:sp>
        <p:nvSpPr>
          <p:cNvPr id="7" name="V4 text"/>
          <p:cNvSpPr txBox="1"/>
          <p:nvPr/>
        </p:nvSpPr>
        <p:spPr>
          <a:xfrm>
            <a:off x="4361688" y="559612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  <a:latin typeface="Arial"/>
              </a:rPr>
              <a:t>Horizontal flip</a:t>
            </a:r>
          </a:p>
        </p:txBody>
      </p:sp>
      <p:pic>
        <p:nvPicPr>
          <p:cNvPr id="8" name="cat_noise" descr="cat nois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9016" y="2521315"/>
            <a:ext cx="3474720" cy="2318289"/>
          </a:xfrm>
          <a:prstGeom prst="rect">
            <a:avLst/>
          </a:prstGeom>
        </p:spPr>
      </p:pic>
      <p:sp>
        <p:nvSpPr>
          <p:cNvPr id="9" name="V4 text"/>
          <p:cNvSpPr txBox="1"/>
          <p:nvPr/>
        </p:nvSpPr>
        <p:spPr>
          <a:xfrm>
            <a:off x="8129016" y="559612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  <a:latin typeface="Arial"/>
              </a:rPr>
              <a:t>Sensor noise</a:t>
            </a:r>
          </a:p>
        </p:txBody>
      </p:sp>
      <p:sp>
        <p:nvSpPr>
          <p:cNvPr id="10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23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3"/>
          <p:cNvSpPr/>
          <p:nvPr/>
        </p:nvSpPr>
        <p:spPr>
          <a:xfrm>
            <a:off x="621720" y="6492240"/>
            <a:ext cx="10927080" cy="360"/>
          </a:xfrm>
          <a:prstGeom prst="line">
            <a:avLst/>
          </a:prstGeom>
          <a:ln w="1016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6"/>
          <p:cNvSpPr/>
          <p:nvPr/>
        </p:nvSpPr>
        <p:spPr>
          <a:xfrm>
            <a:off x="621720" y="50292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02 / CLASSICAL VISION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7"/>
          <p:cNvSpPr/>
          <p:nvPr/>
        </p:nvSpPr>
        <p:spPr>
          <a:xfrm>
            <a:off x="621720" y="914400"/>
            <a:ext cx="1097244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Instead of handcrafting every rule...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8"/>
          <p:cNvSpPr/>
          <p:nvPr/>
        </p:nvSpPr>
        <p:spPr>
          <a:xfrm>
            <a:off x="640080" y="1600200"/>
            <a:ext cx="10606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What if the system learns useful visual features from examples?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9"/>
          <p:cNvSpPr/>
          <p:nvPr/>
        </p:nvSpPr>
        <p:spPr>
          <a:xfrm>
            <a:off x="758880" y="2103120"/>
            <a:ext cx="10698120" cy="2971440"/>
          </a:xfrm>
          <a:prstGeom prst="roundRect">
            <a:avLst>
              <a:gd name="adj" fmla="val 6154"/>
            </a:avLst>
          </a:prstGeom>
          <a:solidFill>
            <a:srgbClr val="E8EEF4"/>
          </a:solidFill>
          <a:ln w="12700">
            <a:solidFill>
              <a:srgbClr val="D8E2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0"/>
          <p:cNvSpPr/>
          <p:nvPr/>
        </p:nvSpPr>
        <p:spPr>
          <a:xfrm>
            <a:off x="1134000" y="2423160"/>
            <a:ext cx="992088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9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DATA + LABELS   →   LEARNED FEATURES   →   PREDICTIONS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1"/>
          <p:cNvSpPr/>
          <p:nvPr/>
        </p:nvSpPr>
        <p:spPr>
          <a:xfrm>
            <a:off x="1161360" y="5093280"/>
            <a:ext cx="95094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111111"/>
                </a:solidFill>
                <a:effectLst/>
                <a:uFillTx/>
                <a:latin typeface="Aptos"/>
                <a:ea typeface="Aptos"/>
              </a:rPr>
              <a:t>This is the motivation for deep visual learning.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24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"/>
          <p:cNvSpPr/>
          <p:nvPr/>
        </p:nvSpPr>
        <p:spPr>
          <a:xfrm>
            <a:off x="621720" y="6492240"/>
            <a:ext cx="10927080" cy="360"/>
          </a:xfrm>
          <a:prstGeom prst="line">
            <a:avLst/>
          </a:prstGeom>
          <a:ln w="1016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6"/>
          <p:cNvSpPr/>
          <p:nvPr/>
        </p:nvSpPr>
        <p:spPr>
          <a:xfrm>
            <a:off x="603360" y="1097280"/>
            <a:ext cx="10954080" cy="4845960"/>
          </a:xfrm>
          <a:prstGeom prst="roundRect">
            <a:avLst>
              <a:gd name="adj" fmla="val 4151"/>
            </a:avLst>
          </a:prstGeom>
          <a:solidFill>
            <a:srgbClr val="F1F4F7"/>
          </a:solidFill>
          <a:ln w="12700">
            <a:solidFill>
              <a:srgbClr val="E4EAF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7"/>
          <p:cNvSpPr/>
          <p:nvPr/>
        </p:nvSpPr>
        <p:spPr>
          <a:xfrm>
            <a:off x="1005840" y="1600200"/>
            <a:ext cx="8229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03 / CORE COMPUTER VISION TASKS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8"/>
          <p:cNvSpPr/>
          <p:nvPr/>
        </p:nvSpPr>
        <p:spPr>
          <a:xfrm>
            <a:off x="1005840" y="2331720"/>
            <a:ext cx="98751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1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One image.</a:t>
            </a:r>
            <a:endParaRPr lang="en-US" sz="5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1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Three different questions.</a:t>
            </a:r>
            <a:endParaRPr lang="en-US" sz="5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9"/>
          <p:cNvSpPr/>
          <p:nvPr/>
        </p:nvSpPr>
        <p:spPr>
          <a:xfrm>
            <a:off x="1005840" y="4800600"/>
            <a:ext cx="9600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Classification · Object detection · Segmentation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25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at" descr="ca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6994" y="457200"/>
            <a:ext cx="7674963" cy="5120640"/>
          </a:xfrm>
          <a:prstGeom prst="rect">
            <a:avLst/>
          </a:prstGeom>
        </p:spPr>
      </p:pic>
      <p:sp>
        <p:nvSpPr>
          <p:cNvPr id="3" name="V4 text"/>
          <p:cNvSpPr txBox="1"/>
          <p:nvPr/>
        </p:nvSpPr>
        <p:spPr>
          <a:xfrm>
            <a:off x="777240" y="5650992"/>
            <a:ext cx="106344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111111"/>
                </a:solidFill>
                <a:latin typeface="Arial"/>
              </a:rPr>
              <a:t>Classification: what is in this image?</a:t>
            </a:r>
          </a:p>
        </p:txBody>
      </p:sp>
      <p:sp>
        <p:nvSpPr>
          <p:cNvPr id="4" name="V4 text"/>
          <p:cNvSpPr txBox="1"/>
          <p:nvPr/>
        </p:nvSpPr>
        <p:spPr>
          <a:xfrm>
            <a:off x="777240" y="6217920"/>
            <a:ext cx="106344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0">
                <a:solidFill>
                  <a:srgbClr val="111111"/>
                </a:solidFill>
                <a:latin typeface="Arial"/>
              </a:rPr>
              <a:t>Cat</a:t>
            </a:r>
          </a:p>
        </p:txBody>
      </p:sp>
      <p:sp>
        <p:nvSpPr>
          <p:cNvPr id="5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26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03 / CLASSIFICATION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A classifier produces class scores</a:t>
            </a:r>
          </a:p>
        </p:txBody>
      </p:sp>
      <p:sp>
        <p:nvSpPr>
          <p:cNvPr id="4" name="V4 text"/>
          <p:cNvSpPr txBox="1"/>
          <p:nvPr/>
        </p:nvSpPr>
        <p:spPr>
          <a:xfrm>
            <a:off x="594360" y="13075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25C66"/>
                </a:solidFill>
                <a:latin typeface="Arial"/>
              </a:rPr>
              <a:t>MobileNetV3-Small · ImageNet-1K</a:t>
            </a:r>
          </a:p>
        </p:txBody>
      </p:sp>
      <p:pic>
        <p:nvPicPr>
          <p:cNvPr id="5" name="cat" descr="ca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73126"/>
            <a:ext cx="5349240" cy="3568946"/>
          </a:xfrm>
          <a:prstGeom prst="rect">
            <a:avLst/>
          </a:prstGeom>
        </p:spPr>
      </p:pic>
      <p:pic>
        <p:nvPicPr>
          <p:cNvPr id="6" name="small_cat_scores" descr="small cat scor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203781"/>
            <a:ext cx="5349240" cy="2907636"/>
          </a:xfrm>
          <a:prstGeom prst="rect">
            <a:avLst/>
          </a:prstGeom>
        </p:spPr>
      </p:pic>
      <p:sp>
        <p:nvSpPr>
          <p:cNvPr id="7" name="V4 text"/>
          <p:cNvSpPr txBox="1"/>
          <p:nvPr/>
        </p:nvSpPr>
        <p:spPr>
          <a:xfrm>
            <a:off x="594360" y="5623559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25C66"/>
                </a:solidFill>
                <a:latin typeface="Arial"/>
              </a:rPr>
              <a:t>Input image</a:t>
            </a:r>
          </a:p>
        </p:txBody>
      </p:sp>
      <p:sp>
        <p:nvSpPr>
          <p:cNvPr id="8" name="V4 text"/>
          <p:cNvSpPr txBox="1"/>
          <p:nvPr/>
        </p:nvSpPr>
        <p:spPr>
          <a:xfrm>
            <a:off x="6245352" y="5623559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25C66"/>
                </a:solidFill>
                <a:latin typeface="Arial"/>
              </a:rPr>
              <a:t>Top three predicted ImageNet categories</a:t>
            </a:r>
          </a:p>
        </p:txBody>
      </p:sp>
      <p:sp>
        <p:nvSpPr>
          <p:cNvPr id="9" name="V4 text"/>
          <p:cNvSpPr txBox="1"/>
          <p:nvPr/>
        </p:nvSpPr>
        <p:spPr>
          <a:xfrm>
            <a:off x="594360" y="5989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  <a:latin typeface="Arial"/>
              </a:rPr>
              <a:t>A score does not supply an object location.</a:t>
            </a:r>
          </a:p>
        </p:txBody>
      </p:sp>
      <p:sp>
        <p:nvSpPr>
          <p:cNvPr id="10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27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03 / CLASSIFICATION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Single-label versus multi-label</a:t>
            </a:r>
          </a:p>
        </p:txBody>
      </p:sp>
      <p:pic>
        <p:nvPicPr>
          <p:cNvPr id="4" name="cat" descr="c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11" y="1783080"/>
            <a:ext cx="5276537" cy="3520440"/>
          </a:xfrm>
          <a:prstGeom prst="rect">
            <a:avLst/>
          </a:prstGeom>
        </p:spPr>
      </p:pic>
      <p:pic>
        <p:nvPicPr>
          <p:cNvPr id="5" name="bus" descr="bu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9806" y="1783080"/>
            <a:ext cx="2640330" cy="3520440"/>
          </a:xfrm>
          <a:prstGeom prst="rect">
            <a:avLst/>
          </a:prstGeom>
        </p:spPr>
      </p:pic>
      <p:sp>
        <p:nvSpPr>
          <p:cNvPr id="6" name="V4 text"/>
          <p:cNvSpPr txBox="1"/>
          <p:nvPr/>
        </p:nvSpPr>
        <p:spPr>
          <a:xfrm>
            <a:off x="594360" y="5486400"/>
            <a:ext cx="5349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11111"/>
                </a:solidFill>
                <a:latin typeface="Arial"/>
              </a:rPr>
              <a:t>Single label: cat</a:t>
            </a:r>
          </a:p>
        </p:txBody>
      </p:sp>
      <p:sp>
        <p:nvSpPr>
          <p:cNvPr id="7" name="V4 text"/>
          <p:cNvSpPr txBox="1"/>
          <p:nvPr/>
        </p:nvSpPr>
        <p:spPr>
          <a:xfrm>
            <a:off x="6245352" y="5486400"/>
            <a:ext cx="5349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11111"/>
                </a:solidFill>
                <a:latin typeface="Arial"/>
              </a:rPr>
              <a:t>Multiple image labels: bus + person</a:t>
            </a:r>
          </a:p>
        </p:txBody>
      </p:sp>
      <p:sp>
        <p:nvSpPr>
          <p:cNvPr id="8" name="V4 text"/>
          <p:cNvSpPr txBox="1"/>
          <p:nvPr/>
        </p:nvSpPr>
        <p:spPr>
          <a:xfrm>
            <a:off x="594360" y="5989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Multi-label classification reports presence—not boxes or counts.</a:t>
            </a:r>
          </a:p>
        </p:txBody>
      </p:sp>
      <p:sp>
        <p:nvSpPr>
          <p:cNvPr id="9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28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03 / DETECTION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Detection: what objects—and where?</a:t>
            </a:r>
          </a:p>
        </p:txBody>
      </p:sp>
      <p:sp>
        <p:nvSpPr>
          <p:cNvPr id="4" name="V4 text"/>
          <p:cNvSpPr txBox="1"/>
          <p:nvPr/>
        </p:nvSpPr>
        <p:spPr>
          <a:xfrm>
            <a:off x="594360" y="13075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25C66"/>
                </a:solidFill>
                <a:latin typeface="Arial"/>
              </a:rPr>
              <a:t>Faster R-CNN MobileNetV3-320 · score threshold 0.55</a:t>
            </a:r>
          </a:p>
        </p:txBody>
      </p:sp>
      <p:pic>
        <p:nvPicPr>
          <p:cNvPr id="5" name="faster_bus_boxes" descr="faster bus box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6275" y="1737360"/>
            <a:ext cx="3188970" cy="4251960"/>
          </a:xfrm>
          <a:prstGeom prst="rect">
            <a:avLst/>
          </a:prstGeom>
        </p:spPr>
      </p:pic>
      <p:sp>
        <p:nvSpPr>
          <p:cNvPr id="6" name="V4 text"/>
          <p:cNvSpPr txBox="1"/>
          <p:nvPr/>
        </p:nvSpPr>
        <p:spPr>
          <a:xfrm>
            <a:off x="594360" y="5989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  <a:latin typeface="Arial"/>
              </a:rPr>
              <a:t>Class labels + bounding boxes; multiple instances can share a class.</a:t>
            </a:r>
          </a:p>
        </p:txBody>
      </p:sp>
      <p:sp>
        <p:nvSpPr>
          <p:cNvPr id="7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29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03 / DETECTION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One detection, three components</a:t>
            </a:r>
          </a:p>
        </p:txBody>
      </p:sp>
      <p:pic>
        <p:nvPicPr>
          <p:cNvPr id="4" name="bus_one_box" descr="bus one bo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3420" y="1600200"/>
            <a:ext cx="3154679" cy="4206240"/>
          </a:xfrm>
          <a:prstGeom prst="rect">
            <a:avLst/>
          </a:prstGeom>
        </p:spPr>
      </p:pic>
      <p:sp>
        <p:nvSpPr>
          <p:cNvPr id="5" name="V4 text"/>
          <p:cNvSpPr txBox="1"/>
          <p:nvPr/>
        </p:nvSpPr>
        <p:spPr>
          <a:xfrm>
            <a:off x="777240" y="5870448"/>
            <a:ext cx="1063447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11111"/>
                </a:solidFill>
                <a:latin typeface="Arial"/>
              </a:rPr>
              <a:t>Bus   ·   score 0.995   ·   [x₁, y₁, x₂, y₂] = [22, 221, 807, 732]</a:t>
            </a:r>
          </a:p>
        </p:txBody>
      </p:sp>
      <p:sp>
        <p:nvSpPr>
          <p:cNvPr id="6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30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03 / DETECTION</a:t>
            </a:r>
          </a:p>
        </p:txBody>
      </p:sp>
      <p:pic>
        <p:nvPicPr>
          <p:cNvPr id="3" name="iou_boxes" descr="iou box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0535" y="594360"/>
            <a:ext cx="3600450" cy="4800600"/>
          </a:xfrm>
          <a:prstGeom prst="rect">
            <a:avLst/>
          </a:prstGeom>
        </p:spPr>
      </p:pic>
      <p:sp>
        <p:nvSpPr>
          <p:cNvPr id="4" name="V4 text"/>
          <p:cNvSpPr txBox="1"/>
          <p:nvPr/>
        </p:nvSpPr>
        <p:spPr>
          <a:xfrm>
            <a:off x="777240" y="5440680"/>
            <a:ext cx="106344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525C66"/>
                </a:solidFill>
                <a:latin typeface="Arial"/>
              </a:rPr>
              <a:t>Teal: box A · Orange: box B · Shading: overlap</a:t>
            </a:r>
          </a:p>
        </p:txBody>
      </p:sp>
      <p:sp>
        <p:nvSpPr>
          <p:cNvPr id="5" name="V4 text"/>
          <p:cNvSpPr txBox="1"/>
          <p:nvPr/>
        </p:nvSpPr>
        <p:spPr>
          <a:xfrm>
            <a:off x="777240" y="5760720"/>
            <a:ext cx="1063447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900" b="1">
                <a:solidFill>
                  <a:srgbClr val="111111"/>
                </a:solidFill>
                <a:latin typeface="Arial"/>
              </a:rPr>
              <a:t>IoU = overlap area / union area = 0.58</a:t>
            </a:r>
          </a:p>
        </p:txBody>
      </p:sp>
      <p:sp>
        <p:nvSpPr>
          <p:cNvPr id="6" name="V4 text"/>
          <p:cNvSpPr txBox="1"/>
          <p:nvPr/>
        </p:nvSpPr>
        <p:spPr>
          <a:xfrm>
            <a:off x="777240" y="6309360"/>
            <a:ext cx="1063447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25C66"/>
                </a:solidFill>
                <a:latin typeface="Arial"/>
              </a:rPr>
              <a:t>Two illustrative boxes; not a ground-truth evaluation</a:t>
            </a:r>
          </a:p>
        </p:txBody>
      </p:sp>
      <p:sp>
        <p:nvSpPr>
          <p:cNvPr id="7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31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03 / SEGMENTATION</a:t>
            </a:r>
          </a:p>
        </p:txBody>
      </p:sp>
      <p:pic>
        <p:nvPicPr>
          <p:cNvPr id="3" name="bus" descr="bu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7335" y="731520"/>
            <a:ext cx="3463289" cy="4617720"/>
          </a:xfrm>
          <a:prstGeom prst="rect">
            <a:avLst/>
          </a:prstGeom>
        </p:spPr>
      </p:pic>
      <p:pic>
        <p:nvPicPr>
          <p:cNvPr id="4" name="deeplab_bus_overlay" descr="deeplab bus overla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8327" y="731520"/>
            <a:ext cx="3463289" cy="4617720"/>
          </a:xfrm>
          <a:prstGeom prst="rect">
            <a:avLst/>
          </a:prstGeom>
        </p:spPr>
      </p:pic>
      <p:sp>
        <p:nvSpPr>
          <p:cNvPr id="5" name="V4 text"/>
          <p:cNvSpPr txBox="1"/>
          <p:nvPr/>
        </p:nvSpPr>
        <p:spPr>
          <a:xfrm>
            <a:off x="594360" y="5440679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25C66"/>
                </a:solidFill>
                <a:latin typeface="Arial"/>
              </a:rPr>
              <a:t>Input</a:t>
            </a:r>
          </a:p>
        </p:txBody>
      </p:sp>
      <p:sp>
        <p:nvSpPr>
          <p:cNvPr id="6" name="V4 text"/>
          <p:cNvSpPr txBox="1"/>
          <p:nvPr/>
        </p:nvSpPr>
        <p:spPr>
          <a:xfrm>
            <a:off x="6245352" y="5440679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25C66"/>
                </a:solidFill>
                <a:latin typeface="Arial"/>
              </a:rPr>
              <a:t>Predicted class mask</a:t>
            </a:r>
          </a:p>
        </p:txBody>
      </p:sp>
      <p:sp>
        <p:nvSpPr>
          <p:cNvPr id="7" name="V4 text"/>
          <p:cNvSpPr txBox="1"/>
          <p:nvPr/>
        </p:nvSpPr>
        <p:spPr>
          <a:xfrm>
            <a:off x="594360" y="576072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111111"/>
                </a:solidFill>
                <a:latin typeface="Arial"/>
              </a:rPr>
              <a:t>Segmentation: which pixels belong to each class?</a:t>
            </a:r>
          </a:p>
        </p:txBody>
      </p:sp>
      <p:sp>
        <p:nvSpPr>
          <p:cNvPr id="8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32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Shape 3"/>
          <p:cNvSpPr/>
          <p:nvPr/>
        </p:nvSpPr>
        <p:spPr>
          <a:xfrm>
            <a:off x="621720" y="6492240"/>
            <a:ext cx="10927080" cy="360"/>
          </a:xfrm>
          <a:prstGeom prst="line">
            <a:avLst/>
          </a:prstGeom>
          <a:ln w="1016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6"/>
          <p:cNvSpPr/>
          <p:nvPr/>
        </p:nvSpPr>
        <p:spPr>
          <a:xfrm>
            <a:off x="621720" y="50292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03 / SEGMENTATION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7"/>
          <p:cNvSpPr/>
          <p:nvPr/>
        </p:nvSpPr>
        <p:spPr>
          <a:xfrm>
            <a:off x="621720" y="914400"/>
            <a:ext cx="1097244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Semantic segmentation labels each pixel.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8"/>
          <p:cNvSpPr/>
          <p:nvPr/>
        </p:nvSpPr>
        <p:spPr>
          <a:xfrm>
            <a:off x="640080" y="1600200"/>
            <a:ext cx="10606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All pixels of one class receive the same category label.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9"/>
          <p:cNvSpPr/>
          <p:nvPr/>
        </p:nvSpPr>
        <p:spPr>
          <a:xfrm>
            <a:off x="612720" y="1993320"/>
            <a:ext cx="5321520" cy="3968280"/>
          </a:xfrm>
          <a:prstGeom prst="roundRect">
            <a:avLst>
              <a:gd name="adj" fmla="val 3226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10"/>
          <p:cNvSpPr/>
          <p:nvPr/>
        </p:nvSpPr>
        <p:spPr>
          <a:xfrm>
            <a:off x="6126480" y="1993320"/>
            <a:ext cx="5421960" cy="3968280"/>
          </a:xfrm>
          <a:prstGeom prst="roundRect">
            <a:avLst>
              <a:gd name="adj" fmla="val 3226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9" name="Image 0" descr="/mnt/data/cv_workshop_assets/road.png"/>
          <p:cNvPicPr/>
          <p:nvPr/>
        </p:nvPicPr>
        <p:blipFill>
          <a:blip r:embed="rId1"/>
          <a:stretch/>
        </p:blipFill>
        <p:spPr>
          <a:xfrm>
            <a:off x="768240" y="2267640"/>
            <a:ext cx="5010480" cy="318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0" name="Image 1" descr="/mnt/data/cv_workshop_assets/road_mask.png"/>
          <p:cNvPicPr/>
          <p:nvPr/>
        </p:nvPicPr>
        <p:blipFill>
          <a:blip r:embed="rId2"/>
          <a:stretch/>
        </p:blipFill>
        <p:spPr>
          <a:xfrm>
            <a:off x="6282000" y="2267640"/>
            <a:ext cx="5083560" cy="318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1" name="Text 11"/>
          <p:cNvSpPr/>
          <p:nvPr/>
        </p:nvSpPr>
        <p:spPr>
          <a:xfrm>
            <a:off x="932760" y="5513760"/>
            <a:ext cx="4388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F3F3F"/>
                </a:solidFill>
                <a:effectLst/>
                <a:uFillTx/>
                <a:latin typeface="Aptos Display"/>
                <a:ea typeface="Aptos Display"/>
              </a:rPr>
              <a:t>IMAGE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12"/>
          <p:cNvSpPr/>
          <p:nvPr/>
        </p:nvSpPr>
        <p:spPr>
          <a:xfrm>
            <a:off x="6437520" y="5513760"/>
            <a:ext cx="4388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PREDICTED CLASS MAP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33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03 / SEGMENTATION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Semantic classes versus separate instances</a:t>
            </a:r>
          </a:p>
        </p:txBody>
      </p:sp>
      <p:pic>
        <p:nvPicPr>
          <p:cNvPr id="4" name="semantic_instance_0" descr="semantic instanc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29942"/>
            <a:ext cx="5349240" cy="3055314"/>
          </a:xfrm>
          <a:prstGeom prst="rect">
            <a:avLst/>
          </a:prstGeom>
        </p:spPr>
      </p:pic>
      <p:pic>
        <p:nvPicPr>
          <p:cNvPr id="5" name="semantic_instance_1" descr="semantic instanc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352" y="2129942"/>
            <a:ext cx="5349240" cy="3055314"/>
          </a:xfrm>
          <a:prstGeom prst="rect">
            <a:avLst/>
          </a:prstGeom>
        </p:spPr>
      </p:pic>
      <p:sp>
        <p:nvSpPr>
          <p:cNvPr id="6" name="V4 text"/>
          <p:cNvSpPr txBox="1"/>
          <p:nvPr/>
        </p:nvSpPr>
        <p:spPr>
          <a:xfrm>
            <a:off x="594360" y="5623559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25C66"/>
                </a:solidFill>
                <a:latin typeface="Arial"/>
              </a:rPr>
              <a:t>Semantic category: cat</a:t>
            </a:r>
          </a:p>
        </p:txBody>
      </p:sp>
      <p:sp>
        <p:nvSpPr>
          <p:cNvPr id="7" name="V4 text"/>
          <p:cNvSpPr txBox="1"/>
          <p:nvPr/>
        </p:nvSpPr>
        <p:spPr>
          <a:xfrm>
            <a:off x="6245352" y="5623559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25C66"/>
                </a:solidFill>
                <a:latin typeface="Arial"/>
              </a:rPr>
              <a:t>Connected components of this mask</a:t>
            </a:r>
          </a:p>
        </p:txBody>
      </p:sp>
      <p:sp>
        <p:nvSpPr>
          <p:cNvPr id="8" name="V4 text"/>
          <p:cNvSpPr txBox="1"/>
          <p:nvPr/>
        </p:nvSpPr>
        <p:spPr>
          <a:xfrm>
            <a:off x="594360" y="5989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Illustration of instance separation—not an instance-model prediction.</a:t>
            </a:r>
          </a:p>
        </p:txBody>
      </p:sp>
      <p:sp>
        <p:nvSpPr>
          <p:cNvPr id="9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34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03 / CORE TASKS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One photograph. Three outputs.</a:t>
            </a:r>
          </a:p>
        </p:txBody>
      </p:sp>
      <p:pic>
        <p:nvPicPr>
          <p:cNvPr id="4" name="cat_dog_mix" descr="cat dog mi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27366"/>
            <a:ext cx="3474720" cy="2314163"/>
          </a:xfrm>
          <a:prstGeom prst="rect">
            <a:avLst/>
          </a:prstGeom>
        </p:spPr>
      </p:pic>
      <p:sp>
        <p:nvSpPr>
          <p:cNvPr id="5" name="V4 text"/>
          <p:cNvSpPr txBox="1"/>
          <p:nvPr/>
        </p:nvSpPr>
        <p:spPr>
          <a:xfrm>
            <a:off x="594360" y="550468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11111"/>
                </a:solidFill>
                <a:latin typeface="Arial"/>
              </a:rPr>
              <a:t>Classification: dog</a:t>
            </a:r>
          </a:p>
        </p:txBody>
      </p:sp>
      <p:pic>
        <p:nvPicPr>
          <p:cNvPr id="6" name="faster_mix_boxes" descr="faster mix box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2427655"/>
            <a:ext cx="3474720" cy="2313584"/>
          </a:xfrm>
          <a:prstGeom prst="rect">
            <a:avLst/>
          </a:prstGeom>
        </p:spPr>
      </p:pic>
      <p:sp>
        <p:nvSpPr>
          <p:cNvPr id="7" name="V4 text"/>
          <p:cNvSpPr txBox="1"/>
          <p:nvPr/>
        </p:nvSpPr>
        <p:spPr>
          <a:xfrm>
            <a:off x="4361688" y="550468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11111"/>
                </a:solidFill>
                <a:latin typeface="Arial"/>
              </a:rPr>
              <a:t>Detection</a:t>
            </a:r>
          </a:p>
        </p:txBody>
      </p:sp>
      <p:pic>
        <p:nvPicPr>
          <p:cNvPr id="8" name="deeplab_mix_overlay" descr="deeplab mix overla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9016" y="2427366"/>
            <a:ext cx="3474720" cy="2314163"/>
          </a:xfrm>
          <a:prstGeom prst="rect">
            <a:avLst/>
          </a:prstGeom>
        </p:spPr>
      </p:pic>
      <p:sp>
        <p:nvSpPr>
          <p:cNvPr id="9" name="V4 text"/>
          <p:cNvSpPr txBox="1"/>
          <p:nvPr/>
        </p:nvSpPr>
        <p:spPr>
          <a:xfrm>
            <a:off x="8129016" y="550468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11111"/>
                </a:solidFill>
                <a:latin typeface="Arial"/>
              </a:rPr>
              <a:t>Segmentation</a:t>
            </a:r>
          </a:p>
        </p:txBody>
      </p:sp>
      <p:sp>
        <p:nvSpPr>
          <p:cNvPr id="10" name="V4 text"/>
          <p:cNvSpPr txBox="1"/>
          <p:nvPr/>
        </p:nvSpPr>
        <p:spPr>
          <a:xfrm>
            <a:off x="594360" y="5989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  <a:latin typeface="Arial"/>
              </a:rPr>
              <a:t>Whole-image category · Object boxes · Pixel labels</a:t>
            </a:r>
          </a:p>
        </p:txBody>
      </p:sp>
      <p:sp>
        <p:nvSpPr>
          <p:cNvPr id="11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35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03 / LABELS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The task determines the annotation</a:t>
            </a:r>
          </a:p>
        </p:txBody>
      </p:sp>
      <p:pic>
        <p:nvPicPr>
          <p:cNvPr id="4" name="cat" descr="ca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02443"/>
            <a:ext cx="3474720" cy="2318289"/>
          </a:xfrm>
          <a:prstGeom prst="rect">
            <a:avLst/>
          </a:prstGeom>
        </p:spPr>
      </p:pic>
      <p:sp>
        <p:nvSpPr>
          <p:cNvPr id="5" name="V4 text"/>
          <p:cNvSpPr txBox="1"/>
          <p:nvPr/>
        </p:nvSpPr>
        <p:spPr>
          <a:xfrm>
            <a:off x="594360" y="5449824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11111"/>
                </a:solidFill>
                <a:latin typeface="Arial"/>
              </a:rPr>
              <a:t>Class label: cat</a:t>
            </a:r>
          </a:p>
        </p:txBody>
      </p:sp>
      <p:pic>
        <p:nvPicPr>
          <p:cNvPr id="6" name="cat_box_annotation" descr="cat box annot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2402443"/>
            <a:ext cx="3474720" cy="2318289"/>
          </a:xfrm>
          <a:prstGeom prst="rect">
            <a:avLst/>
          </a:prstGeom>
        </p:spPr>
      </p:pic>
      <p:sp>
        <p:nvSpPr>
          <p:cNvPr id="7" name="V4 text"/>
          <p:cNvSpPr txBox="1"/>
          <p:nvPr/>
        </p:nvSpPr>
        <p:spPr>
          <a:xfrm>
            <a:off x="4361688" y="5449824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11111"/>
                </a:solidFill>
                <a:latin typeface="Arial"/>
              </a:rPr>
              <a:t>Bounding-box annotation</a:t>
            </a:r>
          </a:p>
        </p:txBody>
      </p:sp>
      <p:pic>
        <p:nvPicPr>
          <p:cNvPr id="8" name="weed_annotation_mask" descr="weed annotation mas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9016" y="2403348"/>
            <a:ext cx="3474720" cy="2316480"/>
          </a:xfrm>
          <a:prstGeom prst="rect">
            <a:avLst/>
          </a:prstGeom>
        </p:spPr>
      </p:pic>
      <p:sp>
        <p:nvSpPr>
          <p:cNvPr id="9" name="V4 text"/>
          <p:cNvSpPr txBox="1"/>
          <p:nvPr/>
        </p:nvSpPr>
        <p:spPr>
          <a:xfrm>
            <a:off x="8129016" y="5449824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11111"/>
                </a:solidFill>
                <a:latin typeface="Arial"/>
              </a:rPr>
              <a:t>Pixel-mask annotation</a:t>
            </a:r>
          </a:p>
        </p:txBody>
      </p:sp>
      <p:sp>
        <p:nvSpPr>
          <p:cNvPr id="10" name="V4 text"/>
          <p:cNvSpPr txBox="1"/>
          <p:nvPr/>
        </p:nvSpPr>
        <p:spPr>
          <a:xfrm>
            <a:off x="594360" y="5989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Training labels are supplied targets—not the model’s predictions.</a:t>
            </a:r>
          </a:p>
        </p:txBody>
      </p:sp>
      <p:sp>
        <p:nvSpPr>
          <p:cNvPr id="11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36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03 / APPLICATIONS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From field photograph to segmentation</a:t>
            </a:r>
          </a:p>
        </p:txBody>
      </p:sp>
      <p:pic>
        <p:nvPicPr>
          <p:cNvPr id="4" name="raw_weed" descr="raw we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16" y="1783080"/>
            <a:ext cx="5112327" cy="3749039"/>
          </a:xfrm>
          <a:prstGeom prst="rect">
            <a:avLst/>
          </a:prstGeom>
        </p:spPr>
      </p:pic>
      <p:pic>
        <p:nvPicPr>
          <p:cNvPr id="5" name="weed_overlay_clean" descr="weed overlay clea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8602" y="1783080"/>
            <a:ext cx="5282738" cy="3749039"/>
          </a:xfrm>
          <a:prstGeom prst="rect">
            <a:avLst/>
          </a:prstGeom>
        </p:spPr>
      </p:pic>
      <p:sp>
        <p:nvSpPr>
          <p:cNvPr id="6" name="V4 text"/>
          <p:cNvSpPr txBox="1"/>
          <p:nvPr/>
        </p:nvSpPr>
        <p:spPr>
          <a:xfrm>
            <a:off x="594360" y="5623559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25C66"/>
                </a:solidFill>
                <a:latin typeface="Arial"/>
              </a:rPr>
              <a:t>Field photograph</a:t>
            </a:r>
          </a:p>
        </p:txBody>
      </p:sp>
      <p:sp>
        <p:nvSpPr>
          <p:cNvPr id="7" name="V4 text"/>
          <p:cNvSpPr txBox="1"/>
          <p:nvPr/>
        </p:nvSpPr>
        <p:spPr>
          <a:xfrm>
            <a:off x="6245352" y="5623559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25C66"/>
                </a:solidFill>
                <a:latin typeface="Arial"/>
              </a:rPr>
              <a:t>Supplied segmentation overlay</a:t>
            </a:r>
          </a:p>
        </p:txBody>
      </p:sp>
      <p:sp>
        <p:nvSpPr>
          <p:cNvPr id="8" name="V4 text"/>
          <p:cNvSpPr txBox="1"/>
          <p:nvPr/>
        </p:nvSpPr>
        <p:spPr>
          <a:xfrm>
            <a:off x="594360" y="5989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  <a:latin typeface="Arial"/>
              </a:rPr>
              <a:t>Pixel labels can support vegetation mapping.</a:t>
            </a:r>
          </a:p>
        </p:txBody>
      </p:sp>
      <p:sp>
        <p:nvSpPr>
          <p:cNvPr id="9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37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Shape 3"/>
          <p:cNvSpPr/>
          <p:nvPr/>
        </p:nvSpPr>
        <p:spPr>
          <a:xfrm>
            <a:off x="621720" y="6492240"/>
            <a:ext cx="10927080" cy="360"/>
          </a:xfrm>
          <a:prstGeom prst="line">
            <a:avLst/>
          </a:prstGeom>
          <a:ln w="1016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6"/>
          <p:cNvSpPr/>
          <p:nvPr/>
        </p:nvSpPr>
        <p:spPr>
          <a:xfrm>
            <a:off x="621720" y="50292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03 / CHOOSING THE TASK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7"/>
          <p:cNvSpPr/>
          <p:nvPr/>
        </p:nvSpPr>
        <p:spPr>
          <a:xfrm>
            <a:off x="621720" y="914400"/>
            <a:ext cx="1097244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Match the task to the output you need.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8"/>
          <p:cNvSpPr/>
          <p:nvPr/>
        </p:nvSpPr>
        <p:spPr>
          <a:xfrm>
            <a:off x="640080" y="1600200"/>
            <a:ext cx="10606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Each scenario asks for a different kind of answer.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9"/>
          <p:cNvSpPr/>
          <p:nvPr/>
        </p:nvSpPr>
        <p:spPr>
          <a:xfrm>
            <a:off x="658440" y="2240280"/>
            <a:ext cx="3520080" cy="3200040"/>
          </a:xfrm>
          <a:prstGeom prst="roundRect">
            <a:avLst>
              <a:gd name="adj" fmla="val 4571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10"/>
          <p:cNvSpPr/>
          <p:nvPr/>
        </p:nvSpPr>
        <p:spPr>
          <a:xfrm>
            <a:off x="932760" y="2514600"/>
            <a:ext cx="383760" cy="383760"/>
          </a:xfrm>
          <a:prstGeom prst="ellipse">
            <a:avLst/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11"/>
          <p:cNvSpPr/>
          <p:nvPr/>
        </p:nvSpPr>
        <p:spPr>
          <a:xfrm>
            <a:off x="941760" y="2541960"/>
            <a:ext cx="365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12"/>
          <p:cNvSpPr/>
          <p:nvPr/>
        </p:nvSpPr>
        <p:spPr>
          <a:xfrm>
            <a:off x="914400" y="3099960"/>
            <a:ext cx="3008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Identify the species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13"/>
          <p:cNvSpPr/>
          <p:nvPr/>
        </p:nvSpPr>
        <p:spPr>
          <a:xfrm>
            <a:off x="914400" y="3749040"/>
            <a:ext cx="30081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Given one photograph, name the animal.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14"/>
          <p:cNvSpPr/>
          <p:nvPr/>
        </p:nvSpPr>
        <p:spPr>
          <a:xfrm>
            <a:off x="4361760" y="2240280"/>
            <a:ext cx="3520080" cy="3200040"/>
          </a:xfrm>
          <a:prstGeom prst="roundRect">
            <a:avLst>
              <a:gd name="adj" fmla="val 4571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15"/>
          <p:cNvSpPr/>
          <p:nvPr/>
        </p:nvSpPr>
        <p:spPr>
          <a:xfrm>
            <a:off x="4636080" y="2514600"/>
            <a:ext cx="383760" cy="383760"/>
          </a:xfrm>
          <a:prstGeom prst="ellipse">
            <a:avLst/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16"/>
          <p:cNvSpPr/>
          <p:nvPr/>
        </p:nvSpPr>
        <p:spPr>
          <a:xfrm>
            <a:off x="4645080" y="2541960"/>
            <a:ext cx="365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17"/>
          <p:cNvSpPr/>
          <p:nvPr/>
        </p:nvSpPr>
        <p:spPr>
          <a:xfrm>
            <a:off x="4617720" y="3099960"/>
            <a:ext cx="3008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Count the cars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18"/>
          <p:cNvSpPr/>
          <p:nvPr/>
        </p:nvSpPr>
        <p:spPr>
          <a:xfrm>
            <a:off x="4617720" y="3749040"/>
            <a:ext cx="30081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Find every car in a traffic image.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19"/>
          <p:cNvSpPr/>
          <p:nvPr/>
        </p:nvSpPr>
        <p:spPr>
          <a:xfrm>
            <a:off x="8074080" y="2240280"/>
            <a:ext cx="3456000" cy="3200040"/>
          </a:xfrm>
          <a:prstGeom prst="roundRect">
            <a:avLst>
              <a:gd name="adj" fmla="val 4571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20"/>
          <p:cNvSpPr/>
          <p:nvPr/>
        </p:nvSpPr>
        <p:spPr>
          <a:xfrm>
            <a:off x="8348400" y="2514600"/>
            <a:ext cx="383760" cy="383760"/>
          </a:xfrm>
          <a:prstGeom prst="ellipse">
            <a:avLst/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21"/>
          <p:cNvSpPr/>
          <p:nvPr/>
        </p:nvSpPr>
        <p:spPr>
          <a:xfrm>
            <a:off x="8357760" y="2541960"/>
            <a:ext cx="365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22"/>
          <p:cNvSpPr/>
          <p:nvPr/>
        </p:nvSpPr>
        <p:spPr>
          <a:xfrm>
            <a:off x="8330040" y="3099960"/>
            <a:ext cx="2944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Measure damaged area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23"/>
          <p:cNvSpPr/>
          <p:nvPr/>
        </p:nvSpPr>
        <p:spPr>
          <a:xfrm>
            <a:off x="8330040" y="3749040"/>
            <a:ext cx="29440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Mark every pixel of a defect.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38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Shape 3"/>
          <p:cNvSpPr/>
          <p:nvPr/>
        </p:nvSpPr>
        <p:spPr>
          <a:xfrm>
            <a:off x="621720" y="6492240"/>
            <a:ext cx="10927080" cy="360"/>
          </a:xfrm>
          <a:prstGeom prst="line">
            <a:avLst/>
          </a:prstGeom>
          <a:ln w="1016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6"/>
          <p:cNvSpPr/>
          <p:nvPr/>
        </p:nvSpPr>
        <p:spPr>
          <a:xfrm>
            <a:off x="603360" y="1097280"/>
            <a:ext cx="10954080" cy="4845960"/>
          </a:xfrm>
          <a:prstGeom prst="roundRect">
            <a:avLst>
              <a:gd name="adj" fmla="val 4151"/>
            </a:avLst>
          </a:prstGeom>
          <a:solidFill>
            <a:srgbClr val="F1F4F7"/>
          </a:solidFill>
          <a:ln w="12700">
            <a:solidFill>
              <a:srgbClr val="E4EAF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7"/>
          <p:cNvSpPr/>
          <p:nvPr/>
        </p:nvSpPr>
        <p:spPr>
          <a:xfrm>
            <a:off x="1005840" y="1600200"/>
            <a:ext cx="8229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04 / DEEP VISUAL LEARNING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8"/>
          <p:cNvSpPr/>
          <p:nvPr/>
        </p:nvSpPr>
        <p:spPr>
          <a:xfrm>
            <a:off x="1005840" y="2331720"/>
            <a:ext cx="98751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1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How does a neural network</a:t>
            </a:r>
            <a:endParaRPr lang="en-US" sz="5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1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learn to see?</a:t>
            </a:r>
            <a:endParaRPr lang="en-US" sz="5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9"/>
          <p:cNvSpPr/>
          <p:nvPr/>
        </p:nvSpPr>
        <p:spPr>
          <a:xfrm>
            <a:off x="1005840" y="4800600"/>
            <a:ext cx="9600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From handcrafted filters to learned representations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39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Shape 3"/>
          <p:cNvSpPr/>
          <p:nvPr/>
        </p:nvSpPr>
        <p:spPr>
          <a:xfrm>
            <a:off x="621720" y="6492240"/>
            <a:ext cx="10927080" cy="360"/>
          </a:xfrm>
          <a:prstGeom prst="line">
            <a:avLst/>
          </a:prstGeom>
          <a:ln w="1016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6"/>
          <p:cNvSpPr/>
          <p:nvPr/>
        </p:nvSpPr>
        <p:spPr>
          <a:xfrm>
            <a:off x="621720" y="50292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04 / FEATURE LEARNING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7"/>
          <p:cNvSpPr/>
          <p:nvPr/>
        </p:nvSpPr>
        <p:spPr>
          <a:xfrm>
            <a:off x="621720" y="914400"/>
            <a:ext cx="1097244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Classical ML versus deep learning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8"/>
          <p:cNvSpPr/>
          <p:nvPr/>
        </p:nvSpPr>
        <p:spPr>
          <a:xfrm>
            <a:off x="640080" y="1600200"/>
            <a:ext cx="10606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The defining difference: who designs the features?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9"/>
          <p:cNvSpPr/>
          <p:nvPr/>
        </p:nvSpPr>
        <p:spPr>
          <a:xfrm>
            <a:off x="649080" y="2139840"/>
            <a:ext cx="5294160" cy="3584160"/>
          </a:xfrm>
          <a:prstGeom prst="roundRect">
            <a:avLst>
              <a:gd name="adj" fmla="val 3571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10"/>
          <p:cNvSpPr/>
          <p:nvPr/>
        </p:nvSpPr>
        <p:spPr>
          <a:xfrm>
            <a:off x="6181200" y="2139840"/>
            <a:ext cx="5330520" cy="3584160"/>
          </a:xfrm>
          <a:prstGeom prst="roundRect">
            <a:avLst>
              <a:gd name="adj" fmla="val 3571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11"/>
          <p:cNvSpPr/>
          <p:nvPr/>
        </p:nvSpPr>
        <p:spPr>
          <a:xfrm>
            <a:off x="914400" y="2441520"/>
            <a:ext cx="4571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TRADITIONAL PIPELINE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12"/>
          <p:cNvSpPr/>
          <p:nvPr/>
        </p:nvSpPr>
        <p:spPr>
          <a:xfrm>
            <a:off x="887040" y="3273480"/>
            <a:ext cx="4626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image → manual features → classifier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13"/>
          <p:cNvSpPr/>
          <p:nvPr/>
        </p:nvSpPr>
        <p:spPr>
          <a:xfrm>
            <a:off x="914400" y="4672440"/>
            <a:ext cx="456264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An engineer specifies edges, texture or shape descriptors.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14"/>
          <p:cNvSpPr/>
          <p:nvPr/>
        </p:nvSpPr>
        <p:spPr>
          <a:xfrm>
            <a:off x="6428160" y="2441520"/>
            <a:ext cx="4663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DEEP LEARNING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15"/>
          <p:cNvSpPr/>
          <p:nvPr/>
        </p:nvSpPr>
        <p:spPr>
          <a:xfrm>
            <a:off x="6400800" y="3273480"/>
            <a:ext cx="4617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image → learned features → prediction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16"/>
          <p:cNvSpPr/>
          <p:nvPr/>
        </p:nvSpPr>
        <p:spPr>
          <a:xfrm>
            <a:off x="6428160" y="4672440"/>
            <a:ext cx="4562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Model parameters are optimized from labelled examples.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40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04 / CNN BASICS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A kernel moves across a pixel grid</a:t>
            </a:r>
          </a:p>
        </p:txBody>
      </p:sp>
      <p:pic>
        <p:nvPicPr>
          <p:cNvPr id="4" name="convolution" descr="convolu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11018520" cy="4407408"/>
          </a:xfrm>
          <a:prstGeom prst="rect">
            <a:avLst/>
          </a:prstGeom>
        </p:spPr>
      </p:pic>
      <p:sp>
        <p:nvSpPr>
          <p:cNvPr id="5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41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04 / CNN BASICS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The same window moves across the photograph</a:t>
            </a:r>
          </a:p>
        </p:txBody>
      </p:sp>
      <p:pic>
        <p:nvPicPr>
          <p:cNvPr id="4" name="moving_window" descr="moving windo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796" y="1645920"/>
            <a:ext cx="10307647" cy="4407408"/>
          </a:xfrm>
          <a:prstGeom prst="rect">
            <a:avLst/>
          </a:prstGeom>
        </p:spPr>
      </p:pic>
      <p:sp>
        <p:nvSpPr>
          <p:cNvPr id="5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42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04 / LEARNED FEATURES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Feature maps from a pretrained CNN</a:t>
            </a:r>
          </a:p>
        </p:txBody>
      </p:sp>
      <p:sp>
        <p:nvSpPr>
          <p:cNvPr id="4" name="V4 text"/>
          <p:cNvSpPr txBox="1"/>
          <p:nvPr/>
        </p:nvSpPr>
        <p:spPr>
          <a:xfrm>
            <a:off x="594360" y="13075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25C66"/>
                </a:solidFill>
                <a:latin typeface="Arial"/>
              </a:rPr>
              <a:t>ResNet18 · same input, different numerical responses</a:t>
            </a:r>
          </a:p>
        </p:txBody>
      </p:sp>
      <p:pic>
        <p:nvPicPr>
          <p:cNvPr id="5" name="feature_model_input" descr="feature model inp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65960"/>
            <a:ext cx="2880360" cy="2880360"/>
          </a:xfrm>
          <a:prstGeom prst="rect">
            <a:avLst/>
          </a:prstGeom>
        </p:spPr>
      </p:pic>
      <p:pic>
        <p:nvPicPr>
          <p:cNvPr id="6" name="features_relu_grid" descr="features relu gri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1950139"/>
            <a:ext cx="3749039" cy="3451497"/>
          </a:xfrm>
          <a:prstGeom prst="rect">
            <a:avLst/>
          </a:prstGeom>
        </p:spPr>
      </p:pic>
      <p:pic>
        <p:nvPicPr>
          <p:cNvPr id="7" name="features_layer4_grid" descr="features layer4 gri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1950139"/>
            <a:ext cx="3749039" cy="3451497"/>
          </a:xfrm>
          <a:prstGeom prst="rect">
            <a:avLst/>
          </a:prstGeom>
        </p:spPr>
      </p:pic>
      <p:sp>
        <p:nvSpPr>
          <p:cNvPr id="8" name="V4 text"/>
          <p:cNvSpPr txBox="1"/>
          <p:nvPr/>
        </p:nvSpPr>
        <p:spPr>
          <a:xfrm>
            <a:off x="594360" y="5623560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Model input: 224 × 224</a:t>
            </a:r>
          </a:p>
        </p:txBody>
      </p:sp>
      <p:sp>
        <p:nvSpPr>
          <p:cNvPr id="9" name="V4 text"/>
          <p:cNvSpPr txBox="1"/>
          <p:nvPr/>
        </p:nvSpPr>
        <p:spPr>
          <a:xfrm>
            <a:off x="3703320" y="5623560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Early layer: ReLU</a:t>
            </a:r>
          </a:p>
        </p:txBody>
      </p:sp>
      <p:sp>
        <p:nvSpPr>
          <p:cNvPr id="10" name="V4 text"/>
          <p:cNvSpPr txBox="1"/>
          <p:nvPr/>
        </p:nvSpPr>
        <p:spPr>
          <a:xfrm>
            <a:off x="7818120" y="5623560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Deeper layer: layer4</a:t>
            </a:r>
          </a:p>
        </p:txBody>
      </p:sp>
      <p:sp>
        <p:nvSpPr>
          <p:cNvPr id="11" name="V4 text"/>
          <p:cNvSpPr txBox="1"/>
          <p:nvPr/>
        </p:nvSpPr>
        <p:spPr>
          <a:xfrm>
            <a:off x="594360" y="6144768"/>
            <a:ext cx="110185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25C66"/>
                </a:solidFill>
                <a:latin typeface="Arial"/>
              </a:rPr>
              <a:t>Selected channels; each display independently scaled for visibility.</a:t>
            </a:r>
          </a:p>
        </p:txBody>
      </p:sp>
      <p:sp>
        <p:nvSpPr>
          <p:cNvPr id="12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44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04 / CLASSIFICATION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From feature maps to a cat prediction</a:t>
            </a:r>
          </a:p>
        </p:txBody>
      </p:sp>
      <p:sp>
        <p:nvSpPr>
          <p:cNvPr id="4" name="V4 text"/>
          <p:cNvSpPr txBox="1"/>
          <p:nvPr/>
        </p:nvSpPr>
        <p:spPr>
          <a:xfrm>
            <a:off x="594360" y="13075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25C66"/>
                </a:solidFill>
                <a:latin typeface="Arial"/>
              </a:rPr>
              <a:t>ResNet18 · ImageNet-1K</a:t>
            </a:r>
          </a:p>
        </p:txBody>
      </p:sp>
      <p:pic>
        <p:nvPicPr>
          <p:cNvPr id="5" name="feature_model_input" descr="feature model inp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20240"/>
            <a:ext cx="2606040" cy="2606040"/>
          </a:xfrm>
          <a:prstGeom prst="rect">
            <a:avLst/>
          </a:prstGeom>
        </p:spPr>
      </p:pic>
      <p:pic>
        <p:nvPicPr>
          <p:cNvPr id="6" name="features_layer4_grid" descr="features layer4 gri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269" y="1737360"/>
            <a:ext cx="3525957" cy="3246120"/>
          </a:xfrm>
          <a:prstGeom prst="rect">
            <a:avLst/>
          </a:prstGeom>
        </p:spPr>
      </p:pic>
      <p:pic>
        <p:nvPicPr>
          <p:cNvPr id="7" name="features_prediction" descr="features predic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2088" y="2323104"/>
            <a:ext cx="4069080" cy="2211791"/>
          </a:xfrm>
          <a:prstGeom prst="rect">
            <a:avLst/>
          </a:prstGeom>
        </p:spPr>
      </p:pic>
      <p:sp>
        <p:nvSpPr>
          <p:cNvPr id="8" name="V4 text"/>
          <p:cNvSpPr txBox="1"/>
          <p:nvPr/>
        </p:nvSpPr>
        <p:spPr>
          <a:xfrm>
            <a:off x="594360" y="5212080"/>
            <a:ext cx="2606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  <a:latin typeface="Arial"/>
              </a:rPr>
              <a:t>Input image</a:t>
            </a:r>
          </a:p>
        </p:txBody>
      </p:sp>
      <p:sp>
        <p:nvSpPr>
          <p:cNvPr id="9" name="V4 text"/>
          <p:cNvSpPr txBox="1"/>
          <p:nvPr/>
        </p:nvSpPr>
        <p:spPr>
          <a:xfrm>
            <a:off x="3538728" y="5212080"/>
            <a:ext cx="3749039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  <a:latin typeface="Arial"/>
              </a:rPr>
              <a:t>Feature maps → pooled vector</a:t>
            </a:r>
          </a:p>
        </p:txBody>
      </p:sp>
      <p:sp>
        <p:nvSpPr>
          <p:cNvPr id="10" name="V4 text"/>
          <p:cNvSpPr txBox="1"/>
          <p:nvPr/>
        </p:nvSpPr>
        <p:spPr>
          <a:xfrm>
            <a:off x="7562088" y="5212080"/>
            <a:ext cx="4069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  <a:latin typeface="Arial"/>
              </a:rPr>
              <a:t>Class probabilities</a:t>
            </a:r>
          </a:p>
        </p:txBody>
      </p:sp>
      <p:sp>
        <p:nvSpPr>
          <p:cNvPr id="11" name="V4 text"/>
          <p:cNvSpPr txBox="1"/>
          <p:nvPr/>
        </p:nvSpPr>
        <p:spPr>
          <a:xfrm>
            <a:off x="594360" y="5989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11111"/>
                </a:solidFill>
                <a:latin typeface="Arial"/>
              </a:rPr>
              <a:t>512 pooled features → learned linear weights → 1,000 class scores</a:t>
            </a:r>
          </a:p>
        </p:txBody>
      </p:sp>
      <p:sp>
        <p:nvSpPr>
          <p:cNvPr id="12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45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04 / CNN BASICS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ReLU and max pooling transform responses</a:t>
            </a:r>
          </a:p>
        </p:txBody>
      </p:sp>
      <p:pic>
        <p:nvPicPr>
          <p:cNvPr id="4" name="relu_pooling" descr="relu pooli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9562"/>
            <a:ext cx="11018520" cy="4040123"/>
          </a:xfrm>
          <a:prstGeom prst="rect">
            <a:avLst/>
          </a:prstGeom>
        </p:spPr>
      </p:pic>
      <p:sp>
        <p:nvSpPr>
          <p:cNvPr id="5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43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04 / FEATURE INTERPRETATION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Feature maps are responses—not named parts</a:t>
            </a:r>
          </a:p>
        </p:txBody>
      </p:sp>
      <p:pic>
        <p:nvPicPr>
          <p:cNvPr id="4" name="features_layer1" descr="features layer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840" y="1783080"/>
            <a:ext cx="10939559" cy="2971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" y="5056632"/>
            <a:ext cx="5029200" cy="1024128"/>
          </a:xfrm>
          <a:prstGeom prst="round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4 text"/>
          <p:cNvSpPr txBox="1"/>
          <p:nvPr/>
        </p:nvSpPr>
        <p:spPr>
          <a:xfrm>
            <a:off x="1005840" y="5221224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Different channels respond differently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5056632"/>
            <a:ext cx="5029200" cy="1024128"/>
          </a:xfrm>
          <a:prstGeom prst="round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V4 text"/>
          <p:cNvSpPr txBox="1"/>
          <p:nvPr/>
        </p:nvSpPr>
        <p:spPr>
          <a:xfrm>
            <a:off x="6355080" y="5221224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Maps alone do not explain a decision</a:t>
            </a:r>
          </a:p>
        </p:txBody>
      </p:sp>
      <p:sp>
        <p:nvSpPr>
          <p:cNvPr id="9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46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Shape 3"/>
          <p:cNvSpPr/>
          <p:nvPr/>
        </p:nvSpPr>
        <p:spPr>
          <a:xfrm>
            <a:off x="621720" y="6492240"/>
            <a:ext cx="10927080" cy="360"/>
          </a:xfrm>
          <a:prstGeom prst="line">
            <a:avLst/>
          </a:prstGeom>
          <a:ln w="1016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6"/>
          <p:cNvSpPr/>
          <p:nvPr/>
        </p:nvSpPr>
        <p:spPr>
          <a:xfrm>
            <a:off x="621720" y="50292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04 / CNN BASICS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7"/>
          <p:cNvSpPr/>
          <p:nvPr/>
        </p:nvSpPr>
        <p:spPr>
          <a:xfrm>
            <a:off x="621720" y="914400"/>
            <a:ext cx="1097244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A CNN has two conceptual stages.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8"/>
          <p:cNvSpPr/>
          <p:nvPr/>
        </p:nvSpPr>
        <p:spPr>
          <a:xfrm>
            <a:off x="640080" y="1600200"/>
            <a:ext cx="10606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Feature extractor + task-specific output head.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Shape 9"/>
          <p:cNvSpPr/>
          <p:nvPr/>
        </p:nvSpPr>
        <p:spPr>
          <a:xfrm>
            <a:off x="640080" y="285300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10"/>
          <p:cNvSpPr/>
          <p:nvPr/>
        </p:nvSpPr>
        <p:spPr>
          <a:xfrm>
            <a:off x="786240" y="299016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11"/>
          <p:cNvSpPr/>
          <p:nvPr/>
        </p:nvSpPr>
        <p:spPr>
          <a:xfrm>
            <a:off x="786240" y="337428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INPUT IMAGE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12"/>
          <p:cNvSpPr/>
          <p:nvPr/>
        </p:nvSpPr>
        <p:spPr>
          <a:xfrm>
            <a:off x="2701080" y="3529440"/>
            <a:ext cx="127800" cy="360"/>
          </a:xfrm>
          <a:prstGeom prst="line">
            <a:avLst/>
          </a:prstGeom>
          <a:ln w="190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Shape 13"/>
          <p:cNvSpPr/>
          <p:nvPr/>
        </p:nvSpPr>
        <p:spPr>
          <a:xfrm>
            <a:off x="2847600" y="285300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E8EEF4"/>
          </a:solidFill>
          <a:ln w="12700">
            <a:solidFill>
              <a:srgbClr val="D8E2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14"/>
          <p:cNvSpPr/>
          <p:nvPr/>
        </p:nvSpPr>
        <p:spPr>
          <a:xfrm>
            <a:off x="2993760" y="299016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15"/>
          <p:cNvSpPr/>
          <p:nvPr/>
        </p:nvSpPr>
        <p:spPr>
          <a:xfrm>
            <a:off x="2993760" y="337428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CONV BLOCKS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Shape 16"/>
          <p:cNvSpPr/>
          <p:nvPr/>
        </p:nvSpPr>
        <p:spPr>
          <a:xfrm>
            <a:off x="4908240" y="3529440"/>
            <a:ext cx="128160" cy="360"/>
          </a:xfrm>
          <a:prstGeom prst="line">
            <a:avLst/>
          </a:prstGeom>
          <a:ln w="190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Shape 17"/>
          <p:cNvSpPr/>
          <p:nvPr/>
        </p:nvSpPr>
        <p:spPr>
          <a:xfrm>
            <a:off x="5054760" y="285300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18"/>
          <p:cNvSpPr/>
          <p:nvPr/>
        </p:nvSpPr>
        <p:spPr>
          <a:xfrm>
            <a:off x="5201280" y="299016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19"/>
          <p:cNvSpPr/>
          <p:nvPr/>
        </p:nvSpPr>
        <p:spPr>
          <a:xfrm>
            <a:off x="5201280" y="337428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FEATURE MAPS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Shape 20"/>
          <p:cNvSpPr/>
          <p:nvPr/>
        </p:nvSpPr>
        <p:spPr>
          <a:xfrm>
            <a:off x="7115760" y="3529440"/>
            <a:ext cx="127800" cy="360"/>
          </a:xfrm>
          <a:prstGeom prst="line">
            <a:avLst/>
          </a:prstGeom>
          <a:ln w="190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21"/>
          <p:cNvSpPr/>
          <p:nvPr/>
        </p:nvSpPr>
        <p:spPr>
          <a:xfrm>
            <a:off x="7262280" y="285300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E8EEF4"/>
          </a:solidFill>
          <a:ln w="12700">
            <a:solidFill>
              <a:srgbClr val="D8E2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22"/>
          <p:cNvSpPr/>
          <p:nvPr/>
        </p:nvSpPr>
        <p:spPr>
          <a:xfrm>
            <a:off x="7408440" y="299016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23"/>
          <p:cNvSpPr/>
          <p:nvPr/>
        </p:nvSpPr>
        <p:spPr>
          <a:xfrm>
            <a:off x="7408440" y="337428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TASK HEAD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Shape 24"/>
          <p:cNvSpPr/>
          <p:nvPr/>
        </p:nvSpPr>
        <p:spPr>
          <a:xfrm>
            <a:off x="9322920" y="3529440"/>
            <a:ext cx="128160" cy="360"/>
          </a:xfrm>
          <a:prstGeom prst="line">
            <a:avLst/>
          </a:prstGeom>
          <a:ln w="190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Shape 25"/>
          <p:cNvSpPr/>
          <p:nvPr/>
        </p:nvSpPr>
        <p:spPr>
          <a:xfrm>
            <a:off x="9469440" y="285300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26"/>
          <p:cNvSpPr/>
          <p:nvPr/>
        </p:nvSpPr>
        <p:spPr>
          <a:xfrm>
            <a:off x="9615960" y="299016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27"/>
          <p:cNvSpPr/>
          <p:nvPr/>
        </p:nvSpPr>
        <p:spPr>
          <a:xfrm>
            <a:off x="9615960" y="337428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OUTPUT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28"/>
          <p:cNvSpPr/>
          <p:nvPr/>
        </p:nvSpPr>
        <p:spPr>
          <a:xfrm>
            <a:off x="1005840" y="470916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You can change the task by changing what the head predicts.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47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Shape 3"/>
          <p:cNvSpPr/>
          <p:nvPr/>
        </p:nvSpPr>
        <p:spPr>
          <a:xfrm>
            <a:off x="621720" y="6492240"/>
            <a:ext cx="10927080" cy="360"/>
          </a:xfrm>
          <a:prstGeom prst="line">
            <a:avLst/>
          </a:prstGeom>
          <a:ln w="1016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6"/>
          <p:cNvSpPr/>
          <p:nvPr/>
        </p:nvSpPr>
        <p:spPr>
          <a:xfrm>
            <a:off x="621720" y="50292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04 / TRAINING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7"/>
          <p:cNvSpPr/>
          <p:nvPr/>
        </p:nvSpPr>
        <p:spPr>
          <a:xfrm>
            <a:off x="621720" y="914400"/>
            <a:ext cx="1097244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Training is a repeated correction loop.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8"/>
          <p:cNvSpPr/>
          <p:nvPr/>
        </p:nvSpPr>
        <p:spPr>
          <a:xfrm>
            <a:off x="640080" y="1600200"/>
            <a:ext cx="10606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The model adjusts parameters to reduce prediction error.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9"/>
          <p:cNvSpPr/>
          <p:nvPr/>
        </p:nvSpPr>
        <p:spPr>
          <a:xfrm>
            <a:off x="640080" y="288036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10"/>
          <p:cNvSpPr/>
          <p:nvPr/>
        </p:nvSpPr>
        <p:spPr>
          <a:xfrm>
            <a:off x="786240" y="301752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11"/>
          <p:cNvSpPr/>
          <p:nvPr/>
        </p:nvSpPr>
        <p:spPr>
          <a:xfrm>
            <a:off x="786240" y="340164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EXAMPLE + LABEL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Shape 12"/>
          <p:cNvSpPr/>
          <p:nvPr/>
        </p:nvSpPr>
        <p:spPr>
          <a:xfrm>
            <a:off x="2701080" y="3556800"/>
            <a:ext cx="127800" cy="360"/>
          </a:xfrm>
          <a:prstGeom prst="line">
            <a:avLst/>
          </a:prstGeom>
          <a:ln w="190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Shape 13"/>
          <p:cNvSpPr/>
          <p:nvPr/>
        </p:nvSpPr>
        <p:spPr>
          <a:xfrm>
            <a:off x="2847600" y="288036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E8EEF4"/>
          </a:solidFill>
          <a:ln w="12700">
            <a:solidFill>
              <a:srgbClr val="D8E2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 14"/>
          <p:cNvSpPr/>
          <p:nvPr/>
        </p:nvSpPr>
        <p:spPr>
          <a:xfrm>
            <a:off x="2993760" y="301752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15"/>
          <p:cNvSpPr/>
          <p:nvPr/>
        </p:nvSpPr>
        <p:spPr>
          <a:xfrm>
            <a:off x="2993760" y="340164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FORWARD PASS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16"/>
          <p:cNvSpPr/>
          <p:nvPr/>
        </p:nvSpPr>
        <p:spPr>
          <a:xfrm>
            <a:off x="4908240" y="3556800"/>
            <a:ext cx="128160" cy="360"/>
          </a:xfrm>
          <a:prstGeom prst="line">
            <a:avLst/>
          </a:prstGeom>
          <a:ln w="190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Shape 17"/>
          <p:cNvSpPr/>
          <p:nvPr/>
        </p:nvSpPr>
        <p:spPr>
          <a:xfrm>
            <a:off x="5054760" y="288036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 18"/>
          <p:cNvSpPr/>
          <p:nvPr/>
        </p:nvSpPr>
        <p:spPr>
          <a:xfrm>
            <a:off x="5201280" y="301752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19"/>
          <p:cNvSpPr/>
          <p:nvPr/>
        </p:nvSpPr>
        <p:spPr>
          <a:xfrm>
            <a:off x="5201280" y="340164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PREDICTION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Shape 20"/>
          <p:cNvSpPr/>
          <p:nvPr/>
        </p:nvSpPr>
        <p:spPr>
          <a:xfrm>
            <a:off x="7115760" y="3556800"/>
            <a:ext cx="127800" cy="360"/>
          </a:xfrm>
          <a:prstGeom prst="line">
            <a:avLst/>
          </a:prstGeom>
          <a:ln w="190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21"/>
          <p:cNvSpPr/>
          <p:nvPr/>
        </p:nvSpPr>
        <p:spPr>
          <a:xfrm>
            <a:off x="7262280" y="288036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E8EEF4"/>
          </a:solidFill>
          <a:ln w="12700">
            <a:solidFill>
              <a:srgbClr val="D8E2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22"/>
          <p:cNvSpPr/>
          <p:nvPr/>
        </p:nvSpPr>
        <p:spPr>
          <a:xfrm>
            <a:off x="7408440" y="301752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23"/>
          <p:cNvSpPr/>
          <p:nvPr/>
        </p:nvSpPr>
        <p:spPr>
          <a:xfrm>
            <a:off x="7408440" y="340164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LOSS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24"/>
          <p:cNvSpPr/>
          <p:nvPr/>
        </p:nvSpPr>
        <p:spPr>
          <a:xfrm>
            <a:off x="9322920" y="3556800"/>
            <a:ext cx="128160" cy="360"/>
          </a:xfrm>
          <a:prstGeom prst="line">
            <a:avLst/>
          </a:prstGeom>
          <a:ln w="190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Shape 25"/>
          <p:cNvSpPr/>
          <p:nvPr/>
        </p:nvSpPr>
        <p:spPr>
          <a:xfrm>
            <a:off x="9469440" y="288036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 26"/>
          <p:cNvSpPr/>
          <p:nvPr/>
        </p:nvSpPr>
        <p:spPr>
          <a:xfrm>
            <a:off x="9615960" y="301752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 27"/>
          <p:cNvSpPr/>
          <p:nvPr/>
        </p:nvSpPr>
        <p:spPr>
          <a:xfrm>
            <a:off x="9615960" y="340164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UPDATE WEIGHTS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28"/>
          <p:cNvSpPr/>
          <p:nvPr/>
        </p:nvSpPr>
        <p:spPr>
          <a:xfrm>
            <a:off x="1481400" y="4773240"/>
            <a:ext cx="92808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Repeat over many examples and epochs.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48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04 / TRAINING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Learning curves help inspect progress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783080"/>
          <a:ext cx="5344668" cy="393192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68212" y="1783080"/>
          <a:ext cx="5344668" cy="39319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6" name="V4 text"/>
          <p:cNvSpPr txBox="1"/>
          <p:nvPr/>
        </p:nvSpPr>
        <p:spPr>
          <a:xfrm>
            <a:off x="594360" y="5989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11111"/>
                </a:solidFill>
                <a:latin typeface="Arial"/>
              </a:rPr>
              <a:t>Loss and accuracy measure different aspects of learning.</a:t>
            </a:r>
          </a:p>
        </p:txBody>
      </p:sp>
      <p:sp>
        <p:nvSpPr>
          <p:cNvPr id="7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49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04 / EVALUATION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Separate training, validation and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429000" cy="3063240"/>
          </a:xfrm>
          <a:prstGeom prst="round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V4 text"/>
          <p:cNvSpPr txBox="1"/>
          <p:nvPr/>
        </p:nvSpPr>
        <p:spPr>
          <a:xfrm>
            <a:off x="777240" y="2039112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Training</a:t>
            </a:r>
          </a:p>
        </p:txBody>
      </p:sp>
      <p:sp>
        <p:nvSpPr>
          <p:cNvPr id="6" name="V4 text"/>
          <p:cNvSpPr txBox="1"/>
          <p:nvPr/>
        </p:nvSpPr>
        <p:spPr>
          <a:xfrm>
            <a:off x="777240" y="2743200"/>
            <a:ext cx="3063240" cy="2057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25C66"/>
                </a:solidFill>
                <a:latin typeface="Arial"/>
              </a:rPr>
              <a:t>Fit the model’s parameters.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74519"/>
            <a:ext cx="3429000" cy="3063240"/>
          </a:xfrm>
          <a:prstGeom prst="round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V4 text"/>
          <p:cNvSpPr txBox="1"/>
          <p:nvPr/>
        </p:nvSpPr>
        <p:spPr>
          <a:xfrm>
            <a:off x="4572000" y="2039112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Validation</a:t>
            </a:r>
          </a:p>
        </p:txBody>
      </p:sp>
      <p:sp>
        <p:nvSpPr>
          <p:cNvPr id="9" name="V4 text"/>
          <p:cNvSpPr txBox="1"/>
          <p:nvPr/>
        </p:nvSpPr>
        <p:spPr>
          <a:xfrm>
            <a:off x="4572000" y="2743200"/>
            <a:ext cx="3063240" cy="2057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25C66"/>
                </a:solidFill>
                <a:latin typeface="Arial"/>
              </a:rPr>
              <a:t>Choose settings and inspect progress.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874519"/>
            <a:ext cx="3429000" cy="3063240"/>
          </a:xfrm>
          <a:prstGeom prst="round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V4 text"/>
          <p:cNvSpPr txBox="1"/>
          <p:nvPr/>
        </p:nvSpPr>
        <p:spPr>
          <a:xfrm>
            <a:off x="8366759" y="2039112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Test</a:t>
            </a:r>
          </a:p>
        </p:txBody>
      </p:sp>
      <p:sp>
        <p:nvSpPr>
          <p:cNvPr id="12" name="V4 text"/>
          <p:cNvSpPr txBox="1"/>
          <p:nvPr/>
        </p:nvSpPr>
        <p:spPr>
          <a:xfrm>
            <a:off x="8366759" y="2743200"/>
            <a:ext cx="3063240" cy="2057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25C66"/>
                </a:solidFill>
                <a:latin typeface="Arial"/>
              </a:rPr>
              <a:t>Evaluate once decisions are fixed.</a:t>
            </a:r>
          </a:p>
        </p:txBody>
      </p:sp>
      <p:sp>
        <p:nvSpPr>
          <p:cNvPr id="13" name="V4 text"/>
          <p:cNvSpPr txBox="1"/>
          <p:nvPr/>
        </p:nvSpPr>
        <p:spPr>
          <a:xfrm>
            <a:off x="594360" y="5989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  <a:latin typeface="Arial"/>
              </a:rPr>
              <a:t>Do not use test results to choose the model.</a:t>
            </a:r>
          </a:p>
        </p:txBody>
      </p:sp>
      <p:sp>
        <p:nvSpPr>
          <p:cNvPr id="14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50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Shape 3"/>
          <p:cNvSpPr/>
          <p:nvPr/>
        </p:nvSpPr>
        <p:spPr>
          <a:xfrm>
            <a:off x="621720" y="6492240"/>
            <a:ext cx="10927080" cy="360"/>
          </a:xfrm>
          <a:prstGeom prst="line">
            <a:avLst/>
          </a:prstGeom>
          <a:ln w="1016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6"/>
          <p:cNvSpPr/>
          <p:nvPr/>
        </p:nvSpPr>
        <p:spPr>
          <a:xfrm>
            <a:off x="621720" y="50292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04 / UNIFIED 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 7"/>
          <p:cNvSpPr/>
          <p:nvPr/>
        </p:nvSpPr>
        <p:spPr>
          <a:xfrm>
            <a:off x="621720" y="914400"/>
            <a:ext cx="1097244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Same backbone concept; different output heads.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8"/>
          <p:cNvSpPr/>
          <p:nvPr/>
        </p:nvSpPr>
        <p:spPr>
          <a:xfrm>
            <a:off x="640080" y="1600200"/>
            <a:ext cx="10606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Classification, detection and segmentation require different predictions.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Shape 9"/>
          <p:cNvSpPr/>
          <p:nvPr/>
        </p:nvSpPr>
        <p:spPr>
          <a:xfrm>
            <a:off x="722520" y="2523600"/>
            <a:ext cx="2925720" cy="2075400"/>
          </a:xfrm>
          <a:prstGeom prst="roundRect">
            <a:avLst>
              <a:gd name="adj" fmla="val 6608"/>
            </a:avLst>
          </a:prstGeom>
          <a:solidFill>
            <a:srgbClr val="E8EEF4"/>
          </a:solidFill>
          <a:ln w="12700">
            <a:solidFill>
              <a:srgbClr val="D8E2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10"/>
          <p:cNvSpPr/>
          <p:nvPr/>
        </p:nvSpPr>
        <p:spPr>
          <a:xfrm>
            <a:off x="1060560" y="2853000"/>
            <a:ext cx="22582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VISUAL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BACKBONE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Shape 11"/>
          <p:cNvSpPr/>
          <p:nvPr/>
        </p:nvSpPr>
        <p:spPr>
          <a:xfrm>
            <a:off x="3749040" y="3547800"/>
            <a:ext cx="987480" cy="360"/>
          </a:xfrm>
          <a:prstGeom prst="line">
            <a:avLst/>
          </a:prstGeom>
          <a:ln w="3810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Shape 12"/>
          <p:cNvSpPr/>
          <p:nvPr/>
        </p:nvSpPr>
        <p:spPr>
          <a:xfrm>
            <a:off x="4937760" y="2048400"/>
            <a:ext cx="3885840" cy="1023840"/>
          </a:xfrm>
          <a:prstGeom prst="roundRect">
            <a:avLst>
              <a:gd name="adj" fmla="val 10714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13"/>
          <p:cNvSpPr/>
          <p:nvPr/>
        </p:nvSpPr>
        <p:spPr>
          <a:xfrm>
            <a:off x="4937760" y="2048400"/>
            <a:ext cx="82080" cy="10238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14"/>
          <p:cNvSpPr/>
          <p:nvPr/>
        </p:nvSpPr>
        <p:spPr>
          <a:xfrm>
            <a:off x="5276160" y="2286000"/>
            <a:ext cx="3135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Classifier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Shape 15"/>
          <p:cNvSpPr/>
          <p:nvPr/>
        </p:nvSpPr>
        <p:spPr>
          <a:xfrm flipV="1">
            <a:off x="4334040" y="2560320"/>
            <a:ext cx="438840" cy="978120"/>
          </a:xfrm>
          <a:prstGeom prst="line">
            <a:avLst/>
          </a:prstGeom>
          <a:ln w="203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Shape 16"/>
          <p:cNvSpPr/>
          <p:nvPr/>
        </p:nvSpPr>
        <p:spPr>
          <a:xfrm>
            <a:off x="4937760" y="3364920"/>
            <a:ext cx="3885840" cy="1023840"/>
          </a:xfrm>
          <a:prstGeom prst="roundRect">
            <a:avLst>
              <a:gd name="adj" fmla="val 10714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17"/>
          <p:cNvSpPr/>
          <p:nvPr/>
        </p:nvSpPr>
        <p:spPr>
          <a:xfrm>
            <a:off x="4937760" y="3364920"/>
            <a:ext cx="82080" cy="10238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 18"/>
          <p:cNvSpPr/>
          <p:nvPr/>
        </p:nvSpPr>
        <p:spPr>
          <a:xfrm>
            <a:off x="5276160" y="3602880"/>
            <a:ext cx="3135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Detector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Shape 19"/>
          <p:cNvSpPr/>
          <p:nvPr/>
        </p:nvSpPr>
        <p:spPr>
          <a:xfrm>
            <a:off x="4334040" y="3538440"/>
            <a:ext cx="438840" cy="329400"/>
          </a:xfrm>
          <a:prstGeom prst="line">
            <a:avLst/>
          </a:prstGeom>
          <a:ln w="203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Shape 20"/>
          <p:cNvSpPr/>
          <p:nvPr/>
        </p:nvSpPr>
        <p:spPr>
          <a:xfrm>
            <a:off x="4937760" y="4681800"/>
            <a:ext cx="3885840" cy="1023840"/>
          </a:xfrm>
          <a:prstGeom prst="roundRect">
            <a:avLst>
              <a:gd name="adj" fmla="val 10714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21"/>
          <p:cNvSpPr/>
          <p:nvPr/>
        </p:nvSpPr>
        <p:spPr>
          <a:xfrm>
            <a:off x="4937760" y="4681800"/>
            <a:ext cx="82080" cy="10238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22"/>
          <p:cNvSpPr/>
          <p:nvPr/>
        </p:nvSpPr>
        <p:spPr>
          <a:xfrm>
            <a:off x="5276160" y="4919400"/>
            <a:ext cx="3135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Segmenter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Shape 23"/>
          <p:cNvSpPr/>
          <p:nvPr/>
        </p:nvSpPr>
        <p:spPr>
          <a:xfrm>
            <a:off x="4334040" y="3538440"/>
            <a:ext cx="438840" cy="1636920"/>
          </a:xfrm>
          <a:prstGeom prst="line">
            <a:avLst/>
          </a:prstGeom>
          <a:ln w="2032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 24"/>
          <p:cNvSpPr/>
          <p:nvPr/>
        </p:nvSpPr>
        <p:spPr>
          <a:xfrm>
            <a:off x="9025200" y="2432160"/>
            <a:ext cx="2185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CLASS SCORES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25"/>
          <p:cNvSpPr/>
          <p:nvPr/>
        </p:nvSpPr>
        <p:spPr>
          <a:xfrm>
            <a:off x="9025200" y="3776400"/>
            <a:ext cx="2185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BOXES + LABELS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26"/>
          <p:cNvSpPr/>
          <p:nvPr/>
        </p:nvSpPr>
        <p:spPr>
          <a:xfrm>
            <a:off x="9025200" y="5102280"/>
            <a:ext cx="2185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PIXEL MASKS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51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Shape 3"/>
          <p:cNvSpPr/>
          <p:nvPr/>
        </p:nvSpPr>
        <p:spPr>
          <a:xfrm>
            <a:off x="621720" y="6492240"/>
            <a:ext cx="10927080" cy="360"/>
          </a:xfrm>
          <a:prstGeom prst="line">
            <a:avLst/>
          </a:prstGeom>
          <a:ln w="1016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Shape 6"/>
          <p:cNvSpPr/>
          <p:nvPr/>
        </p:nvSpPr>
        <p:spPr>
          <a:xfrm>
            <a:off x="603360" y="1097280"/>
            <a:ext cx="10954080" cy="4845960"/>
          </a:xfrm>
          <a:prstGeom prst="roundRect">
            <a:avLst>
              <a:gd name="adj" fmla="val 4151"/>
            </a:avLst>
          </a:prstGeom>
          <a:solidFill>
            <a:srgbClr val="F1F4F7"/>
          </a:solidFill>
          <a:ln w="12700">
            <a:solidFill>
              <a:srgbClr val="E4EAF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 7"/>
          <p:cNvSpPr/>
          <p:nvPr/>
        </p:nvSpPr>
        <p:spPr>
          <a:xfrm>
            <a:off x="1005840" y="1600200"/>
            <a:ext cx="8229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05 / FROM CONCEPTS TO IMPLEMENTATION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8"/>
          <p:cNvSpPr/>
          <p:nvPr/>
        </p:nvSpPr>
        <p:spPr>
          <a:xfrm>
            <a:off x="1005840" y="2331720"/>
            <a:ext cx="98751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1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Three compact model</a:t>
            </a:r>
            <a:endParaRPr lang="en-US" sz="5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1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examples.</a:t>
            </a:r>
            <a:endParaRPr lang="en-US" sz="5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9"/>
          <p:cNvSpPr/>
          <p:nvPr/>
        </p:nvSpPr>
        <p:spPr>
          <a:xfrm>
            <a:off x="1005840" y="4800600"/>
            <a:ext cx="9600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Representative architectures—not claims of 2026 state of the art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52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05 / MODEL EXAMPLES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MobileNetV3-Small</a:t>
            </a:r>
          </a:p>
        </p:txBody>
      </p:sp>
      <p:pic>
        <p:nvPicPr>
          <p:cNvPr id="4" name="cat" descr="ca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279" y="1691640"/>
            <a:ext cx="6372961" cy="4251960"/>
          </a:xfrm>
          <a:prstGeom prst="rect">
            <a:avLst/>
          </a:prstGeom>
        </p:spPr>
      </p:pic>
      <p:pic>
        <p:nvPicPr>
          <p:cNvPr id="5" name="small_cat_scores" descr="small cat scor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014087"/>
            <a:ext cx="4297680" cy="2336049"/>
          </a:xfrm>
          <a:prstGeom prst="rect">
            <a:avLst/>
          </a:prstGeom>
        </p:spPr>
      </p:pic>
      <p:sp>
        <p:nvSpPr>
          <p:cNvPr id="6" name="V4 text"/>
          <p:cNvSpPr txBox="1"/>
          <p:nvPr/>
        </p:nvSpPr>
        <p:spPr>
          <a:xfrm>
            <a:off x="7315200" y="502920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11111"/>
                </a:solidFill>
                <a:latin typeface="Arial"/>
              </a:rPr>
              <a:t>Classification · ImageNet-1K</a:t>
            </a:r>
          </a:p>
        </p:txBody>
      </p:sp>
      <p:sp>
        <p:nvSpPr>
          <p:cNvPr id="7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53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05 / MODEL EXAMPLES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SSDLite320 + MobileNetV3-Large</a:t>
            </a:r>
          </a:p>
        </p:txBody>
      </p:sp>
      <p:pic>
        <p:nvPicPr>
          <p:cNvPr id="4" name="ssdlite_mix_boxes" descr="ssdlite mix box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76748"/>
            <a:ext cx="5349240" cy="3561702"/>
          </a:xfrm>
          <a:prstGeom prst="rect">
            <a:avLst/>
          </a:prstGeom>
        </p:spPr>
      </p:pic>
      <p:pic>
        <p:nvPicPr>
          <p:cNvPr id="5" name="ssdlite_dog_boxes" descr="ssdlite dog box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873126"/>
            <a:ext cx="5349240" cy="3568946"/>
          </a:xfrm>
          <a:prstGeom prst="rect">
            <a:avLst/>
          </a:prstGeom>
        </p:spPr>
      </p:pic>
      <p:sp>
        <p:nvSpPr>
          <p:cNvPr id="6" name="V4 text"/>
          <p:cNvSpPr txBox="1"/>
          <p:nvPr/>
        </p:nvSpPr>
        <p:spPr>
          <a:xfrm>
            <a:off x="594360" y="5623559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25C66"/>
                </a:solidFill>
                <a:latin typeface="Arial"/>
              </a:rPr>
              <a:t>Cat–dog photograph</a:t>
            </a:r>
          </a:p>
        </p:txBody>
      </p:sp>
      <p:sp>
        <p:nvSpPr>
          <p:cNvPr id="7" name="V4 text"/>
          <p:cNvSpPr txBox="1"/>
          <p:nvPr/>
        </p:nvSpPr>
        <p:spPr>
          <a:xfrm>
            <a:off x="6245352" y="5623559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25C66"/>
                </a:solidFill>
                <a:latin typeface="Arial"/>
              </a:rPr>
              <a:t>Dog photograph</a:t>
            </a:r>
          </a:p>
        </p:txBody>
      </p:sp>
      <p:sp>
        <p:nvSpPr>
          <p:cNvPr id="8" name="V4 text"/>
          <p:cNvSpPr txBox="1"/>
          <p:nvPr/>
        </p:nvSpPr>
        <p:spPr>
          <a:xfrm>
            <a:off x="594360" y="5989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11111"/>
                </a:solidFill>
                <a:latin typeface="Arial"/>
              </a:rPr>
              <a:t>The compact detector can miss or mislabel objects.</a:t>
            </a:r>
          </a:p>
        </p:txBody>
      </p:sp>
      <p:sp>
        <p:nvSpPr>
          <p:cNvPr id="9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54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05 / MODEL EXAMPLES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LR-ASPP + MobileNetV3-Large</a:t>
            </a:r>
          </a:p>
        </p:txBody>
      </p:sp>
      <p:pic>
        <p:nvPicPr>
          <p:cNvPr id="4" name="lraspp_cat_overlay" descr="lraspp cat overla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73126"/>
            <a:ext cx="5349240" cy="3568946"/>
          </a:xfrm>
          <a:prstGeom prst="rect">
            <a:avLst/>
          </a:prstGeom>
        </p:spPr>
      </p:pic>
      <p:pic>
        <p:nvPicPr>
          <p:cNvPr id="5" name="lraspp_mix_overlay" descr="lraspp mix overla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876303"/>
            <a:ext cx="5349240" cy="3562593"/>
          </a:xfrm>
          <a:prstGeom prst="rect">
            <a:avLst/>
          </a:prstGeom>
        </p:spPr>
      </p:pic>
      <p:sp>
        <p:nvSpPr>
          <p:cNvPr id="6" name="V4 text"/>
          <p:cNvSpPr txBox="1"/>
          <p:nvPr/>
        </p:nvSpPr>
        <p:spPr>
          <a:xfrm>
            <a:off x="594360" y="5623559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25C66"/>
                </a:solidFill>
                <a:latin typeface="Arial"/>
              </a:rPr>
              <a:t>Cat photograph</a:t>
            </a:r>
          </a:p>
        </p:txBody>
      </p:sp>
      <p:sp>
        <p:nvSpPr>
          <p:cNvPr id="7" name="V4 text"/>
          <p:cNvSpPr txBox="1"/>
          <p:nvPr/>
        </p:nvSpPr>
        <p:spPr>
          <a:xfrm>
            <a:off x="6245352" y="5623559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25C66"/>
                </a:solidFill>
                <a:latin typeface="Arial"/>
              </a:rPr>
              <a:t>Cat–dog photograph</a:t>
            </a:r>
          </a:p>
        </p:txBody>
      </p:sp>
      <p:sp>
        <p:nvSpPr>
          <p:cNvPr id="8" name="V4 text"/>
          <p:cNvSpPr txBox="1"/>
          <p:nvPr/>
        </p:nvSpPr>
        <p:spPr>
          <a:xfrm>
            <a:off x="594360" y="5989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11111"/>
                </a:solidFill>
                <a:latin typeface="Arial"/>
              </a:rPr>
              <a:t>One category per pixel, within the supported label set.</a:t>
            </a:r>
          </a:p>
        </p:txBody>
      </p:sp>
      <p:sp>
        <p:nvSpPr>
          <p:cNvPr id="9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55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Shape 3"/>
          <p:cNvSpPr/>
          <p:nvPr/>
        </p:nvSpPr>
        <p:spPr>
          <a:xfrm>
            <a:off x="621720" y="6492240"/>
            <a:ext cx="10927080" cy="360"/>
          </a:xfrm>
          <a:prstGeom prst="line">
            <a:avLst/>
          </a:prstGeom>
          <a:ln w="1016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6"/>
          <p:cNvSpPr/>
          <p:nvPr/>
        </p:nvSpPr>
        <p:spPr>
          <a:xfrm>
            <a:off x="621720" y="50292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05 / TRANSFER LEARNING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Text 7"/>
          <p:cNvSpPr/>
          <p:nvPr/>
        </p:nvSpPr>
        <p:spPr>
          <a:xfrm>
            <a:off x="621720" y="914400"/>
            <a:ext cx="1097244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Reuse visual knowledge. Adapt the final head.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Text 8"/>
          <p:cNvSpPr/>
          <p:nvPr/>
        </p:nvSpPr>
        <p:spPr>
          <a:xfrm>
            <a:off x="640080" y="1600200"/>
            <a:ext cx="10606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Pretraining can reduce the data and optimization needed for a new task.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Shape 9"/>
          <p:cNvSpPr/>
          <p:nvPr/>
        </p:nvSpPr>
        <p:spPr>
          <a:xfrm>
            <a:off x="640080" y="277056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Text 10"/>
          <p:cNvSpPr/>
          <p:nvPr/>
        </p:nvSpPr>
        <p:spPr>
          <a:xfrm>
            <a:off x="786240" y="290772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11"/>
          <p:cNvSpPr/>
          <p:nvPr/>
        </p:nvSpPr>
        <p:spPr>
          <a:xfrm>
            <a:off x="786240" y="329184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PRETRAINED MODEL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Shape 12"/>
          <p:cNvSpPr/>
          <p:nvPr/>
        </p:nvSpPr>
        <p:spPr>
          <a:xfrm>
            <a:off x="2701080" y="3447000"/>
            <a:ext cx="127800" cy="360"/>
          </a:xfrm>
          <a:prstGeom prst="line">
            <a:avLst/>
          </a:prstGeom>
          <a:ln w="190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Shape 13"/>
          <p:cNvSpPr/>
          <p:nvPr/>
        </p:nvSpPr>
        <p:spPr>
          <a:xfrm>
            <a:off x="2847600" y="277056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E8EEF4"/>
          </a:solidFill>
          <a:ln w="12700">
            <a:solidFill>
              <a:srgbClr val="D8E2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Text 14"/>
          <p:cNvSpPr/>
          <p:nvPr/>
        </p:nvSpPr>
        <p:spPr>
          <a:xfrm>
            <a:off x="2993760" y="290772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 15"/>
          <p:cNvSpPr/>
          <p:nvPr/>
        </p:nvSpPr>
        <p:spPr>
          <a:xfrm>
            <a:off x="2993760" y="329184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REUSE FEATURES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Shape 16"/>
          <p:cNvSpPr/>
          <p:nvPr/>
        </p:nvSpPr>
        <p:spPr>
          <a:xfrm>
            <a:off x="4908240" y="3447000"/>
            <a:ext cx="128160" cy="360"/>
          </a:xfrm>
          <a:prstGeom prst="line">
            <a:avLst/>
          </a:prstGeom>
          <a:ln w="190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Shape 17"/>
          <p:cNvSpPr/>
          <p:nvPr/>
        </p:nvSpPr>
        <p:spPr>
          <a:xfrm>
            <a:off x="5054760" y="277056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Text 18"/>
          <p:cNvSpPr/>
          <p:nvPr/>
        </p:nvSpPr>
        <p:spPr>
          <a:xfrm>
            <a:off x="5201280" y="290772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 19"/>
          <p:cNvSpPr/>
          <p:nvPr/>
        </p:nvSpPr>
        <p:spPr>
          <a:xfrm>
            <a:off x="5201280" y="329184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REPLACE HEAD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Shape 20"/>
          <p:cNvSpPr/>
          <p:nvPr/>
        </p:nvSpPr>
        <p:spPr>
          <a:xfrm>
            <a:off x="7115760" y="3447000"/>
            <a:ext cx="127800" cy="360"/>
          </a:xfrm>
          <a:prstGeom prst="line">
            <a:avLst/>
          </a:prstGeom>
          <a:ln w="190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Shape 21"/>
          <p:cNvSpPr/>
          <p:nvPr/>
        </p:nvSpPr>
        <p:spPr>
          <a:xfrm>
            <a:off x="7262280" y="277056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E8EEF4"/>
          </a:solidFill>
          <a:ln w="12700">
            <a:solidFill>
              <a:srgbClr val="D8E2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Text 22"/>
          <p:cNvSpPr/>
          <p:nvPr/>
        </p:nvSpPr>
        <p:spPr>
          <a:xfrm>
            <a:off x="7408440" y="290772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Text 23"/>
          <p:cNvSpPr/>
          <p:nvPr/>
        </p:nvSpPr>
        <p:spPr>
          <a:xfrm>
            <a:off x="7408440" y="329184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YOUR LABELS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Shape 24"/>
          <p:cNvSpPr/>
          <p:nvPr/>
        </p:nvSpPr>
        <p:spPr>
          <a:xfrm>
            <a:off x="9322920" y="3447000"/>
            <a:ext cx="128160" cy="360"/>
          </a:xfrm>
          <a:prstGeom prst="line">
            <a:avLst/>
          </a:prstGeom>
          <a:ln w="190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Shape 25"/>
          <p:cNvSpPr/>
          <p:nvPr/>
        </p:nvSpPr>
        <p:spPr>
          <a:xfrm>
            <a:off x="9469440" y="277056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Text 26"/>
          <p:cNvSpPr/>
          <p:nvPr/>
        </p:nvSpPr>
        <p:spPr>
          <a:xfrm>
            <a:off x="9615960" y="290772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Text 27"/>
          <p:cNvSpPr/>
          <p:nvPr/>
        </p:nvSpPr>
        <p:spPr>
          <a:xfrm>
            <a:off x="9615960" y="329184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NEW TASK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Text 28"/>
          <p:cNvSpPr/>
          <p:nvPr/>
        </p:nvSpPr>
        <p:spPr>
          <a:xfrm>
            <a:off x="1115640" y="4709160"/>
            <a:ext cx="99208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Beginner workshop: freeze backbone and train only the classifier head.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56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06 / LAB AND MODEL OUTPUTS</a:t>
            </a:r>
          </a:p>
        </p:txBody>
      </p:sp>
      <p:sp>
        <p:nvSpPr>
          <p:cNvPr id="3" name="V4 text"/>
          <p:cNvSpPr txBox="1"/>
          <p:nvPr/>
        </p:nvSpPr>
        <p:spPr>
          <a:xfrm>
            <a:off x="777240" y="1673352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300" b="1">
                <a:solidFill>
                  <a:srgbClr val="111111"/>
                </a:solidFill>
                <a:latin typeface="Arial"/>
              </a:rPr>
              <a:t>Train a model.</a:t>
            </a:r>
          </a:p>
          <a:p>
            <a:pPr algn="l">
              <a:spcAft>
                <a:spcPts val="400"/>
              </a:spcAft>
            </a:pPr>
            <a:r>
              <a:rPr sz="4300" b="1">
                <a:solidFill>
                  <a:srgbClr val="111111"/>
                </a:solidFill>
                <a:latin typeface="Arial"/>
              </a:rPr>
              <a:t>Inspect its outputs.</a:t>
            </a:r>
          </a:p>
        </p:txBody>
      </p:sp>
      <p:sp>
        <p:nvSpPr>
          <p:cNvPr id="4" name="V4 text"/>
          <p:cNvSpPr txBox="1"/>
          <p:nvPr/>
        </p:nvSpPr>
        <p:spPr>
          <a:xfrm>
            <a:off x="777240" y="3685032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0">
                <a:solidFill>
                  <a:srgbClr val="525C66"/>
                </a:solidFill>
                <a:latin typeface="Arial"/>
              </a:rPr>
              <a:t>Recorded lab training, then pretrained models on our photographs.</a:t>
            </a:r>
          </a:p>
        </p:txBody>
      </p:sp>
      <p:sp>
        <p:nvSpPr>
          <p:cNvPr id="5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57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06 / TRAINING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Train a small CNN from scratch</a:t>
            </a:r>
          </a:p>
        </p:txBody>
      </p:sp>
      <p:sp>
        <p:nvSpPr>
          <p:cNvPr id="4" name="V4 text"/>
          <p:cNvSpPr txBox="1"/>
          <p:nvPr/>
        </p:nvSpPr>
        <p:spPr>
          <a:xfrm>
            <a:off x="594360" y="13075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25C66"/>
                </a:solidFill>
                <a:latin typeface="Arial"/>
              </a:rPr>
              <a:t>CIFAR-10 subset: airplane · cat · dog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783080"/>
          <a:ext cx="5344668" cy="393192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68212" y="1783080"/>
          <a:ext cx="5344668" cy="39319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7" name="V4 text"/>
          <p:cNvSpPr txBox="1"/>
          <p:nvPr/>
        </p:nvSpPr>
        <p:spPr>
          <a:xfrm>
            <a:off x="594360" y="5989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5 epochs · 6,000 training images · 900 test images · 71.8% test accuracy</a:t>
            </a:r>
          </a:p>
        </p:txBody>
      </p:sp>
      <p:sp>
        <p:nvSpPr>
          <p:cNvPr id="8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58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06 / TRANSFER LEARNING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Transfer learning performed better here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783080"/>
          <a:ext cx="5344668" cy="393192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68212" y="1783080"/>
          <a:ext cx="5344668" cy="39319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6" name="V4 text"/>
          <p:cNvSpPr txBox="1"/>
          <p:nvPr/>
        </p:nvSpPr>
        <p:spPr>
          <a:xfrm>
            <a:off x="594360" y="5989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71.8% → 84.9% test accuracy; different models and epoch budgets.</a:t>
            </a:r>
          </a:p>
        </p:txBody>
      </p:sp>
      <p:sp>
        <p:nvSpPr>
          <p:cNvPr id="7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59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06 / ERROR ANALYSIS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Where the classifier still errs</a:t>
            </a:r>
          </a:p>
        </p:txBody>
      </p:sp>
      <p:sp>
        <p:nvSpPr>
          <p:cNvPr id="4" name="V4 text"/>
          <p:cNvSpPr txBox="1"/>
          <p:nvPr/>
        </p:nvSpPr>
        <p:spPr>
          <a:xfrm>
            <a:off x="594360" y="13075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25C66"/>
                </a:solidFill>
                <a:latin typeface="Arial"/>
              </a:rPr>
              <a:t>Frozen ResNet18 + trained head · 900 test images</a:t>
            </a:r>
          </a:p>
        </p:txBody>
      </p:sp>
      <p:sp>
        <p:nvSpPr>
          <p:cNvPr id="5" name="V4 text"/>
          <p:cNvSpPr txBox="1"/>
          <p:nvPr/>
        </p:nvSpPr>
        <p:spPr>
          <a:xfrm>
            <a:off x="1874519" y="1801368"/>
            <a:ext cx="260603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Predicted →</a:t>
            </a:r>
          </a:p>
        </p:txBody>
      </p:sp>
      <p:sp>
        <p:nvSpPr>
          <p:cNvPr id="6" name="V4 text"/>
          <p:cNvSpPr txBox="1"/>
          <p:nvPr/>
        </p:nvSpPr>
        <p:spPr>
          <a:xfrm>
            <a:off x="1005840" y="1801368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25C66"/>
                </a:solidFill>
                <a:latin typeface="Arial"/>
              </a:rPr>
              <a:t>True ↓</a:t>
            </a:r>
          </a:p>
        </p:txBody>
      </p:sp>
      <p:sp>
        <p:nvSpPr>
          <p:cNvPr id="7" name="V4 text"/>
          <p:cNvSpPr txBox="1"/>
          <p:nvPr/>
        </p:nvSpPr>
        <p:spPr>
          <a:xfrm>
            <a:off x="1874519" y="2194560"/>
            <a:ext cx="8686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Airplane</a:t>
            </a:r>
          </a:p>
        </p:txBody>
      </p:sp>
      <p:sp>
        <p:nvSpPr>
          <p:cNvPr id="8" name="V4 text"/>
          <p:cNvSpPr txBox="1"/>
          <p:nvPr/>
        </p:nvSpPr>
        <p:spPr>
          <a:xfrm>
            <a:off x="1005840" y="3063239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Airplane</a:t>
            </a:r>
          </a:p>
        </p:txBody>
      </p:sp>
      <p:sp>
        <p:nvSpPr>
          <p:cNvPr id="9" name="V4 text"/>
          <p:cNvSpPr txBox="1"/>
          <p:nvPr/>
        </p:nvSpPr>
        <p:spPr>
          <a:xfrm>
            <a:off x="2743200" y="2194560"/>
            <a:ext cx="8686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Cat</a:t>
            </a:r>
          </a:p>
        </p:txBody>
      </p:sp>
      <p:sp>
        <p:nvSpPr>
          <p:cNvPr id="10" name="V4 text"/>
          <p:cNvSpPr txBox="1"/>
          <p:nvPr/>
        </p:nvSpPr>
        <p:spPr>
          <a:xfrm>
            <a:off x="1005840" y="393192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Cat</a:t>
            </a:r>
          </a:p>
        </p:txBody>
      </p:sp>
      <p:sp>
        <p:nvSpPr>
          <p:cNvPr id="11" name="V4 text"/>
          <p:cNvSpPr txBox="1"/>
          <p:nvPr/>
        </p:nvSpPr>
        <p:spPr>
          <a:xfrm>
            <a:off x="3611879" y="2194560"/>
            <a:ext cx="8686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Dog</a:t>
            </a:r>
          </a:p>
        </p:txBody>
      </p:sp>
      <p:sp>
        <p:nvSpPr>
          <p:cNvPr id="12" name="V4 text"/>
          <p:cNvSpPr txBox="1"/>
          <p:nvPr/>
        </p:nvSpPr>
        <p:spPr>
          <a:xfrm>
            <a:off x="1005840" y="480060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Dog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19" y="3063239"/>
            <a:ext cx="868680" cy="868680"/>
          </a:xfrm>
          <a:prstGeom prst="rect">
            <a:avLst/>
          </a:prstGeom>
          <a:solidFill>
            <a:srgbClr val="146B6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4 text"/>
          <p:cNvSpPr txBox="1"/>
          <p:nvPr/>
        </p:nvSpPr>
        <p:spPr>
          <a:xfrm>
            <a:off x="1874519" y="3063239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291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063239"/>
            <a:ext cx="868680" cy="868680"/>
          </a:xfrm>
          <a:prstGeom prst="rect">
            <a:avLst/>
          </a:prstGeom>
          <a:solidFill>
            <a:srgbClr val="E5EF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4 text"/>
          <p:cNvSpPr txBox="1"/>
          <p:nvPr/>
        </p:nvSpPr>
        <p:spPr>
          <a:xfrm>
            <a:off x="2743200" y="3063239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79" y="3063239"/>
            <a:ext cx="868680" cy="868680"/>
          </a:xfrm>
          <a:prstGeom prst="rect">
            <a:avLst/>
          </a:prstGeom>
          <a:solidFill>
            <a:srgbClr val="E5EF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4 text"/>
          <p:cNvSpPr txBox="1"/>
          <p:nvPr/>
        </p:nvSpPr>
        <p:spPr>
          <a:xfrm>
            <a:off x="3611879" y="3063239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19" y="3931920"/>
            <a:ext cx="868680" cy="868680"/>
          </a:xfrm>
          <a:prstGeom prst="rect">
            <a:avLst/>
          </a:prstGeom>
          <a:solidFill>
            <a:srgbClr val="E5EF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4 text"/>
          <p:cNvSpPr txBox="1"/>
          <p:nvPr/>
        </p:nvSpPr>
        <p:spPr>
          <a:xfrm>
            <a:off x="1874519" y="393192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17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3931920"/>
            <a:ext cx="868680" cy="868680"/>
          </a:xfrm>
          <a:prstGeom prst="rect">
            <a:avLst/>
          </a:prstGeom>
          <a:solidFill>
            <a:srgbClr val="146B6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4 text"/>
          <p:cNvSpPr txBox="1"/>
          <p:nvPr/>
        </p:nvSpPr>
        <p:spPr>
          <a:xfrm>
            <a:off x="2743200" y="393192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231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79" y="3931920"/>
            <a:ext cx="868680" cy="868680"/>
          </a:xfrm>
          <a:prstGeom prst="rect">
            <a:avLst/>
          </a:prstGeom>
          <a:solidFill>
            <a:srgbClr val="E5EF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4 text"/>
          <p:cNvSpPr txBox="1"/>
          <p:nvPr/>
        </p:nvSpPr>
        <p:spPr>
          <a:xfrm>
            <a:off x="3611879" y="393192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52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4519" y="4800600"/>
            <a:ext cx="868680" cy="868680"/>
          </a:xfrm>
          <a:prstGeom prst="rect">
            <a:avLst/>
          </a:prstGeom>
          <a:solidFill>
            <a:srgbClr val="E5EF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4 text"/>
          <p:cNvSpPr txBox="1"/>
          <p:nvPr/>
        </p:nvSpPr>
        <p:spPr>
          <a:xfrm>
            <a:off x="1874519" y="480060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4800600"/>
            <a:ext cx="868680" cy="868680"/>
          </a:xfrm>
          <a:prstGeom prst="rect">
            <a:avLst/>
          </a:prstGeom>
          <a:solidFill>
            <a:srgbClr val="E5EF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4 text"/>
          <p:cNvSpPr txBox="1"/>
          <p:nvPr/>
        </p:nvSpPr>
        <p:spPr>
          <a:xfrm>
            <a:off x="2743200" y="480060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51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11879" y="4800600"/>
            <a:ext cx="868680" cy="868680"/>
          </a:xfrm>
          <a:prstGeom prst="rect">
            <a:avLst/>
          </a:prstGeom>
          <a:solidFill>
            <a:srgbClr val="146B6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4 text"/>
          <p:cNvSpPr txBox="1"/>
          <p:nvPr/>
        </p:nvSpPr>
        <p:spPr>
          <a:xfrm>
            <a:off x="3611879" y="480060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242</a:t>
            </a:r>
          </a:p>
        </p:txBody>
      </p:sp>
      <p:sp>
        <p:nvSpPr>
          <p:cNvPr id="31" name="V4 text"/>
          <p:cNvSpPr txBox="1"/>
          <p:nvPr/>
        </p:nvSpPr>
        <p:spPr>
          <a:xfrm>
            <a:off x="6400800" y="2468880"/>
            <a:ext cx="4206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6500" b="1">
                <a:solidFill>
                  <a:srgbClr val="087D73"/>
                </a:solidFill>
                <a:latin typeface="Arial"/>
              </a:rPr>
              <a:t>76%</a:t>
            </a:r>
          </a:p>
        </p:txBody>
      </p:sp>
      <p:sp>
        <p:nvSpPr>
          <p:cNvPr id="32" name="V4 text"/>
          <p:cNvSpPr txBox="1"/>
          <p:nvPr/>
        </p:nvSpPr>
        <p:spPr>
          <a:xfrm>
            <a:off x="6400800" y="3657600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11111"/>
                </a:solidFill>
                <a:latin typeface="Arial"/>
              </a:rPr>
              <a:t>of errors confuse cats and dogs</a:t>
            </a:r>
          </a:p>
        </p:txBody>
      </p:sp>
      <p:sp>
        <p:nvSpPr>
          <p:cNvPr id="33" name="V4 text"/>
          <p:cNvSpPr txBox="1"/>
          <p:nvPr/>
        </p:nvSpPr>
        <p:spPr>
          <a:xfrm>
            <a:off x="594360" y="5989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11111"/>
                </a:solidFill>
                <a:latin typeface="Arial"/>
              </a:rPr>
              <a:t>Rows = reference labels. Columns = predicted labels.</a:t>
            </a:r>
          </a:p>
        </p:txBody>
      </p:sp>
      <p:sp>
        <p:nvSpPr>
          <p:cNvPr id="34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60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06 / CLASSIFICATION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One top prediction for the whole image</a:t>
            </a:r>
          </a:p>
        </p:txBody>
      </p:sp>
      <p:sp>
        <p:nvSpPr>
          <p:cNvPr id="4" name="V4 text"/>
          <p:cNvSpPr txBox="1"/>
          <p:nvPr/>
        </p:nvSpPr>
        <p:spPr>
          <a:xfrm>
            <a:off x="594360" y="13075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25C66"/>
                </a:solidFill>
                <a:latin typeface="Arial"/>
              </a:rPr>
              <a:t>MobileNetV3-Large · ImageNet-1K</a:t>
            </a:r>
          </a:p>
        </p:txBody>
      </p:sp>
      <p:pic>
        <p:nvPicPr>
          <p:cNvPr id="5" name="cat_dog_mix" descr="cat dog mi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76303"/>
            <a:ext cx="5349240" cy="3562593"/>
          </a:xfrm>
          <a:prstGeom prst="rect">
            <a:avLst/>
          </a:prstGeom>
        </p:spPr>
      </p:pic>
      <p:pic>
        <p:nvPicPr>
          <p:cNvPr id="6" name="large_mix_scores" descr="large mix scor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055061"/>
            <a:ext cx="5349240" cy="3205076"/>
          </a:xfrm>
          <a:prstGeom prst="rect">
            <a:avLst/>
          </a:prstGeom>
        </p:spPr>
      </p:pic>
      <p:sp>
        <p:nvSpPr>
          <p:cNvPr id="7" name="V4 text"/>
          <p:cNvSpPr txBox="1"/>
          <p:nvPr/>
        </p:nvSpPr>
        <p:spPr>
          <a:xfrm>
            <a:off x="594360" y="5623559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25C66"/>
                </a:solidFill>
                <a:latin typeface="Arial"/>
              </a:rPr>
              <a:t>Cat and dog are both present</a:t>
            </a:r>
          </a:p>
        </p:txBody>
      </p:sp>
      <p:sp>
        <p:nvSpPr>
          <p:cNvPr id="8" name="V4 text"/>
          <p:cNvSpPr txBox="1"/>
          <p:nvPr/>
        </p:nvSpPr>
        <p:spPr>
          <a:xfrm>
            <a:off x="6245352" y="5623559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25C66"/>
                </a:solidFill>
                <a:latin typeface="Arial"/>
              </a:rPr>
              <a:t>Probability grouped by ImageNet categories</a:t>
            </a:r>
          </a:p>
        </p:txBody>
      </p:sp>
      <p:sp>
        <p:nvSpPr>
          <p:cNvPr id="9" name="V4 text"/>
          <p:cNvSpPr txBox="1"/>
          <p:nvPr/>
        </p:nvSpPr>
        <p:spPr>
          <a:xfrm>
            <a:off x="594360" y="5989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11111"/>
                </a:solidFill>
                <a:latin typeface="Arial"/>
              </a:rPr>
              <a:t>Dog 80.8% · Cat 2.0% · Other 17.2%</a:t>
            </a:r>
          </a:p>
        </p:txBody>
      </p:sp>
      <p:sp>
        <p:nvSpPr>
          <p:cNvPr id="10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61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06 / DETECTION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Confidence is not correctness</a:t>
            </a:r>
          </a:p>
        </p:txBody>
      </p:sp>
      <p:sp>
        <p:nvSpPr>
          <p:cNvPr id="4" name="V4 text"/>
          <p:cNvSpPr txBox="1"/>
          <p:nvPr/>
        </p:nvSpPr>
        <p:spPr>
          <a:xfrm>
            <a:off x="594360" y="13075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25C66"/>
                </a:solidFill>
                <a:latin typeface="Arial"/>
              </a:rPr>
              <a:t>Faster R-CNN MobileNetV3-320 · score threshold 0.55</a:t>
            </a:r>
          </a:p>
        </p:txBody>
      </p:sp>
      <p:pic>
        <p:nvPicPr>
          <p:cNvPr id="5" name="faster_mix_boxes" descr="faster mix box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76748"/>
            <a:ext cx="5349240" cy="3561702"/>
          </a:xfrm>
          <a:prstGeom prst="rect">
            <a:avLst/>
          </a:prstGeom>
        </p:spPr>
      </p:pic>
      <p:pic>
        <p:nvPicPr>
          <p:cNvPr id="6" name="faster_fluffy_boxes" descr="faster fluffy box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847" y="1783080"/>
            <a:ext cx="4778248" cy="3749039"/>
          </a:xfrm>
          <a:prstGeom prst="rect">
            <a:avLst/>
          </a:prstGeom>
        </p:spPr>
      </p:pic>
      <p:sp>
        <p:nvSpPr>
          <p:cNvPr id="7" name="V4 text"/>
          <p:cNvSpPr txBox="1"/>
          <p:nvPr/>
        </p:nvSpPr>
        <p:spPr>
          <a:xfrm>
            <a:off x="594360" y="5623559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25C66"/>
                </a:solidFill>
                <a:latin typeface="Arial"/>
              </a:rPr>
              <a:t>Cat and dog found</a:t>
            </a:r>
          </a:p>
        </p:txBody>
      </p:sp>
      <p:sp>
        <p:nvSpPr>
          <p:cNvPr id="8" name="V4 text"/>
          <p:cNvSpPr txBox="1"/>
          <p:nvPr/>
        </p:nvSpPr>
        <p:spPr>
          <a:xfrm>
            <a:off x="6245352" y="5623559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25C66"/>
                </a:solidFill>
                <a:latin typeface="Arial"/>
              </a:rPr>
              <a:t>Dog incorrectly labelled cat</a:t>
            </a:r>
          </a:p>
        </p:txBody>
      </p:sp>
      <p:sp>
        <p:nvSpPr>
          <p:cNvPr id="9" name="V4 text"/>
          <p:cNvSpPr txBox="1"/>
          <p:nvPr/>
        </p:nvSpPr>
        <p:spPr>
          <a:xfrm>
            <a:off x="594360" y="5989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  <a:latin typeface="Arial"/>
              </a:rPr>
              <a:t>A high-scoring prediction can still be wrong.</a:t>
            </a:r>
          </a:p>
        </p:txBody>
      </p:sp>
      <p:sp>
        <p:nvSpPr>
          <p:cNvPr id="10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62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06 / SEGMENTATION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Pixel labels can also be wrong</a:t>
            </a:r>
          </a:p>
        </p:txBody>
      </p:sp>
      <p:sp>
        <p:nvSpPr>
          <p:cNvPr id="4" name="V4 text"/>
          <p:cNvSpPr txBox="1"/>
          <p:nvPr/>
        </p:nvSpPr>
        <p:spPr>
          <a:xfrm>
            <a:off x="594360" y="13075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25C66"/>
                </a:solidFill>
                <a:latin typeface="Arial"/>
              </a:rPr>
              <a:t>DeepLabV3 + MobileNetV3 · 20 foreground categories + background</a:t>
            </a:r>
          </a:p>
        </p:txBody>
      </p:sp>
      <p:pic>
        <p:nvPicPr>
          <p:cNvPr id="5" name="dog_closeup" descr="dog closeu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73126"/>
            <a:ext cx="5349240" cy="3568946"/>
          </a:xfrm>
          <a:prstGeom prst="rect">
            <a:avLst/>
          </a:prstGeom>
        </p:spPr>
      </p:pic>
      <p:pic>
        <p:nvPicPr>
          <p:cNvPr id="6" name="deeplab_dog_overlay" descr="deeplab dog overla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873126"/>
            <a:ext cx="5349240" cy="3568946"/>
          </a:xfrm>
          <a:prstGeom prst="rect">
            <a:avLst/>
          </a:prstGeom>
        </p:spPr>
      </p:pic>
      <p:sp>
        <p:nvSpPr>
          <p:cNvPr id="7" name="V4 text"/>
          <p:cNvSpPr txBox="1"/>
          <p:nvPr/>
        </p:nvSpPr>
        <p:spPr>
          <a:xfrm>
            <a:off x="594360" y="5623559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25C66"/>
                </a:solidFill>
                <a:latin typeface="Arial"/>
              </a:rPr>
              <a:t>Input photograph</a:t>
            </a:r>
          </a:p>
        </p:txBody>
      </p:sp>
      <p:sp>
        <p:nvSpPr>
          <p:cNvPr id="8" name="V4 text"/>
          <p:cNvSpPr txBox="1"/>
          <p:nvPr/>
        </p:nvSpPr>
        <p:spPr>
          <a:xfrm>
            <a:off x="6245352" y="5623559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25C66"/>
                </a:solidFill>
                <a:latin typeface="Arial"/>
              </a:rPr>
              <a:t>Green = dog; orange = predicted chair</a:t>
            </a:r>
          </a:p>
        </p:txBody>
      </p:sp>
      <p:sp>
        <p:nvSpPr>
          <p:cNvPr id="9" name="V4 text"/>
          <p:cNvSpPr txBox="1"/>
          <p:nvPr/>
        </p:nvSpPr>
        <p:spPr>
          <a:xfrm>
            <a:off x="594360" y="5989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Part of the fence is mislabelled as chair—not a correct interpretation.</a:t>
            </a:r>
          </a:p>
        </p:txBody>
      </p:sp>
      <p:sp>
        <p:nvSpPr>
          <p:cNvPr id="10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63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06 / THREE OUTPUTS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One photograph, three different answers</a:t>
            </a:r>
          </a:p>
        </p:txBody>
      </p:sp>
      <p:pic>
        <p:nvPicPr>
          <p:cNvPr id="4" name="cat_dog_mix" descr="cat dog mi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322210"/>
            <a:ext cx="3474720" cy="2314163"/>
          </a:xfrm>
          <a:prstGeom prst="rect">
            <a:avLst/>
          </a:prstGeom>
        </p:spPr>
      </p:pic>
      <p:sp>
        <p:nvSpPr>
          <p:cNvPr id="5" name="V4 text"/>
          <p:cNvSpPr txBox="1"/>
          <p:nvPr/>
        </p:nvSpPr>
        <p:spPr>
          <a:xfrm>
            <a:off x="594360" y="5376672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11111"/>
                </a:solidFill>
                <a:latin typeface="Arial"/>
              </a:rPr>
              <a:t>Classify: dog</a:t>
            </a:r>
          </a:p>
        </p:txBody>
      </p:sp>
      <p:pic>
        <p:nvPicPr>
          <p:cNvPr id="6" name="faster_mix_boxes" descr="faster mix box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2322499"/>
            <a:ext cx="3474720" cy="2313584"/>
          </a:xfrm>
          <a:prstGeom prst="rect">
            <a:avLst/>
          </a:prstGeom>
        </p:spPr>
      </p:pic>
      <p:sp>
        <p:nvSpPr>
          <p:cNvPr id="7" name="V4 text"/>
          <p:cNvSpPr txBox="1"/>
          <p:nvPr/>
        </p:nvSpPr>
        <p:spPr>
          <a:xfrm>
            <a:off x="4361688" y="5376672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11111"/>
                </a:solidFill>
                <a:latin typeface="Arial"/>
              </a:rPr>
              <a:t>Detect: cat + dog</a:t>
            </a:r>
          </a:p>
        </p:txBody>
      </p:sp>
      <p:pic>
        <p:nvPicPr>
          <p:cNvPr id="8" name="deeplab_mix_overlay" descr="deeplab mix overla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9016" y="2322210"/>
            <a:ext cx="3474720" cy="2314163"/>
          </a:xfrm>
          <a:prstGeom prst="rect">
            <a:avLst/>
          </a:prstGeom>
        </p:spPr>
      </p:pic>
      <p:sp>
        <p:nvSpPr>
          <p:cNvPr id="9" name="V4 text"/>
          <p:cNvSpPr txBox="1"/>
          <p:nvPr/>
        </p:nvSpPr>
        <p:spPr>
          <a:xfrm>
            <a:off x="8129016" y="5376672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11111"/>
                </a:solidFill>
                <a:latin typeface="Arial"/>
              </a:rPr>
              <a:t>Segment: pixel categories</a:t>
            </a:r>
          </a:p>
        </p:txBody>
      </p:sp>
      <p:sp>
        <p:nvSpPr>
          <p:cNvPr id="10" name="V4 text"/>
          <p:cNvSpPr txBox="1"/>
          <p:nvPr/>
        </p:nvSpPr>
        <p:spPr>
          <a:xfrm>
            <a:off x="594360" y="5989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  <a:latin typeface="Arial"/>
              </a:rPr>
              <a:t>Image category · Object locations · Pixel regions</a:t>
            </a:r>
          </a:p>
        </p:txBody>
      </p:sp>
      <p:sp>
        <p:nvSpPr>
          <p:cNvPr id="11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64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Shape 3"/>
          <p:cNvSpPr/>
          <p:nvPr/>
        </p:nvSpPr>
        <p:spPr>
          <a:xfrm>
            <a:off x="621720" y="6492240"/>
            <a:ext cx="10927080" cy="360"/>
          </a:xfrm>
          <a:prstGeom prst="line">
            <a:avLst/>
          </a:prstGeom>
          <a:ln w="10160">
            <a:solidFill>
              <a:srgbClr val="D9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Text 6"/>
          <p:cNvSpPr/>
          <p:nvPr/>
        </p:nvSpPr>
        <p:spPr>
          <a:xfrm>
            <a:off x="621720" y="502920"/>
            <a:ext cx="10789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07 / HANDOFF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Text 7"/>
          <p:cNvSpPr/>
          <p:nvPr/>
        </p:nvSpPr>
        <p:spPr>
          <a:xfrm>
            <a:off x="621720" y="914400"/>
            <a:ext cx="1097244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Now you will build a working classifier.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Text 8"/>
          <p:cNvSpPr/>
          <p:nvPr/>
        </p:nvSpPr>
        <p:spPr>
          <a:xfrm>
            <a:off x="640080" y="1600200"/>
            <a:ext cx="10606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F3F3F"/>
                </a:solidFill>
                <a:effectLst/>
                <a:uFillTx/>
                <a:latin typeface="Aptos"/>
                <a:ea typeface="Aptos"/>
              </a:rPr>
              <a:t>The lab engineer leads the coding and model training.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Shape 9"/>
          <p:cNvSpPr/>
          <p:nvPr/>
        </p:nvSpPr>
        <p:spPr>
          <a:xfrm>
            <a:off x="640080" y="274320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Text 10"/>
          <p:cNvSpPr/>
          <p:nvPr/>
        </p:nvSpPr>
        <p:spPr>
          <a:xfrm>
            <a:off x="786240" y="288036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Text 11"/>
          <p:cNvSpPr/>
          <p:nvPr/>
        </p:nvSpPr>
        <p:spPr>
          <a:xfrm>
            <a:off x="786240" y="326448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OPEN COLAB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Shape 12"/>
          <p:cNvSpPr/>
          <p:nvPr/>
        </p:nvSpPr>
        <p:spPr>
          <a:xfrm>
            <a:off x="2701080" y="3419640"/>
            <a:ext cx="127800" cy="360"/>
          </a:xfrm>
          <a:prstGeom prst="line">
            <a:avLst/>
          </a:prstGeom>
          <a:ln w="190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Shape 13"/>
          <p:cNvSpPr/>
          <p:nvPr/>
        </p:nvSpPr>
        <p:spPr>
          <a:xfrm>
            <a:off x="2847600" y="274320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E8EEF4"/>
          </a:solidFill>
          <a:ln w="12700">
            <a:solidFill>
              <a:srgbClr val="D8E2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Text 14"/>
          <p:cNvSpPr/>
          <p:nvPr/>
        </p:nvSpPr>
        <p:spPr>
          <a:xfrm>
            <a:off x="2993760" y="288036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Text 15"/>
          <p:cNvSpPr/>
          <p:nvPr/>
        </p:nvSpPr>
        <p:spPr>
          <a:xfrm>
            <a:off x="2993760" y="326448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LOAD DATA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Shape 16"/>
          <p:cNvSpPr/>
          <p:nvPr/>
        </p:nvSpPr>
        <p:spPr>
          <a:xfrm>
            <a:off x="4908240" y="3419640"/>
            <a:ext cx="128160" cy="360"/>
          </a:xfrm>
          <a:prstGeom prst="line">
            <a:avLst/>
          </a:prstGeom>
          <a:ln w="190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Shape 17"/>
          <p:cNvSpPr/>
          <p:nvPr/>
        </p:nvSpPr>
        <p:spPr>
          <a:xfrm>
            <a:off x="5054760" y="274320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Text 18"/>
          <p:cNvSpPr/>
          <p:nvPr/>
        </p:nvSpPr>
        <p:spPr>
          <a:xfrm>
            <a:off x="5201280" y="288036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Text 19"/>
          <p:cNvSpPr/>
          <p:nvPr/>
        </p:nvSpPr>
        <p:spPr>
          <a:xfrm>
            <a:off x="5201280" y="326448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TRAIN CNN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Shape 20"/>
          <p:cNvSpPr/>
          <p:nvPr/>
        </p:nvSpPr>
        <p:spPr>
          <a:xfrm>
            <a:off x="7115760" y="3419640"/>
            <a:ext cx="127800" cy="360"/>
          </a:xfrm>
          <a:prstGeom prst="line">
            <a:avLst/>
          </a:prstGeom>
          <a:ln w="190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Shape 21"/>
          <p:cNvSpPr/>
          <p:nvPr/>
        </p:nvSpPr>
        <p:spPr>
          <a:xfrm>
            <a:off x="7262280" y="274320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E8EEF4"/>
          </a:solidFill>
          <a:ln w="12700">
            <a:solidFill>
              <a:srgbClr val="D8E2E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Text 22"/>
          <p:cNvSpPr/>
          <p:nvPr/>
        </p:nvSpPr>
        <p:spPr>
          <a:xfrm>
            <a:off x="7408440" y="288036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Text 23"/>
          <p:cNvSpPr/>
          <p:nvPr/>
        </p:nvSpPr>
        <p:spPr>
          <a:xfrm>
            <a:off x="7408440" y="326448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EVALUATE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Shape 24"/>
          <p:cNvSpPr/>
          <p:nvPr/>
        </p:nvSpPr>
        <p:spPr>
          <a:xfrm>
            <a:off x="9322920" y="3419640"/>
            <a:ext cx="128160" cy="360"/>
          </a:xfrm>
          <a:prstGeom prst="line">
            <a:avLst/>
          </a:prstGeom>
          <a:ln w="19050">
            <a:solidFill>
              <a:srgbClr val="11111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Shape 25"/>
          <p:cNvSpPr/>
          <p:nvPr/>
        </p:nvSpPr>
        <p:spPr>
          <a:xfrm>
            <a:off x="9469440" y="2743200"/>
            <a:ext cx="2051640" cy="1389600"/>
          </a:xfrm>
          <a:prstGeom prst="roundRect">
            <a:avLst>
              <a:gd name="adj" fmla="val 7895"/>
            </a:avLst>
          </a:prstGeom>
          <a:solidFill>
            <a:srgbClr val="F2F5F8"/>
          </a:solidFill>
          <a:ln w="12700">
            <a:solidFill>
              <a:srgbClr val="E1E8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Text 26"/>
          <p:cNvSpPr/>
          <p:nvPr/>
        </p:nvSpPr>
        <p:spPr>
          <a:xfrm>
            <a:off x="9615960" y="2880360"/>
            <a:ext cx="1777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Text 27"/>
          <p:cNvSpPr/>
          <p:nvPr/>
        </p:nvSpPr>
        <p:spPr>
          <a:xfrm>
            <a:off x="9615960" y="3264480"/>
            <a:ext cx="177732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TRY NEW IMAGE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Text 28"/>
          <p:cNvSpPr/>
          <p:nvPr/>
        </p:nvSpPr>
        <p:spPr>
          <a:xfrm>
            <a:off x="1298520" y="4727520"/>
            <a:ext cx="9729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11111"/>
                </a:solidFill>
                <a:effectLst/>
                <a:uFillTx/>
                <a:latin typeface="Aptos Display"/>
                <a:ea typeface="Aptos Display"/>
              </a:rPr>
              <a:t>One complete hands-on workflow beats three unfinished model trainings.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65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07 / LAB OUTPUTS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Prediction, learning curve, error analysis</a:t>
            </a:r>
          </a:p>
        </p:txBody>
      </p:sp>
      <p:pic>
        <p:nvPicPr>
          <p:cNvPr id="4" name="lab_chelsea" descr="lab chelse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42510"/>
            <a:ext cx="3017520" cy="2007219"/>
          </a:xfrm>
          <a:prstGeom prst="rect">
            <a:avLst/>
          </a:prstGeom>
        </p:spPr>
      </p:pic>
      <p:sp>
        <p:nvSpPr>
          <p:cNvPr id="5" name="V4 text"/>
          <p:cNvSpPr txBox="1"/>
          <p:nvPr/>
        </p:nvSpPr>
        <p:spPr>
          <a:xfrm>
            <a:off x="594360" y="4754880"/>
            <a:ext cx="30175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11111"/>
                </a:solidFill>
                <a:latin typeface="Arial"/>
              </a:rPr>
              <a:t>Cat 99.7%</a:t>
            </a:r>
          </a:p>
        </p:txBody>
      </p:sp>
      <p:sp>
        <p:nvSpPr>
          <p:cNvPr id="6" name="V4 text"/>
          <p:cNvSpPr txBox="1"/>
          <p:nvPr/>
        </p:nvSpPr>
        <p:spPr>
          <a:xfrm>
            <a:off x="594360" y="5449824"/>
            <a:ext cx="3017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25C66"/>
                </a:solidFill>
                <a:latin typeface="Arial"/>
              </a:rPr>
              <a:t>Recorded notebook prediction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858768" y="1828800"/>
          <a:ext cx="3474720" cy="382219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V4 text"/>
          <p:cNvSpPr txBox="1"/>
          <p:nvPr/>
        </p:nvSpPr>
        <p:spPr>
          <a:xfrm>
            <a:off x="8721090" y="1801368"/>
            <a:ext cx="257175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  <a:latin typeface="Arial"/>
              </a:rPr>
              <a:t>Predicted →</a:t>
            </a:r>
          </a:p>
        </p:txBody>
      </p:sp>
      <p:sp>
        <p:nvSpPr>
          <p:cNvPr id="9" name="V4 text"/>
          <p:cNvSpPr txBox="1"/>
          <p:nvPr/>
        </p:nvSpPr>
        <p:spPr>
          <a:xfrm>
            <a:off x="7863840" y="1801368"/>
            <a:ext cx="85725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25C66"/>
                </a:solidFill>
                <a:latin typeface="Arial"/>
              </a:rPr>
              <a:t>True ↓</a:t>
            </a:r>
          </a:p>
        </p:txBody>
      </p:sp>
      <p:sp>
        <p:nvSpPr>
          <p:cNvPr id="10" name="V4 text"/>
          <p:cNvSpPr txBox="1"/>
          <p:nvPr/>
        </p:nvSpPr>
        <p:spPr>
          <a:xfrm>
            <a:off x="8721090" y="2194560"/>
            <a:ext cx="85725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Airplane</a:t>
            </a:r>
          </a:p>
        </p:txBody>
      </p:sp>
      <p:sp>
        <p:nvSpPr>
          <p:cNvPr id="11" name="V4 text"/>
          <p:cNvSpPr txBox="1"/>
          <p:nvPr/>
        </p:nvSpPr>
        <p:spPr>
          <a:xfrm>
            <a:off x="7863840" y="305181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Airplane</a:t>
            </a:r>
          </a:p>
        </p:txBody>
      </p:sp>
      <p:sp>
        <p:nvSpPr>
          <p:cNvPr id="12" name="V4 text"/>
          <p:cNvSpPr txBox="1"/>
          <p:nvPr/>
        </p:nvSpPr>
        <p:spPr>
          <a:xfrm>
            <a:off x="9578340" y="2194560"/>
            <a:ext cx="85725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Cat</a:t>
            </a:r>
          </a:p>
        </p:txBody>
      </p:sp>
      <p:sp>
        <p:nvSpPr>
          <p:cNvPr id="13" name="V4 text"/>
          <p:cNvSpPr txBox="1"/>
          <p:nvPr/>
        </p:nvSpPr>
        <p:spPr>
          <a:xfrm>
            <a:off x="7863840" y="390906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Cat</a:t>
            </a:r>
          </a:p>
        </p:txBody>
      </p:sp>
      <p:sp>
        <p:nvSpPr>
          <p:cNvPr id="14" name="V4 text"/>
          <p:cNvSpPr txBox="1"/>
          <p:nvPr/>
        </p:nvSpPr>
        <p:spPr>
          <a:xfrm>
            <a:off x="10435590" y="2194560"/>
            <a:ext cx="85725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Dog</a:t>
            </a:r>
          </a:p>
        </p:txBody>
      </p:sp>
      <p:sp>
        <p:nvSpPr>
          <p:cNvPr id="15" name="V4 text"/>
          <p:cNvSpPr txBox="1"/>
          <p:nvPr/>
        </p:nvSpPr>
        <p:spPr>
          <a:xfrm>
            <a:off x="7863840" y="476631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Dog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21090" y="3051810"/>
            <a:ext cx="857250" cy="857250"/>
          </a:xfrm>
          <a:prstGeom prst="rect">
            <a:avLst/>
          </a:prstGeom>
          <a:solidFill>
            <a:srgbClr val="146B6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4 text"/>
          <p:cNvSpPr txBox="1"/>
          <p:nvPr/>
        </p:nvSpPr>
        <p:spPr>
          <a:xfrm>
            <a:off x="8721090" y="305181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291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78340" y="3051810"/>
            <a:ext cx="857250" cy="857250"/>
          </a:xfrm>
          <a:prstGeom prst="rect">
            <a:avLst/>
          </a:prstGeom>
          <a:solidFill>
            <a:srgbClr val="E5EF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4 text"/>
          <p:cNvSpPr txBox="1"/>
          <p:nvPr/>
        </p:nvSpPr>
        <p:spPr>
          <a:xfrm>
            <a:off x="9578340" y="305181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35590" y="3051810"/>
            <a:ext cx="857250" cy="857250"/>
          </a:xfrm>
          <a:prstGeom prst="rect">
            <a:avLst/>
          </a:prstGeom>
          <a:solidFill>
            <a:srgbClr val="E5EF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4 text"/>
          <p:cNvSpPr txBox="1"/>
          <p:nvPr/>
        </p:nvSpPr>
        <p:spPr>
          <a:xfrm>
            <a:off x="10435590" y="305181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21090" y="3909060"/>
            <a:ext cx="857250" cy="857250"/>
          </a:xfrm>
          <a:prstGeom prst="rect">
            <a:avLst/>
          </a:prstGeom>
          <a:solidFill>
            <a:srgbClr val="E5EF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4 text"/>
          <p:cNvSpPr txBox="1"/>
          <p:nvPr/>
        </p:nvSpPr>
        <p:spPr>
          <a:xfrm>
            <a:off x="8721090" y="390906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17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78340" y="3909060"/>
            <a:ext cx="857250" cy="857250"/>
          </a:xfrm>
          <a:prstGeom prst="rect">
            <a:avLst/>
          </a:prstGeom>
          <a:solidFill>
            <a:srgbClr val="146B6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4 text"/>
          <p:cNvSpPr txBox="1"/>
          <p:nvPr/>
        </p:nvSpPr>
        <p:spPr>
          <a:xfrm>
            <a:off x="9578340" y="390906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231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35590" y="3909060"/>
            <a:ext cx="857250" cy="857250"/>
          </a:xfrm>
          <a:prstGeom prst="rect">
            <a:avLst/>
          </a:prstGeom>
          <a:solidFill>
            <a:srgbClr val="E5EF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4 text"/>
          <p:cNvSpPr txBox="1"/>
          <p:nvPr/>
        </p:nvSpPr>
        <p:spPr>
          <a:xfrm>
            <a:off x="10435590" y="390906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52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21090" y="4766310"/>
            <a:ext cx="857250" cy="857250"/>
          </a:xfrm>
          <a:prstGeom prst="rect">
            <a:avLst/>
          </a:prstGeom>
          <a:solidFill>
            <a:srgbClr val="E5EF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4 text"/>
          <p:cNvSpPr txBox="1"/>
          <p:nvPr/>
        </p:nvSpPr>
        <p:spPr>
          <a:xfrm>
            <a:off x="8721090" y="476631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78340" y="4766310"/>
            <a:ext cx="857250" cy="857250"/>
          </a:xfrm>
          <a:prstGeom prst="rect">
            <a:avLst/>
          </a:prstGeom>
          <a:solidFill>
            <a:srgbClr val="E5EF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4 text"/>
          <p:cNvSpPr txBox="1"/>
          <p:nvPr/>
        </p:nvSpPr>
        <p:spPr>
          <a:xfrm>
            <a:off x="9578340" y="476631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51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35590" y="4766310"/>
            <a:ext cx="857250" cy="857250"/>
          </a:xfrm>
          <a:prstGeom prst="rect">
            <a:avLst/>
          </a:prstGeom>
          <a:solidFill>
            <a:srgbClr val="146B6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4 text"/>
          <p:cNvSpPr txBox="1"/>
          <p:nvPr/>
        </p:nvSpPr>
        <p:spPr>
          <a:xfrm>
            <a:off x="10435590" y="476631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rial"/>
              </a:rPr>
              <a:t>242</a:t>
            </a:r>
          </a:p>
        </p:txBody>
      </p:sp>
      <p:sp>
        <p:nvSpPr>
          <p:cNvPr id="34" name="V4 text"/>
          <p:cNvSpPr txBox="1"/>
          <p:nvPr/>
        </p:nvSpPr>
        <p:spPr>
          <a:xfrm>
            <a:off x="594360" y="5989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All three outputs come from the same recorded ResNet18 lab run.</a:t>
            </a:r>
          </a:p>
        </p:txBody>
      </p:sp>
      <p:sp>
        <p:nvSpPr>
          <p:cNvPr id="35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66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FURTHER READING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References and image sources</a:t>
            </a:r>
          </a:p>
        </p:txBody>
      </p:sp>
      <p:sp>
        <p:nvSpPr>
          <p:cNvPr id="4" name="V4 text"/>
          <p:cNvSpPr txBox="1"/>
          <p:nvPr/>
        </p:nvSpPr>
        <p:spPr>
          <a:xfrm>
            <a:off x="777240" y="1737360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25C66"/>
                </a:solidFill>
                <a:latin typeface="Arial"/>
              </a:rPr>
              <a:t>Szeliski (2022). Computer Vision: Algorithms and Applications, 2nd ed. · szeliski.org/Book</a:t>
            </a:r>
          </a:p>
        </p:txBody>
      </p:sp>
      <p:sp>
        <p:nvSpPr>
          <p:cNvPr id="5" name="V4 text"/>
          <p:cNvSpPr txBox="1"/>
          <p:nvPr/>
        </p:nvSpPr>
        <p:spPr>
          <a:xfrm>
            <a:off x="777240" y="2267712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25C66"/>
                </a:solidFill>
                <a:latin typeface="Arial"/>
              </a:rPr>
              <a:t>Howard et al. (2019). Searching for MobileNetV3. ICCV.</a:t>
            </a:r>
          </a:p>
        </p:txBody>
      </p:sp>
      <p:sp>
        <p:nvSpPr>
          <p:cNvPr id="6" name="V4 text"/>
          <p:cNvSpPr txBox="1"/>
          <p:nvPr/>
        </p:nvSpPr>
        <p:spPr>
          <a:xfrm>
            <a:off x="777240" y="2798063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25C66"/>
                </a:solidFill>
                <a:latin typeface="Arial"/>
              </a:rPr>
              <a:t>He et al. (2016). Deep Residual Learning for Image Recognition. CVPR.</a:t>
            </a:r>
          </a:p>
        </p:txBody>
      </p:sp>
      <p:sp>
        <p:nvSpPr>
          <p:cNvPr id="7" name="V4 text"/>
          <p:cNvSpPr txBox="1"/>
          <p:nvPr/>
        </p:nvSpPr>
        <p:spPr>
          <a:xfrm>
            <a:off x="777240" y="3328415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25C66"/>
                </a:solidFill>
                <a:latin typeface="Arial"/>
              </a:rPr>
              <a:t>Liu et al. (2016). SSD: Single Shot MultiBox Detector. ECCV.</a:t>
            </a:r>
          </a:p>
        </p:txBody>
      </p:sp>
      <p:sp>
        <p:nvSpPr>
          <p:cNvPr id="8" name="V4 text"/>
          <p:cNvSpPr txBox="1"/>
          <p:nvPr/>
        </p:nvSpPr>
        <p:spPr>
          <a:xfrm>
            <a:off x="777240" y="3858768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25C66"/>
                </a:solidFill>
                <a:latin typeface="Arial"/>
              </a:rPr>
              <a:t>Torchvision model documentation · docs.pytorch.org/vision</a:t>
            </a:r>
          </a:p>
        </p:txBody>
      </p:sp>
      <p:sp>
        <p:nvSpPr>
          <p:cNvPr id="9" name="V4 text"/>
          <p:cNvSpPr txBox="1"/>
          <p:nvPr/>
        </p:nvSpPr>
        <p:spPr>
          <a:xfrm>
            <a:off x="777240" y="4389120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25C66"/>
                </a:solidFill>
                <a:latin typeface="Arial"/>
              </a:rPr>
              <a:t>Photographs: scikit-image; Unsplash; COCO/Flickr; PyTorch Hub; supplied weed images.</a:t>
            </a:r>
          </a:p>
        </p:txBody>
      </p:sp>
      <p:sp>
        <p:nvSpPr>
          <p:cNvPr id="10" name="V4 text"/>
          <p:cNvSpPr txBox="1"/>
          <p:nvPr/>
        </p:nvSpPr>
        <p:spPr>
          <a:xfrm>
            <a:off x="777240" y="4919471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25C66"/>
                </a:solidFill>
                <a:latin typeface="Arial"/>
              </a:rPr>
              <a:t>File-level source notes: code/assets/CREDITS.md and code/v4_tools/README.md</a:t>
            </a:r>
          </a:p>
        </p:txBody>
      </p:sp>
      <p:sp>
        <p:nvSpPr>
          <p:cNvPr id="11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68 / 68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01 / IMAGE AS DATA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Each pixel has a brightness value</a:t>
            </a:r>
          </a:p>
        </p:txBody>
      </p:sp>
      <p:pic>
        <p:nvPicPr>
          <p:cNvPr id="4" name="pixel_source" descr="pixel sour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00523"/>
            <a:ext cx="5486400" cy="3660457"/>
          </a:xfrm>
          <a:prstGeom prst="rect">
            <a:avLst/>
          </a:prstGeom>
        </p:spPr>
      </p:pic>
      <p:pic>
        <p:nvPicPr>
          <p:cNvPr id="5" name="pixels_shades_numbers" descr="pixels shades numb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52" y="1673352"/>
            <a:ext cx="4114800" cy="4114800"/>
          </a:xfrm>
          <a:prstGeom prst="rect">
            <a:avLst/>
          </a:prstGeom>
        </p:spPr>
      </p:pic>
      <p:sp>
        <p:nvSpPr>
          <p:cNvPr id="6" name="V4 text"/>
          <p:cNvSpPr txBox="1"/>
          <p:nvPr/>
        </p:nvSpPr>
        <p:spPr>
          <a:xfrm>
            <a:off x="594360" y="5989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  <a:latin typeface="Arial"/>
              </a:rPr>
              <a:t>The same 8 × 8 pixel patch, shown three ways.</a:t>
            </a:r>
          </a:p>
        </p:txBody>
      </p:sp>
      <p:sp>
        <p:nvSpPr>
          <p:cNvPr id="7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5 / 68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01 / IMAGE AS DATA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The image is a matrix of numbers</a:t>
            </a:r>
          </a:p>
        </p:txBody>
      </p:sp>
      <p:pic>
        <p:nvPicPr>
          <p:cNvPr id="4" name="pixel_source" descr="pixel sour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00523"/>
            <a:ext cx="5486400" cy="3660457"/>
          </a:xfrm>
          <a:prstGeom prst="rect">
            <a:avLst/>
          </a:prstGeom>
        </p:spPr>
      </p:pic>
      <p:pic>
        <p:nvPicPr>
          <p:cNvPr id="5" name="pixels_numbers" descr="pixels numb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52" y="1673352"/>
            <a:ext cx="4114800" cy="4114800"/>
          </a:xfrm>
          <a:prstGeom prst="rect">
            <a:avLst/>
          </a:prstGeom>
        </p:spPr>
      </p:pic>
      <p:sp>
        <p:nvSpPr>
          <p:cNvPr id="6" name="V4 text"/>
          <p:cNvSpPr txBox="1"/>
          <p:nvPr/>
        </p:nvSpPr>
        <p:spPr>
          <a:xfrm>
            <a:off x="594360" y="5989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  <a:latin typeface="Arial"/>
              </a:rPr>
              <a:t>The same 8 × 8 pixel patch, shown three ways.</a:t>
            </a:r>
          </a:p>
        </p:txBody>
      </p:sp>
      <p:sp>
        <p:nvSpPr>
          <p:cNvPr id="7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6 / 68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02 / CLASSICAL VISION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A colour rule applied to a photograph</a:t>
            </a:r>
          </a:p>
        </p:txBody>
      </p:sp>
      <p:pic>
        <p:nvPicPr>
          <p:cNvPr id="4" name="raw_weed" descr="raw we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16" y="1783080"/>
            <a:ext cx="5112327" cy="3749039"/>
          </a:xfrm>
          <a:prstGeom prst="rect">
            <a:avLst/>
          </a:prstGeom>
        </p:spPr>
      </p:pic>
      <p:pic>
        <p:nvPicPr>
          <p:cNvPr id="5" name="weed_green_filter" descr="weed green fil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808" y="1783080"/>
            <a:ext cx="5112327" cy="3749039"/>
          </a:xfrm>
          <a:prstGeom prst="rect">
            <a:avLst/>
          </a:prstGeom>
        </p:spPr>
      </p:pic>
      <p:sp>
        <p:nvSpPr>
          <p:cNvPr id="6" name="V4 text"/>
          <p:cNvSpPr txBox="1"/>
          <p:nvPr/>
        </p:nvSpPr>
        <p:spPr>
          <a:xfrm>
            <a:off x="594360" y="5623559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25C66"/>
                </a:solidFill>
                <a:latin typeface="Arial"/>
              </a:rPr>
              <a:t>Field photograph</a:t>
            </a:r>
          </a:p>
        </p:txBody>
      </p:sp>
      <p:sp>
        <p:nvSpPr>
          <p:cNvPr id="7" name="V4 text"/>
          <p:cNvSpPr txBox="1"/>
          <p:nvPr/>
        </p:nvSpPr>
        <p:spPr>
          <a:xfrm>
            <a:off x="6245352" y="5623559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25C66"/>
                </a:solidFill>
                <a:latin typeface="Arial"/>
              </a:rPr>
              <a:t>Pixels selected by a green HSV range</a:t>
            </a:r>
          </a:p>
        </p:txBody>
      </p:sp>
      <p:sp>
        <p:nvSpPr>
          <p:cNvPr id="8" name="V4 text"/>
          <p:cNvSpPr txBox="1"/>
          <p:nvPr/>
        </p:nvSpPr>
        <p:spPr>
          <a:xfrm>
            <a:off x="594360" y="5989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  <a:latin typeface="Arial"/>
              </a:rPr>
              <a:t>Green pixels can belong to crops or weeds.</a:t>
            </a:r>
          </a:p>
        </p:txBody>
      </p:sp>
      <p:sp>
        <p:nvSpPr>
          <p:cNvPr id="9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19 / 68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02 / CLASSICAL VISION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Can simple shapes find the eyes?</a:t>
            </a:r>
          </a:p>
        </p:txBody>
      </p:sp>
      <p:pic>
        <p:nvPicPr>
          <p:cNvPr id="4" name="shape_matching" descr="shape match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907" y="1554480"/>
            <a:ext cx="9107424" cy="4553712"/>
          </a:xfrm>
          <a:prstGeom prst="rect">
            <a:avLst/>
          </a:prstGeom>
        </p:spPr>
      </p:pic>
      <p:sp>
        <p:nvSpPr>
          <p:cNvPr id="5" name="V4 text"/>
          <p:cNvSpPr txBox="1"/>
          <p:nvPr/>
        </p:nvSpPr>
        <p:spPr>
          <a:xfrm>
            <a:off x="594360" y="5989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11111"/>
                </a:solidFill>
                <a:latin typeface="Arial"/>
              </a:rPr>
              <a:t>Template → sliding search → similarity map → best match</a:t>
            </a:r>
          </a:p>
        </p:txBody>
      </p:sp>
      <p:sp>
        <p:nvSpPr>
          <p:cNvPr id="6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21 / 68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4 text"/>
          <p:cNvSpPr txBox="1"/>
          <p:nvPr/>
        </p:nvSpPr>
        <p:spPr>
          <a:xfrm>
            <a:off x="594360" y="228600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25C66"/>
                </a:solidFill>
                <a:latin typeface="Arial"/>
              </a:rPr>
              <a:t>07 / TAKEAWAYS</a:t>
            </a:r>
          </a:p>
        </p:txBody>
      </p:sp>
      <p:sp>
        <p:nvSpPr>
          <p:cNvPr id="3" name="V4 title"/>
          <p:cNvSpPr txBox="1"/>
          <p:nvPr/>
        </p:nvSpPr>
        <p:spPr>
          <a:xfrm>
            <a:off x="594360" y="630936"/>
            <a:ext cx="11018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11111"/>
                </a:solidFill>
                <a:latin typeface="Arial"/>
              </a:rPr>
              <a:t>Choose the output your problem needs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47088"/>
            <a:ext cx="3429000" cy="3154680"/>
          </a:xfrm>
          <a:prstGeom prst="round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V4 text"/>
          <p:cNvSpPr txBox="1"/>
          <p:nvPr/>
        </p:nvSpPr>
        <p:spPr>
          <a:xfrm>
            <a:off x="777240" y="2011680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Pixels are numbers</a:t>
            </a:r>
          </a:p>
        </p:txBody>
      </p:sp>
      <p:sp>
        <p:nvSpPr>
          <p:cNvPr id="6" name="V4 text"/>
          <p:cNvSpPr txBox="1"/>
          <p:nvPr/>
        </p:nvSpPr>
        <p:spPr>
          <a:xfrm>
            <a:off x="777240" y="2715768"/>
            <a:ext cx="3063240" cy="2148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25C66"/>
                </a:solidFill>
                <a:latin typeface="Arial"/>
              </a:rPr>
              <a:t>Preprocessing must match the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47088"/>
            <a:ext cx="3429000" cy="3154680"/>
          </a:xfrm>
          <a:prstGeom prst="round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V4 text"/>
          <p:cNvSpPr txBox="1"/>
          <p:nvPr/>
        </p:nvSpPr>
        <p:spPr>
          <a:xfrm>
            <a:off x="4572000" y="2011680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Tasks define outputs</a:t>
            </a:r>
          </a:p>
        </p:txBody>
      </p:sp>
      <p:sp>
        <p:nvSpPr>
          <p:cNvPr id="9" name="V4 text"/>
          <p:cNvSpPr txBox="1"/>
          <p:nvPr/>
        </p:nvSpPr>
        <p:spPr>
          <a:xfrm>
            <a:off x="4572000" y="2715768"/>
            <a:ext cx="3063240" cy="2148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25C66"/>
                </a:solidFill>
                <a:latin typeface="Arial"/>
              </a:rPr>
              <a:t>Categories, boxes or pixel labels.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847088"/>
            <a:ext cx="3429000" cy="3154680"/>
          </a:xfrm>
          <a:prstGeom prst="roundRect">
            <a:avLst/>
          </a:prstGeom>
          <a:solidFill>
            <a:srgbClr val="F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V4 text"/>
          <p:cNvSpPr txBox="1"/>
          <p:nvPr/>
        </p:nvSpPr>
        <p:spPr>
          <a:xfrm>
            <a:off x="8366759" y="2011680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11111"/>
                </a:solidFill>
                <a:latin typeface="Arial"/>
              </a:rPr>
              <a:t>Inspect errors</a:t>
            </a:r>
          </a:p>
        </p:txBody>
      </p:sp>
      <p:sp>
        <p:nvSpPr>
          <p:cNvPr id="12" name="V4 text"/>
          <p:cNvSpPr txBox="1"/>
          <p:nvPr/>
        </p:nvSpPr>
        <p:spPr>
          <a:xfrm>
            <a:off x="8366759" y="2715768"/>
            <a:ext cx="3063240" cy="2148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25C66"/>
                </a:solidFill>
                <a:latin typeface="Arial"/>
              </a:rPr>
              <a:t>Confidence is not correctness.</a:t>
            </a:r>
          </a:p>
        </p:txBody>
      </p:sp>
      <p:sp>
        <p:nvSpPr>
          <p:cNvPr id="13" name="V4 text"/>
          <p:cNvSpPr txBox="1"/>
          <p:nvPr/>
        </p:nvSpPr>
        <p:spPr>
          <a:xfrm>
            <a:off x="594360" y="59893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  <a:latin typeface="Arial"/>
              </a:rPr>
              <a:t>In the lab: build a classifier, evaluate it, then inspect its mistakes.</a:t>
            </a:r>
          </a:p>
        </p:txBody>
      </p:sp>
      <p:sp>
        <p:nvSpPr>
          <p:cNvPr id="14" name="V4 page number"/>
          <p:cNvSpPr txBox="1"/>
          <p:nvPr/>
        </p:nvSpPr>
        <p:spPr>
          <a:xfrm>
            <a:off x="10789920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25C66"/>
                </a:solidFill>
                <a:latin typeface="Arial"/>
              </a:rPr>
              <a:t>67 / 68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LibreOffice/26.2.6.3$Linux_X86_64 LibreOffice_project/620$Build-3</Application>
  <AppVersion>15.0000</AppVersion>
  <Words>0</Words>
  <Paragraphs>0</Paragraphs>
  <Company>Educational workshop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2026-10-13T05:57:40Z</dcterms:created>
  <dc:creator>Computer Vision Workshop · Session 1</dc:creator>
  <dc:description/>
  <dc:language>en-US</dc:language>
  <cp:lastModifiedBy/>
  <dcterms:modified xsi:type="dcterms:W3CDTF">2026-10-14T16:11:31Z</dcterms:modified>
  <cp:revision>2</cp:revision>
  <dc:subject>Image pixels, classical computer vision, classification, detection, segmentation, CNNs and lightweight model demonstrations</dc:subject>
  <dc:title>Computer Vision: From Pixels to Predictions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60</vt:i4>
  </property>
  <property fmtid="{D5CDD505-2E9C-101B-9397-08002B2CF9AE}" pid="3" name="PresentationFormat">
    <vt:lpwstr>On-screen Show (16:9)</vt:lpwstr>
  </property>
  <property fmtid="{D5CDD505-2E9C-101B-9397-08002B2CF9AE}" pid="4" name="Slides">
    <vt:i4>60</vt:i4>
  </property>
</Properties>
</file>