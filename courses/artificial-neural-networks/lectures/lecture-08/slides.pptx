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charts/chart1.xml" ContentType="application/vnd.openxmlformats-officedocument.drawingml.chart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a09297f7df45c4" /><Relationship Type="http://schemas.openxmlformats.org/officeDocument/2006/relationships/extended-properties" Target="/docProps/app.xml" Id="R60292624a2ad4668" /><Relationship Type="http://schemas.openxmlformats.org/officeDocument/2006/relationships/officeDocument" Target="/ppt/presentation.xml" Id="Rd42e808f6bd54e05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bacf381ee97a4abe"/>
  </ns0:sldMasterIdLst>
  <ns0:sldIdLst>
    <ns0:sldId id="256" ns1:id="R397a22ce784548f3"/>
    <ns0:sldId id="257" ns1:id="R268aa25185334dae"/>
    <ns0:sldId id="258" ns1:id="Rc5c8ee77f49345ad"/>
    <ns0:sldId id="259" ns1:id="R826a1f0b9a1f4101"/>
    <ns0:sldId id="260" ns1:id="R2e70eb2c5f26445a"/>
    <ns0:sldId id="261" ns1:id="R913c4c1e45bd420d"/>
    <ns0:sldId id="262" ns1:id="R76104fec0c054986"/>
    <ns0:sldId id="263" ns1:id="R134d295fff77414c"/>
    <ns0:sldId id="264" ns1:id="R552434ed568b42a3"/>
    <ns0:sldId id="265" ns1:id="Rd3c17b1283fa49a6"/>
    <ns0:sldId id="266" ns1:id="R43ba356f73f9416a"/>
    <ns0:sldId id="267" ns1:id="Rd3912bbe8bbe49bb"/>
    <ns0:sldId id="268" ns1:id="Rfc22a4910a744a3e"/>
    <ns0:sldId id="269" ns1:id="R57c4e2290b014d80"/>
    <ns0:sldId id="270" ns1:id="Rd9b771e2f2704b0e"/>
    <ns0:sldId id="271" ns1:id="R68028cf13f734745"/>
    <ns0:sldId id="272" ns1:id="R4c77ba2368244c25"/>
    <ns0:sldId id="273" ns1:id="R57514e4dff2d41b3"/>
    <ns0:sldId id="274" ns1:id="R67ea9f0f6c7844de"/>
    <ns0:sldId id="275" ns1:id="Rb59394891015431f"/>
    <ns0:sldId id="276" ns1:id="R2109191289f14462"/>
    <ns0:sldId id="277" ns1:id="Re48ff01727ca46f0"/>
    <ns0:sldId id="278" ns1:id="Rae4b0c49ebac44e2"/>
    <ns0:sldId id="279" ns1:id="Rb56c7760726c42f2"/>
    <ns0:sldId id="280" ns1:id="Redc004624fae42ce"/>
    <ns0:sldId id="281" ns1:id="Rffcbcb063e6a406f"/>
    <ns0:sldId id="282" ns1:id="Ra01f7121dc6e4069"/>
    <ns0:sldId id="283" ns1:id="R05dbd1675abc480e"/>
    <ns0:sldId id="284" ns1:id="R864b1fc167de42ef"/>
    <ns0:sldId id="285" ns1:id="R293b5d5053cb4919"/>
    <ns0:sldId id="286" ns1:id="Rf2da4f26fa064db0"/>
    <ns0:sldId id="287" ns1:id="R458edeba148541ba"/>
    <ns0:sldId id="288" ns1:id="R881fd83c3f9640cb"/>
    <ns0:sldId id="289" ns1:id="Rfc68b66decd344e8"/>
    <ns0:sldId id="290" ns1:id="Ref178c1494d54ead"/>
    <ns0:sldId id="291" ns1:id="R41f5dc61e91046bb"/>
    <ns0:sldId id="292" ns1:id="R05a66f107a6f42de"/>
  </ns0:sldIdLst>
  <ns0:sldSz cx="12192000" cy="68580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c4511ff00d94755" /><Relationship Type="http://schemas.openxmlformats.org/officeDocument/2006/relationships/slideMaster" Target="/ppt/slideMasters/slideMaster1.xml" Id="Rbacf381ee97a4abe" /><Relationship Type="http://schemas.openxmlformats.org/officeDocument/2006/relationships/presProps" Target="/ppt/presProps.xml" Id="R7375d384d1e141f2" /><Relationship Type="http://schemas.openxmlformats.org/officeDocument/2006/relationships/tableStyles" Target="/ppt/tableStyles.xml" Id="Re871f34529a643f9" /><Relationship Type="http://schemas.openxmlformats.org/officeDocument/2006/relationships/slide" Target="/ppt/slides/slide1.xml" Id="R397a22ce784548f3" /><Relationship Type="http://schemas.openxmlformats.org/officeDocument/2006/relationships/slide" Target="/ppt/slides/slide2.xml" Id="R268aa25185334dae" /><Relationship Type="http://schemas.openxmlformats.org/officeDocument/2006/relationships/slide" Target="/ppt/slides/slide3.xml" Id="Rc5c8ee77f49345ad" /><Relationship Type="http://schemas.openxmlformats.org/officeDocument/2006/relationships/slide" Target="/ppt/slides/slide4.xml" Id="R826a1f0b9a1f4101" /><Relationship Type="http://schemas.openxmlformats.org/officeDocument/2006/relationships/slide" Target="/ppt/slides/slide5.xml" Id="R2e70eb2c5f26445a" /><Relationship Type="http://schemas.openxmlformats.org/officeDocument/2006/relationships/slide" Target="/ppt/slides/slide6.xml" Id="R913c4c1e45bd420d" /><Relationship Type="http://schemas.openxmlformats.org/officeDocument/2006/relationships/slide" Target="/ppt/slides/slide7.xml" Id="R76104fec0c054986" /><Relationship Type="http://schemas.openxmlformats.org/officeDocument/2006/relationships/slide" Target="/ppt/slides/slide8.xml" Id="R134d295fff77414c" /><Relationship Type="http://schemas.openxmlformats.org/officeDocument/2006/relationships/slide" Target="/ppt/slides/slide9.xml" Id="R552434ed568b42a3" /><Relationship Type="http://schemas.openxmlformats.org/officeDocument/2006/relationships/slide" Target="/ppt/slides/slide10.xml" Id="Rd3c17b1283fa49a6" /><Relationship Type="http://schemas.openxmlformats.org/officeDocument/2006/relationships/slide" Target="/ppt/slides/slide11.xml" Id="R43ba356f73f9416a" /><Relationship Type="http://schemas.openxmlformats.org/officeDocument/2006/relationships/slide" Target="/ppt/slides/slide12.xml" Id="Rd3912bbe8bbe49bb" /><Relationship Type="http://schemas.openxmlformats.org/officeDocument/2006/relationships/slide" Target="/ppt/slides/slide13.xml" Id="Rfc22a4910a744a3e" /><Relationship Type="http://schemas.openxmlformats.org/officeDocument/2006/relationships/slide" Target="/ppt/slides/slide14.xml" Id="R57c4e2290b014d80" /><Relationship Type="http://schemas.openxmlformats.org/officeDocument/2006/relationships/slide" Target="/ppt/slides/slide15.xml" Id="Rd9b771e2f2704b0e" /><Relationship Type="http://schemas.openxmlformats.org/officeDocument/2006/relationships/slide" Target="/ppt/slides/slide16.xml" Id="R68028cf13f734745" /><Relationship Type="http://schemas.openxmlformats.org/officeDocument/2006/relationships/slide" Target="/ppt/slides/slide17.xml" Id="R4c77ba2368244c25" /><Relationship Type="http://schemas.openxmlformats.org/officeDocument/2006/relationships/slide" Target="/ppt/slides/slide18.xml" Id="R57514e4dff2d41b3" /><Relationship Type="http://schemas.openxmlformats.org/officeDocument/2006/relationships/slide" Target="/ppt/slides/slide19.xml" Id="R67ea9f0f6c7844de" /><Relationship Type="http://schemas.openxmlformats.org/officeDocument/2006/relationships/slide" Target="/ppt/slides/slide20.xml" Id="Rb59394891015431f" /><Relationship Type="http://schemas.openxmlformats.org/officeDocument/2006/relationships/slide" Target="/ppt/slides/slide21.xml" Id="R2109191289f14462" /><Relationship Type="http://schemas.openxmlformats.org/officeDocument/2006/relationships/slide" Target="/ppt/slides/slide22.xml" Id="Re48ff01727ca46f0" /><Relationship Type="http://schemas.openxmlformats.org/officeDocument/2006/relationships/slide" Target="/ppt/slides/slide23.xml" Id="Rae4b0c49ebac44e2" /><Relationship Type="http://schemas.openxmlformats.org/officeDocument/2006/relationships/slide" Target="/ppt/slides/slide24.xml" Id="Rb56c7760726c42f2" /><Relationship Type="http://schemas.openxmlformats.org/officeDocument/2006/relationships/slide" Target="/ppt/slides/slide25.xml" Id="Redc004624fae42ce" /><Relationship Type="http://schemas.openxmlformats.org/officeDocument/2006/relationships/slide" Target="/ppt/slides/slide26.xml" Id="Rffcbcb063e6a406f" /><Relationship Type="http://schemas.openxmlformats.org/officeDocument/2006/relationships/slide" Target="/ppt/slides/slide27.xml" Id="Ra01f7121dc6e4069" /><Relationship Type="http://schemas.openxmlformats.org/officeDocument/2006/relationships/slide" Target="/ppt/slides/slide28.xml" Id="R05dbd1675abc480e" /><Relationship Type="http://schemas.openxmlformats.org/officeDocument/2006/relationships/slide" Target="/ppt/slides/slide29.xml" Id="R864b1fc167de42ef" /><Relationship Type="http://schemas.openxmlformats.org/officeDocument/2006/relationships/slide" Target="/ppt/slides/slide30.xml" Id="R293b5d5053cb4919" /><Relationship Type="http://schemas.openxmlformats.org/officeDocument/2006/relationships/slide" Target="/ppt/slides/slide31.xml" Id="Rf2da4f26fa064db0" /><Relationship Type="http://schemas.openxmlformats.org/officeDocument/2006/relationships/slide" Target="/ppt/slides/slide32.xml" Id="R458edeba148541ba" /><Relationship Type="http://schemas.openxmlformats.org/officeDocument/2006/relationships/slide" Target="/ppt/slides/slide33.xml" Id="R881fd83c3f9640cb" /><Relationship Type="http://schemas.openxmlformats.org/officeDocument/2006/relationships/slide" Target="/ppt/slides/slide34.xml" Id="Rfc68b66decd344e8" /><Relationship Type="http://schemas.openxmlformats.org/officeDocument/2006/relationships/slide" Target="/ppt/slides/slide35.xml" Id="Ref178c1494d54ead" /><Relationship Type="http://schemas.openxmlformats.org/officeDocument/2006/relationships/slide" Target="/ppt/slides/slide36.xml" Id="R41f5dc61e91046bb" /><Relationship Type="http://schemas.openxmlformats.org/officeDocument/2006/relationships/slide" Target="/ppt/slides/slide37.xml" Id="R05a66f107a6f42d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43c260b7343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549cfe418e4f74" /><Relationship Type="http://schemas.openxmlformats.org/officeDocument/2006/relationships/slideLayout" Target="/ppt/slideLayouts/slideLayout1.xml" Id="R5d47056fa1c142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47056fa1c142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b6c24a9a1514c5f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58062dd2773848e3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1af153250d94edf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bd25cc23d72472b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b7c1f6f305f4059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6d3dd3c11324c9e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9f8df5ee79d4755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e4a98d8ae7842ce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6b68b869e6f44e7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795eaa17482439e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1ea5d30df734a15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9df59ad5266442d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c3141567834465f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89210cc00624a62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16814e489b74da3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c783b7f54124115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89bd9179861427c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7c4ffc573394d66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8302791a63944b8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3b9362829b64493" /></Relationships>
</file>

<file path=ppt/slides/_rels/slide2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b274b76e9394ed2" /></Relationships>
</file>

<file path=ppt/slides/_rels/slide2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aa19c5ff68a4146" /></Relationships>
</file>

<file path=ppt/slides/_rels/slide2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e228e2812964cae" /></Relationships>
</file>

<file path=ppt/slides/_rels/slide2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2fc63391afcd438c" /></Relationships>
</file>

<file path=ppt/slides/_rels/slide2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959412d4db54685" /></Relationships>
</file>

<file path=ppt/slides/_rels/slide2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4678fe481aa4f1a" /></Relationships>
</file>

<file path=ppt/slides/_rels/slide2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55acd94c23564fe8" /><Relationship Type="http://schemas.openxmlformats.org/officeDocument/2006/relationships/chart" Target="/ppt/slides/charts/chart1.xml" Id="R5ba61755652041ad" /></Relationships>
</file>

<file path=ppt/slides/_rels/slide2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be22f4f1eb24322" /></Relationships>
</file>

<file path=ppt/slides/_rels/slide2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8a777ddb5394431" 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57a4c61e7db84d6e" /></Relationships>
</file>

<file path=ppt/slides/_rels/slide3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4ce6773e29746c8" /></Relationships>
</file>

<file path=ppt/slides/_rels/slide3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a8f2d50797c4e68" /></Relationships>
</file>

<file path=ppt/slides/_rels/slide3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efbf7d86dc349b3" /></Relationships>
</file>

<file path=ppt/slides/_rels/slide3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e795c25164b4bdb" /></Relationships>
</file>

<file path=ppt/slides/_rels/slide3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ecc19acd29a4552" /></Relationships>
</file>

<file path=ppt/slides/_rels/slide3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34dd5ef87f354642" /></Relationships>
</file>

<file path=ppt/slides/_rels/slide3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4b000dd07f94fe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training</c:v>
          </c:tx>
          <c:spPr>
            <a:ln xmlns:a="http://schemas.openxmlformats.org/drawingml/2006/main" w="23813">
              <a:solidFill>
                <a:srgbClr val="B87521"/>
              </a:solidFill>
            </a:ln>
          </c:spPr>
          <c:marker>
            <c:spPr>
              <a:solidFill xmlns:a="http://schemas.openxmlformats.org/drawingml/2006/main">
                <a:srgbClr val="B87521"/>
              </a:solidFill>
            </c:spPr>
          </c:marker>
          <c:cat>
            <c:numRef>
              <c:f>'Chart Data'!$A$2:$A$22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21</c:v>
                </c:pt>
                <c:pt idx="6">
                  <c:v>25</c:v>
                </c:pt>
                <c:pt idx="7">
                  <c:v>29</c:v>
                </c:pt>
                <c:pt idx="8">
                  <c:v>33</c:v>
                </c:pt>
                <c:pt idx="9">
                  <c:v>37</c:v>
                </c:pt>
                <c:pt idx="10">
                  <c:v>41</c:v>
                </c:pt>
                <c:pt idx="11">
                  <c:v>45</c:v>
                </c:pt>
                <c:pt idx="12">
                  <c:v>49</c:v>
                </c:pt>
                <c:pt idx="13">
                  <c:v>53</c:v>
                </c:pt>
                <c:pt idx="14">
                  <c:v>57</c:v>
                </c:pt>
                <c:pt idx="15">
                  <c:v>61</c:v>
                </c:pt>
                <c:pt idx="16">
                  <c:v>65</c:v>
                </c:pt>
                <c:pt idx="17">
                  <c:v>69</c:v>
                </c:pt>
                <c:pt idx="18">
                  <c:v>73</c:v>
                </c:pt>
                <c:pt idx="19">
                  <c:v>77</c:v>
                </c:pt>
                <c:pt idx="20">
                  <c:v>80</c:v>
                </c:pt>
              </c:numCache>
            </c:numRef>
          </c:cat>
          <c:val>
            <c:numRef>
              <c:f>'Chart Data'!$B$2:$B$22</c:f>
              <c:numCache>
                <c:formatCode>General</c:formatCode>
                <c:ptCount val="21"/>
                <c:pt idx="0">
                  <c:v>0.794830858707</c:v>
                </c:pt>
                <c:pt idx="1">
                  <c:v>0.0671405941248</c:v>
                </c:pt>
                <c:pt idx="2">
                  <c:v>0.0570878908038</c:v>
                </c:pt>
                <c:pt idx="3">
                  <c:v>0.0550559423864</c:v>
                </c:pt>
                <c:pt idx="4">
                  <c:v>0.0554280653596</c:v>
                </c:pt>
                <c:pt idx="5">
                  <c:v>0.0524578019977</c:v>
                </c:pt>
                <c:pt idx="6">
                  <c:v>0.0513564869761</c:v>
                </c:pt>
                <c:pt idx="7">
                  <c:v>0.0506650879979</c:v>
                </c:pt>
                <c:pt idx="8">
                  <c:v>0.0492596365511</c:v>
                </c:pt>
                <c:pt idx="9">
                  <c:v>0.0479522012174</c:v>
                </c:pt>
                <c:pt idx="10">
                  <c:v>0.0475371293724</c:v>
                </c:pt>
                <c:pt idx="11">
                  <c:v>0.0464878603816</c:v>
                </c:pt>
                <c:pt idx="12">
                  <c:v>0.0456380322576</c:v>
                </c:pt>
                <c:pt idx="13">
                  <c:v>0.0450009256601</c:v>
                </c:pt>
                <c:pt idx="14">
                  <c:v>0.0440780967474</c:v>
                </c:pt>
                <c:pt idx="15">
                  <c:v>0.043510183692</c:v>
                </c:pt>
                <c:pt idx="16">
                  <c:v>0.0429105311632</c:v>
                </c:pt>
                <c:pt idx="17">
                  <c:v>0.0423461981118</c:v>
                </c:pt>
                <c:pt idx="18">
                  <c:v>0.0418124049902</c:v>
                </c:pt>
                <c:pt idx="19">
                  <c:v>0.0414929799736</c:v>
                </c:pt>
                <c:pt idx="20">
                  <c:v>0.041117079556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ln xmlns:a="http://schemas.openxmlformats.org/drawingml/2006/main" w="23813">
              <a:solidFill>
                <a:srgbClr val="246B8E"/>
              </a:solidFill>
            </a:ln>
          </c:spPr>
          <c:marker>
            <c:spPr>
              <a:solidFill xmlns:a="http://schemas.openxmlformats.org/drawingml/2006/main">
                <a:srgbClr val="246B8E"/>
              </a:solidFill>
            </c:spPr>
          </c:marker>
          <c:cat>
            <c:numRef>
              <c:f>'Chart Data'!$C$2:$C$22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9</c:v>
                </c:pt>
                <c:pt idx="3">
                  <c:v>13</c:v>
                </c:pt>
                <c:pt idx="4">
                  <c:v>17</c:v>
                </c:pt>
                <c:pt idx="5">
                  <c:v>21</c:v>
                </c:pt>
                <c:pt idx="6">
                  <c:v>25</c:v>
                </c:pt>
                <c:pt idx="7">
                  <c:v>29</c:v>
                </c:pt>
                <c:pt idx="8">
                  <c:v>33</c:v>
                </c:pt>
                <c:pt idx="9">
                  <c:v>37</c:v>
                </c:pt>
                <c:pt idx="10">
                  <c:v>41</c:v>
                </c:pt>
                <c:pt idx="11">
                  <c:v>45</c:v>
                </c:pt>
                <c:pt idx="12">
                  <c:v>49</c:v>
                </c:pt>
                <c:pt idx="13">
                  <c:v>53</c:v>
                </c:pt>
                <c:pt idx="14">
                  <c:v>57</c:v>
                </c:pt>
                <c:pt idx="15">
                  <c:v>61</c:v>
                </c:pt>
                <c:pt idx="16">
                  <c:v>65</c:v>
                </c:pt>
                <c:pt idx="17">
                  <c:v>69</c:v>
                </c:pt>
                <c:pt idx="18">
                  <c:v>73</c:v>
                </c:pt>
                <c:pt idx="19">
                  <c:v>77</c:v>
                </c:pt>
                <c:pt idx="20">
                  <c:v>80</c:v>
                </c:pt>
              </c:numCache>
            </c:numRef>
          </c:cat>
          <c:val>
            <c:numRef>
              <c:f>'Chart Data'!$D$2:$D$22</c:f>
              <c:numCache>
                <c:formatCode>General</c:formatCode>
                <c:ptCount val="21"/>
                <c:pt idx="0">
                  <c:v>0.781610846519</c:v>
                </c:pt>
                <c:pt idx="1">
                  <c:v>0.0550831183791</c:v>
                </c:pt>
                <c:pt idx="2">
                  <c:v>0.051248729229</c:v>
                </c:pt>
                <c:pt idx="3">
                  <c:v>0.0529006049037</c:v>
                </c:pt>
                <c:pt idx="4">
                  <c:v>0.0562683641911</c:v>
                </c:pt>
                <c:pt idx="5">
                  <c:v>0.0533679574728</c:v>
                </c:pt>
                <c:pt idx="6">
                  <c:v>0.0562610216439</c:v>
                </c:pt>
                <c:pt idx="7">
                  <c:v>0.0561505444348</c:v>
                </c:pt>
                <c:pt idx="8">
                  <c:v>0.0575910285115</c:v>
                </c:pt>
                <c:pt idx="9">
                  <c:v>0.0574237704277</c:v>
                </c:pt>
                <c:pt idx="10">
                  <c:v>0.0580033548176</c:v>
                </c:pt>
                <c:pt idx="11">
                  <c:v>0.0599106140435</c:v>
                </c:pt>
                <c:pt idx="12">
                  <c:v>0.061780679971</c:v>
                </c:pt>
                <c:pt idx="13">
                  <c:v>0.0612818673253</c:v>
                </c:pt>
                <c:pt idx="14">
                  <c:v>0.0632261708379</c:v>
                </c:pt>
                <c:pt idx="15">
                  <c:v>0.065236069262</c:v>
                </c:pt>
                <c:pt idx="16">
                  <c:v>0.065298885107</c:v>
                </c:pt>
                <c:pt idx="17">
                  <c:v>0.0666124597192</c:v>
                </c:pt>
                <c:pt idx="18">
                  <c:v>0.0683926641941</c:v>
                </c:pt>
                <c:pt idx="19">
                  <c:v>0.0677064061165</c:v>
                </c:pt>
                <c:pt idx="20">
                  <c:v>0.0710795298219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Noto Sans"/>
              <a:ea typeface="Noto Sans"/>
              <a:cs typeface="Noto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03475-736D-49CB-B1E3-38C09BD6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7D8CF"/>
                </a:solidFill>
                <a:latin typeface="Noto Sans"/>
                <a:ea typeface="Noto Sans"/>
                <a:cs typeface="Noto Sans"/>
              </a:defRPr>
            </a:pPr>
            <a:r>
              <a:rPr sz="1800" b="1" i="0">
                <a:solidFill>
                  <a:srgbClr val="A7D8CF"/>
                </a:solidFill>
                <a:latin typeface="Noto Sans"/>
                <a:ea typeface="Noto Sans"/>
                <a:cs typeface="Noto Sans"/>
              </a:rPr>
              <a:t>SE-801 Artificial Neural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4D68C-8C19-4F3C-8249-6DB46E2D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4200" b="1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Feedback 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1D999-596A-4969-8555-31DE547D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4200" b="1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17758-DE03-4FDF-B7F7-39F31692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847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DCE8EE"/>
                </a:solidFill>
                <a:latin typeface="Noto Sans"/>
                <a:ea typeface="Noto Sans"/>
                <a:cs typeface="Noto Sans"/>
              </a:defRPr>
            </a:pPr>
            <a:r>
              <a:rPr sz="2175" b="0" i="0">
                <a:solidFill>
                  <a:srgbClr val="DCE8EE"/>
                </a:solidFill>
                <a:latin typeface="Noto Sans"/>
                <a:ea typeface="Noto Sans"/>
                <a:cs typeface="Noto Sans"/>
              </a:rPr>
              <a:t>A complete chain from data to reproducible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1E4F9-248F-4C01-9E1A-08D88810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8BE22-C273-4879-BE14-AB2D90EF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9CAD3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B9CAD3"/>
                </a:solidFill>
                <a:latin typeface="Noto Sans"/>
                <a:ea typeface="Noto Sans"/>
                <a:cs typeface="Noto Sans"/>
              </a:rPr>
              <a:t>Lecture 8   Dr. Muhammad Farrukh Qureshi   PNEC, NUST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28866-BAC6-4811-ABE7-1CD44A86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0"/>
            <a:ext cx="152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900" b="1" i="0">
                <a:solidFill>
                  <a:srgbClr val="31576C"/>
                </a:solidFill>
                <a:latin typeface="Noto Sans"/>
                <a:ea typeface="Noto Sans"/>
                <a:cs typeface="Noto Sans"/>
              </a:defRPr>
            </a:pPr>
            <a:r>
              <a:rPr sz="6900" b="1" i="0">
                <a:solidFill>
                  <a:srgbClr val="31576C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7298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AE147-7C53-497B-A6F9-B6D786B8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E7A51-5AA0-4C05-8EEF-085C6582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BEA27-9325-422C-AA98-D44D981F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3DB67-3A28-4B9A-9C92-61C1CF9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45CE4-1434-4231-99B8-90957C43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Trace shapes and responsibilities through an MLP pipeline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Connect logits, cross-entropy, gradients, and parameter updates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Verify a scratch implementation against nn.Module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Detect leakage, broadcasting errors, and invalid metric claims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Write a reproducible experiment record for a project baseline</a:t>
            </a:r>
          </a:p>
        </p:txBody>
      </p:sp>
    </p:spTree>
    <p:extLst>
      <p:ext uri="{BB962C8B-B14F-4D97-AF65-F5344CB8AC3E}">
        <p14:creationId xmlns:p14="http://schemas.microsoft.com/office/powerpoint/2010/main" val="11132560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776F9-F4A0-4CE8-BAC7-5AA7A58F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Diagnostic themes from Lectures 1 to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F5523-CD16-40F6-B7FE-C63BEF23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8D998-0EEF-4656-A430-4CC7AB84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C2EB1-9E54-43B8-8D40-82BC94F2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77F20-B00B-47CE-A945-5F28B222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621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E8CFD-2491-48BB-8E02-A98F2D23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8E96C-AC4F-48CF-94A9-10C961A0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29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Tensor shapes carry meaning and can fail silently through broadcasting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loss contract determines what logits and labels mean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5A7EB-5776-4727-BCCE-A40BF6B2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F210D-8E85-483F-BA69-8D919F43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Representation limits differ from optimization problems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Evaluation must remain independent of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424799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9825B-40AA-498D-94DE-85AC5213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complete learning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42BC2-0DDF-4DF6-AF28-0DC80887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4555B-4216-4FDC-A083-A91D7112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90DD9-9CD0-44D4-8236-8A9D6935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44FF3-C6B0-4732-8D93-2F0981A4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9964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E2653-55DE-4F39-8549-696E6F6C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095500"/>
            <a:ext cx="19964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split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B4ECD-E197-4FB8-A92E-E679B627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530" y="2095500"/>
            <a:ext cx="19964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preprocessing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0D6B3-0CE2-4622-B572-D0B298FA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420" y="2095500"/>
            <a:ext cx="19964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6DA22-AE26-4594-A2C1-EF198535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2095500"/>
            <a:ext cx="19964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D8A40-5ED3-4D1E-AC36-B0A4EC82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9964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gradient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90AAB-8551-489E-B2EE-BDBBCBA2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381375"/>
            <a:ext cx="19964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7C910-0775-40FD-A1A9-F25142D7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530" y="3381375"/>
            <a:ext cx="19964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E0E57-F3AC-4E88-A337-51066298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420" y="3381375"/>
            <a:ext cx="19964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4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test report</a:t>
            </a:r>
          </a:p>
        </p:txBody>
      </p:sp>
    </p:spTree>
    <p:extLst>
      <p:ext uri="{BB962C8B-B14F-4D97-AF65-F5344CB8AC3E}">
        <p14:creationId xmlns:p14="http://schemas.microsoft.com/office/powerpoint/2010/main" val="1599800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13785-006C-4869-B3BE-2C44BF76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Case file: a compact three-class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73B48-E771-4B45-B2D4-67FADA5B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A906E-CC79-4D21-8643-46138CD6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C368B-9974-47A9-BC17-43F02C9E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10287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143500"/>
              </a:tblGrid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Object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Shape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X batch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[B, 4]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y batch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[B]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W1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[4, 12]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b1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[12]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W2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[12, 3]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b2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[3]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538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FBD34-B3C3-4ACC-943E-7118681E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trace: forward shapes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4009F-D1B7-4EEE-9552-846C4ABC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A2908-4ECF-4EF3-941B-658D7DB8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62FEE-41E2-410A-B747-77934F07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00648-7701-41A8-A5C9-2A632D94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 OR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77723-4DC7-450E-BFEE-9B1A2BB3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For B = 5, write the shapes of Z1, H, and logits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State which dimension indexes examples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State which dimension CrossEntropyLoss interprets as classes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Explain why softmax is absent from the model's forward 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E905F-F794-4000-B788-56AA3AF1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shapes, substitutions,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1044477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7F3A7-8086-4698-9616-76E5CF55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Forward-shape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1454F-A015-4E51-95C4-BE5CDACF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52CBC-A06F-4BF1-B356-BA3EAB57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5D2D2-76A4-406F-A472-09ECD1BB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56B84-B74E-4DAF-809A-4ED661A4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WORKED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4FEA8-FAF3-4E12-8F4F-715E33E7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Z1 and H have shape [5, 12]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Logits have shape [5, 3]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Dimension 0 indexes examples and dimension 1 indexes classes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CrossEntropyLoss consumes raw logits and applies the stable normalization internally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71224-2C39-40EC-BC46-958AC0FD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Check the method and the final statement.</a:t>
            </a:r>
          </a:p>
        </p:txBody>
      </p:sp>
    </p:spTree>
    <p:extLst>
      <p:ext uri="{BB962C8B-B14F-4D97-AF65-F5344CB8AC3E}">
        <p14:creationId xmlns:p14="http://schemas.microsoft.com/office/powerpoint/2010/main" val="1067715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453CD-A3F1-4178-92EA-659FFB8E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One MLP, two implementations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B88F3-5FC5-4569-B059-61857313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CE008-5D7B-425C-B3D7-FC9DC1A8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A61EA-C3FE-474C-BAF5-5757EA64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9FEEC-CB36-4E18-9F35-E09592BD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621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CFD86-A15B-4BFC-951E-F79C588C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846E0-78D1-44CA-B8B0-74C65D32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29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Scratch tensors make every matrix and parameter explicit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nn.Module registers the same parameters and composes reusable layers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BB8DA-CCFD-47C8-A179-73E6033D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30A96-3C6A-4342-B3E7-666100B4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Equivalence requires identical values, shapes, operations, and reduction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Matching class names or layer counts is not enough</a:t>
            </a:r>
          </a:p>
        </p:txBody>
      </p:sp>
    </p:spTree>
    <p:extLst>
      <p:ext uri="{BB962C8B-B14F-4D97-AF65-F5344CB8AC3E}">
        <p14:creationId xmlns:p14="http://schemas.microsoft.com/office/powerpoint/2010/main" val="7806029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D1492-204A-49A9-9084-9B1BD50E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Scratch forward 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FBFBF-64A9-4A9B-B26E-FD7F52DB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60405-A938-489F-AA40-F4F19C7C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83422-4F88-4247-A7A6-D63342E2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EB221-7D24-4A49-A84D-77666B98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537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1430">
            <a:solidFill>
              <a:srgbClr val="31576C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z1 = X @ W1 + b1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h = torch.relu(z1)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logits = h @ W2 + b2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loss = F.cross_entropy(logits, y)</a:t>
            </a:r>
          </a:p>
        </p:txBody>
      </p:sp>
    </p:spTree>
    <p:extLst>
      <p:ext uri="{BB962C8B-B14F-4D97-AF65-F5344CB8AC3E}">
        <p14:creationId xmlns:p14="http://schemas.microsoft.com/office/powerpoint/2010/main" val="19129107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9B295-B08E-4511-852E-2D4176AE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Module forward 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6415C-DCE1-40BF-9B87-240C4DCE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3AB8B-9B24-4AB2-8308-5791798F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5AC0A-94FD-47D9-B48A-F6AF31BF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E23D7-2263-4BCF-83BF-268B37BA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53700" cy="3571875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1430">
            <a:solidFill>
              <a:srgbClr val="31576C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class MLP(nn.Module):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def __init__(self):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super().__init__()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self.fc1 = nn.Linear(4, 12)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self.fc2 = nn.Linear(12, 3)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def forward(self, x):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    return self.fc2(torch.relu(self.fc1(x)))</a:t>
            </a:r>
          </a:p>
        </p:txBody>
      </p:sp>
    </p:spTree>
    <p:extLst>
      <p:ext uri="{BB962C8B-B14F-4D97-AF65-F5344CB8AC3E}">
        <p14:creationId xmlns:p14="http://schemas.microsoft.com/office/powerpoint/2010/main" val="20648000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86B64-52F1-4B91-8371-D57BD0EF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Parameter orientation must be reconciled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712F3-3BE8-4BFE-A25C-3ACB3CD1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69DD8-B058-4EC0-ABBE-C8B95ABD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74B64-EC3D-4511-87A3-29F0AAC0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B44D3-681B-4D9F-A224-C6793265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scratch expression stores W1 as [input, hidden]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nn.Linear stores weight as [output, input]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Copy W1.T into fc1.weight and W2.T into fc2.weight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Bias vectors already use the same orientation</a:t>
            </a:r>
          </a:p>
        </p:txBody>
      </p:sp>
    </p:spTree>
    <p:extLst>
      <p:ext uri="{BB962C8B-B14F-4D97-AF65-F5344CB8AC3E}">
        <p14:creationId xmlns:p14="http://schemas.microsoft.com/office/powerpoint/2010/main" val="10295512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360C4-AC90-4FC5-A0F7-BA7B9C74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Equivalence test before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CCC6A-97C9-4C69-9027-E5DB8F4D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B0F9A-0322-4E1C-B528-737DDED5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14EF4-25B4-4393-8E56-8E23970A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C3FF9-F07D-447E-8C11-5A278764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Copy all four parameter tensors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Run both models on the same batch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Compare logits and scalar loss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Backpropagate once and compare every gradient after accounting for transpose</a:t>
            </a:r>
          </a:p>
        </p:txBody>
      </p:sp>
    </p:spTree>
    <p:extLst>
      <p:ext uri="{BB962C8B-B14F-4D97-AF65-F5344CB8AC3E}">
        <p14:creationId xmlns:p14="http://schemas.microsoft.com/office/powerpoint/2010/main" val="4148376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85D97-D96A-4058-A5B2-79B0CE12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Reference equivalence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B484F-94E7-40A0-A073-1CBCCE64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4FDCB-701E-45E6-B4EC-EDD3829B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265B4-9429-4431-AD38-8BB8F436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287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143500"/>
              </a:tblGrid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Check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Maximum absolute error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Forward logits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0.00e+0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Scalar loss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0.00e+0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Parameter 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1.39e-17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AAB9F-B156-40A4-8EBA-6DEF2CBB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6262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Reference values come from the executed notebook. Read the experiment report before generalizing.</a:t>
            </a:r>
          </a:p>
        </p:txBody>
      </p:sp>
    </p:spTree>
    <p:extLst>
      <p:ext uri="{BB962C8B-B14F-4D97-AF65-F5344CB8AC3E}">
        <p14:creationId xmlns:p14="http://schemas.microsoft.com/office/powerpoint/2010/main" val="11335945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86217-5026-4401-AF45-D318886B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The training step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DEB19-70EC-46D8-8941-8EF8406A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0E9C2-C8DA-4B17-887A-96B288CA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7960C-B8AC-4C6C-B586-3413F5D4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BA689-CB79-44BA-BE61-B2C4A36A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99644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Clear stored gradients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357EC-AD7C-4646-B2CD-8AAC68C2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095500"/>
            <a:ext cx="199644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Calculate logits and the scalar loss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E3C41-1107-481E-8215-E3C89391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530" y="2095500"/>
            <a:ext cx="199644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Run reverse-mode differentiation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9A3F7-8B1C-44F6-8080-C7231C19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420" y="2095500"/>
            <a:ext cx="199644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3F0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Update every parameter using gradients from the same parameter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E361E-6713-49DF-A8B6-2663E376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2095500"/>
            <a:ext cx="199644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1F6"/>
          </a:solidFill>
          <a:ln xmlns:a="http://schemas.openxmlformats.org/drawingml/2006/main" w="11430">
            <a:solidFill>
              <a:srgbClr val="D6E0E6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Record the loss before starting the next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97811-BD36-4E3A-8BB7-5187D250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025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Each stage passes a checked contract to the next.</a:t>
            </a:r>
          </a:p>
        </p:txBody>
      </p:sp>
    </p:spTree>
    <p:extLst>
      <p:ext uri="{BB962C8B-B14F-4D97-AF65-F5344CB8AC3E}">
        <p14:creationId xmlns:p14="http://schemas.microsoft.com/office/powerpoint/2010/main" val="11881336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B6898-4409-4A2B-BB67-B1E8A72C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repair: training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D6164-DB9B-44DF-929A-38B33136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DC0EB-0E40-4891-BACF-11118280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D9830-5D57-428A-9D43-595C5A76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6DADB-1682-4126-A1B9-3A304250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537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1430">
            <a:solidFill>
              <a:srgbClr val="31576C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for X, y in loader: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probabilities = model(X).softmax(dim=1)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loss = criterion(probabilities, y)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loss.backward()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    optimizer.step()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E73FC-E94D-442B-BA71-1B3CEA17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Identify two faults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Write the corrected order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Explain the consequence of each fault</a:t>
            </a:r>
          </a:p>
        </p:txBody>
      </p:sp>
    </p:spTree>
    <p:extLst>
      <p:ext uri="{BB962C8B-B14F-4D97-AF65-F5344CB8AC3E}">
        <p14:creationId xmlns:p14="http://schemas.microsoft.com/office/powerpoint/2010/main" val="13768746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40E33-626A-4C0B-A93D-6539DC21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Training-loop repair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DCB64-1F97-408F-A83D-445D2513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85AE9-F3FC-4562-B821-7ED43E05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40DFB-19D2-4520-9065-15CF774B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35222-EFB7-4885-9B3F-99A79DEF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WORKED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809D6-8AE1-4A1A-9C00-611BB3D2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Pass raw logits to CrossEntropyLoss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Clear gradients before the new backward pass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Use forward and loss, backward, then optimizer.step()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Apply softmax only when probabilities are needed for 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3CC12-FEE5-42BD-B4A5-712118D3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Check the method and the final statement.</a:t>
            </a:r>
          </a:p>
        </p:txBody>
      </p:sp>
    </p:spTree>
    <p:extLst>
      <p:ext uri="{BB962C8B-B14F-4D97-AF65-F5344CB8AC3E}">
        <p14:creationId xmlns:p14="http://schemas.microsoft.com/office/powerpoint/2010/main" val="11969995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02427-3C5E-4E1C-BD64-A35F7F9D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Broadcasting can create the wrong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D4084-EBFF-4768-8282-60887027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28586-6767-49F1-B9C3-38156466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11999-31AF-4670-B163-1713F75A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F387D-48CB-4513-AFE8-BEC72897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Predictions shaped [B, 1] and targets shaped [B] produce [B, B] differences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Every prediction becomes paired with every target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code runs and returns a scalar, so shape assertions matter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Align both tensors as [B] or both as [B, 1]</a:t>
            </a:r>
          </a:p>
        </p:txBody>
      </p:sp>
    </p:spTree>
    <p:extLst>
      <p:ext uri="{BB962C8B-B14F-4D97-AF65-F5344CB8AC3E}">
        <p14:creationId xmlns:p14="http://schemas.microsoft.com/office/powerpoint/2010/main" val="8925025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CF9D9-B482-48FF-9D78-9F971DC9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calculation: the false zero-loss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0A80D-7BF1-4F0E-99B7-D272FECC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07DC6-6463-4019-8385-D1E9A7DE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3EC7B-B141-49EA-AE25-E1B5F222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6D7C3-62B0-432D-8E76-D6E0662F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 OR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BE859-40CD-4568-BEB9-6E926EC0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pred = [[1], [2], [3]] and target = [1, 2, 3]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Write the broadcast difference matrix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Calculate the mean squared error reported by the faulty code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State the correct MSE after matching shapes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24D62-304B-4968-A10E-F99D3D30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shapes, substitutions,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3038839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C746B-FD82-4252-A0F1-0F6249C9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Broadcasting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143FB-33DD-4E60-8EFD-075D4594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1541B-DC75-4820-8E8F-8A889D74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282B8-0767-4074-8863-9CD0088D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13CA6-A2A0-467A-A515-0541A65E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WORKED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3B256-17BD-4758-A641-047B654D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3 by 3 matrix has rows [0,-1,-2], [1,0,-1], [2,1,0]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Squared values sum to 12, so the faulty mean is 12/9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Matched shapes compare only the diagonal pairs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correct MSE is zero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57CED-0C31-452D-8F78-C8934C70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Check the method and the final statement.</a:t>
            </a:r>
          </a:p>
        </p:txBody>
      </p:sp>
    </p:spTree>
    <p:extLst>
      <p:ext uri="{BB962C8B-B14F-4D97-AF65-F5344CB8AC3E}">
        <p14:creationId xmlns:p14="http://schemas.microsoft.com/office/powerpoint/2010/main" val="12010728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3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00936-2EDF-48C8-809A-EEA71203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5700" b="1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Break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03900-37AC-4655-A07E-C511A9B0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A7D8CF"/>
                </a:solidFill>
                <a:latin typeface="Noto Sans"/>
                <a:ea typeface="Noto Sans"/>
                <a:cs typeface="Noto Sans"/>
              </a:defRPr>
            </a:pPr>
            <a:r>
              <a:rPr sz="3000" b="1" i="0">
                <a:solidFill>
                  <a:srgbClr val="A7D8CF"/>
                </a:solidFill>
                <a:latin typeface="Noto Sans"/>
                <a:ea typeface="Noto Sans"/>
                <a:cs typeface="Noto Sans"/>
              </a:rPr>
              <a:t>20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428CD-78D5-46DB-8284-EA157B5C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75" b="0" i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After the break: evaluation contracts, evidence, and project repair</a:t>
            </a:r>
          </a:p>
        </p:txBody>
      </p:sp>
    </p:spTree>
    <p:extLst>
      <p:ext uri="{BB962C8B-B14F-4D97-AF65-F5344CB8AC3E}">
        <p14:creationId xmlns:p14="http://schemas.microsoft.com/office/powerpoint/2010/main" val="14882439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384CE-6B50-4186-AA7C-A63E390C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Representation or optimization?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77230-0F45-491B-B8F7-B5F061BE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408CC-625F-4B3D-B250-4FDBEE5A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9EA3D-EB0D-45B7-988F-D35D5832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AEA9E-8BA3-45A8-AEF4-11B9ACE7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621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2C13C-4F6A-4554-9E48-1F38282F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C28DF-8825-4516-A949-AD4198B5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29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linear model failing on XOR has insufficient representation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capable MLP stuck at chance may have an optimization or implementation fault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E2E55-D2F4-4A0C-9D47-1295D221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9D2CB-17C6-4066-9DB1-8D9BCB39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lower learning rate cannot add a nonlinear feature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larger model cannot repair labels that leak across splits</a:t>
            </a:r>
          </a:p>
        </p:txBody>
      </p:sp>
    </p:spTree>
    <p:extLst>
      <p:ext uri="{BB962C8B-B14F-4D97-AF65-F5344CB8AC3E}">
        <p14:creationId xmlns:p14="http://schemas.microsoft.com/office/powerpoint/2010/main" val="17575323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54155-62DE-4015-87D5-EE159C3F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Training, validation, and test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89AC2-484F-4E1E-852B-301814DA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4F10F-C284-40D2-A6BC-688A68D7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77781-B6B6-41B9-B48C-B3870520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102870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143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Split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Permitted use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Training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Fit parameters and training-only preprocessing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Validation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Choose architecture, hyperparameters, and checkpoint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Evaluate the frozen pipeline once for the final claim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15454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7CA1E-54E8-4FD4-A28A-F1D37AB3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Student judgment: which result can be claimed?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5AC92-93E1-47E8-A891-6CB7366B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0C507-E699-410A-8396-FDE4142E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52B44-EF61-4A85-88BD-92C6DD9A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94C61-CF66-4A0A-9B66-2635D146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 OR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875E8-D903-442F-94BE-9A8292BA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Model A has 99% training accuracy and 62% validation accuracy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Model B has 88% training accuracy and 84% validation accuracy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test set has not been opened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Choose the next action and explain what cannot yet be claimed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BB8BE-EE2E-4C0E-8F12-76D3E7BC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shapes, substitutions,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174891739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F0E13-7EA9-4B54-B141-01F7F627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Evaluation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6EC6A-F31F-447A-B4DB-28FF1637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EE427-06BD-4523-90AB-2C415819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0332B-596A-47E2-879C-FDBA3441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0C52D-33BE-424E-AD63-7A11AE35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WORKED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ADACA-A414-4584-A8B7-20E20E20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Model B currently has stronger validation evidence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Neither model has a final test estimate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choice should use the declared validation metric and protocol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training score does not estimate generalization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C419D-C543-488E-ACFB-6CC4B424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Check the method and the final statement.</a:t>
            </a:r>
          </a:p>
        </p:txBody>
      </p:sp>
    </p:spTree>
    <p:extLst>
      <p:ext uri="{BB962C8B-B14F-4D97-AF65-F5344CB8AC3E}">
        <p14:creationId xmlns:p14="http://schemas.microsoft.com/office/powerpoint/2010/main" val="10033692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14C25-BF6F-4062-92E5-506ECA6A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Accuracy can hide the class that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0D548-0984-4583-90BC-25DB4938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1728C-C79D-4F2B-A5A1-123D6B3F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459BC-AC37-4CFF-AA3F-F913BB4C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8E298-5B26-4D52-A2D9-CD2C6499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Always-normal prediction can achieve 80% accuracy in an 80 to 20 split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Fault recall then equals zero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Balanced accuracy exposes unequal class recall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Metric selection must follow the operational question</a:t>
            </a:r>
          </a:p>
        </p:txBody>
      </p:sp>
    </p:spTree>
    <p:extLst>
      <p:ext uri="{BB962C8B-B14F-4D97-AF65-F5344CB8AC3E}">
        <p14:creationId xmlns:p14="http://schemas.microsoft.com/office/powerpoint/2010/main" val="940092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DE38D-E802-4560-8839-D139A88B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Controlled end-to-end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CCC4E-F6DB-4250-94A7-EE7EF63F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FD5E1-9BFB-4FBB-A589-1EB69708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7F152-3982-430F-9387-093D02A5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10287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143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Max logit error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Forward equivalence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Max gradient error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Backward equivalence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Learning curves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Optimization diagnosis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Confusion matrix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Class-specific test behavior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31454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625C6-4164-4560-8897-C5607461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Learning curves for the consolidated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69775-9639-48E9-B835-44F4CC19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17014-71C3-41B2-8CF8-E61654AC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A2542-41D4-4129-9302-B34449B6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000125" y="1714500"/>
          <a:ext xmlns:a="http://schemas.openxmlformats.org/drawingml/2006/main" cx="10191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a61755652041ad"/>
          </a:graphicData>
        </a:graphic>
      </p:graphicFrame>
    </p:spTree>
    <p:extLst>
      <p:ext uri="{BB962C8B-B14F-4D97-AF65-F5344CB8AC3E}">
        <p14:creationId xmlns:p14="http://schemas.microsoft.com/office/powerpoint/2010/main" val="158948102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7C082-94C6-47D1-948A-53DC0F7B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Reference-run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87317-C893-4C38-B2E7-B3767EA1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C2F6C-A089-4B94-B35B-8DBC83ED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98EB1-A980-434F-A4C7-4009E292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287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143500"/>
              </a:tblGrid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Reference value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Trainable parameters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Selected epoch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Validation 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0.0502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Test accuracy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96.97%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Balanced accuracy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96.97%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A49D9-1B0C-4D23-944C-EB5FC6AE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6262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Reference values come from the executed notebook. Read the experiment report before generalizing.</a:t>
            </a:r>
          </a:p>
        </p:txBody>
      </p:sp>
    </p:spTree>
    <p:extLst>
      <p:ext uri="{BB962C8B-B14F-4D97-AF65-F5344CB8AC3E}">
        <p14:creationId xmlns:p14="http://schemas.microsoft.com/office/powerpoint/2010/main" val="146406850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0F715-1B42-4D65-BF4A-7F34DE59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Reproducibility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25D16-D0AE-4368-8B2C-B72B39F2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0DD1D-57D7-4AB1-AF01-F17010DE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91489-48B7-4DBD-85FF-7128ACCE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2754-6353-4D73-A674-73ABA8E4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Question and prediction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Data origin, split identifiers, and preprocessing fit set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Model definition and parameter count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Loss, optimizer, learning rate, batch size, and budget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0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0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Seeds, selected checkpoint rule, metrics, and software versions</a:t>
            </a:r>
          </a:p>
        </p:txBody>
      </p:sp>
    </p:spTree>
    <p:extLst>
      <p:ext uri="{BB962C8B-B14F-4D97-AF65-F5344CB8AC3E}">
        <p14:creationId xmlns:p14="http://schemas.microsoft.com/office/powerpoint/2010/main" val="2038983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7D82A-BD8F-4247-919B-AE7B796C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One seed answers a narrow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2D6F8-9A56-4E41-AE4E-9B4924C1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B137C-AB2C-4374-AA20-DA6E71D6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8D3E3-9A02-427A-A213-18D300EA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FFBEC-DEEE-4A14-BDE3-CF0CB68C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621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7FA8B-58AA-43EA-99CF-DD4CFC83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46B8E"/>
                </a:solidFill>
                <a:latin typeface="Noto Sans"/>
                <a:ea typeface="Noto Sans"/>
                <a:cs typeface="Noto San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0DFA5-F52A-469B-8783-72C0D057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29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fixed seed makes one run repeatable under its environment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It does not measure sensitivity to initialization or data sampling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714B8-E1F7-4355-8881-02316769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defRPr>
            </a:pPr>
            <a:r>
              <a:rPr sz="2550" b="1" i="0">
                <a:solidFill>
                  <a:srgbClr val="218477"/>
                </a:solidFill>
                <a:latin typeface="Noto Sans"/>
                <a:ea typeface="Noto Sans"/>
                <a:cs typeface="Noto San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E650F-E4BE-464C-9344-6DECB6B3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Repeated runs estimate variation under specified sources of randomness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8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8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A reproducible mistake remains a mistake</a:t>
            </a:r>
          </a:p>
        </p:txBody>
      </p:sp>
    </p:spTree>
    <p:extLst>
      <p:ext uri="{BB962C8B-B14F-4D97-AF65-F5344CB8AC3E}">
        <p14:creationId xmlns:p14="http://schemas.microsoft.com/office/powerpoint/2010/main" val="5766054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36477-B214-4956-91F3-97AC8C43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Project clinic: scope and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583F0-8630-4709-A7C5-1E7BD9EE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835DD-AB18-44BF-9BAC-5914D8FA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45BBE-0427-4766-92BF-716B229B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58A62-6F3E-40A8-85A3-A9BB6F1D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Write one falsifiable project question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Choose a baseline that addresses the same target and split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State the intended unit of generalization such as subject, session, or device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Remove any feature unavailable at deployment time</a:t>
            </a:r>
          </a:p>
        </p:txBody>
      </p:sp>
    </p:spTree>
    <p:extLst>
      <p:ext uri="{BB962C8B-B14F-4D97-AF65-F5344CB8AC3E}">
        <p14:creationId xmlns:p14="http://schemas.microsoft.com/office/powerpoint/2010/main" val="188866271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34A7A-9743-48C5-B4EE-F50D7FED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Project clinic: evidence 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33582-2862-454D-983A-FED9653B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3AAE7-8813-42C0-8002-74265A92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3A0CF-929E-4F33-916E-09D702FC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10287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143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Claim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Required evidence</a:t>
                      </a:r>
                    </a:p>
                  </a:txBody>
                  <a:tcPr marL="91440" marR="91440" marT="45720" marB="45720" anchor="ctr">
                    <a:solidFill>
                      <a:srgbClr val="173B5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Improves the baseline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Same split, metric, and selection budget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Works for new subjects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Subject-disjoint held-out evaluation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Training is stable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Curves, gradient checks, and repeated runs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Fits the device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12B"/>
                          </a:solidFill>
                          <a:latin typeface="Noto Sans"/>
                          <a:ea typeface="Noto Sans"/>
                          <a:cs typeface="Noto Sans"/>
                        </a:rPr>
                        <a:t>Measured size, memory, and latency</a:t>
                      </a:r>
                    </a:p>
                  </a:txBody>
                  <a:tcPr marL="91440" marR="91440" marT="45720" marB="45720" anchor="ctr">
                    <a:solidFill>
                      <a:srgbClr val="E8F1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1082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B32E4-4130-41A0-A7D8-AE4D2359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Notebook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204BF-08AC-4A3F-9026-B08D74D5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92355-49E3-4C1C-8BB2-4BCDE393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8BADF-AB85-48CB-A26C-D49539C3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87DB1-4399-4488-BA87-A75F74C5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537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32A3A"/>
          </a:solidFill>
          <a:ln xmlns:a="http://schemas.openxmlformats.org/drawingml/2006/main" w="11430">
            <a:solidFill>
              <a:srgbClr val="31576C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python lecture_08_experiments.py</a:t>
            </a:r>
          </a:p>
          <a:p xmlns:a="http://schemas.openxmlformats.org/drawingml/2006/main">
            <a:pPr>
              <a:def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defRPr>
            </a:pPr>
            <a:r>
              <a:rPr sz="1650">
                <a:solidFill>
                  <a:srgbClr val="E7F0F4"/>
                </a:solidFill>
                <a:latin typeface="Noto Sans Mono"/>
                <a:ea typeface="Noto Sans Mono"/>
                <a:cs typeface="Noto Sans Mono"/>
              </a:rPr>
              <a:t># or open ANN_Lec_8_live.ipynb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BE3EE-5C19-4F42-907B-11D1C723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Verify scratch and nn.Module logits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Compare all four parameter gradients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Train the frozen module recipe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Inspect learning curves and the test confusion matrix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6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6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Trigger the broadcasting fault and verify the shape assertion</a:t>
            </a:r>
          </a:p>
        </p:txBody>
      </p:sp>
    </p:spTree>
    <p:extLst>
      <p:ext uri="{BB962C8B-B14F-4D97-AF65-F5344CB8AC3E}">
        <p14:creationId xmlns:p14="http://schemas.microsoft.com/office/powerpoint/2010/main" val="184848611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780A9-11E3-4744-9795-D81AEF9A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Concept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6F790-2469-4495-A730-C3F67E78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77183-BD80-4B31-8FFF-54123874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BCC0A-5C3F-4490-AEB0-DC0C8D00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ECF33-4F28-4BBB-97B9-B79D2BB7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B87521"/>
                </a:solidFill>
                <a:latin typeface="Noto Sans"/>
                <a:ea typeface="Noto Sans"/>
                <a:cs typeface="Noto Sans"/>
              </a:rPr>
              <a:t>CALCULATE OR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042F7-D849-4A1B-89B5-C4F9B94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53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Why are raw logits required by CrossEntropyLoss?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What does a forward-equivalence test fail to verify?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Why does validation choose a checkpoint while test does not?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1950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1950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How can a model be reproducible but scientifically invalid?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64BC4-213E-40EE-AF91-57311B3E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Show shapes, substitutions,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118949083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4AA97-821F-4B1C-9340-5B1374C9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Lecture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064C5-D1DD-403D-BD1B-734C23B9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6C458-4604-443D-9D04-A1E67785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00122-E2B2-4894-A2B5-93240C7B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886FF-F37F-422C-893F-7F06C998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Shapes connect the mathematics to the code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The loss and training-loop contracts determine valid gradients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Equivalence tests isolate implementation faults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Split discipline and experiment records support believable evidence</a:t>
            </a:r>
          </a:p>
        </p:txBody>
      </p:sp>
    </p:spTree>
    <p:extLst>
      <p:ext uri="{BB962C8B-B14F-4D97-AF65-F5344CB8AC3E}">
        <p14:creationId xmlns:p14="http://schemas.microsoft.com/office/powerpoint/2010/main" val="13951161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CF388-489A-4442-8E34-4D890C14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6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Reserve: finite-difference gradient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B7FB9-D8A1-445C-8176-13F33327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5DEC2-91AF-42A5-94AE-06F8F24D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2D59E-29B1-41CF-A4FE-34D59504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08FD2-87B8-4E27-8D36-B6D0379A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Perturb one scalar parameter by plus and minus epsilon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Compare the centered finite difference with autograd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Use double precision and several epsilon values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02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02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Treat agreement as a local implementation check</a:t>
            </a:r>
          </a:p>
        </p:txBody>
      </p:sp>
    </p:spTree>
    <p:extLst>
      <p:ext uri="{BB962C8B-B14F-4D97-AF65-F5344CB8AC3E}">
        <p14:creationId xmlns:p14="http://schemas.microsoft.com/office/powerpoint/2010/main" val="179877153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A83C5-38A9-44BE-919B-FCA2A294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173B57"/>
                </a:solidFill>
                <a:latin typeface="Noto Sans"/>
                <a:ea typeface="Noto Sans"/>
                <a:cs typeface="Noto Sans"/>
              </a:rPr>
              <a:t>Reserve: ablation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6AF6C-BC5B-4CBC-94DB-C5942C84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5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7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50A42-7438-4671-A3A8-A8321551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SE-801  /  Lecture 8  /  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7C492-E462-448E-B37A-B096BA86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477000"/>
            <a:ext cx="5143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defRPr>
            </a:pPr>
            <a:r>
              <a:rPr sz="1050" b="0" i="0">
                <a:solidFill>
                  <a:srgbClr val="60717E"/>
                </a:solidFill>
                <a:latin typeface="Noto Sans"/>
                <a:ea typeface="Noto Sans"/>
                <a:cs typeface="Noto Sans"/>
              </a:rPr>
              <a:t>Learning-system consolidation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F1168-C281-4AC7-98C8-356F5655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38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1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Remove or change one component while preserving the rest of the protocol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1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State the mechanism the ablation tests</a:t>
            </a:r>
          </a:p>
          <a:p xmlns:a="http://schemas.openxmlformats.org/drawingml/2006/main">
            <a:pPr marL="279400" indent="-127000">
              <a:spcAft>
                <a:spcPts val="1700"/>
              </a:spcAft>
              <a:buChar char="•"/>
              <a:defRPr sz="2175">
                <a:solidFill>
                  <a:srgbClr val="17212B"/>
                </a:solidFill>
                <a:latin typeface="Noto Sans"/>
                <a:ea typeface="Noto Sans"/>
                <a:cs typeface="Noto Sans"/>
              </a:defRPr>
            </a:pPr>
            <a:r>
              <a:rPr sz="2175">
                <a:solidFill>
                  <a:srgbClr val="17212B"/>
                </a:solidFill>
                <a:latin typeface="Noto Sans"/>
                <a:ea typeface="Noto Sans"/>
                <a:cs typeface="Noto Sans"/>
              </a:rPr>
              <a:t>Report uncertainty rather than selecting only a favorable run</a:t>
            </a:r>
          </a:p>
        </p:txBody>
      </p:sp>
    </p:spTree>
    <p:extLst>
      <p:ext uri="{BB962C8B-B14F-4D97-AF65-F5344CB8AC3E}">
        <p14:creationId xmlns:p14="http://schemas.microsoft.com/office/powerpoint/2010/main" val="630712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2026-10-26T06:23:07.2090000Z</dcterms:created>
  <dcterms:modified xsi:type="dcterms:W3CDTF">2026-10-26T06:23:07.2090000Z</dcterms:modified>
</coreProperties>
</file>