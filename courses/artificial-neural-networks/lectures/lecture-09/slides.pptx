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charts/chart1.xml" ContentType="application/vnd.openxmlformats-officedocument.drawingml.chart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45a5175ac44232" /><Relationship Type="http://schemas.openxmlformats.org/officeDocument/2006/relationships/extended-properties" Target="/docProps/app.xml" Id="R2a23d8e148674328" /><Relationship Type="http://schemas.openxmlformats.org/officeDocument/2006/relationships/officeDocument" Target="/ppt/presentation.xml" Id="Re893849c2223472d" /></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a87df173549342fe"/>
  </ns0:sldMasterIdLst>
  <ns0:sldIdLst>
    <ns0:sldId id="256" ns1:id="R2ba1999c1d774263"/>
    <ns0:sldId id="257" ns1:id="R0a5806fda52e4d02"/>
    <ns0:sldId id="258" ns1:id="Ra68bf45db938450d"/>
    <ns0:sldId id="259" ns1:id="R053567a386de4e26"/>
    <ns0:sldId id="260" ns1:id="R755071ddd68d42ea"/>
    <ns0:sldId id="261" ns1:id="R285f0f1cf8864eea"/>
    <ns0:sldId id="262" ns1:id="R89824287dc4d4765"/>
    <ns0:sldId id="263" ns1:id="Rf8475a5a6f934995"/>
    <ns0:sldId id="264" ns1:id="R128af412f2844210"/>
    <ns0:sldId id="265" ns1:id="R16be691c1a824ebd"/>
    <ns0:sldId id="266" ns1:id="R9a1284ee0e8f46fe"/>
    <ns0:sldId id="267" ns1:id="R5453d0ff46914c01"/>
    <ns0:sldId id="268" ns1:id="R1d60aabccfed46b8"/>
    <ns0:sldId id="269" ns1:id="R0bce8df897b34c8a"/>
    <ns0:sldId id="270" ns1:id="R62c6a0be5b3347b5"/>
    <ns0:sldId id="271" ns1:id="R89ae7c151f1e4937"/>
    <ns0:sldId id="272" ns1:id="Rdcf78a160a2a498c"/>
    <ns0:sldId id="273" ns1:id="R879e9bbba9c746e0"/>
    <ns0:sldId id="274" ns1:id="R8bde6217071f4e6a"/>
    <ns0:sldId id="275" ns1:id="Rc2a205aa76484c26"/>
    <ns0:sldId id="276" ns1:id="R27930ba58fe74c47"/>
    <ns0:sldId id="277" ns1:id="R2d32d95f5178430a"/>
    <ns0:sldId id="278" ns1:id="Re4825d029c6d4618"/>
    <ns0:sldId id="279" ns1:id="Rc908afa4f0de4c00"/>
    <ns0:sldId id="280" ns1:id="R6601b64f453c4eb3"/>
    <ns0:sldId id="281" ns1:id="R1ee1a4994cce4f98"/>
    <ns0:sldId id="282" ns1:id="R9aac34e16e564339"/>
    <ns0:sldId id="283" ns1:id="R95894714f7694de4"/>
    <ns0:sldId id="284" ns1:id="R002c4d21bb3745b8"/>
    <ns0:sldId id="285" ns1:id="R431fac2b306444a8"/>
    <ns0:sldId id="286" ns1:id="R6d622c5e9a314177"/>
    <ns0:sldId id="287" ns1:id="R60ce80ac9de44998"/>
    <ns0:sldId id="288" ns1:id="Rb7a9090a92f840e8"/>
    <ns0:sldId id="289" ns1:id="R5bac1495a1394876"/>
    <ns0:sldId id="290" ns1:id="Rda141b9126b64895"/>
    <ns0:sldId id="291" ns1:id="Re9a14b8fc35341f8"/>
    <ns0:sldId id="292" ns1:id="R16901f1516234a95"/>
    <ns0:sldId id="293" ns1:id="R7e764e537f444567"/>
    <ns0:sldId id="294" ns1:id="R5977118e22d348a2"/>
  </ns0:sldIdLst>
  <ns0:sldSz cx="12192000" cy="6858000"/>
  <ns0:notesSz cx="6858000" cy="9144000"/>
</ns0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d80ad03b7f244cbb" /><Relationship Type="http://schemas.openxmlformats.org/officeDocument/2006/relationships/slideMaster" Target="/ppt/slideMasters/slideMaster1.xml" Id="Ra87df173549342fe" /><Relationship Type="http://schemas.openxmlformats.org/officeDocument/2006/relationships/presProps" Target="/ppt/presProps.xml" Id="R4671efe082784522" /><Relationship Type="http://schemas.openxmlformats.org/officeDocument/2006/relationships/tableStyles" Target="/ppt/tableStyles.xml" Id="R66d8a3af5b3d4ea9" /><Relationship Type="http://schemas.openxmlformats.org/officeDocument/2006/relationships/slide" Target="/ppt/slides/slide1.xml" Id="R2ba1999c1d774263" /><Relationship Type="http://schemas.openxmlformats.org/officeDocument/2006/relationships/slide" Target="/ppt/slides/slide2.xml" Id="R0a5806fda52e4d02" /><Relationship Type="http://schemas.openxmlformats.org/officeDocument/2006/relationships/slide" Target="/ppt/slides/slide3.xml" Id="Ra68bf45db938450d" /><Relationship Type="http://schemas.openxmlformats.org/officeDocument/2006/relationships/slide" Target="/ppt/slides/slide4.xml" Id="R053567a386de4e26" /><Relationship Type="http://schemas.openxmlformats.org/officeDocument/2006/relationships/slide" Target="/ppt/slides/slide5.xml" Id="R755071ddd68d42ea" /><Relationship Type="http://schemas.openxmlformats.org/officeDocument/2006/relationships/slide" Target="/ppt/slides/slide6.xml" Id="R285f0f1cf8864eea" /><Relationship Type="http://schemas.openxmlformats.org/officeDocument/2006/relationships/slide" Target="/ppt/slides/slide7.xml" Id="R89824287dc4d4765" /><Relationship Type="http://schemas.openxmlformats.org/officeDocument/2006/relationships/slide" Target="/ppt/slides/slide8.xml" Id="Rf8475a5a6f934995" /><Relationship Type="http://schemas.openxmlformats.org/officeDocument/2006/relationships/slide" Target="/ppt/slides/slide9.xml" Id="R128af412f2844210" /><Relationship Type="http://schemas.openxmlformats.org/officeDocument/2006/relationships/slide" Target="/ppt/slides/slide10.xml" Id="R16be691c1a824ebd" /><Relationship Type="http://schemas.openxmlformats.org/officeDocument/2006/relationships/slide" Target="/ppt/slides/slide11.xml" Id="R9a1284ee0e8f46fe" /><Relationship Type="http://schemas.openxmlformats.org/officeDocument/2006/relationships/slide" Target="/ppt/slides/slide12.xml" Id="R5453d0ff46914c01" /><Relationship Type="http://schemas.openxmlformats.org/officeDocument/2006/relationships/slide" Target="/ppt/slides/slide13.xml" Id="R1d60aabccfed46b8" /><Relationship Type="http://schemas.openxmlformats.org/officeDocument/2006/relationships/slide" Target="/ppt/slides/slide14.xml" Id="R0bce8df897b34c8a" /><Relationship Type="http://schemas.openxmlformats.org/officeDocument/2006/relationships/slide" Target="/ppt/slides/slide15.xml" Id="R62c6a0be5b3347b5" /><Relationship Type="http://schemas.openxmlformats.org/officeDocument/2006/relationships/slide" Target="/ppt/slides/slide16.xml" Id="R89ae7c151f1e4937" /><Relationship Type="http://schemas.openxmlformats.org/officeDocument/2006/relationships/slide" Target="/ppt/slides/slide17.xml" Id="Rdcf78a160a2a498c" /><Relationship Type="http://schemas.openxmlformats.org/officeDocument/2006/relationships/slide" Target="/ppt/slides/slide18.xml" Id="R879e9bbba9c746e0" /><Relationship Type="http://schemas.openxmlformats.org/officeDocument/2006/relationships/slide" Target="/ppt/slides/slide19.xml" Id="R8bde6217071f4e6a" /><Relationship Type="http://schemas.openxmlformats.org/officeDocument/2006/relationships/slide" Target="/ppt/slides/slide20.xml" Id="Rc2a205aa76484c26" /><Relationship Type="http://schemas.openxmlformats.org/officeDocument/2006/relationships/slide" Target="/ppt/slides/slide21.xml" Id="R27930ba58fe74c47" /><Relationship Type="http://schemas.openxmlformats.org/officeDocument/2006/relationships/slide" Target="/ppt/slides/slide22.xml" Id="R2d32d95f5178430a" /><Relationship Type="http://schemas.openxmlformats.org/officeDocument/2006/relationships/slide" Target="/ppt/slides/slide23.xml" Id="Re4825d029c6d4618" /><Relationship Type="http://schemas.openxmlformats.org/officeDocument/2006/relationships/slide" Target="/ppt/slides/slide24.xml" Id="Rc908afa4f0de4c00" /><Relationship Type="http://schemas.openxmlformats.org/officeDocument/2006/relationships/slide" Target="/ppt/slides/slide25.xml" Id="R6601b64f453c4eb3" /><Relationship Type="http://schemas.openxmlformats.org/officeDocument/2006/relationships/slide" Target="/ppt/slides/slide26.xml" Id="R1ee1a4994cce4f98" /><Relationship Type="http://schemas.openxmlformats.org/officeDocument/2006/relationships/slide" Target="/ppt/slides/slide27.xml" Id="R9aac34e16e564339" /><Relationship Type="http://schemas.openxmlformats.org/officeDocument/2006/relationships/slide" Target="/ppt/slides/slide28.xml" Id="R95894714f7694de4" /><Relationship Type="http://schemas.openxmlformats.org/officeDocument/2006/relationships/slide" Target="/ppt/slides/slide29.xml" Id="R002c4d21bb3745b8" /><Relationship Type="http://schemas.openxmlformats.org/officeDocument/2006/relationships/slide" Target="/ppt/slides/slide30.xml" Id="R431fac2b306444a8" /><Relationship Type="http://schemas.openxmlformats.org/officeDocument/2006/relationships/slide" Target="/ppt/slides/slide31.xml" Id="R6d622c5e9a314177" /><Relationship Type="http://schemas.openxmlformats.org/officeDocument/2006/relationships/slide" Target="/ppt/slides/slide32.xml" Id="R60ce80ac9de44998" /><Relationship Type="http://schemas.openxmlformats.org/officeDocument/2006/relationships/slide" Target="/ppt/slides/slide33.xml" Id="Rb7a9090a92f840e8" /><Relationship Type="http://schemas.openxmlformats.org/officeDocument/2006/relationships/slide" Target="/ppt/slides/slide34.xml" Id="R5bac1495a1394876" /><Relationship Type="http://schemas.openxmlformats.org/officeDocument/2006/relationships/slide" Target="/ppt/slides/slide35.xml" Id="Rda141b9126b64895" /><Relationship Type="http://schemas.openxmlformats.org/officeDocument/2006/relationships/slide" Target="/ppt/slides/slide36.xml" Id="Re9a14b8fc35341f8" /><Relationship Type="http://schemas.openxmlformats.org/officeDocument/2006/relationships/slide" Target="/ppt/slides/slide37.xml" Id="R16901f1516234a95" /><Relationship Type="http://schemas.openxmlformats.org/officeDocument/2006/relationships/slide" Target="/ppt/slides/slide38.xml" Id="R7e764e537f444567" /><Relationship Type="http://schemas.openxmlformats.org/officeDocument/2006/relationships/slide" Target="/ppt/slides/slide39.xml" Id="R5977118e22d348a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cd73d087b40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08b79e67904b1b" /><Relationship Type="http://schemas.openxmlformats.org/officeDocument/2006/relationships/slideLayout" Target="/ppt/slideLayouts/slideLayout1.xml" Id="Rd9cdc33df24746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cdc33df24746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c246f2a697fe4739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efa7f65e8a7401e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e369d2a790f43ac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10c05f9cfc9469b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5e3f8d6cefb47e6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415449eb09994e95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acde69bf2054673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8b89257d5724d87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a2b450db53542b9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beffb447f35e43fb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510d9a066804d57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5b7726bfc1f2485f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25c00521a8b482f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95afd5394b84de3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86475ba5e7e4ecf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41501165af9c4998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c32a6336bace4c9b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4d2fc1948e8b440b" 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af509f597c89474f" 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4d735fd5af548e6" /></Relationships>
</file>

<file path=ppt/slides/_rels/slide2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70bc651d0a444948" /></Relationships>
</file>

<file path=ppt/slides/_rels/slide2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a8d711f239a4703" /></Relationships>
</file>

<file path=ppt/slides/_rels/slide2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77b4b2b481e4cb0" /></Relationships>
</file>

<file path=ppt/slides/_rels/slide2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6654289c6ec43a2" /></Relationships>
</file>

<file path=ppt/slides/_rels/slide2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74c9b4b91a84470" /></Relationships>
</file>

<file path=ppt/slides/_rels/slide2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ed791476ae94292" /></Relationships>
</file>

<file path=ppt/slides/_rels/slide2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e6ef98d8fe944258" /></Relationships>
</file>

<file path=ppt/slides/_rels/slide2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7f265b2e315441f" /><Relationship Type="http://schemas.openxmlformats.org/officeDocument/2006/relationships/chart" Target="/ppt/slides/charts/chart1.xml" Id="R40d8cf49ccef477c" /></Relationships>
</file>

<file path=ppt/slides/_rels/slide2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7bf591598d84cf8" /></Relationships>
</file>

<file path=ppt/slides/_rels/slide3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c2a56845c8747ec" /></Relationships>
</file>

<file path=ppt/slides/_rels/slide3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7e5f339de5d0415e" /></Relationships>
</file>

<file path=ppt/slides/_rels/slide3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9d4c0079ea645f9" /></Relationships>
</file>

<file path=ppt/slides/_rels/slide3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d98a7a7a7a44689" /></Relationships>
</file>

<file path=ppt/slides/_rels/slide3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395f541d54b4e5f" /></Relationships>
</file>

<file path=ppt/slides/_rels/slide3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d1aa6c550d74855" /></Relationships>
</file>

<file path=ppt/slides/_rels/slide3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33e5bb4db5d47f5" /></Relationships>
</file>

<file path=ppt/slides/_rels/slide3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ab857ebff0de4f08" /></Relationships>
</file>

<file path=ppt/slides/_rels/slide3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7e23d4da40c4051" /></Relationships>
</file>

<file path=ppt/slides/_rels/slide3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70307c95047b45c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uninterrupted</c:v>
          </c:tx>
          <c:spPr>
            <a:ln xmlns:a="http://schemas.openxmlformats.org/drawingml/2006/main" w="23813">
              <a:solidFill>
                <a:srgbClr val="246B8E"/>
              </a:solidFill>
            </a:ln>
          </c:spPr>
          <c:marker>
            <c:spPr>
              <a:solidFill xmlns:a="http://schemas.openxmlformats.org/drawingml/2006/main">
                <a:srgbClr val="246B8E"/>
              </a:solidFill>
            </c:spPr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0.302521765232</c:v>
                </c:pt>
                <c:pt idx="1">
                  <c:v>0.105184748769</c:v>
                </c:pt>
                <c:pt idx="2">
                  <c:v>0.080751799047</c:v>
                </c:pt>
                <c:pt idx="3">
                  <c:v>0.0824796110392</c:v>
                </c:pt>
                <c:pt idx="4">
                  <c:v>0.0762590914965</c:v>
                </c:pt>
                <c:pt idx="5">
                  <c:v>0.0993052497506</c:v>
                </c:pt>
                <c:pt idx="6">
                  <c:v>0.100816071033</c:v>
                </c:pt>
                <c:pt idx="7">
                  <c:v>0.0915707871318</c:v>
                </c:pt>
                <c:pt idx="8">
                  <c:v>0.0885341316462</c:v>
                </c:pt>
                <c:pt idx="9">
                  <c:v>0.0759838595986</c:v>
                </c:pt>
              </c:numCache>
            </c:numRef>
          </c:val>
        </c:ser>
        <c:ser>
          <c:idx val="1"/>
          <c:order val="1"/>
          <c:tx>
            <c:v>resumed</c:v>
          </c:tx>
          <c:spPr>
            <a:ln xmlns:a="http://schemas.openxmlformats.org/drawingml/2006/main" w="23813">
              <a:solidFill>
                <a:srgbClr val="B87521"/>
              </a:solidFill>
            </a:ln>
          </c:spPr>
          <c:marker>
            <c:spPr>
              <a:solidFill xmlns:a="http://schemas.openxmlformats.org/drawingml/2006/main">
                <a:srgbClr val="B87521"/>
              </a:solidFill>
            </c:spPr>
          </c:marker>
          <c:cat>
            <c:numRef>
              <c:f>'Chart Data'!$C$2:$C$11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'Chart Data'!$D$2:$D$11</c:f>
              <c:numCache>
                <c:formatCode>General</c:formatCode>
                <c:ptCount val="10"/>
                <c:pt idx="0">
                  <c:v>0.302521765232</c:v>
                </c:pt>
                <c:pt idx="1">
                  <c:v>0.105184748769</c:v>
                </c:pt>
                <c:pt idx="2">
                  <c:v>0.080751799047</c:v>
                </c:pt>
                <c:pt idx="3">
                  <c:v>0.0824796110392</c:v>
                </c:pt>
                <c:pt idx="4">
                  <c:v>0.0762590914965</c:v>
                </c:pt>
                <c:pt idx="5">
                  <c:v>0.0993052497506</c:v>
                </c:pt>
                <c:pt idx="6">
                  <c:v>0.100816071033</c:v>
                </c:pt>
                <c:pt idx="7">
                  <c:v>0.0915707871318</c:v>
                </c:pt>
                <c:pt idx="8">
                  <c:v>0.0885341316462</c:v>
                </c:pt>
                <c:pt idx="9">
                  <c:v>0.0759838595986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Noto Sans"/>
              <a:ea typeface="Noto Sans"/>
              <a:cs typeface="Noto Sans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B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D3249-B73A-4F2B-93B3-D8F409B4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A7D8CF"/>
                </a:solidFill>
                <a:latin typeface="Noto Sans"/>
                <a:ea typeface="Noto Sans"/>
                <a:cs typeface="Noto Sans"/>
              </a:defRPr>
            </a:pPr>
            <a:r>
              <a:rPr sz="1800" b="1" i="0">
                <a:solidFill>
                  <a:srgbClr val="A7D8CF"/>
                </a:solidFill>
                <a:latin typeface="Noto Sans"/>
                <a:ea typeface="Noto Sans"/>
                <a:cs typeface="Noto Sans"/>
              </a:rPr>
              <a:t>SE-801 Artificial Neural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1E3EF-B5C1-4BB7-B610-5E3AA60A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4200" b="1" i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PyTorch Engineering 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26310-921F-4BD2-ACA5-43B74B28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4200" b="1" i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Reproducible Experiments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E86E8-9468-4FBF-9ABA-72017510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847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CE8EE"/>
                </a:solidFill>
                <a:latin typeface="Noto Sans"/>
                <a:ea typeface="Noto Sans"/>
                <a:cs typeface="Noto Sans"/>
              </a:defRPr>
            </a:pPr>
            <a:r>
              <a:rPr sz="2175" b="0" i="0">
                <a:solidFill>
                  <a:srgbClr val="DCE8EE"/>
                </a:solidFill>
                <a:latin typeface="Noto Sans"/>
                <a:ea typeface="Noto Sans"/>
                <a:cs typeface="Noto Sans"/>
              </a:rPr>
              <a:t>Turning a correct notebook into maintainable research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C3F0E-C539-49D7-8821-AFF4503F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4095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54BD0-B8A0-471C-A8FA-84CDDA62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9CAD3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B9CAD3"/>
                </a:solidFill>
                <a:latin typeface="Noto Sans"/>
                <a:ea typeface="Noto Sans"/>
                <a:cs typeface="Noto Sans"/>
              </a:rPr>
              <a:t>Lecture 9   Dr. Muhammad Farrukh Qureshi   PNEC, NUST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75867-A9A9-424F-AA02-E0565A16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0"/>
            <a:ext cx="152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900" b="1" i="0">
                <a:solidFill>
                  <a:srgbClr val="31576C"/>
                </a:solidFill>
                <a:latin typeface="Noto Sans"/>
                <a:ea typeface="Noto Sans"/>
                <a:cs typeface="Noto Sans"/>
              </a:defRPr>
            </a:pPr>
            <a:r>
              <a:rPr sz="6900" b="1" i="0">
                <a:solidFill>
                  <a:srgbClr val="31576C"/>
                </a:solidFill>
                <a:latin typeface="Noto Sans"/>
                <a:ea typeface="Noto Sans"/>
                <a:cs typeface="Noto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033803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43D4D-C75E-457C-B536-F476D0E1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1DC4F-6D5D-4C03-9AB5-005B5E29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D5CBD-FAB8-4450-87A9-E6C10667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A5235-0DFE-4F02-AD42-435AB829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C83A4-4871-4E21-9745-A905E25A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Build custom and nested nn.Module components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Inspect registered parameters, buffers, and state-dict keys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Create reproducible dataset and DataLoader pipelines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Write device-independent training and evaluation loops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Save, reload, and resume a training run with verified equivalence</a:t>
            </a:r>
          </a:p>
        </p:txBody>
      </p:sp>
    </p:spTree>
    <p:extLst>
      <p:ext uri="{BB962C8B-B14F-4D97-AF65-F5344CB8AC3E}">
        <p14:creationId xmlns:p14="http://schemas.microsoft.com/office/powerpoint/2010/main" val="12159465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8ACC8-7A9D-436E-B1C0-BDB52A05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Engineering preserves the scientific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3C4CF-A25E-4F0F-9074-517B2AD9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9AF6D-4571-4854-BF6A-ABF05DC5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00884-5D92-4CD9-ADD5-F5910AB0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752C2-1E29-4A41-92C5-ECA037AF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53841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The refactor must preserve the model function and data split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0A704-3D63-46A8-B891-754E97AC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095500"/>
            <a:ext cx="253841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Reusable components make assumptions visible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DD664-13E6-4CBE-9A1A-11DDAB19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95500"/>
            <a:ext cx="253841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Checkpoints preserve state across interruptions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61F61-10ED-4F0C-8AC8-C3F6CD6C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2095500"/>
            <a:ext cx="253841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Verification tests detect accidental changes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09A6F-978C-4C1C-B910-08664FE9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815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2025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Each stage passes a checked contract to the next.</a:t>
            </a:r>
          </a:p>
        </p:txBody>
      </p:sp>
    </p:spTree>
    <p:extLst>
      <p:ext uri="{BB962C8B-B14F-4D97-AF65-F5344CB8AC3E}">
        <p14:creationId xmlns:p14="http://schemas.microsoft.com/office/powerpoint/2010/main" val="20864618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09A05-BC81-4551-8A29-F5C115B2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What nn.Module owns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A4D6E-E633-465E-8EE1-7D9D33E6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FAC43-B283-42B3-AD78-C42A58A1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D69B5-1949-45F2-A886-3C8B0372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52500" y="1714500"/>
          <a:ext xmlns:a="http://schemas.openxmlformats.org/drawingml/2006/main" cx="102870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429000"/>
                <a:gridCol w="34290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State type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Example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In state_dict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Parameter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Linear weight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Yes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Persistent buffer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running statistic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Yes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Ordinary tensor attribute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temporary cache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No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8150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08D11-4ACC-42B8-8BFE-F0CC8115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Custom module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92A5C-6C7E-4838-83DE-F4C3C167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D2114-DDDB-4FF3-B689-251B4A2E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60DE9-C2DC-49F8-96F4-D42E3069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1812E-211B-4F53-81D8-1E777E56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55370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 w="11430">
            <a:solidFill>
              <a:srgbClr val="31576C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class ResearchMLP(nn.Module):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def __init__(self, in_features, hidden, classes):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    super().__init__()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    self.encoder = nn.Sequential(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        nn.Linear(in_features, hidden), nn.ReLU())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    self.head = nn.Linear(hidden, classes)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def forward(self, x):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    return self.head(self.encoder(x))</a:t>
            </a:r>
          </a:p>
        </p:txBody>
      </p:sp>
    </p:spTree>
    <p:extLst>
      <p:ext uri="{BB962C8B-B14F-4D97-AF65-F5344CB8AC3E}">
        <p14:creationId xmlns:p14="http://schemas.microsoft.com/office/powerpoint/2010/main" val="13919758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C0569-65ED-41F5-9972-9D06501A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Student trace: registered names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7FC69-5160-4A4E-BE44-F2D2EC15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FFC8A-AF5E-4683-8D76-90B8E90D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7B8D6-84E3-45CA-BB6D-CD12F710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4F45A-21D4-4569-8A96-9BCBE8CF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CALCULATE OR 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C53C5-7F31-4F29-955D-07E54FBD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List the parameter names produced by named_parameters()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Give the shape of each tensor for in_features=4, hidden=16, classes=3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Calculate the total trainable parameter 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FD8C1-B89F-4640-B219-4515C2D1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Show shapes, substitutions, and assumptions.</a:t>
            </a:r>
          </a:p>
        </p:txBody>
      </p:sp>
    </p:spTree>
    <p:extLst>
      <p:ext uri="{BB962C8B-B14F-4D97-AF65-F5344CB8AC3E}">
        <p14:creationId xmlns:p14="http://schemas.microsoft.com/office/powerpoint/2010/main" val="889635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FE6ED-C2F4-46B4-A36B-4C7473C5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Registered-name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57AC0-01FE-4A79-BC38-A948AAD8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B6072-3292-4C64-A39B-093B51A1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78849-3D37-4372-ADFA-456EB434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2E471-F6B7-4828-AFC4-71CE5FC7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WORKED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1D5ED-609A-45A4-ADC9-4ED9DFEA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encoder.0.weight [16,4] and encoder.0.bias [16]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head.weight [3,16] and head.bias [3]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Total = 16x4 + 16 + 3x16 + 3 = 131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ReLU owns no trainable parameters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9DFC3-A427-4953-992D-29406BA1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Check the method and the final statement.</a:t>
            </a:r>
          </a:p>
        </p:txBody>
      </p:sp>
    </p:spTree>
    <p:extLst>
      <p:ext uri="{BB962C8B-B14F-4D97-AF65-F5344CB8AC3E}">
        <p14:creationId xmlns:p14="http://schemas.microsoft.com/office/powerpoint/2010/main" val="21134610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9418D-D879-4EEE-B5ED-148F409A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Sequential and custom composition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76DE8-1A64-456A-9A07-9DA5B9F5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585BB-6227-42B0-88D2-30F6E846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F4331-3E04-498B-A3A2-5713F77B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FEB44-28A0-4C4D-B008-156B1240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62125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5FFCA-0F94-476C-AFBD-7BADD3CD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2550" b="1" i="0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5074A-A228-40F8-90E6-E9C48B01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29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nn.Sequential fits a straight chain of modules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custom forward method supports branching, reuse, and shape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191DF-9511-47A1-91A0-9C13B97B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2550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C2708-D11F-4778-A534-DD4AAA08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Named submodules improve inspection and checkpoint diagnostics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Choose the simplest structure that expresses the actual computation</a:t>
            </a:r>
          </a:p>
        </p:txBody>
      </p:sp>
    </p:spTree>
    <p:extLst>
      <p:ext uri="{BB962C8B-B14F-4D97-AF65-F5344CB8AC3E}">
        <p14:creationId xmlns:p14="http://schemas.microsoft.com/office/powerpoint/2010/main" val="19419894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1A38E-AE77-4F7E-9535-37F60DE2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Residual-style block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E67B7-808A-4622-B5D0-EC9FB164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9B654-2C61-418E-A9D1-EDAB09B4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97F63-B041-4C08-BF8B-FE232825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72AEC-2761-4F7E-BDBA-57DDAC99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55370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 w="11430">
            <a:solidFill>
              <a:srgbClr val="31576C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class ResidualMLPBlock(nn.Module):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def __init__(self, width):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    super().__init__()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    self.net = nn.Sequential(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        nn.Linear(width, width), nn.ReLU(),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        nn.Linear(width, width))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def forward(self, x):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    return torch.relu(x + self.net(x))</a:t>
            </a:r>
          </a:p>
        </p:txBody>
      </p:sp>
    </p:spTree>
    <p:extLst>
      <p:ext uri="{BB962C8B-B14F-4D97-AF65-F5344CB8AC3E}">
        <p14:creationId xmlns:p14="http://schemas.microsoft.com/office/powerpoint/2010/main" val="17936332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909F7-C71A-497A-A81D-017FF452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Shape compatibility in a residual addition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0C7D1-8C8A-4F91-B549-98DD05ED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B751D-518D-4CFA-82AE-9631E850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F5987-CDD9-4F8A-AC84-B1BCE586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B4804-2DB4-4A33-AC15-155EE630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main path and skip path must produce the same shape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projection can reconcile different widths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Broadcasting is usually the wrong repair for feature dimensions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Assert the intended shape before the addition</a:t>
            </a:r>
          </a:p>
        </p:txBody>
      </p:sp>
    </p:spTree>
    <p:extLst>
      <p:ext uri="{BB962C8B-B14F-4D97-AF65-F5344CB8AC3E}">
        <p14:creationId xmlns:p14="http://schemas.microsoft.com/office/powerpoint/2010/main" val="1606122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C1CFB-6469-4309-854E-F26A3109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Parameter initialization after 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2A51D-2C53-4728-A812-E026ECFC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BF927-EC27-458F-B0DE-47FB0B11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27844-5803-4445-863F-F60FCC8B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DCAEC-3F67-45A7-ADA1-9C57D88D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5537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 w="11430">
            <a:solidFill>
              <a:srgbClr val="31576C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def init_linear(module):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if isinstance(module, nn.Linear):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    nn.init.kaiming_uniform_(module.weight, nonlinearity='relu')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    nn.init.zeros_(module.bias)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model.apply(init_linear)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EA2A5-1C40-453A-8B74-562146D5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Use module.apply() to visit nested layers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Match the rule to the activation when the experiment requires it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Record the initialization and its seed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Verify a representative weight distribution rather than assuming the hook ran</a:t>
            </a:r>
          </a:p>
        </p:txBody>
      </p:sp>
    </p:spTree>
    <p:extLst>
      <p:ext uri="{BB962C8B-B14F-4D97-AF65-F5344CB8AC3E}">
        <p14:creationId xmlns:p14="http://schemas.microsoft.com/office/powerpoint/2010/main" val="12504803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D915E-0A0E-4B1A-A5CB-159B74DD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Dataset separates storage from sampling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BBAA8-B52D-4F2B-8B69-1DD34842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FC737-AFD2-4DD7-9D17-AAA50E40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3362D-0FC7-481B-9F7D-2415DF2E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C6DAC-81A0-47B2-B3EB-924E8A0A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53841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Dataset defines how one indexed example is retrieved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DEDFB-656A-4D1B-8D0C-6686EB27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095500"/>
            <a:ext cx="253841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DataLoader defines batching and sampling 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263B2-2E69-46D8-8932-100C02D9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95500"/>
            <a:ext cx="253841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A split must be created before loaders are constructed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CAF65-96E6-40AB-B8C6-FE89BC81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2095500"/>
            <a:ext cx="253841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Preprocessing statistics must come from the training split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ED1E1-FE07-4BE3-A2AC-439BA6FD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815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2025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Each stage passes a checked contract to the next.</a:t>
            </a:r>
          </a:p>
        </p:txBody>
      </p:sp>
    </p:spTree>
    <p:extLst>
      <p:ext uri="{BB962C8B-B14F-4D97-AF65-F5344CB8AC3E}">
        <p14:creationId xmlns:p14="http://schemas.microsoft.com/office/powerpoint/2010/main" val="1125857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9F087-6603-45C4-A6C2-30B595DB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A reproducible DataLoader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76667-CDEB-47A8-9541-963622A2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D9F91-C57F-4D92-9882-2CAF3122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3C430-DBD9-4CED-BD9D-236EA7DE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26748-CB5F-4B63-9AA1-062121B3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5537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 w="11430">
            <a:solidFill>
              <a:srgbClr val="31576C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generator = torch.Generator().manual_seed(20261102)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loader = DataLoader(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train_set, batch_size=64, shuffle=True,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generator=generator, num_workers=0)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91BFE-C0F7-4903-8404-CD089879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generator controls the random sampler in this reference setup.</a:t>
            </a:r>
          </a:p>
        </p:txBody>
      </p:sp>
    </p:spTree>
    <p:extLst>
      <p:ext uri="{BB962C8B-B14F-4D97-AF65-F5344CB8AC3E}">
        <p14:creationId xmlns:p14="http://schemas.microsoft.com/office/powerpoint/2010/main" val="19333451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099DB-6BFE-466E-A54D-25E7833F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Student judgment: two loaders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8185E-9C51-4234-944C-F60603EA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8E10A-E960-4686-8EB0-58FE6004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CDCF8-FAEA-4E4D-BF27-6DF52579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B74C1-7B20-4BF8-9B9C-F3692F6C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CALCULATE OR 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54D17-D4A6-407F-9CFE-0D7237C3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Loader A and Loader B receive generators with the same seed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Both use the same dataset, batch size, and shuffle=True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Predict whether the first epoch index order matches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Predict what happens if one generator has already produced an epoch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E9D78-418E-422C-855E-AB2FAFFF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Show shapes, substitutions, and assumptions.</a:t>
            </a:r>
          </a:p>
        </p:txBody>
      </p:sp>
    </p:spTree>
    <p:extLst>
      <p:ext uri="{BB962C8B-B14F-4D97-AF65-F5344CB8AC3E}">
        <p14:creationId xmlns:p14="http://schemas.microsoft.com/office/powerpoint/2010/main" val="10075562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E34FF-3798-4CAF-B763-E4AC6255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Loader-order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6A767-5C04-4593-BE71-BD6CD0A8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5692E-7A7B-4E8E-8B38-C7C8A08E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EB349-A218-47ED-8C38-B497F598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01D50-395E-4048-AB17-787710BF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WORKED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AE99B-F173-41CF-831C-DEA6D2A4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Fresh generators with identical state produce the same first permutation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Advancing one generator changes its later permutations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seed value alone is insufficient when resuming mid-run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Saving generator state preserves the continuation 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10D1D-672B-4088-9AB9-6D22B7EF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Check the method and the final statement.</a:t>
            </a:r>
          </a:p>
        </p:txBody>
      </p:sp>
    </p:spTree>
    <p:extLst>
      <p:ext uri="{BB962C8B-B14F-4D97-AF65-F5344CB8AC3E}">
        <p14:creationId xmlns:p14="http://schemas.microsoft.com/office/powerpoint/2010/main" val="6138651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2042B-59B2-429F-8C37-6BDACFA0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Worker randomness needs its own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68457-476F-4E23-9546-E7AEACDB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79E5A-3049-41A1-BB30-5DE07E47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7791D-74A2-4E18-9170-EDA31BFF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6E48E-4EAF-4919-ACDF-C686391A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main process chooses map-style sample indices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Each worker receives a PyTorch seed derived from the loader seed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Other libraries used inside workers may require explicit seeding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Keep the classroom reference at num_workers=0 before adding concurrency</a:t>
            </a:r>
          </a:p>
        </p:txBody>
      </p:sp>
    </p:spTree>
    <p:extLst>
      <p:ext uri="{BB962C8B-B14F-4D97-AF65-F5344CB8AC3E}">
        <p14:creationId xmlns:p14="http://schemas.microsoft.com/office/powerpoint/2010/main" val="1832676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B01E6-AE10-4A3D-B9EF-89A17E07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Device-independent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8CEE4-5329-4DBA-9DDE-9E3FF0AE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6E0AB-4250-45F6-9FCE-6D2906F3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AEB6A-7183-45E1-A1F8-265BFDD0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C412B-FA14-4425-A3F6-2EFFDA1D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55370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 w="11430">
            <a:solidFill>
              <a:srgbClr val="31576C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device = torch.device('cuda' if torch.cuda.is_available() else 'cpu')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model = model.to(device)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for X, y in loader: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X = X.to(device)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y = y.to(device)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logits = model(X)</a:t>
            </a:r>
          </a:p>
        </p:txBody>
      </p:sp>
    </p:spTree>
    <p:extLst>
      <p:ext uri="{BB962C8B-B14F-4D97-AF65-F5344CB8AC3E}">
        <p14:creationId xmlns:p14="http://schemas.microsoft.com/office/powerpoint/2010/main" val="3810156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9A49B-73E6-4BEA-84F8-9045FB0F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Device errors reveal split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ED7A1-F6AE-488E-A3CD-392A4784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9FF38-6F0E-4955-9ABC-7F14DC82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1CCDC-4222-4BD9-9ECA-79D1F338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168B1-E214-4A00-9C60-70093FCA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model and every tensor used in an operation must share a device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Create temporary tensors from existing tensors when possible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Load checkpoints with an explicit map_location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Measure memory and latency on the deployment device, not only the development machine</a:t>
            </a:r>
          </a:p>
        </p:txBody>
      </p:sp>
    </p:spTree>
    <p:extLst>
      <p:ext uri="{BB962C8B-B14F-4D97-AF65-F5344CB8AC3E}">
        <p14:creationId xmlns:p14="http://schemas.microsoft.com/office/powerpoint/2010/main" val="1437018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3B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A03F7-8A9A-49B4-BD36-721E3A09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5700" b="1" i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Break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ECAD2-85C8-48A5-8EBA-490C511F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60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A7D8CF"/>
                </a:solidFill>
                <a:latin typeface="Noto Sans"/>
                <a:ea typeface="Noto Sans"/>
                <a:cs typeface="Noto Sans"/>
              </a:defRPr>
            </a:pPr>
            <a:r>
              <a:rPr sz="3000" b="1" i="0">
                <a:solidFill>
                  <a:srgbClr val="A7D8CF"/>
                </a:solidFill>
                <a:latin typeface="Noto Sans"/>
                <a:ea typeface="Noto Sans"/>
                <a:cs typeface="Noto Sans"/>
              </a:rPr>
              <a:t>20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71C7B-3933-4C82-8898-805DE95D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175" b="0" i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After the break: checkpoints, exact resume, and experiment records</a:t>
            </a:r>
          </a:p>
        </p:txBody>
      </p:sp>
    </p:spTree>
    <p:extLst>
      <p:ext uri="{BB962C8B-B14F-4D97-AF65-F5344CB8AC3E}">
        <p14:creationId xmlns:p14="http://schemas.microsoft.com/office/powerpoint/2010/main" val="7914502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357A8-E0CA-4035-BF2C-B573C0CA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state_dict names the model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81541-097C-4E55-A13C-2F02C0ED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1E273-2D1A-487B-B7BE-2874D101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1D8E5-5B58-4062-B865-199689C4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52500" y="1714500"/>
          <a:ext xmlns:a="http://schemas.openxmlformats.org/drawingml/2006/main" cx="102870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1435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Example key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Meaning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encoder.0.weight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First linear-layer weights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block.net.2.bias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Second linear layer in the residual block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head.weight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Classifier weights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03803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79A15-08EA-482D-BC15-9D905F98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Inference save and reload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B10DF-4FCA-49B1-A568-736E860C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8A6D1-AE45-402A-9F4D-8E45944C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8937E-666E-423E-8E4B-4C9FB42B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086B1-CE73-4C3C-810C-6AF68B69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55370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 w="11430">
            <a:solidFill>
              <a:srgbClr val="31576C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torch.save(model.state_dict(), path)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reloaded = ResearchMLP(...).to(device)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state = torch.load(path, map_location=device, weights_only=True)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reloaded.load_state_dict(state, strict=True)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reloaded.eval()</a:t>
            </a:r>
          </a:p>
        </p:txBody>
      </p:sp>
    </p:spTree>
    <p:extLst>
      <p:ext uri="{BB962C8B-B14F-4D97-AF65-F5344CB8AC3E}">
        <p14:creationId xmlns:p14="http://schemas.microsoft.com/office/powerpoint/2010/main" val="47322804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0298C-6328-488A-B2BE-B5B7BA9D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Prediction-equivalence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9D208-6A3E-4083-8C7B-AD18E4B6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0CA67-7DF5-4D75-BE01-2EA32441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15B4C-AB41-4377-BC5C-158746E1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66E74-D5AC-4058-9641-9345BCF0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Set both models to evaluation mode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Use the same frozen input batch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Compare logits with a declared numerical tolerance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matching file size or load message is not a prediction test</a:t>
            </a:r>
          </a:p>
        </p:txBody>
      </p:sp>
    </p:spTree>
    <p:extLst>
      <p:ext uri="{BB962C8B-B14F-4D97-AF65-F5344CB8AC3E}">
        <p14:creationId xmlns:p14="http://schemas.microsoft.com/office/powerpoint/2010/main" val="8384133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04FEA-83A4-417D-9469-BCC4F6DC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A training checkpoint needs more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D172C-F7B2-420A-8FB6-0E063C07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82454-FE2C-4DF4-92D8-31F9F087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D86BF-3AB7-4661-8884-D63F49FB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52500" y="1714500"/>
          <a:ext xmlns:a="http://schemas.openxmlformats.org/drawingml/2006/main" cx="102870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1435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Checkpoint item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Why it matters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model_state_dict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Learned parameters and buffers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optimizer_state_dict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Momentum or adaptive moments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epoch and best metric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Continuation and selection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random-generator states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Future dropout and shuffle sequence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configuration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Reconstruct the intended run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44059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0ECB0-BD09-4013-A65C-6AF9AD74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Student repair: incomplete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EC96D-75F2-4B5C-81FF-AC2BB94C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32E97-CF46-436D-870D-063A5CE4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CCEF3-33FD-40C8-BF11-1FF196C5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9FE4B-8292-4241-8EF4-49DB2552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5537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 w="11430">
            <a:solidFill>
              <a:srgbClr val="31576C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torch.save({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'epoch': epoch,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'model': model.state_dict(),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}, path)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2A7A3-D09A-4EAE-BDCA-9B708DD4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run uses Adam and shuffled minibatches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List the missing state required for a faithful resume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Separate state needed for inference from state needed for continuation</a:t>
            </a:r>
          </a:p>
        </p:txBody>
      </p:sp>
    </p:spTree>
    <p:extLst>
      <p:ext uri="{BB962C8B-B14F-4D97-AF65-F5344CB8AC3E}">
        <p14:creationId xmlns:p14="http://schemas.microsoft.com/office/powerpoint/2010/main" val="6161037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7C8D2-9D9A-413D-A181-7304E465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Checkpoint repair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EE10E-6A76-4539-8728-DD4B04D1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C2591-B579-479B-BF06-2CE55C11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86988-2E99-48B2-9FAB-6BF2F395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10979-D14D-44E5-8850-F99AC259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WORKED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41B8D-267B-44AE-8BE3-63C0FB9E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Inference needs the architecture, model state, preprocessing, and label mapping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Resume also needs optimizer state and the next epoch or step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Exact continuation requires relevant random-generator states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configuration and software environment make the result interpretable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8099F-675A-433C-898C-D4B9C379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Check the method and the final statement.</a:t>
            </a:r>
          </a:p>
        </p:txBody>
      </p:sp>
    </p:spTree>
    <p:extLst>
      <p:ext uri="{BB962C8B-B14F-4D97-AF65-F5344CB8AC3E}">
        <p14:creationId xmlns:p14="http://schemas.microsoft.com/office/powerpoint/2010/main" val="776333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4D6E4-775A-4A13-AC87-6494BA38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Checkpoint loading 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F4DE8-AF6E-4C46-ADFF-40805811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24C96-F0FE-48B5-B2D0-635EEE91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5A992-3C31-4B0E-AC7D-0F36AB26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A255E-DD99-4919-B9E1-B9331B7B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99644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Construct the model with the recorded configuration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6B9B3-EE9B-46AF-A4DD-2117F997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095500"/>
            <a:ext cx="199644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Construct the optimizer over that model's parameters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F2DB3-F106-48D7-BFC6-032F7A3E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530" y="2095500"/>
            <a:ext cx="199644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Load the model state and then the optimizer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A0015-1D8C-4A8D-9870-87083F64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420" y="2095500"/>
            <a:ext cx="199644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Restore generator states before creating the next shuffled iterator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FC795-F72A-4E68-B7C4-F7C409BB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2095500"/>
            <a:ext cx="199644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Select train or eval mode for the next 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ED21C-D01B-4EED-9506-FC8A31E5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815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2025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Each stage passes a checked contract to the next.</a:t>
            </a:r>
          </a:p>
        </p:txBody>
      </p:sp>
    </p:spTree>
    <p:extLst>
      <p:ext uri="{BB962C8B-B14F-4D97-AF65-F5344CB8AC3E}">
        <p14:creationId xmlns:p14="http://schemas.microsoft.com/office/powerpoint/2010/main" val="200692599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E44A6-BF1F-454E-8131-03928C91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Exact-resume reference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B9C2C-F7DF-4B35-BCA1-D261526A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5405B-492F-4DE6-9128-414A9542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A5BEF-7960-453B-B694-9FB0FF58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52500" y="1714500"/>
          <a:ext xmlns:a="http://schemas.openxmlformats.org/drawingml/2006/main" cx="102870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1435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Setting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Device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CPU reference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Workers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Optimizer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Adam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Stochastic layer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Dropout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Final logits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393059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AF773-0AFE-461B-8F1B-EC06ED74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Uninterrupted and resumed curves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6433C-AB8C-4485-9EF1-F853C162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9BF26-0219-4870-94D3-9D8268DB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C49BC-FA6D-45F6-B0BB-5AE51E48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1000125" y="1714500"/>
          <a:ext xmlns:a="http://schemas.openxmlformats.org/drawingml/2006/main" cx="10191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d8cf49ccef477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9AE7E-5EB1-49C0-9BAB-76201F54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578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Checkpoint saved after epoch 5. Curves overlap because all relevant state was restored.</a:t>
            </a:r>
          </a:p>
        </p:txBody>
      </p:sp>
    </p:spTree>
    <p:extLst>
      <p:ext uri="{BB962C8B-B14F-4D97-AF65-F5344CB8AC3E}">
        <p14:creationId xmlns:p14="http://schemas.microsoft.com/office/powerpoint/2010/main" val="76585025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B6317-7DAD-4AC8-AAA9-248099AC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Reference-run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AAB1D-E1FF-4E80-9ED9-19EE47BB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11FDD-5512-428C-B97A-2C9E31E0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4CAD3-19C8-4223-9188-9BC66915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10287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143500"/>
              </a:tblGrid>
              <a:tr h="517071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Verification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Reference value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Trainable parameters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1395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Reload prediction error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0.00e+0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Resume prediction error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0.00e+0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Resume state error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0.00e+0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Final test accuracy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Checkpoint size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37,844 bytes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91BBE-0725-4307-ABA5-2627FD97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6262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Reference values come from the executed notebook. Read the experiment report before generalizing.</a:t>
            </a:r>
          </a:p>
        </p:txBody>
      </p:sp>
    </p:spTree>
    <p:extLst>
      <p:ext uri="{BB962C8B-B14F-4D97-AF65-F5344CB8AC3E}">
        <p14:creationId xmlns:p14="http://schemas.microsoft.com/office/powerpoint/2010/main" val="175428958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2DF64-6F73-4415-8578-F31DEE11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Checkpoint files are data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8A273-5531-4203-B5B9-B07D7CB5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F8563-A561-4500-96BC-17FB099B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195A5-9DCB-4240-81D4-F3E78219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49F12-3265-43B1-BE68-70606E44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Load only files from trusted sources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Prefer state dictionaries over pickled model objects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Use weights_only=True when the saved object is compatible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Record a hash when a specific artifact supports a reported result</a:t>
            </a:r>
          </a:p>
        </p:txBody>
      </p:sp>
    </p:spTree>
    <p:extLst>
      <p:ext uri="{BB962C8B-B14F-4D97-AF65-F5344CB8AC3E}">
        <p14:creationId xmlns:p14="http://schemas.microsoft.com/office/powerpoint/2010/main" val="41117151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4CC06-38CF-4DDF-8493-D8CDA37C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Configuration before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93188-F8A5-48B6-BC30-77047670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5AE9B-85F5-4030-96D4-747775D7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BC7B5-D9ED-4D97-9F8B-200521A6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7A886-118E-44FA-B114-1728D616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5537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 w="11430">
            <a:solidFill>
              <a:srgbClr val="31576C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config = {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'seed': 20261102, 'hidden': 24,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'batch_size': 64, 'lr': 0.01,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'epochs': 10, 'split_version': 'synthetic-v1'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513E6-01A7-47D4-87F3-81D45936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Save the resolved values, not only command-line defaults.</a:t>
            </a:r>
          </a:p>
        </p:txBody>
      </p:sp>
    </p:spTree>
    <p:extLst>
      <p:ext uri="{BB962C8B-B14F-4D97-AF65-F5344CB8AC3E}">
        <p14:creationId xmlns:p14="http://schemas.microsoft.com/office/powerpoint/2010/main" val="99683343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BAAC3-B763-47BF-AD64-1C0B0915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Experiment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3AD3C-3B43-4454-985B-4DCE3E23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8044A-BA43-4189-995A-1FADAA12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69081-50F1-4438-BB19-1D9B4A11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78633-C3DC-4DB7-96D2-A4085C73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Run identifier and timestamp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Code revision, environment, and device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Data and split identifiers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Resolved configuration and seeds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Selected checkpoint, metrics, and artifact hashes</a:t>
            </a:r>
          </a:p>
        </p:txBody>
      </p:sp>
    </p:spTree>
    <p:extLst>
      <p:ext uri="{BB962C8B-B14F-4D97-AF65-F5344CB8AC3E}">
        <p14:creationId xmlns:p14="http://schemas.microsoft.com/office/powerpoint/2010/main" val="152407908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7DE32-F849-494D-8E99-A6D6C5B8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Parameter count and artifact size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68FD5-DD62-4AA8-8ACF-9A7AF5EC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878F0-DFAA-4401-93C8-E85716CD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B847F-0E58-49AC-BF4E-FF54522E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2372E-8CCC-4551-B02B-4C82ACC6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62125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8FA70-7C1A-441A-9E9B-4EFCB137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2550" b="1" i="0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0300A-AFA7-41D3-9521-EBBDCF5D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29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Count only parameters with requires_grad when reporting trainable size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Parameter count does not include activation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9924E-337E-481D-A79A-A2DFD4BB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2550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FD64F-3BBF-4BAE-8381-4DA78BF6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Checkpoint size can exceed raw parameter bytes because it includes optimizer state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Report the measured file size and the exact checkpoint contents</a:t>
            </a:r>
          </a:p>
        </p:txBody>
      </p:sp>
    </p:spTree>
    <p:extLst>
      <p:ext uri="{BB962C8B-B14F-4D97-AF65-F5344CB8AC3E}">
        <p14:creationId xmlns:p14="http://schemas.microsoft.com/office/powerpoint/2010/main" val="175332046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2133A-20DB-4E2B-80FB-824B1928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Notebook investigation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527CF-83B2-4F58-A321-082738D2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7672C-FD58-4EE9-A601-65B6BE24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3E572-113B-48C2-ACF2-425AABB5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27387-4336-401B-A1F8-53B87C19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5537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 w="11430">
            <a:solidFill>
              <a:srgbClr val="31576C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python lecture_09_experiments.py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# or open ANN_Lec_9_live.ipynb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769A8-4705-4489-ACD6-3CC6598C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Inspect module and state-dict names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Verify two seeded loaders produce the same index order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Save and reload weights for prediction equivalence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Resume Adam training with restored random state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Compare final logits and model hashes</a:t>
            </a:r>
          </a:p>
        </p:txBody>
      </p:sp>
    </p:spTree>
    <p:extLst>
      <p:ext uri="{BB962C8B-B14F-4D97-AF65-F5344CB8AC3E}">
        <p14:creationId xmlns:p14="http://schemas.microsoft.com/office/powerpoint/2010/main" val="191426521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E5D5A-39D1-4426-96F8-CD9A8689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Project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14039-C319-49E3-A856-FB66F32E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43137-6348-45CE-AB22-1B80BFE6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4DD0E-D17B-4A9A-8589-D4FA3B8D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0B29F-906B-47CE-B142-31D04DBC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Refactor the baseline into a module, data pipeline, and train/evaluate functions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Save the best validation checkpoint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Add a fresh-process reload test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Commit the resolved configuration and an experiment record</a:t>
            </a:r>
          </a:p>
        </p:txBody>
      </p:sp>
    </p:spTree>
    <p:extLst>
      <p:ext uri="{BB962C8B-B14F-4D97-AF65-F5344CB8AC3E}">
        <p14:creationId xmlns:p14="http://schemas.microsoft.com/office/powerpoint/2010/main" val="63615270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FBE17-B6A9-404E-B037-562E55D8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Concept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AED65-C55B-4DE5-BAA6-147E8F3B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16648-37E5-4E17-8FD7-80C85BE4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720B5-76ED-4C80-81FA-6CFF3AE8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59540-64E2-4D72-8334-9D9D2D8C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CALCULATE OR 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2FE6E-8692-478F-83FE-3CCF6366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Why can an unregistered tensor disappear from state_dict?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Which state does Adam require for a faithful resume?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Why does a fixed seed not guarantee identical results on every platform?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What does a prediction-equivalence test establish?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865C0-0B2A-4293-B54F-EB2CE614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Show shapes, substitutions, and assumptions.</a:t>
            </a:r>
          </a:p>
        </p:txBody>
      </p:sp>
    </p:spTree>
    <p:extLst>
      <p:ext uri="{BB962C8B-B14F-4D97-AF65-F5344CB8AC3E}">
        <p14:creationId xmlns:p14="http://schemas.microsoft.com/office/powerpoint/2010/main" val="121199161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12FE6-1C3F-4810-88FE-68F3CCE8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Lecture 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96F78-5C02-41DB-B415-D5492536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7AF81-604C-4DE1-A64A-9865DC90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A8FEF-8A73-4249-898E-A1D9451B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84C04-2688-4391-9FAA-55B4EF8C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Modules define ownership of computation and state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Datasets and loaders separate examples from sampling order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Device handling belongs at explicit boundaries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verified checkpoint makes an interrupted experiment auditable</a:t>
            </a:r>
          </a:p>
        </p:txBody>
      </p:sp>
    </p:spTree>
    <p:extLst>
      <p:ext uri="{BB962C8B-B14F-4D97-AF65-F5344CB8AC3E}">
        <p14:creationId xmlns:p14="http://schemas.microsoft.com/office/powerpoint/2010/main" val="26444845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3183F-C7C1-4E66-B9CC-F3C89621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Reserve: persistent buffers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A50FF-63E4-49FF-BA8F-745ED250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A7A3A-1FE3-4B93-A682-CCFD8EC8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7CB87-E1AD-4CFC-A771-086D5CCF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37681-21A5-4497-B156-014149E9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1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Use register_buffer for tensor state that follows the module across devices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1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Persistent buffers enter state_dict without becoming optimizer parameters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1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Document whether a buffer is learned, estimated, or fixed</a:t>
            </a:r>
          </a:p>
        </p:txBody>
      </p:sp>
    </p:spTree>
    <p:extLst>
      <p:ext uri="{BB962C8B-B14F-4D97-AF65-F5344CB8AC3E}">
        <p14:creationId xmlns:p14="http://schemas.microsoft.com/office/powerpoint/2010/main" val="51472043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BE303-D247-48A2-93DE-33EC497A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Reserve: data-pipeline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5324B-D192-4D5B-9350-CCCE01FF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47931-22DA-41A5-BE81-6166E9C2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9  / 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CE245-ECB8-40D2-8B1A-7E49B7B4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PyTorch engineering and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F9420-1522-48C1-A2CC-F4C59A53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1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Increase workers only after correctness is established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1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Measure loader time, device utilization, and memory pinning on the target system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1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Preserve the split and transformation semantics during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12628251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2026-10-26T06:23:08.2550000Z</dcterms:created>
  <dcterms:modified xsi:type="dcterms:W3CDTF">2026-10-26T06:23:08.2550000Z</dcterms:modified>
</coreProperties>
</file>