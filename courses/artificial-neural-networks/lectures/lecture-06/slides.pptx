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slide" Target="slides/slide9.xml" /><Relationship Id="rId17" Type="http://schemas.openxmlformats.org/officeDocument/2006/relationships/slide" Target="slides/slide10.xml" /><Relationship Id="rId18" Type="http://schemas.openxmlformats.org/officeDocument/2006/relationships/slide" Target="slides/slide11.xml" /><Relationship Id="rId19" Type="http://schemas.openxmlformats.org/officeDocument/2006/relationships/slide" Target="slides/slide12.xml" /><Relationship Id="rId20" Type="http://schemas.openxmlformats.org/officeDocument/2006/relationships/slide" Target="slides/slide13.xml" /><Relationship Id="rId21" Type="http://schemas.openxmlformats.org/officeDocument/2006/relationships/slide" Target="slides/slide14.xml" /><Relationship Id="rId22" Type="http://schemas.openxmlformats.org/officeDocument/2006/relationships/slide" Target="slides/slide15.xml" /><Relationship Id="rId23" Type="http://schemas.openxmlformats.org/officeDocument/2006/relationships/slide" Target="slides/slide16.xml" /><Relationship Id="rId24" Type="http://schemas.openxmlformats.org/officeDocument/2006/relationships/slide" Target="slides/slide17.xml" /><Relationship Id="rId25" Type="http://schemas.openxmlformats.org/officeDocument/2006/relationships/slide" Target="slides/slide18.xml" /><Relationship Id="rId26" Type="http://schemas.openxmlformats.org/officeDocument/2006/relationships/slide" Target="slides/slide19.xml" /><Relationship Id="rId27" Type="http://schemas.openxmlformats.org/officeDocument/2006/relationships/slide" Target="slides/slide20.xml" /><Relationship Id="rId28" Type="http://schemas.openxmlformats.org/officeDocument/2006/relationships/slide" Target="slides/slide21.xml" /><Relationship Id="rId29" Type="http://schemas.openxmlformats.org/officeDocument/2006/relationships/slide" Target="slides/slide22.xml" /><Relationship Id="rId30" Type="http://schemas.openxmlformats.org/officeDocument/2006/relationships/slide" Target="slides/slide23.xml" /><Relationship Id="rId31" Type="http://schemas.openxmlformats.org/officeDocument/2006/relationships/slide" Target="slides/slide24.xml" /><Relationship Id="rId32" Type="http://schemas.openxmlformats.org/officeDocument/2006/relationships/slide" Target="slides/slide25.xml" /><Relationship Id="rId33" Type="http://schemas.openxmlformats.org/officeDocument/2006/relationships/slide" Target="slides/slide26.xml" /><Relationship Id="rId34" Type="http://schemas.openxmlformats.org/officeDocument/2006/relationships/slide" Target="slides/slide27.xml" /><Relationship Id="rId35" Type="http://schemas.openxmlformats.org/officeDocument/2006/relationships/slide" Target="slides/slide28.xml" /><Relationship Id="rId36" Type="http://schemas.openxmlformats.org/officeDocument/2006/relationships/slide" Target="slides/slide29.xml" /><Relationship Id="rId37" Type="http://schemas.openxmlformats.org/officeDocument/2006/relationships/slide" Target="slides/slide30.xml" /><Relationship Id="rId38" Type="http://schemas.openxmlformats.org/officeDocument/2006/relationships/slide" Target="slides/slide31.xml" /><Relationship Id="rId39" Type="http://schemas.openxmlformats.org/officeDocument/2006/relationships/slide" Target="slides/slide32.xml" /><Relationship Id="rId40" Type="http://schemas.openxmlformats.org/officeDocument/2006/relationships/slide" Target="slides/slide33.xml" /><Relationship Id="rId41" Type="http://schemas.openxmlformats.org/officeDocument/2006/relationships/slide" Target="slides/slide34.xml" /><Relationship Id="rId42" Type="http://schemas.openxmlformats.org/officeDocument/2006/relationships/slide" Target="slides/slide35.xml" /><Relationship Id="rId43" Type="http://schemas.openxmlformats.org/officeDocument/2006/relationships/slide" Target="slides/slide36.xml" /><Relationship Id="rId44" Type="http://schemas.openxmlformats.org/officeDocument/2006/relationships/slide" Target="slides/slide37.xml" /><Relationship Id="rId45" Type="http://schemas.openxmlformats.org/officeDocument/2006/relationships/slide" Target="slides/slide38.xml" /><Relationship Id="rId46" Type="http://schemas.openxmlformats.org/officeDocument/2006/relationships/slide" Target="slides/slide39.xml" /><Relationship Id="rId47" Type="http://schemas.openxmlformats.org/officeDocument/2006/relationships/slide" Target="slides/slide40.xml" /><Relationship Id="rId48" Type="http://schemas.openxmlformats.org/officeDocument/2006/relationships/slide" Target="slides/slide41.xml" /><Relationship Id="rId49" Type="http://schemas.openxmlformats.org/officeDocument/2006/relationships/slide" Target="slides/slide42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1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1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2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2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3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3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4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5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5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6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7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7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8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9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9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10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11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11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3" Type="http://schemas.openxmlformats.org/officeDocument/2006/relationships/image" Target="../media/image12.png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365D"/>
                </a:solidFill>
                <a:latin typeface="Calibri"/>
              </a:defRPr>
            </a:pPr>
            <a:r>
              <a:t>Backpropagation, Initialization, and Stable Training</a:t>
            </a:r>
          </a:p>
          <a:p>
            <a:pPr>
              <a:spcBef>
                <a:spcPts val="1200"/>
              </a:spcBef>
              <a:defRPr sz="2000">
                <a:solidFill>
                  <a:srgbClr val="4A5568"/>
                </a:solidFill>
                <a:latin typeface="Calibri"/>
              </a:defRPr>
            </a:pPr>
            <a:r>
              <a:t>SE-801 Artificial Neural Networks</a:t>
            </a:r>
          </a:p>
          <a:p>
            <a:pPr>
              <a:spcBef>
                <a:spcPts val="1200"/>
              </a:spcBef>
              <a:defRPr sz="2000">
                <a:solidFill>
                  <a:srgbClr val="4A5568"/>
                </a:solidFill>
                <a:latin typeface="Calibri"/>
              </a:defRPr>
            </a:pPr>
            <a:r>
              <a:t>Lecture 6</a:t>
            </a:r>
          </a:p>
          <a:p>
            <a:pPr>
              <a:spcBef>
                <a:spcPts val="1200"/>
              </a:spcBef>
              <a:defRPr sz="2000">
                <a:solidFill>
                  <a:srgbClr val="4A5568"/>
                </a:solidFill>
                <a:latin typeface="Calibri"/>
              </a:defRPr>
            </a:pPr>
            <a:r>
              <a:t>Dr. Muhammad Farrukh Qureshi</a:t>
            </a:r>
          </a:p>
          <a:p>
            <a:pPr>
              <a:spcBef>
                <a:spcPts val="1200"/>
              </a:spcBef>
              <a:defRPr sz="2000">
                <a:solidFill>
                  <a:srgbClr val="4A5568"/>
                </a:solidFill>
                <a:latin typeface="Calibri"/>
              </a:defRPr>
            </a:pPr>
            <a:r>
              <a:t>PNEC, NUST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Deep Learning Training Paradox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In Lecture 5, we saw that stacked nonlinear layers form universal function approximators.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Yet historically, networks deeper than 2 or 3 layers refused to learn with gradient descent.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Mathematical expressivity means nothing if gradient signals cannot propagate backwards across layers.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Learning Outcomes for Today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Derive reverse-mode automatic differentiation on forward computational graphs.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Formulate exact matrix backpropagation equations and track tensor dimensions for batches.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Diagnose gradient pathologies: vanishing gradients, exploding gradients, and symmetry collapse.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Derive variance-preserving initializations (Xavier/Glorot and He/Kaiming).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Implement inverted dropout and enforce the model.train() vs model.eval() contract.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Computational Graphs: Forward vs Backward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4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Every mathematical expression in PyTorch is represented as a directed acyclic graph (DAG).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Forward pass: Computes output activations and evaluates the objective loss scalar.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Backward pass: Reverses direction, propagating gradients via local chain rules.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Crucial memory cost: Intermediate activations must be cached in memory during forward pass.</a:t>
            </a:r>
          </a:p>
        </p:txBody>
      </p:sp>
      <p:pic>
        <p:nvPicPr>
          <p:cNvPr id="4" name="Picture 3" descr="fig_computational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Scalar Example: Logistic Loss Computational Graph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5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Function: L = ln(1 + exp(-z)) where z = w*x + b.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Intermediate nodes: z -&gt; -z -&gt; exp(-z) -&gt; 1 + exp(-z) -&gt; ln(·).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Each node computes a local scalar derivative.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PyTorch creates dynamic graphs during execution and frees intermediate nodes after backward().</a:t>
            </a:r>
          </a:p>
        </p:txBody>
      </p:sp>
      <p:pic>
        <p:nvPicPr>
          <p:cNvPr id="4" name="Picture 3" descr="fig_computational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Scalar Chain Rule Trace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6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Forward evaluation (x=1.5, w=0.8, b=-0.4): z = 0.8, L = 0.3711.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dL/dz = sigma(z) - 1 = 0.6900 - 1 = -0.3100.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dL/dw = (dL/dz) * x = -0.3100 * 1.5 = -0.4650.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dL/db = (dL/dz) * 1 = -0.3100.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Autograd verification: PyTorch produces identical values to machine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Moving to Vectorized Batch Computations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7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Training on single examples is slow and introduces high variance into gradient updates.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In batch mode, N independent examples pass through the network simultaneously.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Input X has shape [N, d_in]; Hidden preactivations Z1 have shape [N, d_h].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Batch matrix operations leverage parallel tensor hardware.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Two-Layer MLP Forward Formulation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8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Z1 = X @ W1 + b1  [N, d_h]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H1 = relu(Z1)     [N, d_h]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Z2 = H1 @ W2 + b2 [N, d_out]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P = softmax(Z2)   [N, d_out]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Mean Cross-Entropy Loss Objective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9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Loss L = -(1/N) * sum_i ln(P_{i, y_i}).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Log-sum-exp trick: Compute ln(sum(exp(z_j))) stably by subtracting max(z).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Cross-entropy penalizes confident incorrect predictions with large error gradients.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Derivation: Output Layer Error Signal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10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Let error tensor Delta2 = dL / dZ2.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For sample i and class k: dL/dZ2_{i,k} = (1/N) * (P_{i,k} - I(y_i == k)).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Matrix form: Delta2 = (P - Y_onehot) / N  [N, d_out].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Intuition: The error signal is simply predicted probability minus truth, scaled by 1/N.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Derivation: Output Weight and Bias Gradients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11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dL/dW2 = (H1)^T @ Delta2  [d_h, d_out]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dL/db2 = sum(Delta2, dim=0) [d_out]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Check dimensions: [d_h, N] @ [N, d_out] = [d_h, d_out].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The shape matches W2 exactly, summing outer products across all N samples.</a:t>
            </a:r>
          </a:p>
        </p:txBody>
      </p:sp>
      <p:pic>
        <p:nvPicPr>
          <p:cNvPr id="4" name="Picture 3" descr="fig_mlp_backprop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Derivation: Hidden Layer Error Backpropagation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12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dL/dH1 = Delta2 @ (W2)^T  [N, d_h]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Delta1 = dL/dZ1 = (dL/dH1) * (Z1 &gt; 0)  [N, d_h]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The Hadamard product (*) applies the local derivative of ReLU.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Gradients pass through active units unattenuated; blocked completely if Z1 &lt;= 0.</a:t>
            </a:r>
          </a:p>
        </p:txBody>
      </p:sp>
      <p:pic>
        <p:nvPicPr>
          <p:cNvPr id="4" name="Picture 3" descr="fig_mlp_backprop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633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Derivation: First Layer Parameter Gradients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13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dL/dW1 = X^T @ Delta1  [d_in, d_h]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dL/db1 = sum(Delta1, dim=0) [d_h]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Dimension alignment: [d_in, N] @ [N, d_h] = [d_in, d_h].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Matches the dimension of W1 precisely.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Mathematical Verification: Scratch vs Autograd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14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In our double-precision benchmark, we compared scratch formulas against autograd: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Max error on W1 gradient: 1.21e-16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Max error on W2 gradient: 1.94e-16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Max error on bias vectors: &lt; 1.11e-16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Conclusion: Autograd performs exact symbolic chain rule arithmetic.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Vanishing Gradient Problem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15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What happens when a network has 10 or 20 layers?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The gradient at layer 1 is a product of L Jacobian matrices.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If terms in this product are consistently smaller than 1, gradients decay exponentially.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Early layers stop learning, remaining frozen near initial random weights.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Saturation Trap of Sigmoidal Activations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16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Sigmoid derivative: sigma prime(z) &lt;= 0.25 (maximum at z=0).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Tanh derivative: tanh prime(z) &lt;= 1.0 (maximum at z=0).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When preactivations |z| are large, derivatives vanish to zero.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In a 10-layer Sigmoid network, gradient norm shrinks by (0.25)^10 ≈ 10^-6.</a:t>
            </a:r>
          </a:p>
        </p:txBody>
      </p:sp>
      <p:pic>
        <p:nvPicPr>
          <p:cNvPr id="4" name="Picture 3" descr="activation_deriv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19900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Why ReLU Changed Deep Learning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17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Rectified Linear Unit: relu(z) = max(0, z).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Derivative: phi prime(z) = 1 for all z &gt; 0.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Advantage: No gradient saturation for positive activations.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Dying ReLU risk: If a neuron always produces negative preactivations, its gradient is permanently 0.</a:t>
            </a:r>
          </a:p>
        </p:txBody>
      </p:sp>
      <p:pic>
        <p:nvPicPr>
          <p:cNvPr id="4" name="Picture 3" descr="activation_derivati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19900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Symmetry Collapse Under Zero Initialization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18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What if all weights and biases are initialized to zero?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In the forward pass, all hidden neurons compute identical values.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In the backward pass, all hidden neurons receive identical gradients.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Symmetry is never broken: regardless of width, the layer acts as 1 neuron.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Rule: Weights must be initialized with random asymmetries.</a:t>
            </a:r>
          </a:p>
        </p:txBody>
      </p:sp>
      <p:pic>
        <p:nvPicPr>
          <p:cNvPr id="4" name="Picture 3" descr="fig_symmetry_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5753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Naive Random Initialization Pitfalls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19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Why not standard Gaussian N(0, 1)?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For y = sum_j w_j * x_j with d_in = 256: Var(y) = 256 * 1 * 1 = 256.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After 4 layers: variance explodes to 256^4 ≈ 4.3 * 10^9 (Exploding signals / NaNs).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If std = 0.01: variance collapses to 0.025^4 ≈ 10^-7 (Signal starvation).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182CE"/>
                </a:solidFill>
              </a:defRPr>
            </a:pPr>
            <a:r>
              <a:t>Coffee &amp; Calculation Break</a:t>
            </a:r>
          </a:p>
          <a:p>
            <a:pPr algn="ctr">
              <a:spcBef>
                <a:spcPts val="1400"/>
              </a:spcBef>
              <a:defRPr sz="2200">
                <a:solidFill>
                  <a:srgbClr val="4A5568"/>
                </a:solidFill>
              </a:defRPr>
            </a:pPr>
            <a:r>
              <a:t>20 minutes</a:t>
            </a:r>
          </a:p>
          <a:p>
            <a:pPr algn="ctr">
              <a:spcBef>
                <a:spcPts val="1400"/>
              </a:spcBef>
              <a:defRPr sz="2200">
                <a:solidFill>
                  <a:srgbClr val="4A5568"/>
                </a:solidFill>
              </a:defRPr>
            </a:pPr>
            <a:r>
              <a:t>Resume with variance-preserving initialization and dropout.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Principle of Variance Preservation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21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Goal: Keep activation variance stable forward, and gradient variance stable backward.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Var(y^[l]) = Var(y^[l-1]) across all layers.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For a linear layer with zero-mean inputs: Var(y) = d_in * Var(w) * Var(x).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Forward stability requires Var(w) = 1 / d_in.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Backward stability requires Var(w) = 1 / d_out.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Xavier / Glorot Initialization (2010)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22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Harmonic compromise for symmetric activations (Linear, Tanh):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Var(w) = 2 / (d_in + d_out).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Normal: W ~ N(0, 2 / (d_in + d_out)).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Uniform: W ~ U(-sqrt(6/(d_in+d_out)), sqrt(6/(d_in+d_out))).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Works well for Tanh, but allows variance to shrink under ReLU.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Why ReLU Requires Kaiming / He Initialization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23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ReLU zeroes out negative preactivations: relu(z) = max(0, z).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For symmetric zero-mean preactivations, exactly half the distribution is removed.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E[(relu(z))^2] = 0.5 * Var(z).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Propagating through Linear + ReLU halves the signal variance!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To compensate, weight variance must be doubled: Var(w) = 2 / d_in.</a:t>
            </a:r>
          </a:p>
        </p:txBody>
      </p:sp>
      <p:pic>
        <p:nvPicPr>
          <p:cNvPr id="4" name="Picture 3" descr="fig_variance_r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Kaiming (He) Normal Initialization (2015)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24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Formula: Var(w) = 2 / d_in, std = sqrt(2 / d_in).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In PyTorch: nn.init.kaiming_normal_(linear.weight, nonlinearity="relu").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nn.init.zeros_(linear.bias).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This principled scaling enabled training of 50-layer and 100-layer deep networks.</a:t>
            </a:r>
          </a:p>
        </p:txBody>
      </p:sp>
      <p:pic>
        <p:nvPicPr>
          <p:cNvPr id="4" name="Picture 3" descr="fig_variance_r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3042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Empirical Verification: Variance Across 8 Layers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25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We evaluated activation distributions across 8 layers (width 256):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Naive Small (0.05): Variance collapses to 0 by layer 3 (signal dead).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Naive Large (0.35): Variance explodes to &gt; 100.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Xavier Normal: Variance steadily decays under ReLU.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Kaiming Normal: Preserves stable variance across all 8 layers.</a:t>
            </a:r>
          </a:p>
        </p:txBody>
      </p:sp>
      <p:pic>
        <p:nvPicPr>
          <p:cNvPr id="4" name="Picture 3" descr="layer_activation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37229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Regularization: Overfitting in Deep MLPs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26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As depth and width grow, parameter capacity expands rapidly.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Overparameterized networks can memorize training noise.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Weight decay (L2) shrinks weight norms.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Dropout (Srivastava et al., 2014) regularizes by preventing feature co-adaptation.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Dropout Intuition: Co-Adaptation Prevention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27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Without regularization, hidden units can form fragile interdependent relationships.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Dropout randomly masks hidden units during each training iteration with probability p.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Each unit must learn robust features that function alongside random subsets of peers.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Equivalent to an implicit ensemble over 2^d subnetworks.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Inverted Dropout Formulation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28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During training: mask ~ Bernoulli(1 - p).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h_train = (h * mask) / (1 - p).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Expectation is preserved during training: E[h_train] = h.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Consequence: Inference pass requires zero scaling — exactly identity: h_eval = h.</a:t>
            </a:r>
          </a:p>
        </p:txBody>
      </p:sp>
      <p:pic>
        <p:nvPicPr>
          <p:cNvPr id="4" name="Picture 3" descr="fig_inverted_drop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PyTorch Training vs Evaluation Contract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29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Dropout behaves fundamentally differently in training vs inference: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Training: Random Bernoulli masking with 1/(1-p) scaling.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Evaluation: Pure identity mapping (deterministic).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Must explicitly toggle: model.train() before training, model.eval() before testing.</a:t>
            </a:r>
          </a:p>
        </p:txBody>
      </p:sp>
      <p:pic>
        <p:nvPicPr>
          <p:cNvPr id="4" name="Picture 3" descr="fig_inverted_drop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Diagnostic Benchmark: 3-Ring Concentric Data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30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2D nonlinear classification benchmark.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3 concentric circular rings (radii 0.8, 1.8, 2.8) with Gaussian jitter.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1,200 total samples: 720 train (60%), 240 val (20%), 240 test (240).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Balanced classes: requires a nonlinear multi-layer architecture.</a:t>
            </a:r>
          </a:p>
        </p:txBody>
      </p:sp>
      <p:pic>
        <p:nvPicPr>
          <p:cNvPr id="4" name="Picture 3" descr="fig_3ring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40092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The DeepMLP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31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4-layer fully connected network: 2 -&gt; 64 -&gt; 64 -&gt; 64 -&gt; 3.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Total parameters: 8,707 trainable weights and biases.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Controlled protocol: identical split, SGD optimizer, lr = 0.03, batch size 64, 80 epochs budget.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Diagnostic Comparison: Small vs Large vs Kaiming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32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Naive Small (0.01): Val accuracy stuck at 33.75% (chance).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Naive Large (1.20): Rapid descent, reaches 100.0% val accuracy.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Kaiming Normal: Stable descent, reaches 100.0% val accuracy with well-conditioned gradients.</a:t>
            </a:r>
          </a:p>
        </p:txBody>
      </p:sp>
      <p:pic>
        <p:nvPicPr>
          <p:cNvPr id="4" name="Picture 3" descr="initialization_comparis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145938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Examining First-Layer Gradient Flow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33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Why did Naive Small fail?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First-layer gradient norm ||dL/dW1|| remained stuck at 1.8e-05 throughout all 80 epochs.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Downstream weights were too small to backpropagate error signals.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Lesson: Training does not fail because SGD broke; it fails because gradients starved!</a:t>
            </a:r>
          </a:p>
        </p:txBody>
      </p:sp>
      <p:pic>
        <p:nvPicPr>
          <p:cNvPr id="4" name="Picture 3" descr="initialization_comparis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145938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Regularization Results: With vs Without Dropout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34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No-Dropout (p=0): Train loss 0.0031, Test accuracy 100.0%.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With Inverted Dropout (p=0.25): Train loss 0.2845, Test accuracy 94.17%.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On clean low-dimensional synthetic data, dropout adds variance.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On high-dimensional noisy data, dropout closes the train/val generalization gap.</a:t>
            </a:r>
          </a:p>
        </p:txBody>
      </p:sp>
      <p:pic>
        <p:nvPicPr>
          <p:cNvPr id="4" name="Picture 3" descr="dropout_regularization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199006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Diagnostic Debugging: Bug 1 — Missing zero_grad()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35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In PyTorch, loss.backward() accumulates gradients into .grad by default.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If optimizer.zero_grad() is omitted, gradient norms grow linearly: 0.40 -&gt; 0.79 -&gt; 1.19 -&gt; 1.59.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Effective learning rate unintentionally explodes with every batch!</a:t>
            </a:r>
          </a:p>
        </p:txBody>
      </p:sp>
      <p:pic>
        <p:nvPicPr>
          <p:cNvPr id="4" name="Picture 3" descr="fig_debugging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Diagnostic Debugging: Bug 2 — Forgetting model.eval()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36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If model.eval() is omitted during testing with dropout: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Dropout remains active: passing the same test batch 3 times gives 3 different prediction vectors!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Fix: Always set model.eval() and wrap with torch.no_grad().</a:t>
            </a:r>
          </a:p>
        </p:txBody>
      </p:sp>
      <p:pic>
        <p:nvPicPr>
          <p:cNvPr id="4" name="Picture 3" descr="fig_debugging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Diagnostic Debugging: Bug 3 — Dead ReLUs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37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If a large negative update pushes preactivations negative for all inputs: Z &lt; 0.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Then relu prime(Z) = 0 for all samples, permanently freezing that neuron.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Remedies: Lower learning rate, proper Kaiming initialization, or Leaky ReLU.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Final Frozen Test Set Evaluation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38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Naive Small Init (0.01): Test Loss = 1.1089, Test Acc = 26.67% (Failure).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Naive Large Init (1.20): Test Loss = 0.0047, Test Acc = 100.00%.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Kaiming Normal (No Drop): Test Loss = 0.0194, Test Acc = 100.00%.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Kaiming Normal (Dropout 0.25): Test Loss = 0.3268, Test Acc = 94.17%.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Summary of Practical Deep Learning Rules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39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1. Always use Kaiming initialization for ReLU networks (or Xavier for Tanh).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2. Never initialize weights to constant values or zeros.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3. Always call optimizer.zero_grad() before loss.backward().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4. Always toggle between model.train() and model.eval().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5. Monitor gradient norms across layers when deep models fail to train.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Looking Ahead: Week 7 Optimization Algorithms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40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Today we fixed gradient propagation and initialization.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Next week: Optimizers beyond basic SGD (Momentum, RMSprop, Adam).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Learning rate schedules and optimization paths across complex loss landscapes.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Reserve: Layer-by-Layer Gradient Flow Bar Chart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41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Healthy backpropagation maintains balanced gradient norms across all layers.</a:t>
            </a:r>
          </a:p>
          <a:p>
            <a:pPr>
              <a:spcBef>
                <a:spcPts val="1000"/>
              </a:spcBef>
              <a:defRPr sz="1600">
                <a:solidFill>
                  <a:srgbClr val="4A5568"/>
                </a:solidFill>
                <a:latin typeface="Calibri"/>
              </a:defRPr>
            </a:pPr>
            <a:r>
              <a:t>•  Kaiming initialization provides balanced gradient flow from fc4 back to fc1.</a:t>
            </a:r>
          </a:p>
        </p:txBody>
      </p:sp>
      <p:pic>
        <p:nvPicPr>
          <p:cNvPr id="4" name="Picture 3" descr="layer_gradien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212080" cy="29783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A365D"/>
                </a:solidFill>
                <a:latin typeface="Calibri"/>
              </a:defRPr>
            </a:pPr>
            <a:r>
              <a:t>Reserve: Leaky ReLU and Parametric ReLU (PReLU)</a:t>
            </a:r>
          </a:p>
          <a:p>
            <a:pPr>
              <a:spcBef>
                <a:spcPts val="200"/>
              </a:spcBef>
              <a:defRPr sz="1100">
                <a:solidFill>
                  <a:srgbClr val="3182CE"/>
                </a:solidFill>
              </a:defRPr>
            </a:pPr>
            <a:r>
              <a:t>SE-801: Lecture 6 (v2 Slides) | Slide 42 of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Leaky ReLU: max(alpha * z, z) where alpha ≈ 0.01.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Provides small nonzero gradient (alpha) when z &lt;= 0, preventing dead neurons.</a:t>
            </a:r>
          </a:p>
          <a:p>
            <a:pPr>
              <a:spcBef>
                <a:spcPts val="1300"/>
              </a:spcBef>
              <a:defRPr sz="1900">
                <a:solidFill>
                  <a:srgbClr val="4A5568"/>
                </a:solidFill>
                <a:latin typeface="Calibri"/>
              </a:defRPr>
            </a:pPr>
            <a:r>
              <a:t>•  PReLU: Treats alpha as a learnable parameter updated via backpropagation.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