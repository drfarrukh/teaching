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48640"/>
            <a:ext cx="594360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SE-801 · ARTIFICIAL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71600"/>
            <a:ext cx="7680960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Linear classification,</a:t>
            </a:r>
          </a:p>
          <a:p>
            <a:pPr algn="l">
              <a:spcAft>
                <a:spcPts val="12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softmax, and cross-entropy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51560" cy="50292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520440"/>
            <a:ext cx="69037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How does a model produce and learn categorical predictions?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60720"/>
            <a:ext cx="7772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Lecture 4  ·  Dr. Muhammad Farrukh Qureshi  ·  PNEC, NUST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737360"/>
            <a:ext cx="370332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decision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162872"/>
            <a:ext cx="3246120" cy="2166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What we should be able to explain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92224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755648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Turn class scores into probabilities with softmax.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627632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92224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0024" y="1755648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Derive negative log-likelihood and cross-entropy.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108960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236976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Implement a stable loss from tensor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108960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273552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3236976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Verify the p minus one-hot gradient with autograd.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590288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718304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Train and select a linear classifier honestly.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4590288"/>
            <a:ext cx="51937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754880"/>
            <a:ext cx="5029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C68A2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4718304"/>
            <a:ext cx="416052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17212B"/>
                </a:solidFill>
                <a:latin typeface="Aptos"/>
              </a:defRPr>
            </a:pPr>
            <a:r>
              <a:t>Read a confusion matrix and class-sensitive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Where we are: from regression to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202265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286000"/>
            <a:ext cx="2022652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78608"/>
            <a:ext cx="183977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Read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5884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0476" y="2286000"/>
            <a:ext cx="202265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0476" y="2286000"/>
            <a:ext cx="2022652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1916" y="2578608"/>
            <a:ext cx="183977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Score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3129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7721" y="2286000"/>
            <a:ext cx="202265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7721" y="2286000"/>
            <a:ext cx="2022652" cy="9144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9161" y="2578608"/>
            <a:ext cx="183977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Loss on true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0374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4966" y="2286000"/>
            <a:ext cx="202265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4966" y="2286000"/>
            <a:ext cx="2022652" cy="9144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2578608"/>
            <a:ext cx="183977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Gradient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7619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2211" y="2286000"/>
            <a:ext cx="202265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2211" y="2286000"/>
            <a:ext cx="2022652" cy="91440"/>
          </a:xfrm>
          <a:prstGeom prst="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3651" y="2578608"/>
            <a:ext cx="183977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60520"/>
            <a:ext cx="10332720" cy="1600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Lecture 1: data → prediction → loss → gradient → update.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Lecture 2: repeat the updates; implement and check.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Lecture 3: separate training evidence from new-data evidence.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Lecture 4: the target is a category, so the output and loss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Calculate: from logits to 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O = XW + b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X: [N,2]   W: [2,3]   b: [3]   O: [N,3]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One row of logits: [2, 1, −1]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Which class wins? Do the logits sum to one?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Add 10 to every logit: what changes?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TRY IT  Two minutes individually, then compare with a partner.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Checked: logits score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argmax chooses class 0, “normal”.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The logits sum to 2 — they are not probabilities.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softmax([2, 1, −1]) = [0.705, 0.260, 0.035], sum 1.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Adding a constant to every logit changes nothing.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Unrestricted scores decide; softmax converts them 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THINK  Could two rows rank their classes differently in logits and probabilities?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02 · BINARY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two-class bridge: sigmoid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One binary logit z: σ(z) gives the probability of class 1.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Probability 0.5 corresponds to logit 0.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For two logits, only the difference o₁−o₀ decides.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383" y="1874519"/>
            <a:ext cx="44912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02 · BINARY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Sigmoid: a smooth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sigmoid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49" y="1664208"/>
            <a:ext cx="7508196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σ(−2) = 0.119   ·   σ(0) = 0.5   ·   σ(2) = 0.881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The slope is largest at zero and vanishes in the tails.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Later lectures will show why saturation slows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03 · SOFTMAX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Multiclass softmax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Divide each exponentiated score by the sum over classes.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Every probability is positive; each row sums to one.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Softmax is shift-invariant and preserves the ranking.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134711"/>
            <a:ext cx="5806440" cy="1320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03 · SOFTMAX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From scores to probabilities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cores_to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92" y="1664208"/>
            <a:ext cx="9444910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softmax([2, 1, −1]) = [0.705, 0.260, 0.035]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The winning class and its ranking are unchanged.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Probabilities are needed for losses and reporting, not for argmax.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Calculate: softmax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Logits: [ln 2, ln 1, ln 1]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Exponentiate: [2, 1, 1]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Sum: 4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Write p₀, p₁, p₂ and the one-hot target for class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TRY IT  Three minutes; keep four decimal places.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Checked: softmax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p = [2/4, 1/4, 1/4] = [0.5, 0.25, 0.25], sum 1.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One-hot target for class 0: [1, 0, 0].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Index target 0 identifies the same class.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CrossEntropyLoss accepts the index form: a long tensor of shape [N].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THINK  When is a one-hot row more convenient than an index?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03 · SOFTMAX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Targets: indices and one-hot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Class index: y ∈ {0, 1, 2}, shape [N], dtype long.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One-hot row: q ∈ {0,1}³, shape [N,3].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ℓ = −Σ_k q_k ln p_k applies to both encodings.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An index is a lookup key, not an ordinal measurement.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04 · CROSS-ENTROPY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Negative log-likelihood and cross-entropy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Take the true-class probability, log it, and negate.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Confident and correct gives near-zero loss.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Confident and wrong gives a very large loss.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056410"/>
            <a:ext cx="5806440" cy="1476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04 · CROSS-ENTROPY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loss curve −ln 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n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089" y="1664208"/>
            <a:ext cx="7403916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−ln(0.5) = 0.693   ·   −ln(0.01) = 4.605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The curve is large near p = 0 and approaches zero at p = 1.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The gradient is steepest for confident mistakes.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C68A2B"/>
                </a:solidFill>
                <a:latin typeface="Aptos"/>
              </a:defRPr>
            </a:pPr>
            <a:r>
              <a:t>IN-CLASS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Calculate: cross-entropy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True-class probabilities: 0.9, 0.5, 0.01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Compute −ln p for each case.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Rank the losses from smallest to largest.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Which prediction still has the correct argmax?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TRY IT  Four minutes; ln 2 ≈ 0.693 is a useful anchor.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Checked: cross-entropy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−ln(0.9) = 0.105   ·   −ln(0.5) = 0.693   ·   −ln(0.01) = 4.605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The loss separates predictions that share a winning label.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Accuracy is piecewise constant; cross-entropy supplies a gradient.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A confident wrong prediction is expensive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THINK  Two rows both predict class 0 with p_true = 0.55 and 0.95. Which loss is smaller?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05 · NUMERICAL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Numerical stability: subtract the row maximum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exp(1000) overflows, yet softmax([1000, 999, 995]) is well defined.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Subtract m = max_j o_j from every logit: probabilities are unchanged.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Exponentials then lie in (0, 1].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 naive exp(logits)/sum(exp(logits)) can produce inf/inf = NaN.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05 · NUMERICAL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log-sum-exp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Combine the shift identity with the logarithm.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Stable loss: logsumexp(o) − o_y.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torch.logsumexp and nn.CrossEntropyLoss use stable forms.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802360"/>
            <a:ext cx="5806440" cy="19847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05 · NUMERICAL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A stable scratch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chosen = logits.gather(1, targets[:, None]).squeeze(1)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loss = mean(logsumexp(logits, dim=1) − chosen)</a:t>
            </a:r>
          </a:p>
          <a:p>
            <a:pPr>
              <a:spcAft>
                <a:spcPts val="680"/>
              </a:spcAft>
              <a:defRPr sz="1035"/>
            </a:pPr>
            <a:r>
              <a:t> 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logits: [N, C]   chosen: [N]   loss: scalar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Keeps logits in the graph; matches the framework exactly.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960120"/>
            <a:ext cx="1069848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C68A2B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783080"/>
            <a:ext cx="10607040" cy="8686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1019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9875520" cy="1417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63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Before continuing: predict the sign of the gradient for the true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06 ·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gradient is probability minus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For one example, ∂ℓ/∂o_k = p_k − 1[k = y].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The mean batch loss divides each example by N.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Over-weighted classes get positive gradients; the true class gets a negative one.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One step raises the true-class logit relative to its competitors.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014" y="1874519"/>
            <a:ext cx="5118011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30"/>
              </a:spcAft>
              <a:defRPr sz="1100" b="1">
                <a:solidFill>
                  <a:srgbClr val="3D7752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69848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900"/>
              </a:spcAft>
              <a:defRPr sz="3000" b="1">
                <a:solidFill>
                  <a:srgbClr val="173B57"/>
                </a:solidFill>
                <a:latin typeface="Aptos"/>
              </a:defRPr>
            </a:pPr>
            <a:r>
              <a:t>Checked: gradient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83080"/>
            <a:ext cx="1069848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48256"/>
            <a:ext cx="10104120" cy="3108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Gradient = [−0.5, +0.25, +0.25].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The entries sum to zero for every example.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•  A perfect prediction p = [1, 0, 0] gives a zero gradient.</a:t>
            </a:r>
          </a:p>
          <a:p>
            <a:pPr>
              <a:spcAft>
                <a:spcPts val="520"/>
              </a:spcAft>
              <a:defRPr sz="945"/>
            </a:pPr>
            <a:r>
              <a:t> </a:t>
            </a:r>
          </a:p>
          <a:p>
            <a:pPr>
              <a:spcAft>
                <a:spcPts val="1300"/>
              </a:spcAft>
              <a:defRPr sz="2100">
                <a:solidFill>
                  <a:srgbClr val="17212B"/>
                </a:solidFill>
                <a:latin typeface="Aptos"/>
              </a:defRPr>
            </a:pPr>
            <a:r>
              <a:t>Autograd matches the derivation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5156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THINK  What gradient would a perfect prediction give? What does that imply for training?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07 · 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A compact three-state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dataset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34" y="1664208"/>
            <a:ext cx="8771226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Two standardized features imitate a vibration-window problem.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Train: 240 rows (80 per class); validation: 90; test: 90.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Three independent seeded draws; the test split stays sealed.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Training-only means and standard deviations scale every split.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07 · 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Protocol: split first, scale on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286000"/>
            <a:ext cx="1658112" cy="91440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Draw splits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1344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5936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5936" y="2286000"/>
            <a:ext cx="1658112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7376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Scale on 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4048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640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8640" y="2286000"/>
            <a:ext cx="1658112" cy="91440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0080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Fit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286000"/>
            <a:ext cx="1658112" cy="91440"/>
          </a:xfrm>
          <a:prstGeom prst="rect">
            <a:avLst/>
          </a:prstGeom>
          <a:solidFill>
            <a:srgbClr val="3D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Select epoch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9455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4047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4047" y="2286000"/>
            <a:ext cx="1658112" cy="91440"/>
          </a:xfrm>
          <a:prstGeom prst="rect">
            <a:avLst/>
          </a:prstGeom>
          <a:solidFill>
            <a:srgbClr val="17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5487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Freeze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159" y="2688336"/>
            <a:ext cx="16459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60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6751" y="2286000"/>
            <a:ext cx="165811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6751" y="2286000"/>
            <a:ext cx="1658112" cy="91440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8191" y="2578608"/>
            <a:ext cx="1475232" cy="6858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spcAft>
                <a:spcPts val="450"/>
              </a:spcAft>
              <a:defRPr sz="1500" b="1">
                <a:solidFill>
                  <a:srgbClr val="17212B"/>
                </a:solidFill>
                <a:latin typeface="Aptos"/>
              </a:defRPr>
            </a:pPr>
            <a:r>
              <a:t>Test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160520"/>
            <a:ext cx="10332720" cy="1600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Draw three independent splits before any fitting.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Fit feature scaling on training rows only.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Fit weights on training; choose the checkpoint on validation.</a:t>
            </a:r>
          </a:p>
          <a:p>
            <a:pPr>
              <a:spcAft>
                <a:spcPts val="900"/>
              </a:spcAft>
              <a:defRPr sz="1700">
                <a:solidFill>
                  <a:srgbClr val="60717E"/>
                </a:solidFill>
                <a:latin typeface="Aptos"/>
              </a:defRPr>
            </a:pPr>
            <a:r>
              <a:t>•  Freeze the pipeline; open the test split once.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07 · DATA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linear classifier: shapes and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nn.Linear(2, 3) stores weight shape [3, 2], the transpose of W:[2,3].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forward pass returns raw logits of shape [N, 3].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loss is the mean cross-entropy over the batch.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SGD updates six weights and three biases.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08 · TRAIN &amp;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Training loop with checkpoint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shuffle → zero_grad → logits → CrossEntropyLoss → backward → step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After each epoch: model.eval() and torch.no_grad().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Measure the same loss and accuracy on training and validation.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Retain the epoch with the lowest validation cross-entropy.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08 · TRAIN &amp;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Learning curves are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27" y="1664208"/>
            <a:ext cx="9277241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Training and validation cross-entropy fall quickly, then flatten.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Accuracy saturates because argmax is insensitive to small logit changes.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Selected epoch 141 of 150 (validation cross-entropy 0.2198) sits on a noisy plateau: selection is sample-dependent.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Validation accuracy 0.867, training accuracy 0.908 in this run.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08 · TRAIN &amp; 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Train, validate, test: three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TRAIN fits weights and training-only scaling.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VALIDATE selects the checkpoint and any hyperparameters.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TEST scores the frozen model exactly once.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 small validation set makes the selected epoch noisy.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09 ·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Probabilities, argmax, and a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argmax of logits equals argmax of softmax probabilities.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Apply softmax only when probabilities are requested.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Training-majority baseline: 30/90 = 0.333 validation accuracy.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classifier reaches 0.867 on the same 90 rows.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09 ·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The learned decision regions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decision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05" y="1664208"/>
            <a:ext cx="5507685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Each class occupies a half-plane; three pairwise boundaries meet at a point.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Errors cluster near the boundaries, where classes overlap.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A linear model cannot carve a curved region around the fault cluster.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10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Confusion matrix: rows are true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85" y="1664208"/>
            <a:ext cx="4510925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Rows: true class. Columns: predicted class.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The diagonal counts correct decisions.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Off-diagonal cells name the specific mistake.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Validation recalls: normal 0.833 · drift 0.900 · fault 0.867.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10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Precision, recall, F1, balanced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Rows are true classes; columns are predicted classes.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TP = C_kk, FN = row sum − TP, FP = column sum − TP.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Balanced accuracy averages recalls; macro F1 averages class F1 values.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A zero denominator sets that metric to zero in this lecture.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819646"/>
            <a:ext cx="5806440" cy="19502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10 ·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Reading the validation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88720" y="1691640"/>
          <a:ext cx="9784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011680"/>
                <a:gridCol w="1645920"/>
                <a:gridCol w="1645920"/>
              </a:tblGrid>
              <a:tr h="891540"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Support</a:t>
                      </a:r>
                    </a:p>
                  </a:txBody>
                  <a:tcPr marL="109728" marR="109728">
                    <a:solidFill>
                      <a:srgbClr val="173B5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normal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0.926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0.833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0.877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drift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0.871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0.885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109728" marR="109728">
                    <a:solidFill>
                      <a:srgbClr val="EEF3F5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fault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0.812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0.867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0.839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7212B"/>
                          </a:solidFill>
                          <a:latin typeface="Aptos"/>
                        </a:defRPr>
                      </a:pPr>
                      <a:r>
                        <a:t>30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07008" y="5532120"/>
            <a:ext cx="9692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2C7A78"/>
                </a:solidFill>
                <a:latin typeface="Aptos"/>
              </a:defRPr>
            </a:pPr>
            <a:r>
              <a:t>Accuracy 0.867, balanced accuracy 0.867, macro F1 0.867.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11 ·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Accuracy can hide a missed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imbal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525" y="1664208"/>
            <a:ext cx="7675045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Invented matrix with supports 50, 10, and 5; the model always predicts class 0.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Accuracy 50/65 = 0.769 looks respectable.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Recalls: 1.000, 0.000, 0.000.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Balanced accuracy 0.333 exposes the failure.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11 ·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Choose a metric that matches the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Missing a fault may cost more than a false alarm.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Report per-class recall with support, not accuracy alone.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Balanced accuracy and macro F1 summarize across classes.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State the metric, its definition, and the zero-denominator convention.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12 · FROZEN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Freeze the recipe; open the test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Scaling, weights, checkpoint, and decision rule are frozen.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The test split is opened exactly once.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90 independent synthetic draws from the same generator.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This says nothing about other machines, sessions, or loads.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12 · FROZEN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Final held-out test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7086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te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79084"/>
            <a:ext cx="6720840" cy="29593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36992" y="1600200"/>
            <a:ext cx="3602736" cy="4526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01952"/>
            <a:ext cx="3017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59"/>
              </a:spcAft>
              <a:defRPr sz="1200" b="1">
                <a:solidFill>
                  <a:srgbClr val="C68A2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95728"/>
            <a:ext cx="3035808" cy="2926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Test accuracy 0.933 · balanced accuracy 0.933 · macro F1 0.934</a:t>
            </a:r>
          </a:p>
          <a:p>
            <a:pPr>
              <a:spcAft>
                <a:spcPts val="13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Test mean cross-entropy 0.172 · majority baseline 0.333</a:t>
            </a:r>
          </a:p>
          <a:p>
            <a:pPr>
              <a:spcAft>
                <a:spcPts val="520"/>
              </a:spcAft>
              <a:defRPr sz="720"/>
            </a:pPr>
            <a:r>
              <a:t> </a:t>
            </a:r>
          </a:p>
          <a:p>
            <a:pPr>
              <a:spcAft>
                <a:spcPts val="13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Population: fresh IID rows from the same synthetic generator.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394960"/>
            <a:ext cx="3063240" cy="5943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20"/>
              </a:spcAft>
              <a:defRPr sz="1400" b="1">
                <a:solidFill>
                  <a:srgbClr val="A84E47"/>
                </a:solidFill>
                <a:latin typeface="Aptos"/>
              </a:defRPr>
            </a:pPr>
            <a:r>
              <a:t>Scope: same synthetic generator only.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13 ·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Common errors to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5285232" cy="118872"/>
          </a:xfrm>
          <a:prstGeom prst="rect">
            <a:avLst/>
          </a:prstGeom>
          <a:solidFill>
            <a:srgbClr val="246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7091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46B8E"/>
                </a:solidFill>
                <a:latin typeface="Aptos"/>
              </a:defRPr>
            </a:pPr>
            <a:r>
              <a:t>Implementation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Softmax before CrossEntropyLoss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Labels treated as ordinal numbers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Naive exp() overflow in the loss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Scaling fitted on all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27632"/>
            <a:ext cx="52852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627632"/>
            <a:ext cx="5285232" cy="118872"/>
          </a:xfrm>
          <a:prstGeom prst="rect">
            <a:avLst/>
          </a:prstGeom>
          <a:solidFill>
            <a:srgbClr val="2C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70916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509"/>
              </a:spcAft>
              <a:defRPr sz="1700" b="1">
                <a:solidFill>
                  <a:srgbClr val="2C7A78"/>
                </a:solidFill>
                <a:latin typeface="Aptos"/>
              </a:defRPr>
            </a:pPr>
            <a:r>
              <a:t>Evaluation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4681728" cy="3154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Epoch selected on test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Accuracy reported alone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Test set reused for tuning</a:t>
            </a:r>
          </a:p>
          <a:p>
            <a:pPr>
              <a:spcAft>
                <a:spcPts val="16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Claim beyond the sampled population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13 ·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A probability is not a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A probability is a model output, not a frequency by construction.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Temperature scaling changes confidence but not the decision.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Calibration is checked against outcomes on held-out data.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Predicting 0.8 does not mean that 8 of 10 such cases are correct.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14 · CHECK &amp;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Ungraded concept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Regression versus classification, softmax, and cross-entropy.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One derivation, one shape question, one hand calculation.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One confusion matrix and its class-sensitive metrics.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No marks; use it to find gaps before Lecture 5.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14 · CHECK &amp;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Exit ticket: answer without the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107442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38528"/>
            <a:ext cx="10195560" cy="3291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1. Logits [2, 1, −1], true class 1: name the prediction and write the stable loss.</a:t>
            </a:r>
          </a:p>
          <a:p>
            <a:pPr>
              <a:spcAft>
                <a:spcPts val="16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2. Why do raw logits go into CrossEntropyLoss, not softmax probabilities?</a:t>
            </a:r>
          </a:p>
          <a:p>
            <a:pPr>
              <a:spcAft>
                <a:spcPts val="16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3. High accuracy, zero recall for a rare fault class: name a revealing metric.</a:t>
            </a:r>
          </a:p>
          <a:p>
            <a:pPr>
              <a:spcAft>
                <a:spcPts val="1600"/>
              </a:spcAft>
              <a:defRPr sz="2000">
                <a:solidFill>
                  <a:srgbClr val="17212B"/>
                </a:solidFill>
                <a:latin typeface="Aptos"/>
              </a:defRPr>
            </a:pPr>
            <a:r>
              <a:t>4. State the jobs of the training, validation, and test splits.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15000"/>
            <a:ext cx="1060704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7212B"/>
                </a:solidFill>
                <a:latin typeface="Aptos"/>
              </a:defRPr>
            </a:pPr>
            <a:r>
              <a:t>TRY IT  Three minutes individually; then explain your reasoning.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14 · CHECK &amp;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Reading and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4343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D2L Chapter 4, Sections 4.1–4.5.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Re-derive softmax, cross-entropy, and the p minus one-hot gradient.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Practice: one confusion matrix with its per-class metrics.</a:t>
            </a:r>
          </a:p>
          <a:p>
            <a:pPr>
              <a:spcAft>
                <a:spcPts val="1700"/>
              </a:spcAft>
              <a:defRPr sz="2300">
                <a:solidFill>
                  <a:srgbClr val="17212B"/>
                </a:solidFill>
                <a:latin typeface="Aptos"/>
              </a:defRPr>
            </a:pPr>
            <a:r>
              <a:t>•  Next: what can an affine classifier not represent?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RESERVE ·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Reserve: temperature changes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108813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temperature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49" y="1664208"/>
            <a:ext cx="7508196" cy="36758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5559552"/>
            <a:ext cx="1042416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Dividing logits by T &gt; 0 never changes the prediction.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Small T sharpens probabilities; large T softens them.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Cross-entropy has a minimum near T = 1 for this model.</a:t>
            </a:r>
          </a:p>
          <a:p>
            <a:pPr>
              <a:spcAft>
                <a:spcPts val="200"/>
              </a:spcAft>
              <a:defRPr sz="1250">
                <a:solidFill>
                  <a:srgbClr val="60717E"/>
                </a:solidFill>
                <a:latin typeface="Aptos"/>
              </a:defRPr>
            </a:pPr>
            <a:r>
              <a:t>•  Accuracy is constant at 0.933 across the whole sweep.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14630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LECTURE 4  / 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237744"/>
            <a:ext cx="594360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0717E"/>
                </a:solidFill>
                <a:latin typeface="Aptos"/>
              </a:defRPr>
            </a:pPr>
            <a:r>
              <a:t>RESERVE ·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6035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840"/>
              </a:spcAft>
              <a:defRPr sz="2800" b="1">
                <a:solidFill>
                  <a:srgbClr val="173B57"/>
                </a:solidFill>
                <a:latin typeface="Aptos"/>
              </a:defRPr>
            </a:pPr>
            <a:r>
              <a:t>Reserve: weighting the loss for rare classes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16736"/>
            <a:ext cx="1005840" cy="41148"/>
          </a:xfrm>
          <a:prstGeom prst="rect">
            <a:avLst/>
          </a:prstGeom>
          <a:solidFill>
            <a:srgbClr val="C6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96926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254"/>
              </a:spcAft>
              <a:defRPr sz="850" b="0">
                <a:solidFill>
                  <a:srgbClr val="60717E"/>
                </a:solidFill>
                <a:latin typeface="Aptos"/>
              </a:defRPr>
            </a:pPr>
            <a:r>
              <a:t>SE-801 · Artificial Neural Networks · Linear classification, softmax,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21792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spcAft>
                <a:spcPts val="285"/>
              </a:spcAft>
              <a:defRPr sz="950" b="1">
                <a:solidFill>
                  <a:srgbClr val="60717E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977639" cy="43891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Multiply each example's loss by its class weight.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A common choice: w_k = N / (C·N_k).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Supports 50/10/5 give weights ≈ 0.433, 2.167, 4.333.</a:t>
            </a:r>
          </a:p>
          <a:p>
            <a:pPr>
              <a:spcAft>
                <a:spcPts val="1500"/>
              </a:spcAft>
              <a:defRPr sz="1900">
                <a:solidFill>
                  <a:srgbClr val="17212B"/>
                </a:solidFill>
                <a:latin typeface="Aptos"/>
              </a:defRPr>
            </a:pPr>
            <a:r>
              <a:t>•  Weights change the objective; report unweighted metrics too.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6048" y="1600200"/>
            <a:ext cx="18288" cy="4389120"/>
          </a:xfrm>
          <a:prstGeom prst="rect">
            <a:avLst/>
          </a:prstGeom>
          <a:solidFill>
            <a:srgbClr val="CB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quation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310385"/>
            <a:ext cx="5806440" cy="968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SE-801 Lecture 4 — Linear Classification, Softmax, and Cross-Entropy</dc:title>
  <dc:subject>Student-facing lecture deck</dc:subject>
  <dc:creator>Dr. Muhammad Farrukh Qureshi</dc:creator>
  <cp:keywords/>
  <dc:description>Generated from lecture4_content.py; includes embedded speaker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