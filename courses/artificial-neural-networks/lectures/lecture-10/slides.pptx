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charts/chart1.xml" ContentType="application/vnd.openxmlformats-officedocument.drawingml.chart+xml"/>
  <Override PartName="/ppt/slides/slide34.xml" ContentType="application/vnd.openxmlformats-officedocument.presentationml.slide+xml"/>
  <Override PartName="/ppt/slides/charts/chart2.xml" ContentType="application/vnd.openxmlformats-officedocument.drawingml.chart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3b47a63da64b83" /><Relationship Type="http://schemas.openxmlformats.org/officeDocument/2006/relationships/extended-properties" Target="/docProps/app.xml" Id="R14143069b53a4b91" /><Relationship Type="http://schemas.openxmlformats.org/officeDocument/2006/relationships/officeDocument" Target="/ppt/presentation.xml" Id="Rc135e5ac746845e3" /></Relationships>
</file>

<file path=ppt/presentation.xml><?xml version="1.0" encoding="utf-8"?>
<ns0:presentation xmlns:ns0="http://schemas.openxmlformats.org/presentationml/2006/main" xmlns:ns1="http://schemas.openxmlformats.org/officeDocument/2006/relationships">
  <ns0:sldMasterIdLst>
    <ns0:sldMasterId id="2147483648" ns1:id="R199c7f7202c24f3c"/>
  </ns0:sldMasterIdLst>
  <ns0:sldIdLst>
    <ns0:sldId id="256" ns1:id="Rdc28fa7caf384c31"/>
    <ns0:sldId id="257" ns1:id="R8eecf24c25e7476a"/>
    <ns0:sldId id="258" ns1:id="R3f4183fd0b7e4bce"/>
    <ns0:sldId id="259" ns1:id="Ra7e9c151c067456b"/>
    <ns0:sldId id="260" ns1:id="Rb1b5a76904944aaa"/>
    <ns0:sldId id="261" ns1:id="R39e99b9504a74415"/>
    <ns0:sldId id="262" ns1:id="R3a2729ad2a0f46c4"/>
    <ns0:sldId id="263" ns1:id="Raea38c93beca444a"/>
    <ns0:sldId id="264" ns1:id="R52777699cccd4b49"/>
    <ns0:sldId id="265" ns1:id="R3d6dd67a4f484aa4"/>
    <ns0:sldId id="266" ns1:id="R9fe5ee8e3c37484b"/>
    <ns0:sldId id="267" ns1:id="R13c45d18c9584588"/>
    <ns0:sldId id="268" ns1:id="Rb784d906c4494887"/>
    <ns0:sldId id="269" ns1:id="Rdc6fdea770964484"/>
    <ns0:sldId id="270" ns1:id="Rc87612fe82a4434a"/>
    <ns0:sldId id="271" ns1:id="R7310e5da28444fc2"/>
    <ns0:sldId id="272" ns1:id="R5e25bafc0512419b"/>
    <ns0:sldId id="273" ns1:id="R1938e80927b649a5"/>
    <ns0:sldId id="274" ns1:id="Rd3c89f261667408e"/>
    <ns0:sldId id="275" ns1:id="R6c72e63d0d954c3d"/>
    <ns0:sldId id="276" ns1:id="Rfc7c8bafa2bd427e"/>
    <ns0:sldId id="277" ns1:id="R8498e2afd9d84a69"/>
    <ns0:sldId id="278" ns1:id="Re818827157dc4a9e"/>
    <ns0:sldId id="279" ns1:id="R42bf763ce37543ff"/>
    <ns0:sldId id="280" ns1:id="Re4b218380a26456f"/>
    <ns0:sldId id="281" ns1:id="R72b3241f98804af9"/>
    <ns0:sldId id="282" ns1:id="Rf814c7c6990e4e5c"/>
    <ns0:sldId id="283" ns1:id="Ra93d67fca12b44f7"/>
    <ns0:sldId id="284" ns1:id="R2eb82535801d4eb7"/>
    <ns0:sldId id="285" ns1:id="R52c3277cf2ac4f0d"/>
    <ns0:sldId id="286" ns1:id="R910a7a94ca584ca6"/>
    <ns0:sldId id="287" ns1:id="Rc7a1cf36679742a7"/>
    <ns0:sldId id="288" ns1:id="R3a8e2c01f3ab4d8a"/>
    <ns0:sldId id="289" ns1:id="Rb58648a66c4949f0"/>
    <ns0:sldId id="290" ns1:id="R4d08ab1d467a48ee"/>
    <ns0:sldId id="291" ns1:id="R4669db15b2ba41e9"/>
    <ns0:sldId id="292" ns1:id="R6637ef6d719a45f1"/>
    <ns0:sldId id="293" ns1:id="R78030061da5743a0"/>
    <ns0:sldId id="294" ns1:id="R6af18277625c4007"/>
    <ns0:sldId id="295" ns1:id="Rd6509f34b58145ae"/>
    <ns0:sldId id="296" ns1:id="Rba39ee4fe65648c2"/>
    <ns0:sldId id="297" ns1:id="R5453fee5cd2f4032"/>
  </ns0:sldIdLst>
  <ns0:sldSz cx="12192000" cy="6858000"/>
  <ns0:notesSz cx="6858000" cy="9144000"/>
</ns0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200097e96fa8465f" /><Relationship Type="http://schemas.openxmlformats.org/officeDocument/2006/relationships/slideMaster" Target="/ppt/slideMasters/slideMaster1.xml" Id="R199c7f7202c24f3c" /><Relationship Type="http://schemas.openxmlformats.org/officeDocument/2006/relationships/presProps" Target="/ppt/presProps.xml" Id="Rca0ab6af3a084c05" /><Relationship Type="http://schemas.openxmlformats.org/officeDocument/2006/relationships/tableStyles" Target="/ppt/tableStyles.xml" Id="R5ba399d43b214e74" /><Relationship Type="http://schemas.openxmlformats.org/officeDocument/2006/relationships/slide" Target="/ppt/slides/slide1.xml" Id="Rdc28fa7caf384c31" /><Relationship Type="http://schemas.openxmlformats.org/officeDocument/2006/relationships/slide" Target="/ppt/slides/slide2.xml" Id="R8eecf24c25e7476a" /><Relationship Type="http://schemas.openxmlformats.org/officeDocument/2006/relationships/slide" Target="/ppt/slides/slide3.xml" Id="R3f4183fd0b7e4bce" /><Relationship Type="http://schemas.openxmlformats.org/officeDocument/2006/relationships/slide" Target="/ppt/slides/slide4.xml" Id="Ra7e9c151c067456b" /><Relationship Type="http://schemas.openxmlformats.org/officeDocument/2006/relationships/slide" Target="/ppt/slides/slide5.xml" Id="Rb1b5a76904944aaa" /><Relationship Type="http://schemas.openxmlformats.org/officeDocument/2006/relationships/slide" Target="/ppt/slides/slide6.xml" Id="R39e99b9504a74415" /><Relationship Type="http://schemas.openxmlformats.org/officeDocument/2006/relationships/slide" Target="/ppt/slides/slide7.xml" Id="R3a2729ad2a0f46c4" /><Relationship Type="http://schemas.openxmlformats.org/officeDocument/2006/relationships/slide" Target="/ppt/slides/slide8.xml" Id="Raea38c93beca444a" /><Relationship Type="http://schemas.openxmlformats.org/officeDocument/2006/relationships/slide" Target="/ppt/slides/slide9.xml" Id="R52777699cccd4b49" /><Relationship Type="http://schemas.openxmlformats.org/officeDocument/2006/relationships/slide" Target="/ppt/slides/slide10.xml" Id="R3d6dd67a4f484aa4" /><Relationship Type="http://schemas.openxmlformats.org/officeDocument/2006/relationships/slide" Target="/ppt/slides/slide11.xml" Id="R9fe5ee8e3c37484b" /><Relationship Type="http://schemas.openxmlformats.org/officeDocument/2006/relationships/slide" Target="/ppt/slides/slide12.xml" Id="R13c45d18c9584588" /><Relationship Type="http://schemas.openxmlformats.org/officeDocument/2006/relationships/slide" Target="/ppt/slides/slide13.xml" Id="Rb784d906c4494887" /><Relationship Type="http://schemas.openxmlformats.org/officeDocument/2006/relationships/slide" Target="/ppt/slides/slide14.xml" Id="Rdc6fdea770964484" /><Relationship Type="http://schemas.openxmlformats.org/officeDocument/2006/relationships/slide" Target="/ppt/slides/slide15.xml" Id="Rc87612fe82a4434a" /><Relationship Type="http://schemas.openxmlformats.org/officeDocument/2006/relationships/slide" Target="/ppt/slides/slide16.xml" Id="R7310e5da28444fc2" /><Relationship Type="http://schemas.openxmlformats.org/officeDocument/2006/relationships/slide" Target="/ppt/slides/slide17.xml" Id="R5e25bafc0512419b" /><Relationship Type="http://schemas.openxmlformats.org/officeDocument/2006/relationships/slide" Target="/ppt/slides/slide18.xml" Id="R1938e80927b649a5" /><Relationship Type="http://schemas.openxmlformats.org/officeDocument/2006/relationships/slide" Target="/ppt/slides/slide19.xml" Id="Rd3c89f261667408e" /><Relationship Type="http://schemas.openxmlformats.org/officeDocument/2006/relationships/slide" Target="/ppt/slides/slide20.xml" Id="R6c72e63d0d954c3d" /><Relationship Type="http://schemas.openxmlformats.org/officeDocument/2006/relationships/slide" Target="/ppt/slides/slide21.xml" Id="Rfc7c8bafa2bd427e" /><Relationship Type="http://schemas.openxmlformats.org/officeDocument/2006/relationships/slide" Target="/ppt/slides/slide22.xml" Id="R8498e2afd9d84a69" /><Relationship Type="http://schemas.openxmlformats.org/officeDocument/2006/relationships/slide" Target="/ppt/slides/slide23.xml" Id="Re818827157dc4a9e" /><Relationship Type="http://schemas.openxmlformats.org/officeDocument/2006/relationships/slide" Target="/ppt/slides/slide24.xml" Id="R42bf763ce37543ff" /><Relationship Type="http://schemas.openxmlformats.org/officeDocument/2006/relationships/slide" Target="/ppt/slides/slide25.xml" Id="Re4b218380a26456f" /><Relationship Type="http://schemas.openxmlformats.org/officeDocument/2006/relationships/slide" Target="/ppt/slides/slide26.xml" Id="R72b3241f98804af9" /><Relationship Type="http://schemas.openxmlformats.org/officeDocument/2006/relationships/slide" Target="/ppt/slides/slide27.xml" Id="Rf814c7c6990e4e5c" /><Relationship Type="http://schemas.openxmlformats.org/officeDocument/2006/relationships/slide" Target="/ppt/slides/slide28.xml" Id="Ra93d67fca12b44f7" /><Relationship Type="http://schemas.openxmlformats.org/officeDocument/2006/relationships/slide" Target="/ppt/slides/slide29.xml" Id="R2eb82535801d4eb7" /><Relationship Type="http://schemas.openxmlformats.org/officeDocument/2006/relationships/slide" Target="/ppt/slides/slide30.xml" Id="R52c3277cf2ac4f0d" /><Relationship Type="http://schemas.openxmlformats.org/officeDocument/2006/relationships/slide" Target="/ppt/slides/slide31.xml" Id="R910a7a94ca584ca6" /><Relationship Type="http://schemas.openxmlformats.org/officeDocument/2006/relationships/slide" Target="/ppt/slides/slide32.xml" Id="Rc7a1cf36679742a7" /><Relationship Type="http://schemas.openxmlformats.org/officeDocument/2006/relationships/slide" Target="/ppt/slides/slide33.xml" Id="R3a8e2c01f3ab4d8a" /><Relationship Type="http://schemas.openxmlformats.org/officeDocument/2006/relationships/slide" Target="/ppt/slides/slide34.xml" Id="Rb58648a66c4949f0" /><Relationship Type="http://schemas.openxmlformats.org/officeDocument/2006/relationships/slide" Target="/ppt/slides/slide35.xml" Id="R4d08ab1d467a48ee" /><Relationship Type="http://schemas.openxmlformats.org/officeDocument/2006/relationships/slide" Target="/ppt/slides/slide36.xml" Id="R4669db15b2ba41e9" /><Relationship Type="http://schemas.openxmlformats.org/officeDocument/2006/relationships/slide" Target="/ppt/slides/slide37.xml" Id="R6637ef6d719a45f1" /><Relationship Type="http://schemas.openxmlformats.org/officeDocument/2006/relationships/slide" Target="/ppt/slides/slide38.xml" Id="R78030061da5743a0" /><Relationship Type="http://schemas.openxmlformats.org/officeDocument/2006/relationships/slide" Target="/ppt/slides/slide39.xml" Id="R6af18277625c4007" /><Relationship Type="http://schemas.openxmlformats.org/officeDocument/2006/relationships/slide" Target="/ppt/slides/slide40.xml" Id="Rd6509f34b58145ae" /><Relationship Type="http://schemas.openxmlformats.org/officeDocument/2006/relationships/slide" Target="/ppt/slides/slide41.xml" Id="Rba39ee4fe65648c2" /><Relationship Type="http://schemas.openxmlformats.org/officeDocument/2006/relationships/slide" Target="/ppt/slides/slide42.xml" Id="R5453fee5cd2f4032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645b223f324f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7833068ff2415a" /><Relationship Type="http://schemas.openxmlformats.org/officeDocument/2006/relationships/slideLayout" Target="/ppt/slideLayouts/slideLayout1.xml" Id="R27d6cb446f254c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d6cb446f254c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e02e8372b718495d" 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0b6c5a1bbf1c4ba3" /></Relationships>
</file>

<file path=ppt/slides/_rels/slide3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9b6b7e3df1a74b28" /></Relationships>
</file>

<file path=ppt/slides/_rels/slide4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33a02617b22142e0" /></Relationships>
</file>

<file path=ppt/slides/_rels/slide5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2749a93f68e84065" /></Relationships>
</file>

<file path=ppt/slides/_rels/slide6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fba5b8f38a6c4a68" /></Relationships>
</file>

<file path=ppt/slides/_rels/slide7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8596e72d016b4547" /></Relationships>
</file>

<file path=ppt/slides/_rels/slide8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bd6044575aad4521" /></Relationships>
</file>

<file path=ppt/slides/_rels/slide9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15360a97ad0f4018" /></Relationships>
</file>

<file path=ppt/slides/_rels/slide10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1b4b278a09a440da" /></Relationships>
</file>

<file path=ppt/slides/_rels/slide11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1222cd0cff724d69" /></Relationships>
</file>

<file path=ppt/slides/_rels/slide12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eb88e7b6c954434d" /></Relationships>
</file>

<file path=ppt/slides/_rels/slide13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4eb62412c28d4d95" /></Relationships>
</file>

<file path=ppt/slides/_rels/slide14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91bb6178018344ef" /></Relationships>
</file>

<file path=ppt/slides/_rels/slide15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304dfd24d2464b31" /></Relationships>
</file>

<file path=ppt/slides/_rels/slide16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c36fc795810e45e9" /></Relationships>
</file>

<file path=ppt/slides/_rels/slide17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d02e38cbde1541c1" /></Relationships>
</file>

<file path=ppt/slides/_rels/slide18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4c14a7e4eda54cf5" /></Relationships>
</file>

<file path=ppt/slides/_rels/slide19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4449be8162134e37" /></Relationships>
</file>

<file path=ppt/slides/_rels/slide20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6901c4853cba464a" /></Relationships>
</file>

<file path=ppt/slides/_rels/slide21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6d2dbec8ab394c16" /></Relationships>
</file>

<file path=ppt/slides/_rels/slide22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a3b16c50e1bd4a70" /></Relationships>
</file>

<file path=ppt/slides/_rels/slide23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8b09ae4d6b7048b9" /></Relationships>
</file>

<file path=ppt/slides/_rels/slide24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f3dfc234700e427f" /></Relationships>
</file>

<file path=ppt/slides/_rels/slide25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f59d4b69b0eb46d9" /></Relationships>
</file>

<file path=ppt/slides/_rels/slide26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a14e2bdf8aaa4663" /></Relationships>
</file>

<file path=ppt/slides/_rels/slide27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7318f16215d645ea" /><Relationship Type="http://schemas.openxmlformats.org/officeDocument/2006/relationships/image" Target="/ppt/media/image.png" Id="Rf6829f63ce7e4077" /></Relationships>
</file>

<file path=ppt/slides/_rels/slide28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005518ee79954f55" /></Relationships>
</file>

<file path=ppt/slides/_rels/slide29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d520519530334bcd" /></Relationships>
</file>

<file path=ppt/slides/_rels/slide30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d3a8475ce2814c8f" /></Relationships>
</file>

<file path=ppt/slides/_rels/slide31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1f6c9b769c314d64" /></Relationships>
</file>

<file path=ppt/slides/_rels/slide32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0aed710f90544ced" /></Relationships>
</file>

<file path=ppt/slides/_rels/slide33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caedea875f95406b" /><Relationship Type="http://schemas.openxmlformats.org/officeDocument/2006/relationships/chart" Target="/ppt/slides/charts/chart1.xml" Id="R9219935b4a344ac3" /></Relationships>
</file>

<file path=ppt/slides/_rels/slide34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f6f75583f83d41ad" /><Relationship Type="http://schemas.openxmlformats.org/officeDocument/2006/relationships/chart" Target="/ppt/slides/charts/chart2.xml" Id="Rfc345ff4f47f4f54" /></Relationships>
</file>

<file path=ppt/slides/_rels/slide35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f8f87efad7a84be3" /><Relationship Type="http://schemas.openxmlformats.org/officeDocument/2006/relationships/image" Target="/ppt/media/image2.png" Id="R923903543e234396" /></Relationships>
</file>

<file path=ppt/slides/_rels/slide36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5c15a2a4f24645e2" /></Relationships>
</file>

<file path=ppt/slides/_rels/slide37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cfba62360ff14689" /></Relationships>
</file>

<file path=ppt/slides/_rels/slide38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b34f1571ed1b49ce" /></Relationships>
</file>

<file path=ppt/slides/_rels/slide39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6387885d9b13417b" /></Relationships>
</file>

<file path=ppt/slides/_rels/slide40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36e8dbdfa8454ef5" /></Relationships>
</file>

<file path=ppt/slides/_rels/slide41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2357052ba7fb43a0" /></Relationships>
</file>

<file path=ppt/slides/_rels/slide42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3d6853dcccb247a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MLP</c:v>
          </c:tx>
          <c:spPr>
            <a:solidFill xmlns:a="http://schemas.openxmlformats.org/drawingml/2006/main">
              <a:srgbClr val="B87521"/>
            </a:solidFill>
          </c:spPr>
          <c:cat>
            <c:strRef>
              <c:f>'Chart Data'!$A$2:$A$3</c:f>
              <c:strCache>
                <c:ptCount val="2"/>
                <c:pt idx="0">
                  <c:v>Validation</c:v>
                </c:pt>
                <c:pt idx="1">
                  <c:v>Shifted test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1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v>CNN</c:v>
          </c:tx>
          <c:spPr>
            <a:solidFill xmlns:a="http://schemas.openxmlformats.org/drawingml/2006/main">
              <a:srgbClr val="246B8E"/>
            </a:solidFill>
          </c:spPr>
          <c:cat>
            <c:strRef>
              <c:f>'Chart Data'!$C$2:$C$3</c:f>
              <c:strCache>
                <c:ptCount val="2"/>
                <c:pt idx="0">
                  <c:v>Validation</c:v>
                </c:pt>
                <c:pt idx="1">
                  <c:v>Shifted test</c:v>
                </c:pt>
              </c:strCache>
            </c:strRef>
          </c:cat>
          <c:val>
            <c:numRef>
              <c:f>'Chart Data'!$D$2:$D$3</c:f>
              <c:numCache>
                <c:formatCode>0%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"/>
                  <a:ea typeface="Noto Sans"/>
                  <a:cs typeface="Noto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6E0E6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7FAFC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17212B"/>
              </a:solidFill>
              <a:latin typeface="Noto Sans"/>
              <a:ea typeface="Noto Sans"/>
              <a:cs typeface="Noto Sans"/>
            </a:defRPr>
          </a:pPr>
        </a:p>
      </c:txPr>
    </c:legend>
    <c:plotVisOnly val="1"/>
  </c:chart>
  <c:spPr>
    <a:solidFill xmlns:a="http://schemas.openxmlformats.org/drawingml/2006/main">
      <a:srgbClr val="F7FAFC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MLP</c:v>
          </c:tx>
          <c:spPr>
            <a:ln xmlns:a="http://schemas.openxmlformats.org/drawingml/2006/main" w="23813">
              <a:solidFill>
                <a:srgbClr val="B87521"/>
              </a:solidFill>
            </a:ln>
          </c:spPr>
          <c:marker>
            <c:symbol val="none"/>
            <c:size val="2"/>
          </c:marker>
          <c:xVal>
            <c:numRef>
              <c:f>'Chart Data'!$A$2:$A$17</c:f>
              <c:numCache>
                <c:formatCode>General</c:formatCode>
                <c:ptCount val="16"/>
                <c:pt idx="0">
                  <c:v>1</c:v>
                </c:pt>
                <c:pt idx="1">
                  <c:v>5</c:v>
                </c:pt>
                <c:pt idx="2">
                  <c:v>9</c:v>
                </c:pt>
                <c:pt idx="3">
                  <c:v>13</c:v>
                </c:pt>
                <c:pt idx="4">
                  <c:v>17</c:v>
                </c:pt>
                <c:pt idx="5">
                  <c:v>21</c:v>
                </c:pt>
                <c:pt idx="6">
                  <c:v>25</c:v>
                </c:pt>
                <c:pt idx="7">
                  <c:v>29</c:v>
                </c:pt>
                <c:pt idx="8">
                  <c:v>33</c:v>
                </c:pt>
                <c:pt idx="9">
                  <c:v>37</c:v>
                </c:pt>
                <c:pt idx="10">
                  <c:v>41</c:v>
                </c:pt>
                <c:pt idx="11">
                  <c:v>45</c:v>
                </c:pt>
                <c:pt idx="12">
                  <c:v>49</c:v>
                </c:pt>
                <c:pt idx="13">
                  <c:v>53</c:v>
                </c:pt>
                <c:pt idx="14">
                  <c:v>57</c:v>
                </c:pt>
                <c:pt idx="15">
                  <c:v>60</c:v>
                </c:pt>
              </c:numCache>
            </c:numRef>
          </c:xVal>
          <c:yVal>
            <c:numRef>
              <c:f>'Chart Data'!$B$2:$B$17</c:f>
              <c:numCache>
                <c:formatCode>General</c:formatCode>
                <c:ptCount val="16"/>
                <c:pt idx="0">
                  <c:v>0.0379984416068</c:v>
                </c:pt>
                <c:pt idx="1">
                  <c:v>0.000357283715857</c:v>
                </c:pt>
                <c:pt idx="2">
                  <c:v>0.000240647786995</c:v>
                </c:pt>
                <c:pt idx="3">
                  <c:v>0.000184948425158</c:v>
                </c:pt>
                <c:pt idx="4">
                  <c:v>0.000146799196955</c:v>
                </c:pt>
                <c:pt idx="5">
                  <c:v>0.000119449578051</c:v>
                </c:pt>
                <c:pt idx="6">
                  <c:v>9.93852954707E-05</c:v>
                </c:pt>
                <c:pt idx="7">
                  <c:v>8.41329456307E-05</c:v>
                </c:pt>
                <c:pt idx="8">
                  <c:v>7.22123731975E-05</c:v>
                </c:pt>
                <c:pt idx="9">
                  <c:v>6.27271438134E-05</c:v>
                </c:pt>
                <c:pt idx="10">
                  <c:v>5.50536897208E-05</c:v>
                </c:pt>
                <c:pt idx="11">
                  <c:v>4.873088983E-05</c:v>
                </c:pt>
                <c:pt idx="12">
                  <c:v>4.3600321078E-05</c:v>
                </c:pt>
                <c:pt idx="13">
                  <c:v>3.92270376324E-05</c:v>
                </c:pt>
                <c:pt idx="14">
                  <c:v>3.54990552296E-05</c:v>
                </c:pt>
                <c:pt idx="15">
                  <c:v>3.31100272888E-05</c:v>
                </c:pt>
              </c:numCache>
            </c:numRef>
          </c:yVal>
        </c:ser>
        <c:ser>
          <c:idx val="1"/>
          <c:order val="1"/>
          <c:tx>
            <c:v>CNN</c:v>
          </c:tx>
          <c:spPr>
            <a:ln xmlns:a="http://schemas.openxmlformats.org/drawingml/2006/main" w="23813">
              <a:solidFill>
                <a:srgbClr val="246B8E"/>
              </a:solidFill>
            </a:ln>
          </c:spPr>
          <c:marker>
            <c:symbol val="none"/>
            <c:size val="2"/>
          </c:marker>
          <c:xVal>
            <c:numRef>
              <c:f>'Chart Data'!$C$2:$C$17</c:f>
              <c:numCache>
                <c:formatCode>General</c:formatCode>
                <c:ptCount val="16"/>
                <c:pt idx="0">
                  <c:v>1</c:v>
                </c:pt>
                <c:pt idx="1">
                  <c:v>5</c:v>
                </c:pt>
                <c:pt idx="2">
                  <c:v>9</c:v>
                </c:pt>
                <c:pt idx="3">
                  <c:v>13</c:v>
                </c:pt>
                <c:pt idx="4">
                  <c:v>17</c:v>
                </c:pt>
                <c:pt idx="5">
                  <c:v>21</c:v>
                </c:pt>
                <c:pt idx="6">
                  <c:v>25</c:v>
                </c:pt>
                <c:pt idx="7">
                  <c:v>29</c:v>
                </c:pt>
                <c:pt idx="8">
                  <c:v>33</c:v>
                </c:pt>
                <c:pt idx="9">
                  <c:v>37</c:v>
                </c:pt>
                <c:pt idx="10">
                  <c:v>41</c:v>
                </c:pt>
                <c:pt idx="11">
                  <c:v>45</c:v>
                </c:pt>
                <c:pt idx="12">
                  <c:v>49</c:v>
                </c:pt>
                <c:pt idx="13">
                  <c:v>53</c:v>
                </c:pt>
                <c:pt idx="14">
                  <c:v>57</c:v>
                </c:pt>
                <c:pt idx="15">
                  <c:v>60</c:v>
                </c:pt>
              </c:numCache>
            </c:numRef>
          </c:xVal>
          <c:yVal>
            <c:numRef>
              <c:f>'Chart Data'!$D$2:$D$17</c:f>
              <c:numCache>
                <c:formatCode>General</c:formatCode>
                <c:ptCount val="16"/>
                <c:pt idx="0">
                  <c:v>0.572000086308</c:v>
                </c:pt>
                <c:pt idx="1">
                  <c:v>0.000879677245393</c:v>
                </c:pt>
                <c:pt idx="2">
                  <c:v>0.0004612976918</c:v>
                </c:pt>
                <c:pt idx="3">
                  <c:v>0.000326046167174</c:v>
                </c:pt>
                <c:pt idx="4">
                  <c:v>0.000245088012889</c:v>
                </c:pt>
                <c:pt idx="5">
                  <c:v>0.000190948994714</c:v>
                </c:pt>
                <c:pt idx="6">
                  <c:v>0.000154196357471</c:v>
                </c:pt>
                <c:pt idx="7">
                  <c:v>0.000128756204504</c:v>
                </c:pt>
                <c:pt idx="8">
                  <c:v>0.000106440602394</c:v>
                </c:pt>
                <c:pt idx="9">
                  <c:v>8.82697131601E-05</c:v>
                </c:pt>
                <c:pt idx="10">
                  <c:v>7.7235243225E-05</c:v>
                </c:pt>
                <c:pt idx="11">
                  <c:v>6.72759779263E-05</c:v>
                </c:pt>
                <c:pt idx="12">
                  <c:v>5.93045770074E-05</c:v>
                </c:pt>
                <c:pt idx="13">
                  <c:v>5.35507424502E-05</c:v>
                </c:pt>
                <c:pt idx="14">
                  <c:v>4.67836471216E-05</c:v>
                </c:pt>
                <c:pt idx="15">
                  <c:v>4.25582547905E-05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"/>
                  <a:ea typeface="Noto Sans"/>
                  <a:cs typeface="Noto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6E0E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17212B"/>
                    </a:solidFill>
                    <a:latin typeface="Noto Sans"/>
                    <a:ea typeface="Noto Sans"/>
                    <a:cs typeface="Noto Sans"/>
                  </a:rPr>
                  <a:t>validation cross-entropy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7212B"/>
                  </a:solidFill>
                  <a:latin typeface="Noto Sans"/>
                  <a:ea typeface="Noto Sans"/>
                  <a:cs typeface="Noto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60"/>
          <c:min val="1"/>
        </c:scaling>
        <c:delete val="0"/>
        <c:axPos val="b"/>
        <c:majorGridlines>
          <c:spPr>
            <a:ln xmlns:a="http://schemas.openxmlformats.org/drawingml/2006/main" w="6668">
              <a:solidFill>
                <a:srgbClr val="D6E0E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17212B"/>
                    </a:solidFill>
                    <a:latin typeface="Noto Sans"/>
                    <a:ea typeface="Noto Sans"/>
                    <a:cs typeface="Noto Sans"/>
                  </a:rPr>
                  <a:t>epoch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7212B"/>
                  </a:solidFill>
                  <a:latin typeface="Noto Sans"/>
                  <a:ea typeface="Noto Sans"/>
                  <a:cs typeface="Noto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7FAFC"/>
        </a:solidFill>
      </c:spPr>
    </c:plotArea>
    <c:plotVisOnly val="1"/>
  </c:chart>
  <c:spPr>
    <a:solidFill xmlns:a="http://schemas.openxmlformats.org/drawingml/2006/main">
      <a:srgbClr val="F7FAFC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B5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3C295A-CD81-4136-A079-B169CFA8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7D8CF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A7D8CF"/>
                </a:solidFill>
                <a:latin typeface="Noto Sans"/>
                <a:ea typeface="Noto Sans"/>
                <a:cs typeface="Noto Sans"/>
              </a:rPr>
              <a:t>SE-801 Artificial Neural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0399C2-5386-4548-8792-CBBFB932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762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39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Convolutional neural-network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CD572B-93B4-43E0-A472-2E4A8F19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695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42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fundamentals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3B3724-5978-4C5B-BCF0-F0D3EAFF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704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DCE8EE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DCE8EE"/>
                </a:solidFill>
                <a:latin typeface="Noto Sans"/>
                <a:ea typeface="Noto Sans"/>
                <a:cs typeface="Noto Sans"/>
              </a:rPr>
              <a:t>Local structure, shared parameters, and controlled evidence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8620125" y="1619250"/>
          <a:ext xmlns:a="http://schemas.openxmlformats.org/drawingml/2006/main" cx="22860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"/>
                <a:gridCol w="457200"/>
                <a:gridCol w="457200"/>
                <a:gridCol w="457200"/>
                <a:gridCol w="4572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8C0797-5657-42A5-BA4E-445B769C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1719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A7D8CF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A7D8CF"/>
                </a:solidFill>
                <a:latin typeface="Noto Sans"/>
                <a:ea typeface="Noto Sans"/>
                <a:cs typeface="Noto Sans"/>
              </a:rPr>
              <a:t>local pattern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CFEB17-91C1-4064-A42A-77D21A89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150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CAD3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B9CAD3"/>
                </a:solidFill>
                <a:latin typeface="Noto Sans"/>
                <a:ea typeface="Noto Sans"/>
                <a:cs typeface="Noto Sans"/>
              </a:rPr>
              <a:t>Lecture 10   Dr. Muhammad Farrukh Qureshi   PNEC, NUST</a:t>
            </a:r>
          </a:p>
        </p:txBody>
      </p:sp>
    </p:spTree>
    <p:extLst>
      <p:ext uri="{BB962C8B-B14F-4D97-AF65-F5344CB8AC3E}">
        <p14:creationId xmlns:p14="http://schemas.microsoft.com/office/powerpoint/2010/main" val="3390903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CE611D-3876-43B2-B8AD-6810D668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Learning outcomes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C4B993-E84A-4E55-A0A4-CD8300F1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15DF3F-68DC-4150-9C09-CDC1E481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|  Lecture 10  | 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C46D20-1B3F-42C4-B42F-45486D447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579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Convolutional neural-network fundamentals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484BA2-1B31-4CA7-AC1C-76FABCDD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8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861163-B7E8-464F-8B0C-C370D134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57350"/>
            <a:ext cx="10210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Compute a two-dimensional cross-correlation by hand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46C7B7-0429-47D8-A29A-B722429D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BF82CF-C867-4C9A-B215-2A24620A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10210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Calculate output shapes and trainable parameters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7138BB-295C-4410-BCF0-80AFA03E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8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7A94B8-097A-4B10-B860-F25C8F90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95650"/>
            <a:ext cx="10210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Trace tensors through a compact CNN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82BAA1-DE2B-430B-A253-00980493C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ABC245-9A73-4299-AD43-35692179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14800"/>
            <a:ext cx="10210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Explain locality, parameter sharing, and translation structure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DC4FD4-4E9A-411B-A631-F758F910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24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8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E138FF-BD6F-4060-93DE-5971F8A1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33950"/>
            <a:ext cx="10210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Evaluate a CNN against a controlled baseline</a:t>
            </a:r>
          </a:p>
        </p:txBody>
      </p:sp>
    </p:spTree>
    <p:extLst>
      <p:ext uri="{BB962C8B-B14F-4D97-AF65-F5344CB8AC3E}">
        <p14:creationId xmlns:p14="http://schemas.microsoft.com/office/powerpoint/2010/main" val="12904646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DEFAC7-C173-4948-976D-74EC6FC5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775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The learning system remains unchanged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B74FD8-B2E6-4181-8076-CE5997E8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2ABD90-4C43-4788-84A9-D68B34A4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|  Lecture 10  | 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4740C9-E3C2-4BF0-8A96-5137F295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579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Convolutional neural-network fundamentals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A52630-FF32-4206-A1A3-687B4701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0"/>
            <a:ext cx="1333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B2BA1B-D4FF-4F0B-99C4-531922B9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867025"/>
            <a:ext cx="323850" cy="4381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54C425-5ED7-4419-8D61-2BA55811A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667000"/>
            <a:ext cx="1333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6F3F0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FEA5E9-FE4B-49B8-8589-CA118FF8E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867025"/>
            <a:ext cx="323850" cy="4381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C7F936-F719-4921-BFEE-46426854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667000"/>
            <a:ext cx="1333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logits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678924-F347-4E92-8964-B4DC9D69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867025"/>
            <a:ext cx="323850" cy="4381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869C26-5B47-47DD-818E-61C7AB02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667000"/>
            <a:ext cx="1333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loss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0DD783-182E-4DED-8F78-109E9C10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867025"/>
            <a:ext cx="323850" cy="4381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3D5743-4CC0-41A7-AE7A-0315FDA2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667000"/>
            <a:ext cx="1333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gradient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55DB29-D16E-42DE-B32F-6C22EC27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67025"/>
            <a:ext cx="323850" cy="4381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8E574B-4DFC-4237-9ABA-3389D1CC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667000"/>
            <a:ext cx="1333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update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2C9252-FADD-4619-B6AD-4D18B8F2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867025"/>
            <a:ext cx="323850" cy="4381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04E44B-AB49-4CE3-AAC4-7691F0F5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2667000"/>
            <a:ext cx="1333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evaluation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372122-BA96-48FE-A1A3-B6388726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2250" b="1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The model changes. The scientific chain does not.</a:t>
            </a:r>
          </a:p>
        </p:txBody>
      </p:sp>
    </p:spTree>
    <p:extLst>
      <p:ext uri="{BB962C8B-B14F-4D97-AF65-F5344CB8AC3E}">
        <p14:creationId xmlns:p14="http://schemas.microsoft.com/office/powerpoint/2010/main" val="19515426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97D55B-7A93-4F53-876A-AB9AFAC4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Images have spatial 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0C742D-2D3D-4225-AFC0-4B596012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7377AC-8C77-4ADD-AECF-D85C3BD8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|  Lecture 10  | 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6495FC-B2CD-40E2-8481-C70783726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579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Convolutional neural-network fundamentals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904875" y="1809750"/>
          <a:ext xmlns:a="http://schemas.openxmlformats.org/drawingml/2006/main" cx="3200400" cy="3200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"/>
                <a:gridCol w="400050"/>
                <a:gridCol w="400050"/>
                <a:gridCol w="400050"/>
                <a:gridCol w="400050"/>
                <a:gridCol w="400050"/>
                <a:gridCol w="400050"/>
                <a:gridCol w="400050"/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93C906-B8E8-4D94-B6EA-BC0CF844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8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FC2015-22C2-4DC1-B197-8324520B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09750"/>
            <a:ext cx="5924550" cy="890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Nearby pixels often describe the same local pattern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D9AAC3-E7EE-41C8-A730-C24D2A17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2893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7D73B3-0E91-4DFC-8696-65413B69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38438"/>
            <a:ext cx="5924550" cy="890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A useful pattern can occur at many positions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6D4A83-263F-4A7E-B358-D609FE33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57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8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6A52B6-937D-4DE7-9FBD-637CB596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67125"/>
            <a:ext cx="5924550" cy="890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Channels carry aligned measurements at each location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565B69-657D-4A33-803A-41199774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863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A71631-4D13-49DB-8D83-E7D3A142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95813"/>
            <a:ext cx="5924550" cy="890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Flattening discards the explicit neighbourhood structure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4CD9CB-B1DE-4E03-A564-8AD933D8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86375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6B8E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246B8E"/>
                </a:solidFill>
                <a:latin typeface="Noto Sans"/>
                <a:ea typeface="Noto Sans"/>
                <a:cs typeface="Noto Sans"/>
              </a:rPr>
              <a:t>H × W neighbourhoods remain explicit</a:t>
            </a:r>
          </a:p>
        </p:txBody>
      </p:sp>
    </p:spTree>
    <p:extLst>
      <p:ext uri="{BB962C8B-B14F-4D97-AF65-F5344CB8AC3E}">
        <p14:creationId xmlns:p14="http://schemas.microsoft.com/office/powerpoint/2010/main" val="10738593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0C1DBB-C295-49C0-8F6F-A06CE845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775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A dense layer scales with image area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4920B1-C4F9-494E-AF52-D8EB4A5D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A2195C-CFDA-4D59-A512-1C16DE9F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|  Lecture 10  | 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0D36D0-2913-42CD-B47E-E3E9F2B5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579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Convolutional neural-network fundamentals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28587A-F327-47D0-B992-66633D8B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246B8E"/>
                </a:solidFill>
                <a:latin typeface="Noto Sans"/>
                <a:ea typeface="Noto Sans"/>
                <a:cs typeface="Noto Sans"/>
              </a:defRPr>
            </a:pPr>
            <a:r>
              <a:rPr sz="3375" b="1">
                <a:solidFill>
                  <a:srgbClr val="246B8E"/>
                </a:solidFill>
                <a:latin typeface="Noto Sans"/>
                <a:ea typeface="Noto Sans"/>
                <a:cs typeface="Noto Sans"/>
              </a:rPr>
              <a:t>Input: 224 × 224 × 3 = 150,528 values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F1FC48-A240-4868-BB1D-806B31F5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571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8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44C90B-5ED6-413C-B323-0FC8AE42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381375"/>
            <a:ext cx="8972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Dense output: 1,000 units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056C69-280A-435B-AE19-1B082383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33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D69ADB-FA28-4C19-9779-1C122471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143375"/>
            <a:ext cx="8972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Weights alone: 150,528,000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B026E5-E496-4386-885F-A394041C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095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8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CC5889-E809-44B0-AEBA-BE15D835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905375"/>
            <a:ext cx="8972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The layer learns separate weights for every location</a:t>
            </a:r>
          </a:p>
        </p:txBody>
      </p:sp>
    </p:spTree>
    <p:extLst>
      <p:ext uri="{BB962C8B-B14F-4D97-AF65-F5344CB8AC3E}">
        <p14:creationId xmlns:p14="http://schemas.microsoft.com/office/powerpoint/2010/main" val="13239669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50D50E-90EF-4013-886F-604DD646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Locality and parameter sharing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060E0A-70FB-4E4D-94D2-B5BC62FB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6B537-03B9-4C97-AB35-F345C5BB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|  Lecture 10  |  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33E1A8-0524-44C7-BC67-71EE8B25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579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Convolutional neural-network fundamentals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904875" y="1809750"/>
          <a:ext xmlns:a="http://schemas.openxmlformats.org/drawingml/2006/main" cx="3133725" cy="3133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"/>
                <a:gridCol w="447675"/>
                <a:gridCol w="447675"/>
                <a:gridCol w="447675"/>
                <a:gridCol w="447675"/>
                <a:gridCol w="447675"/>
                <a:gridCol w="447675"/>
              </a:tblGrid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391633-0CA0-4964-9146-6CE1C1AD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91125"/>
            <a:ext cx="1714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6EEE2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7521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B87521"/>
                </a:solidFill>
                <a:latin typeface="Noto Sans"/>
                <a:ea typeface="Noto Sans"/>
                <a:cs typeface="Noto Sans"/>
              </a:rPr>
              <a:t>3 × 3 kernel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09037C-BDBB-4D87-9127-6CB4D5BA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000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8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3AA63D-0B54-4C02-841F-42C039EB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1809750"/>
            <a:ext cx="5829300" cy="113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A small kernel reads one neighbourhood at a 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59002F-121E-4C7A-859B-98F7FB24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175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711E1B-EE89-462C-8EF7-8D8F5ACA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984500"/>
            <a:ext cx="5829300" cy="113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The same kernel is reused at every valid location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0A9B13-66DC-4A42-B9E1-5686E042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349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8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40E3B7-DFF9-4EF8-A127-71E6F7A3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159250"/>
            <a:ext cx="5829300" cy="113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Each output value measures local agreement with that kernel</a:t>
            </a:r>
          </a:p>
        </p:txBody>
      </p:sp>
    </p:spTree>
    <p:extLst>
      <p:ext uri="{BB962C8B-B14F-4D97-AF65-F5344CB8AC3E}">
        <p14:creationId xmlns:p14="http://schemas.microsoft.com/office/powerpoint/2010/main" val="2985641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971B55-79F4-4D21-9DB8-4C9DF2AF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Two-dimensional cross-correlation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00D68D-B066-4B08-9EC7-1EE1AB2D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C3E393-869B-4D93-9709-D9B97A1B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|  Lecture 10  |  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785642-AF78-401D-B1D3-B506D16C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579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Convolutional neural-network fundamentals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876300" y="2095500"/>
          <a:ext xmlns:a="http://schemas.openxmlformats.org/drawingml/2006/main" cx="188595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28650"/>
                <a:gridCol w="628650"/>
                <a:gridCol w="628650"/>
              </a:tblGrid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276393-C150-4F34-9365-D8441AD8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619375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2850" b="1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×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3667125" y="2381250"/>
          <a:ext xmlns:a="http://schemas.openxmlformats.org/drawingml/2006/main" cx="1257300" cy="1257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28650"/>
                <a:gridCol w="628650"/>
              </a:tblGrid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A8483D"/>
                          </a:solidFill>
                          <a:latin typeface="Noto Sans"/>
                          <a:ea typeface="Noto Sans"/>
                          <a:cs typeface="Noto Sans"/>
                        </a:rPr>
                        <a:t>-1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A8483D"/>
                          </a:solidFill>
                          <a:latin typeface="Noto Sans"/>
                          <a:ea typeface="Noto Sans"/>
                          <a:cs typeface="Noto Sans"/>
                        </a:rPr>
                        <a:t>-1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06978E-075B-46C7-90F5-D968F8BC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667000"/>
            <a:ext cx="90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sum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EC4EE8-13A5-4977-9DAC-CE145734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647950"/>
            <a:ext cx="323850" cy="4381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65D6ED-B64E-4DC0-9D98-06E73C19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62200"/>
            <a:ext cx="1809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6F3F0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one 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C0E444-236A-4E75-9D03-625317BB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52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8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6196E0-AAB8-4913-961A-FE4B5DF8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762125"/>
            <a:ext cx="2400300" cy="890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Place the kernel over one input patch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334CC6-BF61-4548-BC34-24454BC3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813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1BEBC5-E4C2-4AE1-8C30-4929A168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90813"/>
            <a:ext cx="2400300" cy="890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Multiply corresponding entries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BA6664-F4EA-4C32-884B-C1EA9BA8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10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8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6B2E88-9CFD-40B7-B8C6-5BFA5613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19500"/>
            <a:ext cx="2400300" cy="890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Sum the products to produce one output value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0EBB9F-8134-41D0-B84D-2468CE2C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3868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C0C76E-9C0C-446B-8B7F-936EEE1B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548188"/>
            <a:ext cx="2400300" cy="890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Move the kernel and repeat</a:t>
            </a:r>
          </a:p>
        </p:txBody>
      </p:sp>
    </p:spTree>
    <p:extLst>
      <p:ext uri="{BB962C8B-B14F-4D97-AF65-F5344CB8AC3E}">
        <p14:creationId xmlns:p14="http://schemas.microsoft.com/office/powerpoint/2010/main" val="10069849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66BA68-1B00-4ECE-99BC-5B697486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775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Student calculation: one output value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9BECF5-91F0-4ACA-97A5-2A5CEE80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E066D4-0860-4A08-8AF9-F3AF6F39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|  Lecture 10  | 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86F033-1153-46FC-99C6-1A89FBD9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579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Convolutional neural-network fundamentals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2095500" y="2190750"/>
          <a:ext xmlns:a="http://schemas.openxmlformats.org/drawingml/2006/main" cx="1752600" cy="1752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76300"/>
                <a:gridCol w="876300"/>
              </a:tblGrid>
              <a:tr h="876300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58A562-02AC-4CAD-BF18-432D18EA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714625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×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4857750" y="2190750"/>
          <a:ext xmlns:a="http://schemas.openxmlformats.org/drawingml/2006/main" cx="1752600" cy="1752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76300"/>
                <a:gridCol w="876300"/>
              </a:tblGrid>
              <a:tr h="876300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A8483D"/>
                          </a:solidFill>
                          <a:latin typeface="Noto Sans"/>
                          <a:ea typeface="Noto Sans"/>
                          <a:cs typeface="Noto Sans"/>
                        </a:rPr>
                        <a:t>-1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A8483D"/>
                          </a:solidFill>
                          <a:latin typeface="Noto Sans"/>
                          <a:ea typeface="Noto Sans"/>
                          <a:cs typeface="Noto Sans"/>
                        </a:rPr>
                        <a:t>-1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D4B2E7-D0AC-4728-B7D8-F6C50D93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714625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87521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B87521"/>
                </a:solidFill>
                <a:latin typeface="Noto Sans"/>
                <a:ea typeface="Noto Sans"/>
                <a:cs typeface="Noto Sans"/>
              </a:rPr>
              <a:t>= 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F82CC0-ACBD-47D0-AFBC-0E1E0FDD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1012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46B8E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246B8E"/>
                </a:solidFill>
                <a:latin typeface="Noto Sans"/>
                <a:ea typeface="Noto Sans"/>
                <a:cs typeface="Noto Sans"/>
              </a:rPr>
              <a:t>Write all four products before summing</a:t>
            </a:r>
          </a:p>
        </p:txBody>
      </p:sp>
    </p:spTree>
    <p:extLst>
      <p:ext uri="{BB962C8B-B14F-4D97-AF65-F5344CB8AC3E}">
        <p14:creationId xmlns:p14="http://schemas.microsoft.com/office/powerpoint/2010/main" val="6266473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27D762-30BC-4A6A-85C7-9326DDA52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One complete cross-correlation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14AD0C-0966-4931-8303-E3CDBF6C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94A743-82A5-4AA6-BB22-D4685114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|  Lecture 10  |  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01E7F8-3E3F-4BF8-BDB4-3C93EC32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579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Convolutional neural-network fundamentals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19125" y="1809750"/>
          <a:ext xmlns:a="http://schemas.openxmlformats.org/drawingml/2006/main" cx="24765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"/>
                <a:gridCol w="495300"/>
                <a:gridCol w="495300"/>
                <a:gridCol w="495300"/>
                <a:gridCol w="495300"/>
              </a:tblGrid>
              <a:tr h="495300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AFF0E5-2A17-4D36-8FEA-A791BE67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input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3810000" y="2428875"/>
          <a:ext xmlns:a="http://schemas.openxmlformats.org/drawingml/2006/main" cx="1257300" cy="1257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28650"/>
                <a:gridCol w="628650"/>
              </a:tblGrid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A8483D"/>
                          </a:solidFill>
                          <a:latin typeface="Noto Sans"/>
                          <a:ea typeface="Noto Sans"/>
                          <a:cs typeface="Noto Sans"/>
                        </a:rPr>
                        <a:t>-1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A8483D"/>
                          </a:solidFill>
                          <a:latin typeface="Noto Sans"/>
                          <a:ea typeface="Noto Sans"/>
                          <a:cs typeface="Noto Sans"/>
                        </a:rPr>
                        <a:t>-1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4004A6-7B08-4405-9409-483861DC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857625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kernel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1075E4-4079-4C33-92B1-1BA72894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857500"/>
            <a:ext cx="323850" cy="4381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6477000" y="2000250"/>
          <a:ext xmlns:a="http://schemas.openxmlformats.org/drawingml/2006/main" cx="2209800" cy="2209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2450"/>
                <a:gridCol w="552450"/>
                <a:gridCol w="552450"/>
                <a:gridCol w="552450"/>
              </a:tblGrid>
              <a:tr h="552450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A8483D"/>
                          </a:solidFill>
                          <a:latin typeface="Noto Sans"/>
                          <a:ea typeface="Noto Sans"/>
                          <a:cs typeface="Noto Sans"/>
                        </a:rPr>
                        <a:t>-2</a:t>
                      </a:r>
                    </a:p>
                  </a:txBody>
                  <a:tcPr marL="91440" marR="91440" marT="45720" marB="45720" anchor="ctr">
                    <a:solidFill>
                      <a:srgbClr val="F6EE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A8483D"/>
                          </a:solidFill>
                          <a:latin typeface="Noto Sans"/>
                          <a:ea typeface="Noto Sans"/>
                          <a:cs typeface="Noto Sans"/>
                        </a:rPr>
                        <a:t>-2</a:t>
                      </a:r>
                    </a:p>
                  </a:txBody>
                  <a:tcPr marL="91440" marR="91440" marT="45720" marB="45720" anchor="ctr">
                    <a:solidFill>
                      <a:srgbClr val="F6EE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A8483D"/>
                          </a:solidFill>
                          <a:latin typeface="Noto Sans"/>
                          <a:ea typeface="Noto Sans"/>
                          <a:cs typeface="Noto Sans"/>
                        </a:rPr>
                        <a:t>-2</a:t>
                      </a:r>
                    </a:p>
                  </a:txBody>
                  <a:tcPr marL="91440" marR="91440" marT="45720" marB="45720" anchor="ctr">
                    <a:solidFill>
                      <a:srgbClr val="F6EE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A8483D"/>
                          </a:solidFill>
                          <a:latin typeface="Noto Sans"/>
                          <a:ea typeface="Noto Sans"/>
                          <a:cs typeface="Noto Sans"/>
                        </a:rPr>
                        <a:t>-2</a:t>
                      </a:r>
                    </a:p>
                  </a:txBody>
                  <a:tcPr marL="91440" marR="91440" marT="45720" marB="45720" anchor="ctr">
                    <a:solidFill>
                      <a:srgbClr val="F6EE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B37E2D-7E27-4079-BD7D-945A1E10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767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579F5C-E11A-4AA1-9A6C-33ED0C83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24125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manual result = F.conv2d result</a:t>
            </a:r>
          </a:p>
        </p:txBody>
      </p:sp>
    </p:spTree>
    <p:extLst>
      <p:ext uri="{BB962C8B-B14F-4D97-AF65-F5344CB8AC3E}">
        <p14:creationId xmlns:p14="http://schemas.microsoft.com/office/powerpoint/2010/main" val="18996702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5F6ACD-EAC6-4F82-845F-BB0C470D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775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The kernel values are learned parameters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03511B-28EB-4F65-B324-5D51376B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B0E49C-97A0-482C-BF2B-52A024C7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|  Lecture 10  | 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168CA6-7E51-4FBC-8229-445879D9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579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Convolutional neural-network fundamentals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CB41BA-331B-4543-8B6E-3D20BEE9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8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B9B5B0-9084-479D-843D-360B2797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57350"/>
            <a:ext cx="10210800" cy="132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A hand-designed edge kernel demonstrates the operation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B6A1CB-AAEB-4955-BDE7-E21C23BE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3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C60586-6344-4F68-A6DC-E6D96586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22600"/>
            <a:ext cx="10210800" cy="132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A CNN learns kernels from the task loss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CDAA01-8F1F-436D-BAD4-EB4D739F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8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8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DC4CC5-C614-4003-9A87-C9EB5ED2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87850"/>
            <a:ext cx="10210800" cy="132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Backpropagation accumulates evidence from every location where a shared kernel was used</a:t>
            </a:r>
          </a:p>
        </p:txBody>
      </p:sp>
    </p:spTree>
    <p:extLst>
      <p:ext uri="{BB962C8B-B14F-4D97-AF65-F5344CB8AC3E}">
        <p14:creationId xmlns:p14="http://schemas.microsoft.com/office/powerpoint/2010/main" val="15448896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B1682B-DF86-442A-9809-E19DD1A7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775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Output size for one spatial dimension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CEB13C-38FE-415D-9306-0253F09D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600A61-09B7-4471-ABAE-3C40CAA5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|  Lecture 10  | 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01B6CE-1366-48FF-87D0-F1BA08E5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579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Convolutional neural-network fundamentals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76460B-B4E4-4AD4-8E3C-817D56AF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09750"/>
            <a:ext cx="10191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625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nₒᵤₜ = floor((n + 2p − d(k − 1) − 1) / s) + 1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4D4507-AD82-403C-83F6-44894CCC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14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8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908C51-D3A4-4339-BAC9-FF5C7B4F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524250"/>
            <a:ext cx="83058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n: input size    k: kernel size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1190C4-AD05-42FB-8AFC-58D0D9D8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19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2330EB-BABC-4727-9D5D-9C76F6B9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429125"/>
            <a:ext cx="83058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p: padding       s: stride       d: dilation</a:t>
            </a:r>
          </a:p>
        </p:txBody>
      </p:sp>
    </p:spTree>
    <p:extLst>
      <p:ext uri="{BB962C8B-B14F-4D97-AF65-F5344CB8AC3E}">
        <p14:creationId xmlns:p14="http://schemas.microsoft.com/office/powerpoint/2010/main" val="186790310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3F51E2-74C6-4E20-A500-767C77DC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775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Student calculation: four output sizes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23061B-31B1-4855-880B-B406892D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20FEF0-80D5-4EA2-8A67-E3D68D21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|  Lecture 10  | 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6A71E6-6982-4A72-97B0-F38BA667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579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Convolutional neural-network fundamentals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952500" y="1762125"/>
          <a:ext xmlns:a="http://schemas.openxmlformats.org/drawingml/2006/main" cx="102870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"/>
                <a:gridCol w="7905750"/>
                <a:gridCol w="1619250"/>
              </a:tblGrid>
              <a:tr h="714375"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28, kernel 3, padding 0, stride 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B87521"/>
                          </a:solidFill>
                          <a:latin typeface="Noto Sans"/>
                          <a:ea typeface="Noto Sans"/>
                          <a:cs typeface="Noto Sans"/>
                        </a:rPr>
                        <a:t>?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28, kernel 3, padding 1, stride 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B87521"/>
                          </a:solidFill>
                          <a:latin typeface="Noto Sans"/>
                          <a:ea typeface="Noto Sans"/>
                          <a:cs typeface="Noto Sans"/>
                        </a:rPr>
                        <a:t>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28, kernel 5, padding 2, stride 2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B87521"/>
                          </a:solidFill>
                          <a:latin typeface="Noto Sans"/>
                          <a:ea typeface="Noto Sans"/>
                          <a:cs typeface="Noto Sans"/>
                        </a:rPr>
                        <a:t>?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16, kernel 3, padding 1, stride 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B87521"/>
                          </a:solidFill>
                          <a:latin typeface="Noto Sans"/>
                          <a:ea typeface="Noto Sans"/>
                          <a:cs typeface="Noto Sans"/>
                        </a:rPr>
                        <a:t>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090430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706FC9-56AF-40F7-B548-32879624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Output-size answers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1B7B30-F1E9-482E-8818-9200B630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CAD2B6-C955-43D9-BDE0-45307802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|  Lecture 10  | 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8B478A-7F15-4411-A899-72705F7A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579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Convolutional neural-network fundamentals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5A6771-3E18-4BCA-A5B8-012A2F09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333625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246B8E"/>
                </a:solidFill>
                <a:latin typeface="Noto Sans"/>
                <a:ea typeface="Noto Sans"/>
                <a:cs typeface="Noto Sans"/>
              </a:defRPr>
            </a:pPr>
            <a:r>
              <a:rPr sz="4050" b="1">
                <a:solidFill>
                  <a:srgbClr val="246B8E"/>
                </a:solidFill>
                <a:latin typeface="Noto Sans"/>
                <a:ea typeface="Noto Sans"/>
                <a:cs typeface="Noto Sans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1069F0-27C0-4998-9A75-7FE48AB5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33625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6F3F0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4050" b="1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DE30C4-DAEE-4A7C-999D-8AF75986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333625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6EEE2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B87521"/>
                </a:solidFill>
                <a:latin typeface="Noto Sans"/>
                <a:ea typeface="Noto Sans"/>
                <a:cs typeface="Noto Sans"/>
              </a:defRPr>
            </a:pPr>
            <a:r>
              <a:rPr sz="4050" b="1">
                <a:solidFill>
                  <a:srgbClr val="B87521"/>
                </a:solidFill>
                <a:latin typeface="Noto Sans"/>
                <a:ea typeface="Noto Sans"/>
                <a:cs typeface="Noto Sans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F399B2-1B96-4DAD-9107-134805EF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33625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405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6B914A-F094-4C66-9821-DF61F1F9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6250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2250" b="1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Substitute before simplifying</a:t>
            </a:r>
          </a:p>
        </p:txBody>
      </p:sp>
    </p:spTree>
    <p:extLst>
      <p:ext uri="{BB962C8B-B14F-4D97-AF65-F5344CB8AC3E}">
        <p14:creationId xmlns:p14="http://schemas.microsoft.com/office/powerpoint/2010/main" val="43211965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3E096C-F41E-4747-AB5C-B5908837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775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Padding controls boundary treatment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75DC0A-5BE8-4796-BCC6-8B4ADE2F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F877B4-DCAE-4CE7-A6F1-44289B9A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|  Lecture 10  |  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E03CC2-A968-4E39-A903-B2DCE697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579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Convolutional neural-network fundamentals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872E07-E338-4F2A-A11F-169E72E2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286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6B8E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246B8E"/>
                </a:solidFill>
                <a:latin typeface="Noto Sans"/>
                <a:ea typeface="Noto Sans"/>
                <a:cs typeface="Noto Sans"/>
              </a:rPr>
              <a:t>border values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C12EAF-F4E9-41C6-AD8E-4B5CC6CC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762250"/>
            <a:ext cx="2286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6F3F0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border values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77B1AF-58A9-49D8-9A89-990411BF9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2286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6B8E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246B8E"/>
                </a:solidFill>
                <a:latin typeface="Noto Sans"/>
                <a:ea typeface="Noto Sans"/>
                <a:cs typeface="Noto Sans"/>
              </a:rPr>
              <a:t>border values 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01C9A4-2474-473D-8AF1-706B3A7C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762250"/>
            <a:ext cx="2286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6F3F0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border values 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F87899-03AA-4419-B904-17418A43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905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8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03D611-A3A8-4112-99C7-6611B46E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714750"/>
            <a:ext cx="9544050" cy="739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Without padding, border pixels participate in fewer patches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99156A-C477-4DCF-8E86-AB46AE40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683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AC857A-3F58-48AD-9ED5-EB9CBB87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492625"/>
            <a:ext cx="9544050" cy="739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Padding can preserve spatial size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AB803E-81F1-470F-B6FA-CBFFD68B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461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8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5E7690-294E-4808-882C-47ABDC55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270500"/>
            <a:ext cx="9544050" cy="739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Padding values become part of the model's boundary assumption</a:t>
            </a:r>
          </a:p>
        </p:txBody>
      </p:sp>
    </p:spTree>
    <p:extLst>
      <p:ext uri="{BB962C8B-B14F-4D97-AF65-F5344CB8AC3E}">
        <p14:creationId xmlns:p14="http://schemas.microsoft.com/office/powerpoint/2010/main" val="78281187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838154-0CBC-47B9-BCDA-F4AF9A67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Stride controls sampling density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6DF75C-FF59-4081-8D16-2F901DDC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1C850B-E1FA-46C4-9AC3-8EFB6A1A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|  Lecture 10  |  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917484-909D-44EC-B325-44F8F779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579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Convolutional neural-network fundamentals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857A95-DAB3-47EA-9AC5-CCB24D38A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286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6B8E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246B8E"/>
                </a:solidFill>
                <a:latin typeface="Noto Sans"/>
                <a:ea typeface="Noto Sans"/>
                <a:cs typeface="Noto Sans"/>
              </a:rPr>
              <a:t>sampled positions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4D37E4-8B76-49FD-9096-A0B4C472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762250"/>
            <a:ext cx="2286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6F3F0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sampled positions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4C82CE-1F34-4722-BE2C-DD05CCAA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2286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6B8E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246B8E"/>
                </a:solidFill>
                <a:latin typeface="Noto Sans"/>
                <a:ea typeface="Noto Sans"/>
                <a:cs typeface="Noto Sans"/>
              </a:rPr>
              <a:t>sampled positions 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F0CC3D-7C96-4899-83B9-3F3F8740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762250"/>
            <a:ext cx="2286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6F3F0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sampled positions 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AC6252-4E34-48F9-906B-23E50A57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905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8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A4BB1E-2377-4E02-B15A-B387B2BF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714750"/>
            <a:ext cx="9544050" cy="739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Stride 1 evaluates neighbouring kernel positions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DA2B84-AFBC-4D6E-A27A-64BA2BB5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683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2A4FB0-DDC9-42E2-8B24-EAAB0E01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492625"/>
            <a:ext cx="9544050" cy="739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Larger stride reduces spatial resolution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E84894-5520-454C-8A94-A0A7A319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461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8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2F9C2C-0E2A-48F5-A4EC-56CD0A40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270500"/>
            <a:ext cx="9544050" cy="739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Downsampling can lower compute but may discard small features</a:t>
            </a:r>
          </a:p>
        </p:txBody>
      </p:sp>
    </p:spTree>
    <p:extLst>
      <p:ext uri="{BB962C8B-B14F-4D97-AF65-F5344CB8AC3E}">
        <p14:creationId xmlns:p14="http://schemas.microsoft.com/office/powerpoint/2010/main" val="12471305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DD2556-1718-4211-8A5A-253BF1E0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Channels change the kernel shape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187C76-B2BE-496A-979D-CDBA3597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4517D3-C65A-4E58-BC54-C418242A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|  Lecture 10  | 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1440C1-7E4D-4548-AB98-2068B4C42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579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Convolutional neural-network fundamentals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9D0D2F-4184-4831-ADF8-BB457224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286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6B8E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246B8E"/>
                </a:solidFill>
                <a:latin typeface="Noto Sans"/>
                <a:ea typeface="Noto Sans"/>
                <a:cs typeface="Noto Sans"/>
              </a:rPr>
              <a:t>channel mixing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5B9C4D-2776-4C8E-98B1-7CAED33E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762250"/>
            <a:ext cx="2286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6F3F0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channel mixing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0A7BCB-0CB4-4219-8509-3BC5D222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2286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6B8E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246B8E"/>
                </a:solidFill>
                <a:latin typeface="Noto Sans"/>
                <a:ea typeface="Noto Sans"/>
                <a:cs typeface="Noto Sans"/>
              </a:rPr>
              <a:t>channel mixing 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497B9F-12A8-4A45-9C9E-E4E0E103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762250"/>
            <a:ext cx="2286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6F3F0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channel mixing 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35F040-013C-4DE0-B318-38D7551D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905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8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8AE817-0C5B-4A43-A513-8826FCD7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714750"/>
            <a:ext cx="9544050" cy="5453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Input tensor: batch × input channels × height × width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55A342-7D88-424E-A053-C6784368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8865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DF0BE6-F59A-4240-97C8-44EF46EF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298156"/>
            <a:ext cx="9544050" cy="5453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One output channel uses one kernel slice per input channel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90AAF8-E1D7-4248-AC55-335E4D2D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720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8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2475B6-375A-4651-8D99-97735BCBA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881563"/>
            <a:ext cx="9544050" cy="5453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The channel responses are summed before adding one bias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2DE6C0-C5BC-425B-9E3F-B9B49175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65546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F9DA83-172A-48B2-90AF-CA36173D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464969"/>
            <a:ext cx="9544050" cy="5453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Multiple output channels learn different feature maps</a:t>
            </a:r>
          </a:p>
        </p:txBody>
      </p:sp>
    </p:spTree>
    <p:extLst>
      <p:ext uri="{BB962C8B-B14F-4D97-AF65-F5344CB8AC3E}">
        <p14:creationId xmlns:p14="http://schemas.microsoft.com/office/powerpoint/2010/main" val="207209501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6B5167-1714-40DC-A06D-7D4765AAE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775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Student calculation: multichannel output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B9DEE9-7492-43AF-A832-F849A759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020928-C1B5-46D9-BC2D-AF4C26FB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|  Lecture 10  |  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9D5D0A-9B22-41A6-913E-972CA1F0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579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Convolutional neural-network fundamentals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113739-351A-407D-B0F0-8D48BC67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38300"/>
            <a:ext cx="2000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6EEE2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7521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B87521"/>
                </a:solidFill>
                <a:latin typeface="Noto Sans"/>
                <a:ea typeface="Noto Sans"/>
                <a:cs typeface="Noto Sans"/>
              </a:rPr>
              <a:t>CALCULATE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3D2B87-FA29-4AE5-921B-D8DC9BC2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14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8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BE9E3-458C-429A-A045-F36D5EED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524125"/>
            <a:ext cx="9829800" cy="711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Input shape: [8, 3, 32, 32]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7A0388-3F3E-4E66-8EE5-86DF715F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6471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E8B1B9-2C1E-4F73-A157-98EC88B9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274219"/>
            <a:ext cx="9829800" cy="711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Layer: Conv2d(3, 16, kernel_size=3, padding=1)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7EFD2E-CEC2-4808-BE5C-00CCE246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48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8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9DFD5A-70D9-4C34-BB4E-1BFECDB6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024313"/>
            <a:ext cx="9829800" cy="711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Find the output shape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6EBB5A-E238-48DB-9192-4264138E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6490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5B0B1E-B438-4A94-AE11-50CE8000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774406"/>
            <a:ext cx="9829800" cy="711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Find the number of trainable parameters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F183AD-5324-4EAC-ADCA-A35B2D31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572125"/>
            <a:ext cx="923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Show shapes and substitutions, not only final numbers</a:t>
            </a:r>
          </a:p>
        </p:txBody>
      </p:sp>
    </p:spTree>
    <p:extLst>
      <p:ext uri="{BB962C8B-B14F-4D97-AF65-F5344CB8AC3E}">
        <p14:creationId xmlns:p14="http://schemas.microsoft.com/office/powerpoint/2010/main" val="140245059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D47A8C-8270-4591-ACDF-F8FEDE33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Convolution parameter count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2A94A2-F3EF-4EAA-A1FC-B620B353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424F38-02B4-44F1-8AC2-A53F2344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|  Lecture 10  |  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D25DC5-17E0-48A7-B511-FD2297BA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579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Convolutional neural-network fundamentals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26A530-97D6-493D-BE79-7B1F07A4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09750"/>
            <a:ext cx="10191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parameters = C_out × (C_in × kH × kW + 1)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BA7B7E-C88E-4091-B106-8C47B51D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76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8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7DC077-2B68-4DF8-BB21-6E181EA4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86125"/>
            <a:ext cx="9067800" cy="755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weights = output channels × input channels × kernel height × kernel width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C80B2C-63AD-4BB0-B2FD-593F782E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70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B5A11A-B4F4-4EC8-9426-6370EC50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79875"/>
            <a:ext cx="9067800" cy="755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biases = output channels when bias is enabled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F72A3B-296E-45DA-88CC-B45FDEF8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4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8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26F5A3-BBF4-4AD6-A258-EBB22927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873625"/>
            <a:ext cx="9067800" cy="755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Spatial input size changes compute and activation memory, not the kernel parameter count</a:t>
            </a:r>
          </a:p>
        </p:txBody>
      </p:sp>
    </p:spTree>
    <p:extLst>
      <p:ext uri="{BB962C8B-B14F-4D97-AF65-F5344CB8AC3E}">
        <p14:creationId xmlns:p14="http://schemas.microsoft.com/office/powerpoint/2010/main" val="86315064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30CA81-164A-47AE-9C2B-70D8AF88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Student calculation: two convolution layers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74E730-E068-4D0C-8E70-DED796AD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B89C58-3450-42E1-B8AC-9363D6E0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|  Lecture 10  |  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751450-6CC2-418A-B769-EEEB63EC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579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Convolutional neural-network fundamentals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7633E6-83BB-4467-8D3B-F23A57A6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38300"/>
            <a:ext cx="2000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6EEE2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7521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B87521"/>
                </a:solidFill>
                <a:latin typeface="Noto Sans"/>
                <a:ea typeface="Noto Sans"/>
                <a:cs typeface="Noto Sans"/>
              </a:rPr>
              <a:t>CALCULATE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84AED0-369A-4534-BA78-A3EBBFAB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14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8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1543DB-6BDD-43A2-AA88-0A9F7C99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524125"/>
            <a:ext cx="98298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Layer 1: Conv2d(1, 8, 3, padding=1)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3BD017-7931-40EE-9333-83337A9A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14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9666E2-2F10-4794-9350-D59888BF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524250"/>
            <a:ext cx="98298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Layer 2: Conv2d(8, 12, 3, padding=1)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45D1AF-1548-4AF6-B46D-C9A7DBA7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14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8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450444-29B0-40E8-9E2D-0B42281C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24375"/>
            <a:ext cx="98298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Calculate each layer's parameters and the total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D0CAF8-7007-486B-9801-EC3F40D0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572125"/>
            <a:ext cx="923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Show shapes and substitutions, not only final numbers</a:t>
            </a:r>
          </a:p>
        </p:txBody>
      </p:sp>
    </p:spTree>
    <p:extLst>
      <p:ext uri="{BB962C8B-B14F-4D97-AF65-F5344CB8AC3E}">
        <p14:creationId xmlns:p14="http://schemas.microsoft.com/office/powerpoint/2010/main" val="3800339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425DC3-39E4-4473-88C2-DBC5E73D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Translation equivariance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C375BA-8E11-4C44-A200-8B377975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767107-3E76-4A6C-AAA7-DA9E6A38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|  Lecture 10  | 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110403-19DA-4350-BD23-0FF7ACCD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579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Convolutional neural-network fundamentals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67FBC0-F8B9-464C-AB94-D250E6A8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286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6B8E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246B8E"/>
                </a:solidFill>
                <a:latin typeface="Noto Sans"/>
                <a:ea typeface="Noto Sans"/>
                <a:cs typeface="Noto Sans"/>
              </a:rPr>
              <a:t>shifted feature map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2CC607-5D70-4BE6-8DD5-2C0398AC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762250"/>
            <a:ext cx="2286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6F3F0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shifted feature map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343261-EF21-41DE-A1B4-07E26D2F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2286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6B8E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246B8E"/>
                </a:solidFill>
                <a:latin typeface="Noto Sans"/>
                <a:ea typeface="Noto Sans"/>
                <a:cs typeface="Noto Sans"/>
              </a:rPr>
              <a:t>shifted feature map 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6E7B20-9763-4D51-BDB2-A9D1A406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762250"/>
            <a:ext cx="2286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6F3F0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shifted feature map 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B5881F-59C2-4530-90F7-A50F7673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905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8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0508A1-7A8A-47BB-9514-735E3D16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714750"/>
            <a:ext cx="9544050" cy="739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A shifted input tends to produce a shifted feature map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8F50A6-C972-4DA9-99D1-C2D85D10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683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654062-4FAD-4629-B1B3-6BEA3614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492625"/>
            <a:ext cx="9544050" cy="739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Shared kernels preserve the identity of a local detector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E3CFEF-84E4-49D0-8297-6966A821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461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8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C4A738-CD47-464D-8001-092CBAB5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270500"/>
            <a:ext cx="9544050" cy="739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Boundary effects and downsampling make the relationship approximate in practical networks</a:t>
            </a:r>
          </a:p>
        </p:txBody>
      </p:sp>
    </p:spTree>
    <p:extLst>
      <p:ext uri="{BB962C8B-B14F-4D97-AF65-F5344CB8AC3E}">
        <p14:creationId xmlns:p14="http://schemas.microsoft.com/office/powerpoint/2010/main" val="52685654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2B1047-B564-47C2-AED7-657B2EC1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Pooling and invariance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3CA602-4D58-4184-9179-C8E032AF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FD6C2C-37C4-4E9F-8D95-95C6D7D6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|  Lecture 10  |  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EB77AE-09C5-4DA8-AC90-21098AA2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579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Convolutional neural-network fundamentals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3B456A-B3D3-4897-9C15-B8BF311E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286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6B8E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246B8E"/>
                </a:solidFill>
                <a:latin typeface="Noto Sans"/>
                <a:ea typeface="Noto Sans"/>
                <a:cs typeface="Noto Sans"/>
              </a:rPr>
              <a:t>local summary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F24BCE-7F8C-4460-A3C7-5D0A3AA0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762250"/>
            <a:ext cx="2286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6F3F0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local summary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38D3F7-9957-4BD2-B102-F96479D1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2286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6B8E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246B8E"/>
                </a:solidFill>
                <a:latin typeface="Noto Sans"/>
                <a:ea typeface="Noto Sans"/>
                <a:cs typeface="Noto Sans"/>
              </a:rPr>
              <a:t>local summary 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51AA81-64D5-4668-9E6B-05F651D0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762250"/>
            <a:ext cx="2286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6F3F0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local summary 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D3031C-4780-4FAA-9B76-9AA7FFA0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905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8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175DFE-8BA8-4DEF-947D-8B8E7B38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714750"/>
            <a:ext cx="9544050" cy="5453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Max pooling retains the strongest value in each window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4EE3D5-2791-4F12-9CFB-91581A36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8865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60B3E0-5A88-4854-BDB0-E73977F1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298156"/>
            <a:ext cx="9544050" cy="5453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Average pooling retains the local mean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3464D0-08B3-4389-A5D4-3ACEE0B7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720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8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38AF43-131D-4CEC-93A6-BAFF2E01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881563"/>
            <a:ext cx="9544050" cy="5453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Pooling reduces resolution and can make small shifts less consequential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CA7DF8-AC65-4066-8079-37D28770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65546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ACD2B3-8975-4F06-9025-E04ABC08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464969"/>
            <a:ext cx="9544050" cy="5453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Aggressive pooling can remove information</a:t>
            </a:r>
          </a:p>
        </p:txBody>
      </p:sp>
    </p:spTree>
    <p:extLst>
      <p:ext uri="{BB962C8B-B14F-4D97-AF65-F5344CB8AC3E}">
        <p14:creationId xmlns:p14="http://schemas.microsoft.com/office/powerpoint/2010/main" val="17462558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94952F-45A7-4184-B833-087B496F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Student calculation: max pooling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079E54-4184-48D7-8A03-3D6C85F0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5BD986-3DD9-400F-8575-D168F116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|  Lecture 10  |  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BFFBCD-DF64-4582-B6FA-3D8010EB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579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Convolutional neural-network fundamentals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2000250" y="1809750"/>
          <a:ext xmlns:a="http://schemas.openxmlformats.org/drawingml/2006/main" cx="2971800" cy="2971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42950"/>
                <a:gridCol w="742950"/>
                <a:gridCol w="742950"/>
                <a:gridCol w="742950"/>
              </a:tblGrid>
              <a:tr h="742950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CB3752-3A6E-4330-8825-B327CCBF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28950"/>
            <a:ext cx="323850" cy="4381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858000" y="2381250"/>
          <a:ext xmlns:a="http://schemas.openxmlformats.org/drawingml/2006/main" cx="2000250" cy="2000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00125"/>
                <a:gridCol w="1000125"/>
              </a:tblGrid>
              <a:tr h="1000125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65BA4F-F673-45A1-AA3C-47E65C48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6672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6B8E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246B8E"/>
                </a:solidFill>
                <a:latin typeface="Noto Sans"/>
                <a:ea typeface="Noto Sans"/>
                <a:cs typeface="Noto Sans"/>
              </a:rPr>
              <a:t>2 × 2 max pool, stride 2</a:t>
            </a:r>
          </a:p>
        </p:txBody>
      </p:sp>
    </p:spTree>
    <p:extLst>
      <p:ext uri="{BB962C8B-B14F-4D97-AF65-F5344CB8AC3E}">
        <p14:creationId xmlns:p14="http://schemas.microsoft.com/office/powerpoint/2010/main" val="97230037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9739AD-50A2-44FE-B90C-0BB18B23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Receptive field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2DFD9C-AC1E-4399-9381-17D47D54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12CDE9-6EE7-4A8D-B3A8-76196D9E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|  Lecture 10  | 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D35B6F-B7F7-4BA3-8B45-127F5564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579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Convolutional neural-network fundamentals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92988C-BCE6-4070-9625-C0A62A40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286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6B8E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246B8E"/>
                </a:solidFill>
                <a:latin typeface="Noto Sans"/>
                <a:ea typeface="Noto Sans"/>
                <a:cs typeface="Noto Sans"/>
              </a:rPr>
              <a:t>input influence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3571B2-F7E3-4C8A-A21D-C8439C53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762250"/>
            <a:ext cx="2286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6F3F0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input influence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99CEA0-CCAB-47ED-89E4-4EA33370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2286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6B8E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246B8E"/>
                </a:solidFill>
                <a:latin typeface="Noto Sans"/>
                <a:ea typeface="Noto Sans"/>
                <a:cs typeface="Noto Sans"/>
              </a:rPr>
              <a:t>input influence 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C936CA-96D3-40B6-BC96-53FE29E3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762250"/>
            <a:ext cx="2286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6F3F0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input influence 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97490A-9586-4ED1-9358-5C4E08BB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905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8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8E87D1-5947-40E5-A828-99F0E090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714750"/>
            <a:ext cx="9544050" cy="739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A unit's receptive field is the input region that can affect 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E70FE9-A79F-477F-8CD9-C683DB36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683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8C052D-8F3D-41EF-8794-D326C828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492625"/>
            <a:ext cx="9544050" cy="739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Stacked local layers expand the receptive field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B9826B-A95C-432F-8F6C-027C4B3C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461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8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0B6A28-F585-4258-84C2-8AE367BF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270500"/>
            <a:ext cx="9544050" cy="739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Stride increases the spacing between neighbouring receptive fields</a:t>
            </a:r>
          </a:p>
        </p:txBody>
      </p:sp>
    </p:spTree>
    <p:extLst>
      <p:ext uri="{BB962C8B-B14F-4D97-AF65-F5344CB8AC3E}">
        <p14:creationId xmlns:p14="http://schemas.microsoft.com/office/powerpoint/2010/main" val="113207856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73B5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EBB65D-4348-4EDD-81A4-4743AB07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57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Break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D5F3EA-DC98-435E-89DE-622BB2F2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A7D8CF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A7D8CF"/>
                </a:solidFill>
                <a:latin typeface="Noto Sans"/>
                <a:ea typeface="Noto Sans"/>
                <a:cs typeface="Noto Sans"/>
              </a:rPr>
              <a:t>20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BC1F62-8EA0-453E-A4FE-ABE98C45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After the break: PyTorch, controlled evidence, and debugging</a:t>
            </a:r>
          </a:p>
        </p:txBody>
      </p:sp>
    </p:spTree>
    <p:extLst>
      <p:ext uri="{BB962C8B-B14F-4D97-AF65-F5344CB8AC3E}">
        <p14:creationId xmlns:p14="http://schemas.microsoft.com/office/powerpoint/2010/main" val="134973038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B7EB69-2445-44A9-B000-D2759B60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The `Conv2d`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7C7B71-0980-42F8-B0E9-FC53A451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71B430-EC82-491C-9397-57DAB355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|  Lecture 10  |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63D11D-99FD-4E23-BBD2-6CDE040C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579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Convolutional neural-network fundamentals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DBC77A-7DFF-4413-BDAC-9FEF240F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666875"/>
            <a:ext cx="962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6B8E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246B8E"/>
                </a:solidFill>
                <a:latin typeface="Noto Sans"/>
                <a:ea typeface="Noto Sans"/>
                <a:cs typeface="Noto Sans"/>
              </a:rPr>
              <a:t>Input: [N, C_in, H, W]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F9BA9C-41C9-460C-B0E3-0FCAB3C8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619375"/>
            <a:ext cx="962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6F3F0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Weights: [C_out, C_in / groups, kH, kW]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6D663E-7AD5-4001-BB4D-8A71A2D7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571875"/>
            <a:ext cx="962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6B8E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246B8E"/>
                </a:solidFill>
                <a:latin typeface="Noto Sans"/>
                <a:ea typeface="Noto Sans"/>
                <a:cs typeface="Noto Sans"/>
              </a:rPr>
              <a:t>Bias: [C_out]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B14E3B-C5CF-46C7-9358-32990F23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524375"/>
            <a:ext cx="962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6F3F0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Output: [N, C_out, H_out, W_out]</a:t>
            </a:r>
          </a:p>
        </p:txBody>
      </p:sp>
    </p:spTree>
    <p:extLst>
      <p:ext uri="{BB962C8B-B14F-4D97-AF65-F5344CB8AC3E}">
        <p14:creationId xmlns:p14="http://schemas.microsoft.com/office/powerpoint/2010/main" val="164374806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63E48B-EACF-4D9C-B3B7-3C25F024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Manual and framework results agree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23AA13-E9A9-466B-BC0B-D4371094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090819-D869-4679-8020-A0BA65113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|  Lecture 10  |  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8BDA8B-A5EB-412C-8AB3-93514F7A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579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Convolutional neural-network fundamentals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B76C35-2724-4EC0-A151-C208D947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8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7374A9-4DC6-4EA5-A2D4-B84CED7C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57350"/>
            <a:ext cx="10210800" cy="132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The loop implementation and `F.conv2d` use the same input and kernel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CD9EE8-3BAE-462E-B3D0-4E81596B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3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39701E-71E4-4A42-886E-405EB428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22600"/>
            <a:ext cx="10210800" cy="132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Maximum absolute difference: 0.0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B5636D-71F0-4A0E-B09C-EBE01368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8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8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FA02C4-8650-4B26-A144-AC6E7C80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87850"/>
            <a:ext cx="10210800" cy="132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Shape and numerical equivalence provide a focused implementation check</a:t>
            </a:r>
          </a:p>
        </p:txBody>
      </p:sp>
    </p:spTree>
    <p:extLst>
      <p:ext uri="{BB962C8B-B14F-4D97-AF65-F5344CB8AC3E}">
        <p14:creationId xmlns:p14="http://schemas.microsoft.com/office/powerpoint/2010/main" val="87870772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BCBE83-941B-4250-B33A-6898D71B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Synthetic orientation task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4890BA-5F1B-4E93-9995-A517BA9B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B97C0A-F49E-499C-85AD-D8F94442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|  Lecture 10  |  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DC6D77-411D-41F5-97C2-3DF6E0C1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579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Convolutional neural-network fundamentals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829f63ce7e4077"/>
          <a:stretch xmlns:a="http://schemas.openxmlformats.org/drawingml/2006/main"/>
        </p:blipFill>
        <p:spPr>
          <a:xfrm xmlns:a="http://schemas.openxmlformats.org/drawingml/2006/main">
            <a:off x="666750" y="2047875"/>
            <a:ext cx="6858000" cy="3429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586187-E33F-4368-9968-642D7A51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00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8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2A82B9-B67A-4C2F-A298-E463065F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09750"/>
            <a:ext cx="3067050" cy="890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Class 0 contains a vertical bar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4CA708-5F78-4376-BCF5-BF6AA3E4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2893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DAE3E1-A7EF-483B-A768-F24C771C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38438"/>
            <a:ext cx="3067050" cy="890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Class 1 contains a horizontal bar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3709BE-AF17-4E32-A451-6AAF43E0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57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8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9919AD-7B7E-4E92-A112-25E23345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67125"/>
            <a:ext cx="3067050" cy="890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Noise and intensity vary independently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35B0B8-B061-4CF8-B0C2-B442D57D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863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230187-F1DA-486A-B079-7C26080C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95813"/>
            <a:ext cx="3067050" cy="890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Training positions and shifted test positions do not overlap</a:t>
            </a:r>
          </a:p>
        </p:txBody>
      </p:sp>
    </p:spTree>
    <p:extLst>
      <p:ext uri="{BB962C8B-B14F-4D97-AF65-F5344CB8AC3E}">
        <p14:creationId xmlns:p14="http://schemas.microsoft.com/office/powerpoint/2010/main" val="80161586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06E9C4-63C6-4FE5-9F0C-5DB9309B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Controlled evaluation protocol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A4B913-9AF9-4CED-A736-68293383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A5E5DB-D576-4A1E-A7BA-02E09D9E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|  Lecture 10  |  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99B348-6AA7-455D-957C-0A288A45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579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Convolutional neural-network fundamentals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A1899A-2545-46EE-9D82-087884C0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6B8E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246B8E"/>
                </a:solidFill>
                <a:latin typeface="Noto Sans"/>
                <a:ea typeface="Noto Sans"/>
                <a:cs typeface="Noto Sans"/>
              </a:rPr>
              <a:t>train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75639F-7D2B-4F76-B02A-923DBDBC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2667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6B8E"/>
                </a:solidFill>
                <a:latin typeface="Noto Sans"/>
                <a:ea typeface="Noto Sans"/>
                <a:cs typeface="Noto Sans"/>
              </a:defRPr>
            </a:pPr>
            <a:r>
              <a:rPr sz="2025" b="1">
                <a:solidFill>
                  <a:srgbClr val="246B8E"/>
                </a:solidFill>
                <a:latin typeface="Noto Sans"/>
                <a:ea typeface="Noto Sans"/>
                <a:cs typeface="Noto Sans"/>
              </a:rPr>
              <a:t>800</a:t>
            </a:r>
          </a:p>
          <a:p xmlns:a="http://schemas.openxmlformats.org/drawingml/2006/main">
            <a:pPr algn="ctr">
              <a:defRPr sz="2025" b="1">
                <a:solidFill>
                  <a:srgbClr val="246B8E"/>
                </a:solidFill>
                <a:latin typeface="Noto Sans"/>
                <a:ea typeface="Noto Sans"/>
                <a:cs typeface="Noto Sans"/>
              </a:defRPr>
            </a:pPr>
            <a:r>
              <a:rPr sz="2025" b="1">
                <a:solidFill>
                  <a:srgbClr val="246B8E"/>
                </a:solidFill>
                <a:latin typeface="Noto Sans"/>
                <a:ea typeface="Noto Sans"/>
                <a:cs typeface="Noto Sans"/>
              </a:rPr>
              <a:t>central positions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4E3779-926B-4FAB-BB1E-60F8A399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09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validation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3F1B26-0389-421F-B467-20C8BB13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81250"/>
            <a:ext cx="2667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6F3F0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2025" b="1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200</a:t>
            </a:r>
          </a:p>
          <a:p xmlns:a="http://schemas.openxmlformats.org/drawingml/2006/main">
            <a:pPr algn="ctr">
              <a:defRPr sz="2025" b="1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2025" b="1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central positions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3F5783-0076-4DC2-A025-BEBDD9C6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7521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B87521"/>
                </a:solidFill>
                <a:latin typeface="Noto Sans"/>
                <a:ea typeface="Noto Sans"/>
                <a:cs typeface="Noto Sans"/>
              </a:rPr>
              <a:t>shifted 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96FDAB-FFC3-4F9C-9831-11E33A1D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2667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6EEE2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B87521"/>
                </a:solidFill>
                <a:latin typeface="Noto Sans"/>
                <a:ea typeface="Noto Sans"/>
                <a:cs typeface="Noto Sans"/>
              </a:defRPr>
            </a:pPr>
            <a:r>
              <a:rPr sz="2025" b="1">
                <a:solidFill>
                  <a:srgbClr val="B87521"/>
                </a:solidFill>
                <a:latin typeface="Noto Sans"/>
                <a:ea typeface="Noto Sans"/>
                <a:cs typeface="Noto Sans"/>
              </a:rPr>
              <a:t>200</a:t>
            </a:r>
          </a:p>
          <a:p xmlns:a="http://schemas.openxmlformats.org/drawingml/2006/main">
            <a:pPr algn="ctr">
              <a:defRPr sz="2025" b="1">
                <a:solidFill>
                  <a:srgbClr val="B87521"/>
                </a:solidFill>
                <a:latin typeface="Noto Sans"/>
                <a:ea typeface="Noto Sans"/>
                <a:cs typeface="Noto Sans"/>
              </a:defRPr>
            </a:pPr>
            <a:r>
              <a:rPr sz="2025" b="1">
                <a:solidFill>
                  <a:srgbClr val="B87521"/>
                </a:solidFill>
                <a:latin typeface="Noto Sans"/>
                <a:ea typeface="Noto Sans"/>
                <a:cs typeface="Noto Sans"/>
              </a:rPr>
              <a:t>boundary positions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B495B3-8E08-45FF-A9E1-B22091D7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6250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The test set answers the deployment-shift question</a:t>
            </a:r>
          </a:p>
        </p:txBody>
      </p:sp>
    </p:spTree>
    <p:extLst>
      <p:ext uri="{BB962C8B-B14F-4D97-AF65-F5344CB8AC3E}">
        <p14:creationId xmlns:p14="http://schemas.microsoft.com/office/powerpoint/2010/main" val="108923487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6ABAE5-8015-4466-B0C4-BFB68916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775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Two models with similar parameter budgets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C4E675-4BE1-4817-834E-2EE621E6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8CBCC8-0EBF-4EB2-A056-D3B0CC26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|  Lecture 10  |  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257A89-DEF3-4068-9B47-C5E9816A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579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Convolutional neural-network fundamentals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A3DD52-5CB9-4614-BF70-E2FD566A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4476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6EEE2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B87521"/>
                </a:solidFill>
                <a:latin typeface="Noto Sans"/>
                <a:ea typeface="Noto Sans"/>
                <a:cs typeface="Noto Sans"/>
              </a:defRPr>
            </a:pPr>
            <a:r>
              <a:rPr sz="2025" b="1">
                <a:solidFill>
                  <a:srgbClr val="B87521"/>
                </a:solidFill>
                <a:latin typeface="Noto Sans"/>
                <a:ea typeface="Noto Sans"/>
                <a:cs typeface="Noto Sans"/>
              </a:rPr>
              <a:t>MLP</a:t>
            </a:r>
          </a:p>
          <a:p xmlns:a="http://schemas.openxmlformats.org/drawingml/2006/main">
            <a:pPr algn="ctr">
              <a:defRPr sz="2025" b="1">
                <a:solidFill>
                  <a:srgbClr val="B87521"/>
                </a:solidFill>
                <a:latin typeface="Noto Sans"/>
                <a:ea typeface="Noto Sans"/>
                <a:cs typeface="Noto Sans"/>
              </a:defRPr>
            </a:pPr>
            <a:r>
              <a:rPr sz="2025" b="1">
                <a:solidFill>
                  <a:srgbClr val="B87521"/>
                </a:solidFill>
                <a:latin typeface="Noto Sans"/>
                <a:ea typeface="Noto Sans"/>
                <a:cs typeface="Noto Sans"/>
              </a:rPr>
              <a:t>flatten → 4 hidden → 2 logits</a:t>
            </a:r>
          </a:p>
          <a:p xmlns:a="http://schemas.openxmlformats.org/drawingml/2006/main">
            <a:pPr algn="ctr">
              <a:defRPr sz="2025" b="1">
                <a:solidFill>
                  <a:srgbClr val="B87521"/>
                </a:solidFill>
                <a:latin typeface="Noto Sans"/>
                <a:ea typeface="Noto Sans"/>
                <a:cs typeface="Noto Sans"/>
              </a:defRPr>
            </a:pPr>
            <a:r>
              <a:rPr sz="2025" b="1">
                <a:solidFill>
                  <a:srgbClr val="B87521"/>
                </a:solidFill>
                <a:latin typeface="Noto Sans"/>
                <a:ea typeface="Noto Sans"/>
                <a:cs typeface="Noto Sans"/>
              </a:rPr>
              <a:t>1,038 parameters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0DB793-B715-4DDF-A19A-579F6A5A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52625"/>
            <a:ext cx="4476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6F3F0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2025" b="1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CNN</a:t>
            </a:r>
          </a:p>
          <a:p xmlns:a="http://schemas.openxmlformats.org/drawingml/2006/main">
            <a:pPr algn="ctr">
              <a:defRPr sz="2025" b="1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2025" b="1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local kernels → global pooling → 2 logits</a:t>
            </a:r>
          </a:p>
          <a:p xmlns:a="http://schemas.openxmlformats.org/drawingml/2006/main">
            <a:pPr algn="ctr">
              <a:defRPr sz="2025" b="1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2025" b="1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982 parameters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3D66D3-2D48-4128-9E35-28F22231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0537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025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Both use the same split, loss, epoch budget, and checkpoint rule</a:t>
            </a:r>
          </a:p>
        </p:txBody>
      </p:sp>
    </p:spTree>
    <p:extLst>
      <p:ext uri="{BB962C8B-B14F-4D97-AF65-F5344CB8AC3E}">
        <p14:creationId xmlns:p14="http://schemas.microsoft.com/office/powerpoint/2010/main" val="79008371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397DF2-F6F4-4D51-BD72-09A35925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775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Student calculation: CNN shape trace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99453A-B0F9-4F74-9BA6-C58CD2DF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02A990-D512-44C5-A2EC-8D4787F5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|  Lecture 10  |  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F3E0E9-4611-47C0-B1D4-442E66A2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579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Convolutional neural-network fundamentals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952500" y="1762125"/>
          <a:ext xmlns:a="http://schemas.openxmlformats.org/drawingml/2006/main" cx="102870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"/>
                <a:gridCol w="7905750"/>
                <a:gridCol w="1619250"/>
              </a:tblGrid>
              <a:tr h="714375"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Input: [2, 1, 16, 16]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B87521"/>
                          </a:solidFill>
                          <a:latin typeface="Noto Sans"/>
                          <a:ea typeface="Noto Sans"/>
                          <a:cs typeface="Noto Sans"/>
                        </a:rPr>
                        <a:t>?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Conv2d(1, 8, 3, padding=1)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B87521"/>
                          </a:solidFill>
                          <a:latin typeface="Noto Sans"/>
                          <a:ea typeface="Noto Sans"/>
                          <a:cs typeface="Noto Sans"/>
                        </a:rPr>
                        <a:t>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MaxPool2d(2)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B87521"/>
                          </a:solidFill>
                          <a:latin typeface="Noto Sans"/>
                          <a:ea typeface="Noto Sans"/>
                          <a:cs typeface="Noto Sans"/>
                        </a:rPr>
                        <a:t>?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Conv2d(8, 12, 3, padding=1)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B87521"/>
                          </a:solidFill>
                          <a:latin typeface="Noto Sans"/>
                          <a:ea typeface="Noto Sans"/>
                          <a:cs typeface="Noto Sans"/>
                        </a:rPr>
                        <a:t>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AdaptiveAvgPool2d((1,1)), flatten, Linear(12,2)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B87521"/>
                          </a:solidFill>
                          <a:latin typeface="Noto Sans"/>
                          <a:ea typeface="Noto Sans"/>
                          <a:cs typeface="Noto Sans"/>
                        </a:rPr>
                        <a:t>?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322488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29E00A-ACA1-4B5B-96AA-A6CD44F4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CNN shape trace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358A74-017B-413B-9B0D-F4F180A7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E58D45-C950-4769-88A4-7C9844EC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|  Lecture 10  |  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F25F80-F4EA-4ACC-81E6-09CA38EB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579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Convolutional neural-network fundamentals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7777C2-4537-433F-838A-91D4DD1F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333625"/>
            <a:ext cx="1619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6B8E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246B8E"/>
                </a:solidFill>
                <a:latin typeface="Noto Sans"/>
                <a:ea typeface="Noto Sans"/>
                <a:cs typeface="Noto Sans"/>
              </a:rPr>
              <a:t>[2,1,16,16]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77BA8C-58AF-4ABC-B0B5-F02B6F1D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543175"/>
            <a:ext cx="323850" cy="4381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160EE8-E5BC-4FE9-96B1-F9201470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333625"/>
            <a:ext cx="1619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F3F0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[2,8,16,16]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0DF954-7C29-48C7-9B3D-8C31CA31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543175"/>
            <a:ext cx="323850" cy="4381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DC8A0E-B53B-46FD-B6AB-260E72BF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33625"/>
            <a:ext cx="1619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6B8E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246B8E"/>
                </a:solidFill>
                <a:latin typeface="Noto Sans"/>
                <a:ea typeface="Noto Sans"/>
                <a:cs typeface="Noto Sans"/>
              </a:rPr>
              <a:t>[2,8,8,8]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BA0839-56CD-4A10-A022-0EEBFE0F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543175"/>
            <a:ext cx="323850" cy="4381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1F9D24-9ACF-4F2F-B96D-7D7FBAFC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1619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F3F0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[2,12,8,8]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00FAFE-4D4E-4022-BE8B-EC319076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43175"/>
            <a:ext cx="323850" cy="4381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DC52C3-1EFA-492A-A9EB-7EC73DF6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333625"/>
            <a:ext cx="1619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6B8E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246B8E"/>
                </a:solidFill>
                <a:latin typeface="Noto Sans"/>
                <a:ea typeface="Noto Sans"/>
                <a:cs typeface="Noto Sans"/>
              </a:rPr>
              <a:t>[2,12,1,1]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3241A3-4D4C-41F8-88FA-4FDD1CD0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543175"/>
            <a:ext cx="323850" cy="4381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334C53-8544-45ED-B133-D6F67B05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33625"/>
            <a:ext cx="1619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F3F0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[2,2]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45A538-98EF-4234-B664-517EA120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input     conv     pool     conv     global pool     logits</a:t>
            </a:r>
          </a:p>
        </p:txBody>
      </p:sp>
    </p:spTree>
    <p:extLst>
      <p:ext uri="{BB962C8B-B14F-4D97-AF65-F5344CB8AC3E}">
        <p14:creationId xmlns:p14="http://schemas.microsoft.com/office/powerpoint/2010/main" val="155969306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FD682E-39FA-4B31-A7A8-76B92355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775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Validation accuracy alone misses the shift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67364A-C7C6-4091-8B2D-EBC7730A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3319CD-C4D5-47B9-B481-E54929AE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|  Lecture 10  |  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2D918E-1695-4C0B-ACB9-1E78CB62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579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Convolutional neural-network fundamentals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07E738-269E-44BA-A18C-A86F55DD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00250"/>
            <a:ext cx="3333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EEE2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87521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B87521"/>
                </a:solidFill>
                <a:latin typeface="Noto Sans"/>
                <a:ea typeface="Noto Sans"/>
                <a:cs typeface="Noto Sans"/>
              </a:rPr>
              <a:t>MLP</a:t>
            </a:r>
          </a:p>
          <a:p xmlns:a="http://schemas.openxmlformats.org/drawingml/2006/main">
            <a:pPr algn="ctr">
              <a:defRPr sz="3150" b="1">
                <a:solidFill>
                  <a:srgbClr val="B87521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B87521"/>
                </a:solidFill>
                <a:latin typeface="Noto Sans"/>
                <a:ea typeface="Noto Sans"/>
                <a:cs typeface="Noto Sans"/>
              </a:rPr>
              <a:t>100%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239A63-926B-4B43-99EA-C1F1F5BF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00250"/>
            <a:ext cx="3333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6F3F0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CNN</a:t>
            </a:r>
          </a:p>
          <a:p xmlns:a="http://schemas.openxmlformats.org/drawingml/2006/main">
            <a:pPr algn="ctr">
              <a:defRPr sz="3150" b="1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100%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6253C3-64FB-441C-8A9C-2A528E8A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05375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Predict performance at unseen boundary positions</a:t>
            </a:r>
          </a:p>
        </p:txBody>
      </p:sp>
    </p:spTree>
    <p:extLst>
      <p:ext uri="{BB962C8B-B14F-4D97-AF65-F5344CB8AC3E}">
        <p14:creationId xmlns:p14="http://schemas.microsoft.com/office/powerpoint/2010/main" val="164863016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57E039-2C71-4015-8E50-8C6CE4E3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775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The shifted test separates the models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D8C8C3-81B1-4ED6-93FB-43F77D21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DF3DE3-8A7B-4201-9F4D-E7C38943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|  Lecture 10  |  33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59ACC2-6D7B-424A-A0C7-526AB8FD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579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Convolutional neural-network fundamentals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809625" y="1666875"/>
          <a:ext xmlns:a="http://schemas.openxmlformats.org/drawingml/2006/main" cx="6858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219935b4a344ac3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0B56AC-7349-47AF-8FED-1E223F8A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43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8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D61B9B-D918-4069-AAE4-986265DA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52625"/>
            <a:ext cx="30670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The MLP fitted central locations but did not transfer to unseen boundary positions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48C868-BFD1-4CA7-8195-2A8755D4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71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3889D4-35AB-4802-9B13-7A89E80B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81375"/>
            <a:ext cx="30670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The CNN reused local orientation detectors across the image</a:t>
            </a:r>
          </a:p>
        </p:txBody>
      </p:sp>
    </p:spTree>
    <p:extLst>
      <p:ext uri="{BB962C8B-B14F-4D97-AF65-F5344CB8AC3E}">
        <p14:creationId xmlns:p14="http://schemas.microsoft.com/office/powerpoint/2010/main" val="121134615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0AC635-68D6-4CFD-B8E1-76F20BFF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775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Learning curves support the diagnosis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4716B2-8EBB-41D8-8A80-EF31C552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B00A66-9754-4686-9D2B-0A96A66E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|  Lecture 10  |  34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43760D-DCD0-4B0B-8A79-ED9223E1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579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Convolutional neural-network fundamentals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714375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c345ff4f47f4f54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188265-A03D-4EC6-AE16-B0005E305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6388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52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557797-B5D2-4077-A52F-2FCDA846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50545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MLP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4D6240-AD86-47D8-91D5-937F269D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6388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8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071438-2B20-4B65-8252-8B40C947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50545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CNN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AC964B-D863-403A-8BAB-B5EB250E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8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3F78DD-FFA3-43EC-BCB4-22D20A35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57375"/>
            <a:ext cx="2876550" cy="107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Both validation curves converge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F1656E-D9A8-4A21-A4D1-2C4B0B78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59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7C9CA9-FAF7-4D87-B546-B9E67EE9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68625"/>
            <a:ext cx="2876550" cy="107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The validation distribution contains only central bar positions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27BF18-90FC-4023-ACB4-C45433DE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70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8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02A15F-5B2C-4195-BDA9-54F18E2B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79875"/>
            <a:ext cx="2876550" cy="107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A learning curve cannot reveal an unmeasured deployment shift</a:t>
            </a:r>
          </a:p>
        </p:txBody>
      </p:sp>
    </p:spTree>
    <p:extLst>
      <p:ext uri="{BB962C8B-B14F-4D97-AF65-F5344CB8AC3E}">
        <p14:creationId xmlns:p14="http://schemas.microsoft.com/office/powerpoint/2010/main" val="1062075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89C4AF-82F6-45D0-939F-406EE012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775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Feature maps retain spatial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7D0672-57C6-48E1-9F91-E5DE2434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124FC0-E1DA-4306-B0E7-0AA9C893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|  Lecture 10  |  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8C19E0-2922-4CBB-BD17-A44BF7FF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579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Convolutional neural-network fundamentals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3903543e234396"/>
          <a:stretch xmlns:a="http://schemas.openxmlformats.org/drawingml/2006/main"/>
        </p:blipFill>
        <p:spPr>
          <a:xfrm xmlns:a="http://schemas.openxmlformats.org/drawingml/2006/main">
            <a:off x="666750" y="2047875"/>
            <a:ext cx="6858000" cy="3429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419F32-BEC2-4698-9423-07D67BF9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00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8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D81556-9CDC-4A87-B228-B92C5288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09750"/>
            <a:ext cx="30670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Different channels respond to different learned patterns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05EDFD-15B4-496C-8FAD-E6DCCE62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38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32E8CB-1461-4518-8157-0B88A6F8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48000"/>
            <a:ext cx="30670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The activation remains indexed by spatial location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D824B8-BEAA-4C58-9A76-B676F3FF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76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8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F5B278-545D-4A87-8F6F-2F7C4F39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86250"/>
            <a:ext cx="30670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A feature map is evidence for interpretation, not a complete explanation</a:t>
            </a:r>
          </a:p>
        </p:txBody>
      </p:sp>
    </p:spTree>
    <p:extLst>
      <p:ext uri="{BB962C8B-B14F-4D97-AF65-F5344CB8AC3E}">
        <p14:creationId xmlns:p14="http://schemas.microsoft.com/office/powerpoint/2010/main" val="147541817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344B9D-2214-4AE0-A7C1-1051DFFB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One-dimensional convolution uses the same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D46DF6-F003-4378-822B-9CB49255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D16877-B7DF-47AC-8D83-533638A8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|  Lecture 10  |  36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F620DD-05B6-48CB-8B51-C4A216BE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579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Convolutional neural-network fundamentals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CEF311-21C8-403B-8D53-F61DA523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8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98EB3E-38D7-4CA0-BF6F-BEB4A034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57350"/>
            <a:ext cx="10210800" cy="985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The kernel slides over time rather than height and width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1C6434-9E1F-45D4-B95E-A46F164A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178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F6F06D-2386-4195-A0DD-86EB1384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81288"/>
            <a:ext cx="10210800" cy="985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Input channels can represent sensors, electrodes, or frequency bands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401CF6-9A13-457D-B3E4-76573ABD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95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8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2D2620-E988-430D-A09F-0F3C45CE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05225"/>
            <a:ext cx="10210800" cy="985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Local temporal patterns can be reused across a recording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ED79D0-3AD8-44EE-8A38-D38CAB0E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96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8793D5-E14A-414C-B9A7-72E8CC06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9163"/>
            <a:ext cx="10210800" cy="985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Valid evaluation may require subject-wise or session-wise splits</a:t>
            </a:r>
          </a:p>
        </p:txBody>
      </p:sp>
    </p:spTree>
    <p:extLst>
      <p:ext uri="{BB962C8B-B14F-4D97-AF65-F5344CB8AC3E}">
        <p14:creationId xmlns:p14="http://schemas.microsoft.com/office/powerpoint/2010/main" val="94136598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D6EBC6-8966-4DE9-A8B0-459F34D0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Common implementation errors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BAD370-0DC0-4705-BD6F-D7BC99A6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EC8965-7FDD-4895-BEA0-61FB19FB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|  Lecture 10  |  37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C45DFE-2E00-4742-AADF-7A90F1A4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579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Convolutional neural-network fundamentals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CA221C-E2FA-41A1-B508-47E5B02F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8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74D2B4-10C4-49C8-BDAF-6B500666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57350"/>
            <a:ext cx="10210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Wrong axis order: NHWC supplied where NCHW is expected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307B20-0D2D-4EF6-A2B2-9375FFD6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B2C950-1623-4EA3-86A4-9EF14BB8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10210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Incorrect flatten size after convolution or pooling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109E30-778E-4B35-8B23-CEC86B8E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8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2F2749-45FB-47CC-A03B-28E32A36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95650"/>
            <a:ext cx="10210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Softmax applied before `CrossEntropyLoss`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92D25A-D6DA-4529-86B2-1D4EE95C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43DCCA-702F-473D-9AF6-40B7BAFA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14800"/>
            <a:ext cx="10210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Validation or test data used to tune the architecture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AC7F57-F57D-4DE0-A612-CEAFABC8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24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8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1FE07C-6D1A-4BAC-933D-D9EB20C6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33950"/>
            <a:ext cx="10210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A claimed invariant property without a shifted evaluation set</a:t>
            </a:r>
          </a:p>
        </p:txBody>
      </p:sp>
    </p:spTree>
    <p:extLst>
      <p:ext uri="{BB962C8B-B14F-4D97-AF65-F5344CB8AC3E}">
        <p14:creationId xmlns:p14="http://schemas.microsoft.com/office/powerpoint/2010/main" val="90083576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7EDB47-AAAD-4AD6-B646-7DEBDC02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Concept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73F902-542A-4BDB-85C3-80ECA3A62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360A52-BD65-4007-82BC-8793F463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|  Lecture 10  |  38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DA3300-7210-40F1-915D-48205E5E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579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Convolutional neural-network fundamentals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D39FAD-C0BD-484A-9C76-7D74F257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38300"/>
            <a:ext cx="2000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6EEE2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7521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B87521"/>
                </a:solidFill>
                <a:latin typeface="Noto Sans"/>
                <a:ea typeface="Noto Sans"/>
                <a:cs typeface="Noto Sans"/>
              </a:rPr>
              <a:t>CALCULATE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467534-CDCD-4153-956B-8CAF48CA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14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8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6683D8-803E-4E73-994E-0B06B20C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524125"/>
            <a:ext cx="9829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Why does parameter sharing reduce parameters?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71F04E-61C5-42F7-B622-BA6EEEF0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BC78A2-C96D-4699-B81D-4BB935DD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124200"/>
            <a:ext cx="9829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What is the output of Conv2d(3,16,3,padding=1) for [8,3,32,32]?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3B5EEF-A1FB-4C7F-9E85-F986F1C2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14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8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297B8B-318B-43AB-8F10-F0E2571E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724275"/>
            <a:ext cx="9829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How many parameters does that layer contain?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34CC9A-5E9D-4D94-ADB4-0B0490D6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14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374050-288E-4D6F-AD38-D7F183BE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324350"/>
            <a:ext cx="9829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How do equivariance and invariance differ?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74E71A-D79A-4DE4-85A6-79EEB63D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14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8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D33EAB-FE24-4601-A29D-7C262344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924425"/>
            <a:ext cx="9829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What split would test translation transfer?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1CDF70-7DF7-438C-A7C3-4312C5BD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572125"/>
            <a:ext cx="923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Show shapes and substitutions, not only final numbers</a:t>
            </a:r>
          </a:p>
        </p:txBody>
      </p:sp>
    </p:spTree>
    <p:extLst>
      <p:ext uri="{BB962C8B-B14F-4D97-AF65-F5344CB8AC3E}">
        <p14:creationId xmlns:p14="http://schemas.microsoft.com/office/powerpoint/2010/main" val="78648685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F3135D-4EC2-447F-AC61-B56B3214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Lecture synthesis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0055DE-A021-4F88-B5FE-7DFBBED6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7A6CAF-4B8F-46CA-8143-E59B587F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|  Lecture 10  |  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891593-040C-4541-8F25-46FBD846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579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Convolutional neural-network fundamentals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FE2EFD-7E21-4DB6-8A29-ECCD64A3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8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C17821-D75E-4EFC-9F79-FC2F74E9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57350"/>
            <a:ext cx="10210800" cy="985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Convolution encodes locality and parameter sharing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16E333-4F45-4E58-A63E-9E618EE6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178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90DE5F-4156-4EEA-B86A-561FC5E9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81288"/>
            <a:ext cx="10210800" cy="985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Padding, stride, channels, and pooling determine tensor shapes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C87B1E-A647-4E38-8BC9-DC66E915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95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8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A2B3DD-9C7F-4F85-95D4-FA974BF8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05225"/>
            <a:ext cx="10210800" cy="985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Parameter counts depend on channel counts and kernel size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BE7ADD-FF47-4740-BDB0-0E60EFF9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96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9BD942-5347-4C66-A6A6-E97C6004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9163"/>
            <a:ext cx="10210800" cy="985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Controlled shifts test whether the intended inductive bias helps</a:t>
            </a:r>
          </a:p>
        </p:txBody>
      </p:sp>
    </p:spTree>
    <p:extLst>
      <p:ext uri="{BB962C8B-B14F-4D97-AF65-F5344CB8AC3E}">
        <p14:creationId xmlns:p14="http://schemas.microsoft.com/office/powerpoint/2010/main" val="158214644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598A42-0542-4908-8B00-8272A8BA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Project 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504FA9-432B-4DF3-B938-AA4A6FCB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5590A7-62F6-425F-A5E3-62088167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|  Lecture 10  |  40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09F5F8-8A88-475A-935C-E861B705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579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Convolutional neural-network fundamentals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EDB8CA-7CA9-48CE-B855-2B2F54A8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8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06ADD3-A507-419E-9518-7E316CFD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57350"/>
            <a:ext cx="10210800" cy="985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State the structure your model assumes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CBCBFC-95A9-4722-A841-E4C221CD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178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6F56E1-36F2-41D9-B6F3-7A421852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81288"/>
            <a:ext cx="10210800" cy="985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Show every tensor shape through the first forward pass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246C9C-D18F-4EF0-BAF7-A6AF212C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95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8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0BC7A6-1396-4817-B57E-B2E95959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05225"/>
            <a:ext cx="10210800" cy="985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Compare against a simpler baseline under the same split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7B46C5-5F88-4D81-A340-2EFC2B82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96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D57441-F9CE-487D-B8AF-533D2859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9163"/>
            <a:ext cx="10210800" cy="985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175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Report parameters and one failure mode</a:t>
            </a:r>
          </a:p>
        </p:txBody>
      </p:sp>
    </p:spTree>
    <p:extLst>
      <p:ext uri="{BB962C8B-B14F-4D97-AF65-F5344CB8AC3E}">
        <p14:creationId xmlns:p14="http://schemas.microsoft.com/office/powerpoint/2010/main" val="706005173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0EAA32-4169-4DC8-B0AB-EE46E851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775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Reserve: grouped and depthwise convolution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DD5922-C626-4BB7-BABE-75BFC070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F37219-0422-433B-8AB2-2EA700B0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|  Lecture 10  |  41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B779FD-07B1-457C-82CA-FFB12E65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579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Convolutional neural-network fundamentals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0BC389-39F8-4D59-976F-7F06B8EE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17145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6EEE2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87521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B87521"/>
                </a:solidFill>
                <a:latin typeface="Noto Sans"/>
                <a:ea typeface="Noto Sans"/>
                <a:cs typeface="Noto Sans"/>
              </a:rPr>
              <a:t>OPTIONAL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F0CE7F-0408-4860-9A81-8812628D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8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EF25AC-2DC7-4ED3-A478-453A8691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571750"/>
            <a:ext cx="97345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Groups restrict which input channels connect to which outputs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2B8B3A-DE29-4942-BFEB-39D466B4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76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62F9D0-983D-4FF5-9EAE-80669722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286125"/>
            <a:ext cx="97345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Depthwise convolution uses one spatial kernel per input channel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431B0A-5AE6-442E-8B06-B8875785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91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8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D6A2CA-745F-4831-9056-F287FE7A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000500"/>
            <a:ext cx="97345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A pointwise 1 × 1 convolution can then mix channels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4F3776-59FA-4F32-925F-BB37C4A1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05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90DC46-27FA-460A-B0D8-D9F99D0E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714875"/>
            <a:ext cx="97345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Efficiency gains depend on hardware and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782260917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03586D-C3F4-4DD2-AB96-F40DA1C2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Reserve: general receptive-field recurrence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711342-0F52-48C1-9FB3-0886B397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EC8CCC-DBAE-4125-A261-ED519857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|  Lecture 10  |  42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042878-C7E4-434A-B669-E63B15F8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579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Convolutional neural-network fundamentals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427EEB-92C3-487A-B94F-A3CF902B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17145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6EEE2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87521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B87521"/>
                </a:solidFill>
                <a:latin typeface="Noto Sans"/>
                <a:ea typeface="Noto Sans"/>
                <a:cs typeface="Noto Sans"/>
              </a:rPr>
              <a:t>OPTIONAL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2670CC-A6C5-4FA9-BBAE-5BE6BF1F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8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8647E4-27A4-4026-AE26-EC747B1F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571750"/>
            <a:ext cx="9734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jump_l = jump_(l-1) × stride_l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66B1AE-0369-4F8C-9603-4F148334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14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6743B6-FB29-469D-AAB5-A62700CA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524250"/>
            <a:ext cx="9734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receptive_l = receptive_(l-1) + (kernel_l - 1) × dilation_l × jump_(l-1)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D8B01A-9FBB-40F7-AAB0-BCD30C8C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67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8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C984BD-16B8-4967-9C97-200F0E11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476750"/>
            <a:ext cx="9734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Start with jump 1 and receptive field 1 at the input</a:t>
            </a:r>
          </a:p>
        </p:txBody>
      </p:sp>
    </p:spTree>
    <p:extLst>
      <p:ext uri="{BB962C8B-B14F-4D97-AF65-F5344CB8AC3E}">
        <p14:creationId xmlns:p14="http://schemas.microsoft.com/office/powerpoint/2010/main" val="16320516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2026-10-19T10:50:48.7910000Z</dcterms:created>
  <dcterms:modified xsi:type="dcterms:W3CDTF">2026-10-19T10:50:48.7910000Z</dcterms:modified>
</coreProperties>
</file>