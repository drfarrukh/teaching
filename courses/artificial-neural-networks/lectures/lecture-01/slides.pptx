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1822a61add2046fd" Type="http://schemas.openxmlformats.org/officeDocument/2006/relationships/extended-properties" Target="docProps/app.xml"/><Relationship Id="R6e6b1dd35d884df0" Type="http://schemas.openxmlformats.org/package/2006/relationships/metadata/core-properties" Target="docProps/core.xml"/><Relationship Id="R81389c843fcb4a1e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91af5e5bf94e5d"/>
  </p:sldMasterIdLst>
  <p:notesMasterIdLst>
    <p:notesMasterId xmlns:r="http://schemas.openxmlformats.org/officeDocument/2006/relationships" r:id="R442ae04f97c64d38"/>
  </p:notesMasterIdLst>
  <p:sldIdLst>
    <p:sldId xmlns:r="http://schemas.openxmlformats.org/officeDocument/2006/relationships" id="256" r:id="Rf99be50faff74fab"/>
    <p:sldId xmlns:r="http://schemas.openxmlformats.org/officeDocument/2006/relationships" id="257" r:id="Re70fb04dfa8a4f32"/>
    <p:sldId xmlns:r="http://schemas.openxmlformats.org/officeDocument/2006/relationships" id="258" r:id="R3dfdb381445d488f"/>
    <p:sldId xmlns:r="http://schemas.openxmlformats.org/officeDocument/2006/relationships" id="259" r:id="R68cae11f147d4fd1"/>
    <p:sldId xmlns:r="http://schemas.openxmlformats.org/officeDocument/2006/relationships" id="260" r:id="Rc64613d55ce24fcd"/>
    <p:sldId xmlns:r="http://schemas.openxmlformats.org/officeDocument/2006/relationships" id="261" r:id="R1fa1f6e850484df1"/>
    <p:sldId xmlns:r="http://schemas.openxmlformats.org/officeDocument/2006/relationships" id="262" r:id="R61c07ee003dd450f"/>
    <p:sldId xmlns:r="http://schemas.openxmlformats.org/officeDocument/2006/relationships" id="263" r:id="R38ea2c06a45d4700"/>
    <p:sldId xmlns:r="http://schemas.openxmlformats.org/officeDocument/2006/relationships" id="264" r:id="Ra994b6003c764e82"/>
    <p:sldId xmlns:r="http://schemas.openxmlformats.org/officeDocument/2006/relationships" id="265" r:id="R863240a848514843"/>
    <p:sldId xmlns:r="http://schemas.openxmlformats.org/officeDocument/2006/relationships" id="266" r:id="Rdde22be76dac4c8a"/>
    <p:sldId xmlns:r="http://schemas.openxmlformats.org/officeDocument/2006/relationships" id="267" r:id="R28b999081d324e39"/>
    <p:sldId xmlns:r="http://schemas.openxmlformats.org/officeDocument/2006/relationships" id="268" r:id="Rea9447a779224100"/>
    <p:sldId xmlns:r="http://schemas.openxmlformats.org/officeDocument/2006/relationships" id="269" r:id="Rabdabd5c12584c8e"/>
    <p:sldId xmlns:r="http://schemas.openxmlformats.org/officeDocument/2006/relationships" id="270" r:id="R2a061dc713874885"/>
    <p:sldId xmlns:r="http://schemas.openxmlformats.org/officeDocument/2006/relationships" id="271" r:id="Rc0c9bbf495c644bc"/>
    <p:sldId xmlns:r="http://schemas.openxmlformats.org/officeDocument/2006/relationships" id="272" r:id="R6ed532d60fcd44c2"/>
    <p:sldId xmlns:r="http://schemas.openxmlformats.org/officeDocument/2006/relationships" id="273" r:id="Ra4358c00d4474c5d"/>
    <p:sldId xmlns:r="http://schemas.openxmlformats.org/officeDocument/2006/relationships" id="274" r:id="Rbe170a071554433a"/>
    <p:sldId xmlns:r="http://schemas.openxmlformats.org/officeDocument/2006/relationships" id="275" r:id="R795c9b8d24cf4292"/>
    <p:sldId xmlns:r="http://schemas.openxmlformats.org/officeDocument/2006/relationships" id="276" r:id="R776b13f77a244d99"/>
    <p:sldId xmlns:r="http://schemas.openxmlformats.org/officeDocument/2006/relationships" id="277" r:id="Rf394863eefe1440a"/>
    <p:sldId xmlns:r="http://schemas.openxmlformats.org/officeDocument/2006/relationships" id="278" r:id="R330e579ee75744a6"/>
    <p:sldId xmlns:r="http://schemas.openxmlformats.org/officeDocument/2006/relationships" id="279" r:id="R0359c89077ff4425"/>
    <p:sldId xmlns:r="http://schemas.openxmlformats.org/officeDocument/2006/relationships" id="280" r:id="R996e5f7ad6d049bb"/>
    <p:sldId xmlns:r="http://schemas.openxmlformats.org/officeDocument/2006/relationships" id="281" r:id="R30932ea541d4492e"/>
    <p:sldId xmlns:r="http://schemas.openxmlformats.org/officeDocument/2006/relationships" id="282" r:id="R91332074ea8042e1"/>
    <p:sldId xmlns:r="http://schemas.openxmlformats.org/officeDocument/2006/relationships" id="283" r:id="Ra58d62843dfa46b4"/>
    <p:sldId xmlns:r="http://schemas.openxmlformats.org/officeDocument/2006/relationships" id="284" r:id="R72c8a3279f1e4d59"/>
    <p:sldId xmlns:r="http://schemas.openxmlformats.org/officeDocument/2006/relationships" id="285" r:id="R3556065fcbf14025"/>
    <p:sldId xmlns:r="http://schemas.openxmlformats.org/officeDocument/2006/relationships" id="286" r:id="R5abd2434802e4d37"/>
    <p:sldId xmlns:r="http://schemas.openxmlformats.org/officeDocument/2006/relationships" id="287" r:id="R24ce049d541c43ac"/>
    <p:sldId xmlns:r="http://schemas.openxmlformats.org/officeDocument/2006/relationships" id="288" r:id="R40f30f3f33c24def"/>
    <p:sldId xmlns:r="http://schemas.openxmlformats.org/officeDocument/2006/relationships" id="289" r:id="R9f00f15d565b4b0a"/>
    <p:sldId xmlns:ns0="http://schemas.openxmlformats.org/officeDocument/2006/relationships" id="290" ns0:id="rId40"/>
    <p:sldId xmlns:ns0="http://schemas.openxmlformats.org/officeDocument/2006/relationships" id="291" ns0:id="rId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359c89077ff4425" Type="http://schemas.openxmlformats.org/officeDocument/2006/relationships/slide" Target="slides/slide24.xml"/><Relationship Id="R1fa1f6e850484df1" Type="http://schemas.openxmlformats.org/officeDocument/2006/relationships/slide" Target="slides/slide6.xml"/><Relationship Id="R24ce049d541c43ac" Type="http://schemas.openxmlformats.org/officeDocument/2006/relationships/slide" Target="slides/slide32.xml"/><Relationship Id="R28b999081d324e39" Type="http://schemas.openxmlformats.org/officeDocument/2006/relationships/slide" Target="slides/slide12.xml"/><Relationship Id="R2a061dc713874885" Type="http://schemas.openxmlformats.org/officeDocument/2006/relationships/slide" Target="slides/slide15.xml"/><Relationship Id="R30932ea541d4492e" Type="http://schemas.openxmlformats.org/officeDocument/2006/relationships/slide" Target="slides/slide26.xml"/><Relationship Id="R330e579ee75744a6" Type="http://schemas.openxmlformats.org/officeDocument/2006/relationships/slide" Target="slides/slide23.xml"/><Relationship Id="R355468d6a5c14ddb" Type="http://schemas.openxmlformats.org/officeDocument/2006/relationships/tableStyles" Target="tableStyles.xml"/><Relationship Id="R3556065fcbf14025" Type="http://schemas.openxmlformats.org/officeDocument/2006/relationships/slide" Target="slides/slide30.xml"/><Relationship Id="R38ea2c06a45d4700" Type="http://schemas.openxmlformats.org/officeDocument/2006/relationships/slide" Target="slides/slide8.xml"/><Relationship Id="R3dfdb381445d488f" Type="http://schemas.openxmlformats.org/officeDocument/2006/relationships/slide" Target="slides/slide3.xml"/><Relationship Id="R40f30f3f33c24def" Type="http://schemas.openxmlformats.org/officeDocument/2006/relationships/slide" Target="slides/slide33.xml"/><Relationship Id="R442ae04f97c64d38" Type="http://schemas.openxmlformats.org/officeDocument/2006/relationships/notesMaster" Target="notesMasters/notesMaster1.xml"/><Relationship Id="R5abd2434802e4d37" Type="http://schemas.openxmlformats.org/officeDocument/2006/relationships/slide" Target="slides/slide31.xml"/><Relationship Id="R61c07ee003dd450f" Type="http://schemas.openxmlformats.org/officeDocument/2006/relationships/slide" Target="slides/slide7.xml"/><Relationship Id="R68cae11f147d4fd1" Type="http://schemas.openxmlformats.org/officeDocument/2006/relationships/slide" Target="slides/slide4.xml"/><Relationship Id="R6ed532d60fcd44c2" Type="http://schemas.openxmlformats.org/officeDocument/2006/relationships/slide" Target="slides/slide17.xml"/><Relationship Id="R72c8a3279f1e4d59" Type="http://schemas.openxmlformats.org/officeDocument/2006/relationships/slide" Target="slides/slide29.xml"/><Relationship Id="R776b13f77a244d99" Type="http://schemas.openxmlformats.org/officeDocument/2006/relationships/slide" Target="slides/slide21.xml"/><Relationship Id="R795c9b8d24cf4292" Type="http://schemas.openxmlformats.org/officeDocument/2006/relationships/slide" Target="slides/slide20.xml"/><Relationship Id="R863240a848514843" Type="http://schemas.openxmlformats.org/officeDocument/2006/relationships/slide" Target="slides/slide10.xml"/><Relationship Id="R91332074ea8042e1" Type="http://schemas.openxmlformats.org/officeDocument/2006/relationships/slide" Target="slides/slide27.xml"/><Relationship Id="R996e5f7ad6d049bb" Type="http://schemas.openxmlformats.org/officeDocument/2006/relationships/slide" Target="slides/slide25.xml"/><Relationship Id="R9f00f15d565b4b0a" Type="http://schemas.openxmlformats.org/officeDocument/2006/relationships/slide" Target="slides/slide34.xml"/><Relationship Id="Ra4358c00d4474c5d" Type="http://schemas.openxmlformats.org/officeDocument/2006/relationships/slide" Target="slides/slide18.xml"/><Relationship Id="Ra58d62843dfa46b4" Type="http://schemas.openxmlformats.org/officeDocument/2006/relationships/slide" Target="slides/slide28.xml"/><Relationship Id="Ra994b6003c764e82" Type="http://schemas.openxmlformats.org/officeDocument/2006/relationships/slide" Target="slides/slide9.xml"/><Relationship Id="Rabdabd5c12584c8e" Type="http://schemas.openxmlformats.org/officeDocument/2006/relationships/slide" Target="slides/slide14.xml"/><Relationship Id="Rbe170a071554433a" Type="http://schemas.openxmlformats.org/officeDocument/2006/relationships/slide" Target="slides/slide19.xml"/><Relationship Id="Rbe91af5e5bf94e5d" Type="http://schemas.openxmlformats.org/officeDocument/2006/relationships/slideMaster" Target="slideMasters/slideMaster1.xml"/><Relationship Id="Rc0c9bbf495c644bc" Type="http://schemas.openxmlformats.org/officeDocument/2006/relationships/slide" Target="slides/slide16.xml"/><Relationship Id="Rc64613d55ce24fcd" Type="http://schemas.openxmlformats.org/officeDocument/2006/relationships/slide" Target="slides/slide5.xml"/><Relationship Id="Rcf51e81162574548" Type="http://schemas.openxmlformats.org/officeDocument/2006/relationships/theme" Target="theme/theme1.xml"/><Relationship Id="Rdde22be76dac4c8a" Type="http://schemas.openxmlformats.org/officeDocument/2006/relationships/slide" Target="slides/slide11.xml"/><Relationship Id="Re70fb04dfa8a4f32" Type="http://schemas.openxmlformats.org/officeDocument/2006/relationships/slide" Target="slides/slide2.xml"/><Relationship Id="Re79a932a091e4138" Type="http://schemas.openxmlformats.org/officeDocument/2006/relationships/presProps" Target="presProps.xml"/><Relationship Id="Rea9447a779224100" Type="http://schemas.openxmlformats.org/officeDocument/2006/relationships/slide" Target="slides/slide13.xml"/><Relationship Id="Rf394863eefe1440a" Type="http://schemas.openxmlformats.org/officeDocument/2006/relationships/slide" Target="slides/slide22.xml"/><Relationship Id="Rf99be50faff74fab" Type="http://schemas.openxmlformats.org/officeDocument/2006/relationships/slide" Target="slides/slide1.xml"/><Relationship Id="rId40" Type="http://schemas.openxmlformats.org/officeDocument/2006/relationships/slide" Target="slides/slide35.xml"/><Relationship Id="rId41" Type="http://schemas.openxmlformats.org/officeDocument/2006/relationships/slide" Target="slides/slide36.xml"/></Relationships>
</file>

<file path=ppt/notesMasters/_rels/notesMaster1.xml.rels><?xml version='1.0' encoding='UTF-8' standalone='yes'?>
<Relationships xmlns="http://schemas.openxmlformats.org/package/2006/relationships"><Relationship Id="Rada2acbdb89a4dec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2593792142004a6c" Type="http://schemas.openxmlformats.org/officeDocument/2006/relationships/slide" Target="../slides/slide1.xml"/><Relationship Id="R39af79c857954b9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a2b8987582cb4f4e" Type="http://schemas.openxmlformats.org/officeDocument/2006/relationships/slide" Target="../slides/slide2.xml"/><Relationship Id="Ra65e46489c344235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4d89fef9a12f4aa9" Type="http://schemas.openxmlformats.org/officeDocument/2006/relationships/slide" Target="../slides/slide3.xml"/><Relationship Id="Rb32491a98fc5452a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0fe817a4fb474c35" Type="http://schemas.openxmlformats.org/officeDocument/2006/relationships/notesMaster" Target="../notesMasters/notesMaster1.xml"/><Relationship Id="R876144f5bd70403d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5774706439134f04" Type="http://schemas.openxmlformats.org/officeDocument/2006/relationships/slide" Target="../slides/slide5.xml"/><Relationship Id="Rb0d0553dd94b44b5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957149bb919498a" Type="http://schemas.openxmlformats.org/officeDocument/2006/relationships/slide" Target="../slides/slide6.xml"/><Relationship Id="R57ad58d6e1d34dbf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3f3c1fc7785416f" Type="http://schemas.openxmlformats.org/officeDocument/2006/relationships/notesMaster" Target="../notesMasters/notesMaster1.xml"/><Relationship Id="Rdfab8718bf4d4e0f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006cdc27ab534249" Type="http://schemas.openxmlformats.org/officeDocument/2006/relationships/notesMaster" Target="../notesMasters/notesMaster1.xml"/><Relationship Id="Ra042e5e211b64671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1a54b59532ca4fee" Type="http://schemas.openxmlformats.org/officeDocument/2006/relationships/slide" Target="../slides/slide9.xml"/><Relationship Id="Rde894bef91444b09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4abbeb4478c244f7" Type="http://schemas.openxmlformats.org/officeDocument/2006/relationships/notesMaster" Target="../notesMasters/notesMaster1.xml"/><Relationship Id="Re0694d4329414749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684978950e1542ee" Type="http://schemas.openxmlformats.org/officeDocument/2006/relationships/slide" Target="../slides/slide11.xml"/><Relationship Id="R7347553f903b4ce7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1edb0438d8f94d97" Type="http://schemas.openxmlformats.org/officeDocument/2006/relationships/slide" Target="../slides/slide12.xml"/><Relationship Id="Rae97daaa676a4ad0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8bb43da1048a4682" Type="http://schemas.openxmlformats.org/officeDocument/2006/relationships/slide" Target="../slides/slide13.xml"/><Relationship Id="Rf5b3470ad936455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a8ca21eb353d4957" Type="http://schemas.openxmlformats.org/officeDocument/2006/relationships/notesMaster" Target="../notesMasters/notesMaster1.xml"/><Relationship Id="Rae88ceba0bf34f65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a0d7778969604e31" Type="http://schemas.openxmlformats.org/officeDocument/2006/relationships/notesMaster" Target="../notesMasters/notesMaster1.xml"/><Relationship Id="Rc159286c126141ce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54a573252f8b4fb3" Type="http://schemas.openxmlformats.org/officeDocument/2006/relationships/notesMaster" Target="../notesMasters/notesMaster1.xml"/><Relationship Id="R5ce4383f1dc84a6a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c698862fa5546af" Type="http://schemas.openxmlformats.org/officeDocument/2006/relationships/slide" Target="../slides/slide17.xml"/><Relationship Id="R830695ec02ce442a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a06a171e06914df7" Type="http://schemas.openxmlformats.org/officeDocument/2006/relationships/notesMaster" Target="../notesMasters/notesMaster1.xml"/><Relationship Id="Re7333ba7f4af420f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495a74529b65495f" Type="http://schemas.openxmlformats.org/officeDocument/2006/relationships/notesMaster" Target="../notesMasters/notesMaster1.xml"/><Relationship Id="Raed24792a1234ab7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e3b625fb85644cad" Type="http://schemas.openxmlformats.org/officeDocument/2006/relationships/slide" Target="../slides/slide20.xml"/><Relationship Id="Rf510a0ebe0454b40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4c92aa47965f4ff5" Type="http://schemas.openxmlformats.org/officeDocument/2006/relationships/slide" Target="../slides/slide21.xml"/><Relationship Id="R4f3325cf1e9043be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2e5181fba7254360" Type="http://schemas.openxmlformats.org/officeDocument/2006/relationships/notesMaster" Target="../notesMasters/notesMaster1.xml"/><Relationship Id="R5b1ba81fc16f43a4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0d70ca8489154b7b" Type="http://schemas.openxmlformats.org/officeDocument/2006/relationships/slide" Target="../slides/slide23.xml"/><Relationship Id="R77c513063ebc4857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0ecdedd703174746" Type="http://schemas.openxmlformats.org/officeDocument/2006/relationships/slide" Target="../slides/slide24.xml"/><Relationship Id="Rd7049e09e20d4130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4d6a8f79118a4b58" Type="http://schemas.openxmlformats.org/officeDocument/2006/relationships/notesMaster" Target="../notesMasters/notesMaster1.xml"/><Relationship Id="Ra0263ed9a0154bd9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272690f2e0db4f8d" Type="http://schemas.openxmlformats.org/officeDocument/2006/relationships/notesMaster" Target="../notesMasters/notesMaster1.xml"/><Relationship Id="Re04bd558b0904796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1d806d18758d41c0" Type="http://schemas.openxmlformats.org/officeDocument/2006/relationships/notesMaster" Target="../notesMasters/notesMaster1.xml"/><Relationship Id="R86be2f8bc69f46c1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5643438929b64fc1" Type="http://schemas.openxmlformats.org/officeDocument/2006/relationships/slide" Target="../slides/slide28.xml"/><Relationship Id="R6a32032b551c40b7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84e3723a69bc404f" Type="http://schemas.openxmlformats.org/officeDocument/2006/relationships/slide" Target="../slides/slide29.xml"/><Relationship Id="Rc2ea63877a6244de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563265ab736d4c82" Type="http://schemas.openxmlformats.org/officeDocument/2006/relationships/notesMaster" Target="../notesMasters/notesMaster1.xml"/><Relationship Id="Ra04dcc70416c432a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47e9386dda4e45f5" Type="http://schemas.openxmlformats.org/officeDocument/2006/relationships/slide" Target="../slides/slide31.xml"/><Relationship Id="R7020b449b45547a7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b4a04d31fdc64e8e" Type="http://schemas.openxmlformats.org/officeDocument/2006/relationships/notesMaster" Target="../notesMasters/notesMaster1.xml"/><Relationship Id="Rb9d0382a278e481b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9d34bea101a74241" Type="http://schemas.openxmlformats.org/officeDocument/2006/relationships/notesMaster" Target="../notesMasters/notesMaster1.xml"/><Relationship Id="Rb0c5391c297c4f69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6b7c36c52be34ca9" Type="http://schemas.openxmlformats.org/officeDocument/2006/relationships/notesMaster" Target="../notesMasters/notesMaster1.xml"/><Relationship Id="Rf8a8c2e04ecc4890" Type="http://schemas.openxmlformats.org/officeDocument/2006/relationships/slide" Target="../slides/slide34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e898135d2a164fd7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ba64cd8bb6c4659" Type="http://schemas.openxmlformats.org/officeDocument/2006/relationships/theme" Target="theme/theme2.xml"/><Relationship Id="R6bf2e49e419040bd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f2e49e419040b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297de6def91041ca" Type="http://schemas.openxmlformats.org/officeDocument/2006/relationships/notesSlide" Target="../notesSlides/notesSlide1.xml"/><Relationship Id="Redfb6abe20064326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9b263cf5b0f74b64" Type="http://schemas.openxmlformats.org/officeDocument/2006/relationships/notesSlide" Target="../notesSlides/notesSlide2.xml"/><Relationship Id="Rbd626231e13e4049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90a0326e35154c5e" Type="http://schemas.openxmlformats.org/officeDocument/2006/relationships/notesSlide" Target="../notesSlides/notesSlide3.xml"/><Relationship Id="R92a729e82a6f4509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4d173d053fd340b6" Type="http://schemas.openxmlformats.org/officeDocument/2006/relationships/notesSlide" Target="../notesSlides/notesSlide4.xml"/><Relationship Id="Rf209238ab8474286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2f6156bd4d74ec2" Type="http://schemas.openxmlformats.org/officeDocument/2006/relationships/chart" Target="charts/chart1.xml"/><Relationship Id="R3606e10adcfc4981" Type="http://schemas.openxmlformats.org/officeDocument/2006/relationships/slideLayout" Target="../slideLayouts/slideLayout1.xml"/><Relationship Id="Rb2709ec9173d4b5a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b5908f7f57ae4b2f" Type="http://schemas.openxmlformats.org/officeDocument/2006/relationships/notesSlide" Target="../notesSlides/notesSlide6.xml"/><Relationship Id="Rfbbcafbdfb6048cc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3f3db2d9d4e14aee" Type="http://schemas.openxmlformats.org/officeDocument/2006/relationships/notesSlide" Target="../notesSlides/notesSlide7.xml"/><Relationship Id="R4c4de22bf603463e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a40ad3ab6adc443e" Type="http://schemas.openxmlformats.org/officeDocument/2006/relationships/slideLayout" Target="../slideLayouts/slideLayout1.xml"/><Relationship Id="Rb7f78457d0d846da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10f7ceaa33574795" Type="http://schemas.openxmlformats.org/officeDocument/2006/relationships/slideLayout" Target="../slideLayouts/slideLayout1.xml"/><Relationship Id="R712ca4c28f7346af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8f670c9e52344d41" Type="http://schemas.openxmlformats.org/officeDocument/2006/relationships/slideLayout" Target="../slideLayouts/slideLayout1.xml"/><Relationship Id="Re492a9739c114929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a833d96f40c4943" Type="http://schemas.openxmlformats.org/officeDocument/2006/relationships/slideLayout" Target="../slideLayouts/slideLayout1.xml"/><Relationship Id="R953ee0459d134dad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01755c2e931c41d6" Type="http://schemas.openxmlformats.org/officeDocument/2006/relationships/notesSlide" Target="../notesSlides/notesSlide12.xml"/><Relationship Id="R0864d8abd536401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e1ca0789aa2a447c" Type="http://schemas.openxmlformats.org/officeDocument/2006/relationships/notesSlide" Target="../notesSlides/notesSlide13.xml"/><Relationship Id="Re9bb3a3c01ab48a6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ecbd7fc73a343e2" Type="http://schemas.openxmlformats.org/officeDocument/2006/relationships/slideLayout" Target="../slideLayouts/slideLayout1.xml"/><Relationship Id="Rce7ff952a1894db8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fb4026205e54d40" Type="http://schemas.openxmlformats.org/officeDocument/2006/relationships/notesSlide" Target="../notesSlides/notesSlide15.xml"/><Relationship Id="Rc18abf673924460a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a35fa2a923294c52" Type="http://schemas.openxmlformats.org/officeDocument/2006/relationships/notesSlide" Target="../notesSlides/notesSlide16.xml"/><Relationship Id="Rb294dbdcc2bb45fa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48e53559db8d4a0c" Type="http://schemas.openxmlformats.org/officeDocument/2006/relationships/notesSlide" Target="../notesSlides/notesSlide17.xml"/><Relationship Id="Rc1a4525e1cf247c0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09328242e93f4516" Type="http://schemas.openxmlformats.org/officeDocument/2006/relationships/notesSlide" Target="../notesSlides/notesSlide18.xml"/><Relationship Id="Rdef857c5a0c548c7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534c01d358ce47e0" Type="http://schemas.openxmlformats.org/officeDocument/2006/relationships/slideLayout" Target="../slideLayouts/slideLayout1.xml"/><Relationship Id="R996100e1a7024900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8352b1fcf9034f65" Type="http://schemas.openxmlformats.org/officeDocument/2006/relationships/slideLayout" Target="../slideLayouts/slideLayout1.xml"/><Relationship Id="Ra3e865003b6649a6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7275c2f0b90c4adb" Type="http://schemas.openxmlformats.org/officeDocument/2006/relationships/slideLayout" Target="../slideLayouts/slideLayout1.xml"/><Relationship Id="R7d0e1abe136347d7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690c18f056884536" Type="http://schemas.openxmlformats.org/officeDocument/2006/relationships/slideLayout" Target="../slideLayouts/slideLayout1.xml"/><Relationship Id="Rb637997af8c34883" Type="http://schemas.openxmlformats.org/officeDocument/2006/relationships/chart" Target="charts/chart2.xml"/><Relationship Id="Re078404224b94716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e0a703e030e14871" Type="http://schemas.openxmlformats.org/officeDocument/2006/relationships/slideLayout" Target="../slideLayouts/slideLayout1.xml"/><Relationship Id="Rf8020126043846f8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35325ac935934f80" Type="http://schemas.openxmlformats.org/officeDocument/2006/relationships/slideLayout" Target="../slideLayouts/slideLayout1.xml"/><Relationship Id="R9a1c469b92534a60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9d5ed93e5e8e4fe2" Type="http://schemas.openxmlformats.org/officeDocument/2006/relationships/slideLayout" Target="../slideLayouts/slideLayout1.xml"/><Relationship Id="Recdd2b3056734abb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6dadf295aafb4c87" Type="http://schemas.openxmlformats.org/officeDocument/2006/relationships/notesSlide" Target="../notesSlides/notesSlide26.xml"/><Relationship Id="Rabc67a3f3c6c4f7c" Type="http://schemas.openxmlformats.org/officeDocument/2006/relationships/chart" Target="charts/chart3.xml"/><Relationship Id="Re14fa3b81e5942a4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6d9015df8e31490d" Type="http://schemas.openxmlformats.org/officeDocument/2006/relationships/notesSlide" Target="../notesSlides/notesSlide27.xml"/><Relationship Id="Rce278aa13bfc40ed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13d821e9fa67421e" Type="http://schemas.openxmlformats.org/officeDocument/2006/relationships/notesSlide" Target="../notesSlides/notesSlide28.xml"/><Relationship Id="R1726de4afd8d485e" Type="http://schemas.openxmlformats.org/officeDocument/2006/relationships/slideLayout" Target="../slideLayouts/slideLayout1.xml"/><Relationship Id="R89007ed9fba44410" Type="http://schemas.openxmlformats.org/officeDocument/2006/relationships/chart" Target="charts/chart4.xml"/></Relationships>
</file>

<file path=ppt/slides/_rels/slide29.xml.rels><?xml version='1.0' encoding='UTF-8' standalone='yes'?>
<Relationships xmlns="http://schemas.openxmlformats.org/package/2006/relationships"><Relationship Id="R2177927b8e954998" Type="http://schemas.openxmlformats.org/officeDocument/2006/relationships/slideLayout" Target="../slideLayouts/slideLayout1.xml"/><Relationship Id="Rf856780e499445a1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bfad77d2f4d44191" Type="http://schemas.openxmlformats.org/officeDocument/2006/relationships/slideLayout" Target="../slideLayouts/slideLayout1.xml"/><Relationship Id="Ree1f72a16a36459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66733b99aee54c3c" Type="http://schemas.openxmlformats.org/officeDocument/2006/relationships/slideLayout" Target="../slideLayouts/slideLayout1.xml"/><Relationship Id="Rbfed30fd88494c5d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ee2a8bbc86ec4bd8" Type="http://schemas.openxmlformats.org/officeDocument/2006/relationships/slideLayout" Target="../slideLayouts/slideLayout1.xml"/><Relationship Id="Rf0fdc4ec4b8941fe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379e47dc66424675" Type="http://schemas.openxmlformats.org/officeDocument/2006/relationships/notesSlide" Target="../notesSlides/notesSlide33.xml"/><Relationship Id="Re5458c8881df4bfd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03213e3e656b458a" Type="http://schemas.openxmlformats.org/officeDocument/2006/relationships/notesSlide" Target="../notesSlides/notesSlide34.xml"/><Relationship Id="Rf34646fb22254cbc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Trial A</c:v>
          </c:tx>
          <c:spPr>
            <a:ln xmlns:a="http://schemas.openxmlformats.org/drawingml/2006/main" w="28575">
              <a:solidFill>
                <a:srgbClr val="2F75B5"/>
              </a:solidFill>
              <a:prstDash val="solid"/>
            </a:ln>
          </c:spPr>
          <c:marker>
            <c:symbol val="none"/>
          </c:marker>
          <c:cat>
            <c:numRef>
              <c:f>'Chart Data'!$A$2:$A$41</c:f>
              <c:numCache>
                <c:formatCode>General</c:formatCode>
                <c:ptCount val="4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</c:numCache>
            </c:numRef>
          </c:cat>
          <c:val>
            <c:numRef>
              <c:f>'Chart Data'!$B$2:$B$41</c:f>
              <c:numCache>
                <c:formatCode>General</c:formatCode>
                <c:ptCount val="40"/>
                <c:pt idx="0">
                  <c:v>0</c:v>
                </c:pt>
                <c:pt idx="1">
                  <c:v>0.108</c:v>
                </c:pt>
                <c:pt idx="2">
                  <c:v>0.205</c:v>
                </c:pt>
                <c:pt idx="3">
                  <c:v>0.282</c:v>
                </c:pt>
                <c:pt idx="4">
                  <c:v>0.332</c:v>
                </c:pt>
                <c:pt idx="5">
                  <c:v>0.35</c:v>
                </c:pt>
                <c:pt idx="6">
                  <c:v>0.333</c:v>
                </c:pt>
                <c:pt idx="7">
                  <c:v>0.283</c:v>
                </c:pt>
                <c:pt idx="8">
                  <c:v>0.219</c:v>
                </c:pt>
                <c:pt idx="9">
                  <c:v>0.123</c:v>
                </c:pt>
                <c:pt idx="10">
                  <c:v>-0.047</c:v>
                </c:pt>
                <c:pt idx="11">
                  <c:v>-0.118</c:v>
                </c:pt>
                <c:pt idx="12">
                  <c:v>-0.005</c:v>
                </c:pt>
                <c:pt idx="13">
                  <c:v>-0.314</c:v>
                </c:pt>
                <c:pt idx="14">
                  <c:v>-0.8</c:v>
                </c:pt>
                <c:pt idx="15">
                  <c:v>-0.111</c:v>
                </c:pt>
                <c:pt idx="16">
                  <c:v>0.397</c:v>
                </c:pt>
                <c:pt idx="17">
                  <c:v>-0.848</c:v>
                </c:pt>
                <c:pt idx="18">
                  <c:v>-0.942</c:v>
                </c:pt>
                <c:pt idx="19">
                  <c:v>0.62</c:v>
                </c:pt>
                <c:pt idx="20">
                  <c:v>0.43</c:v>
                </c:pt>
                <c:pt idx="21">
                  <c:v>-0.508</c:v>
                </c:pt>
                <c:pt idx="22">
                  <c:v>0.053</c:v>
                </c:pt>
                <c:pt idx="23">
                  <c:v>0.591</c:v>
                </c:pt>
                <c:pt idx="24">
                  <c:v>0.336</c:v>
                </c:pt>
                <c:pt idx="25">
                  <c:v>0.242</c:v>
                </c:pt>
                <c:pt idx="26">
                  <c:v>0.349</c:v>
                </c:pt>
                <c:pt idx="27">
                  <c:v>0.316</c:v>
                </c:pt>
                <c:pt idx="28">
                  <c:v>0.214</c:v>
                </c:pt>
                <c:pt idx="29">
                  <c:v>0.121</c:v>
                </c:pt>
                <c:pt idx="30">
                  <c:v>0.018</c:v>
                </c:pt>
                <c:pt idx="31">
                  <c:v>-0.091</c:v>
                </c:pt>
                <c:pt idx="32">
                  <c:v>-0.191</c:v>
                </c:pt>
                <c:pt idx="33">
                  <c:v>-0.271</c:v>
                </c:pt>
                <c:pt idx="34">
                  <c:v>-0.326</c:v>
                </c:pt>
                <c:pt idx="35">
                  <c:v>-0.349</c:v>
                </c:pt>
                <c:pt idx="36">
                  <c:v>-0.339</c:v>
                </c:pt>
                <c:pt idx="37">
                  <c:v>-0.295</c:v>
                </c:pt>
                <c:pt idx="38">
                  <c:v>-0.223</c:v>
                </c:pt>
                <c:pt idx="39">
                  <c:v>-0.129</c:v>
                </c:pt>
              </c:numCache>
            </c:numRef>
          </c:val>
        </c:ser>
        <c:ser>
          <c:idx val="1"/>
          <c:order val="1"/>
          <c:tx>
            <c:v>Trial B</c:v>
          </c:tx>
          <c:spPr>
            <a:ln xmlns:a="http://schemas.openxmlformats.org/drawingml/2006/main" w="28575">
              <a:solidFill>
                <a:srgbClr val="E4A11B"/>
              </a:solidFill>
              <a:prstDash val="solid"/>
            </a:ln>
          </c:spPr>
          <c:marker>
            <c:symbol val="none"/>
          </c:marker>
          <c:cat>
            <c:numRef>
              <c:f>'Chart Data'!$C$2:$C$41</c:f>
              <c:numCache>
                <c:formatCode>General</c:formatCode>
                <c:ptCount val="4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</c:numCache>
            </c:numRef>
          </c:cat>
          <c:val>
            <c:numRef>
              <c:f>'Chart Data'!$D$2:$D$41</c:f>
              <c:numCache>
                <c:formatCode>General</c:formatCode>
                <c:ptCount val="40"/>
                <c:pt idx="0">
                  <c:v>0.158</c:v>
                </c:pt>
                <c:pt idx="1">
                  <c:v>0.246</c:v>
                </c:pt>
                <c:pt idx="2">
                  <c:v>0.311</c:v>
                </c:pt>
                <c:pt idx="3">
                  <c:v>0.345</c:v>
                </c:pt>
                <c:pt idx="4">
                  <c:v>0.346</c:v>
                </c:pt>
                <c:pt idx="5">
                  <c:v>0.314</c:v>
                </c:pt>
                <c:pt idx="6">
                  <c:v>0.25</c:v>
                </c:pt>
                <c:pt idx="7">
                  <c:v>0.164</c:v>
                </c:pt>
                <c:pt idx="8">
                  <c:v>0.063</c:v>
                </c:pt>
                <c:pt idx="9">
                  <c:v>-0.053</c:v>
                </c:pt>
                <c:pt idx="10">
                  <c:v>-0.165</c:v>
                </c:pt>
                <c:pt idx="11">
                  <c:v>-0.216</c:v>
                </c:pt>
                <c:pt idx="12">
                  <c:v>-0.271</c:v>
                </c:pt>
                <c:pt idx="13">
                  <c:v>-0.456</c:v>
                </c:pt>
                <c:pt idx="14">
                  <c:v>-0.411</c:v>
                </c:pt>
                <c:pt idx="15">
                  <c:v>0.002</c:v>
                </c:pt>
                <c:pt idx="16">
                  <c:v>-0.229</c:v>
                </c:pt>
                <c:pt idx="17">
                  <c:v>-0.781</c:v>
                </c:pt>
                <c:pt idx="18">
                  <c:v>0.086</c:v>
                </c:pt>
                <c:pt idx="19">
                  <c:v>0.842</c:v>
                </c:pt>
                <c:pt idx="20">
                  <c:v>-0.245</c:v>
                </c:pt>
                <c:pt idx="21">
                  <c:v>-0.464</c:v>
                </c:pt>
                <c:pt idx="22">
                  <c:v>0.8</c:v>
                </c:pt>
                <c:pt idx="23">
                  <c:v>0.748</c:v>
                </c:pt>
                <c:pt idx="24">
                  <c:v>-0.037</c:v>
                </c:pt>
                <c:pt idx="25">
                  <c:v>0.174</c:v>
                </c:pt>
                <c:pt idx="26">
                  <c:v>0.456</c:v>
                </c:pt>
                <c:pt idx="27">
                  <c:v>0.199</c:v>
                </c:pt>
                <c:pt idx="28">
                  <c:v>0.004</c:v>
                </c:pt>
                <c:pt idx="29">
                  <c:v>-0.035</c:v>
                </c:pt>
                <c:pt idx="30">
                  <c:v>-0.127</c:v>
                </c:pt>
                <c:pt idx="31">
                  <c:v>-0.236</c:v>
                </c:pt>
                <c:pt idx="32">
                  <c:v>-0.305</c:v>
                </c:pt>
                <c:pt idx="33">
                  <c:v>-0.341</c:v>
                </c:pt>
                <c:pt idx="34">
                  <c:v>-0.348</c:v>
                </c:pt>
                <c:pt idx="35">
                  <c:v>-0.321</c:v>
                </c:pt>
                <c:pt idx="36">
                  <c:v>-0.262</c:v>
                </c:pt>
                <c:pt idx="37">
                  <c:v>-0.178</c:v>
                </c:pt>
                <c:pt idx="38">
                  <c:v>-0.077</c:v>
                </c:pt>
                <c:pt idx="39">
                  <c:v>0.031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5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-1.2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amplitude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4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212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L(w) = (w−3)²</c:v>
          </c:tx>
          <c:spPr>
            <a:ln xmlns:a="http://schemas.openxmlformats.org/drawingml/2006/main" w="38100">
              <a:solidFill>
                <a:srgbClr val="2F75B5"/>
              </a:solidFill>
              <a:prstDash val="solid"/>
            </a:ln>
          </c:spPr>
          <c:marker>
            <c:symbol val="none"/>
          </c:marker>
          <c:cat>
            <c:numRef>
              <c:f>'Chart Data'!$A$2:$A$22</c:f>
              <c:numCache>
                <c:formatCode>General</c:formatCode>
                <c:ptCount val="21"/>
                <c:pt idx="0">
                  <c:v>-1.0</c:v>
                </c:pt>
                <c:pt idx="1">
                  <c:v>-0.6</c:v>
                </c:pt>
                <c:pt idx="2">
                  <c:v>-0.2</c:v>
                </c:pt>
                <c:pt idx="3">
                  <c:v>0.2</c:v>
                </c:pt>
                <c:pt idx="4">
                  <c:v>0.6</c:v>
                </c:pt>
                <c:pt idx="5">
                  <c:v>1.0</c:v>
                </c:pt>
                <c:pt idx="6">
                  <c:v>1.4</c:v>
                </c:pt>
                <c:pt idx="7">
                  <c:v>1.8</c:v>
                </c:pt>
                <c:pt idx="8">
                  <c:v>2.2</c:v>
                </c:pt>
                <c:pt idx="9">
                  <c:v>2.6</c:v>
                </c:pt>
                <c:pt idx="10">
                  <c:v>3.0</c:v>
                </c:pt>
                <c:pt idx="11">
                  <c:v>3.4</c:v>
                </c:pt>
                <c:pt idx="12">
                  <c:v>3.8</c:v>
                </c:pt>
                <c:pt idx="13">
                  <c:v>4.2</c:v>
                </c:pt>
                <c:pt idx="14">
                  <c:v>4.6</c:v>
                </c:pt>
                <c:pt idx="15">
                  <c:v>5.0</c:v>
                </c:pt>
                <c:pt idx="16">
                  <c:v>5.4</c:v>
                </c:pt>
                <c:pt idx="17">
                  <c:v>5.8</c:v>
                </c:pt>
                <c:pt idx="18">
                  <c:v>6.2</c:v>
                </c:pt>
                <c:pt idx="19">
                  <c:v>6.6</c:v>
                </c:pt>
                <c:pt idx="20">
                  <c:v>7.0</c:v>
                </c:pt>
              </c:numCache>
            </c:numRef>
          </c:cat>
          <c:val>
            <c:numRef>
              <c:f>'Chart Data'!$B$2:$B$22</c:f>
              <c:numCache>
                <c:formatCode>General</c:formatCode>
                <c:ptCount val="21"/>
                <c:pt idx="0">
                  <c:v>16</c:v>
                </c:pt>
                <c:pt idx="1">
                  <c:v>12.96</c:v>
                </c:pt>
                <c:pt idx="2">
                  <c:v>10.24</c:v>
                </c:pt>
                <c:pt idx="3">
                  <c:v>7.84</c:v>
                </c:pt>
                <c:pt idx="4">
                  <c:v>5.76</c:v>
                </c:pt>
                <c:pt idx="5">
                  <c:v>4</c:v>
                </c:pt>
                <c:pt idx="6">
                  <c:v>2.56</c:v>
                </c:pt>
                <c:pt idx="7">
                  <c:v>1.44</c:v>
                </c:pt>
                <c:pt idx="8">
                  <c:v>0.64</c:v>
                </c:pt>
                <c:pt idx="9">
                  <c:v>0.16</c:v>
                </c:pt>
                <c:pt idx="10">
                  <c:v>0</c:v>
                </c:pt>
                <c:pt idx="11">
                  <c:v>0.16</c:v>
                </c:pt>
                <c:pt idx="12">
                  <c:v>0.64</c:v>
                </c:pt>
                <c:pt idx="13">
                  <c:v>1.44</c:v>
                </c:pt>
                <c:pt idx="14">
                  <c:v>2.56</c:v>
                </c:pt>
                <c:pt idx="15">
                  <c:v>4</c:v>
                </c:pt>
                <c:pt idx="16">
                  <c:v>5.76</c:v>
                </c:pt>
                <c:pt idx="17">
                  <c:v>7.84</c:v>
                </c:pt>
                <c:pt idx="18">
                  <c:v>10.24</c:v>
                </c:pt>
                <c:pt idx="19">
                  <c:v>12.96</c:v>
                </c:pt>
                <c:pt idx="20">
                  <c:v>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parameter w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4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absolute error</c:v>
          </c:tx>
          <c:spPr>
            <a:ln xmlns:a="http://schemas.openxmlformats.org/drawingml/2006/main" w="38100">
              <a:solidFill>
                <a:srgbClr val="C74B50"/>
              </a:solidFill>
              <a:prstDash val="solid"/>
            </a:ln>
          </c:spPr>
          <c:marker>
            <c:symbol val="none"/>
          </c:marker>
          <c:cat>
            <c:numRef>
              <c:f>'Chart Data'!$A$2:$A$8</c:f>
              <c:numCache>
                <c:formatCode>General</c:formatCode>
                <c:ptCount val="7"/>
                <c:pt idx="0">
                  <c:v>1</c:v>
                </c:pt>
                <c:pt idx="1">
                  <c:v>0.3</c:v>
                </c:pt>
                <c:pt idx="2">
                  <c:v>0.1</c:v>
                </c:pt>
                <c:pt idx="3">
                  <c:v>0.03</c:v>
                </c:pt>
                <c:pt idx="4">
                  <c:v>0.01</c:v>
                </c:pt>
                <c:pt idx="5">
                  <c:v>0.003</c:v>
                </c:pt>
                <c:pt idx="6">
                  <c:v>0.001</c:v>
                </c:pt>
              </c:numCache>
            </c:numRef>
          </c:cat>
          <c:val>
            <c:numRef>
              <c:f>'Chart Data'!$B$2:$B$8</c:f>
              <c:numCache>
                <c:formatCode>General</c:formatCode>
                <c:ptCount val="7"/>
                <c:pt idx="0">
                  <c:v>4</c:v>
                </c:pt>
                <c:pt idx="1">
                  <c:v>1.2</c:v>
                </c:pt>
                <c:pt idx="2">
                  <c:v>0.4</c:v>
                </c:pt>
                <c:pt idx="3">
                  <c:v>0.12</c:v>
                </c:pt>
                <c:pt idx="4">
                  <c:v>0.04</c:v>
                </c:pt>
                <c:pt idx="5">
                  <c:v>0.012</c:v>
                </c:pt>
                <c:pt idx="6">
                  <c:v>0.004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step h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.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|approx − exact|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1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observed frequency of rolling 1</c:v>
          </c:tx>
          <c:spPr>
            <a:ln xmlns:a="http://schemas.openxmlformats.org/drawingml/2006/main" w="28575">
              <a:solidFill>
                <a:srgbClr val="2F75B5"/>
              </a:solidFill>
              <a:prstDash val="solid"/>
            </a:ln>
          </c:spPr>
          <c:marker>
            <c:symbol val="none"/>
          </c:marker>
          <c:cat>
            <c:numRef>
              <c:f>'Chart Data'!$A$2:$A$39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30</c:v>
                </c:pt>
                <c:pt idx="21">
                  <c:v>40</c:v>
                </c:pt>
                <c:pt idx="22">
                  <c:v>50</c:v>
                </c:pt>
                <c:pt idx="23">
                  <c:v>60</c:v>
                </c:pt>
                <c:pt idx="24">
                  <c:v>70</c:v>
                </c:pt>
                <c:pt idx="25">
                  <c:v>80</c:v>
                </c:pt>
                <c:pt idx="26">
                  <c:v>90</c:v>
                </c:pt>
                <c:pt idx="27">
                  <c:v>100</c:v>
                </c:pt>
                <c:pt idx="28">
                  <c:v>110</c:v>
                </c:pt>
                <c:pt idx="29">
                  <c:v>120</c:v>
                </c:pt>
                <c:pt idx="30">
                  <c:v>130</c:v>
                </c:pt>
                <c:pt idx="31">
                  <c:v>140</c:v>
                </c:pt>
                <c:pt idx="32">
                  <c:v>150</c:v>
                </c:pt>
                <c:pt idx="33">
                  <c:v>160</c:v>
                </c:pt>
                <c:pt idx="34">
                  <c:v>170</c:v>
                </c:pt>
                <c:pt idx="35">
                  <c:v>180</c:v>
                </c:pt>
                <c:pt idx="36">
                  <c:v>190</c:v>
                </c:pt>
                <c:pt idx="37">
                  <c:v>200</c:v>
                </c:pt>
              </c:numCache>
            </c:numRef>
          </c:cat>
          <c:val>
            <c:numRef>
              <c:f>'Chart Data'!$B$2:$B$39</c:f>
              <c:numCache>
                <c:formatCode>General</c:formatCode>
                <c:ptCount val="3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0.1111</c:v>
                </c:pt>
                <c:pt idx="9">
                  <c:v>0.1</c:v>
                </c:pt>
                <c:pt idx="10">
                  <c:v>0.0909</c:v>
                </c:pt>
                <c:pt idx="11">
                  <c:v>0.0833</c:v>
                </c:pt>
                <c:pt idx="12">
                  <c:v>0.0769</c:v>
                </c:pt>
                <c:pt idx="13">
                  <c:v>0.1429</c:v>
                </c:pt>
                <c:pt idx="14">
                  <c:v>0.1333</c:v>
                </c:pt>
                <c:pt idx="15">
                  <c:v>0.125</c:v>
                </c:pt>
                <c:pt idx="16">
                  <c:v>0.1176</c:v>
                </c:pt>
                <c:pt idx="17">
                  <c:v>0.1111</c:v>
                </c:pt>
                <c:pt idx="18">
                  <c:v>0.1053</c:v>
                </c:pt>
                <c:pt idx="19">
                  <c:v>0.1</c:v>
                </c:pt>
                <c:pt idx="20">
                  <c:v>0.1333</c:v>
                </c:pt>
                <c:pt idx="21">
                  <c:v>0.15</c:v>
                </c:pt>
                <c:pt idx="22">
                  <c:v>0.18</c:v>
                </c:pt>
                <c:pt idx="23">
                  <c:v>0.1667</c:v>
                </c:pt>
                <c:pt idx="24">
                  <c:v>0.1857</c:v>
                </c:pt>
                <c:pt idx="25">
                  <c:v>0.175</c:v>
                </c:pt>
                <c:pt idx="26">
                  <c:v>0.2</c:v>
                </c:pt>
                <c:pt idx="27">
                  <c:v>0.23</c:v>
                </c:pt>
                <c:pt idx="28">
                  <c:v>0.2273</c:v>
                </c:pt>
                <c:pt idx="29">
                  <c:v>0.2333</c:v>
                </c:pt>
                <c:pt idx="30">
                  <c:v>0.2154</c:v>
                </c:pt>
                <c:pt idx="31">
                  <c:v>0.2357</c:v>
                </c:pt>
                <c:pt idx="32">
                  <c:v>0.2267</c:v>
                </c:pt>
                <c:pt idx="33">
                  <c:v>0.2313</c:v>
                </c:pt>
                <c:pt idx="34">
                  <c:v>0.2471</c:v>
                </c:pt>
                <c:pt idx="35">
                  <c:v>0.2333</c:v>
                </c:pt>
                <c:pt idx="36">
                  <c:v>0.2316</c:v>
                </c:pt>
                <c:pt idx="37">
                  <c:v>0.23</c:v>
                </c:pt>
              </c:numCache>
            </c:numRef>
          </c:val>
        </c:ser>
        <c:ser>
          <c:idx val="1"/>
          <c:order val="1"/>
          <c:tx>
            <c:v>theoretical probability 1/6</c:v>
          </c:tx>
          <c:spPr>
            <a:ln xmlns:a="http://schemas.openxmlformats.org/drawingml/2006/main" w="28575">
              <a:solidFill>
                <a:srgbClr val="E4A11B"/>
              </a:solidFill>
              <a:prstDash val="dash"/>
            </a:ln>
          </c:spPr>
          <c:marker>
            <c:symbol val="none"/>
          </c:marker>
          <c:cat>
            <c:numRef>
              <c:f>'Chart Data'!$C$2:$C$39</c:f>
              <c:numCache>
                <c:formatCode>General</c:formatCode>
                <c:ptCount val="38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30</c:v>
                </c:pt>
                <c:pt idx="21">
                  <c:v>40</c:v>
                </c:pt>
                <c:pt idx="22">
                  <c:v>50</c:v>
                </c:pt>
                <c:pt idx="23">
                  <c:v>60</c:v>
                </c:pt>
                <c:pt idx="24">
                  <c:v>70</c:v>
                </c:pt>
                <c:pt idx="25">
                  <c:v>80</c:v>
                </c:pt>
                <c:pt idx="26">
                  <c:v>90</c:v>
                </c:pt>
                <c:pt idx="27">
                  <c:v>100</c:v>
                </c:pt>
                <c:pt idx="28">
                  <c:v>110</c:v>
                </c:pt>
                <c:pt idx="29">
                  <c:v>120</c:v>
                </c:pt>
                <c:pt idx="30">
                  <c:v>130</c:v>
                </c:pt>
                <c:pt idx="31">
                  <c:v>140</c:v>
                </c:pt>
                <c:pt idx="32">
                  <c:v>150</c:v>
                </c:pt>
                <c:pt idx="33">
                  <c:v>160</c:v>
                </c:pt>
                <c:pt idx="34">
                  <c:v>170</c:v>
                </c:pt>
                <c:pt idx="35">
                  <c:v>180</c:v>
                </c:pt>
                <c:pt idx="36">
                  <c:v>190</c:v>
                </c:pt>
                <c:pt idx="37">
                  <c:v>200</c:v>
                </c:pt>
              </c:numCache>
            </c:numRef>
          </c:cat>
          <c:val>
            <c:numRef>
              <c:f>'Chart Data'!$D$2:$D$39</c:f>
              <c:numCache>
                <c:formatCode>General</c:formatCode>
                <c:ptCount val="38"/>
                <c:pt idx="0">
                  <c:v>0.166667</c:v>
                </c:pt>
                <c:pt idx="1">
                  <c:v>0.166667</c:v>
                </c:pt>
                <c:pt idx="2">
                  <c:v>0.166667</c:v>
                </c:pt>
                <c:pt idx="3">
                  <c:v>0.166667</c:v>
                </c:pt>
                <c:pt idx="4">
                  <c:v>0.166667</c:v>
                </c:pt>
                <c:pt idx="5">
                  <c:v>0.166667</c:v>
                </c:pt>
                <c:pt idx="6">
                  <c:v>0.166667</c:v>
                </c:pt>
                <c:pt idx="7">
                  <c:v>0.166667</c:v>
                </c:pt>
                <c:pt idx="8">
                  <c:v>0.166667</c:v>
                </c:pt>
                <c:pt idx="9">
                  <c:v>0.166667</c:v>
                </c:pt>
                <c:pt idx="10">
                  <c:v>0.166667</c:v>
                </c:pt>
                <c:pt idx="11">
                  <c:v>0.166667</c:v>
                </c:pt>
                <c:pt idx="12">
                  <c:v>0.166667</c:v>
                </c:pt>
                <c:pt idx="13">
                  <c:v>0.166667</c:v>
                </c:pt>
                <c:pt idx="14">
                  <c:v>0.166667</c:v>
                </c:pt>
                <c:pt idx="15">
                  <c:v>0.166667</c:v>
                </c:pt>
                <c:pt idx="16">
                  <c:v>0.166667</c:v>
                </c:pt>
                <c:pt idx="17">
                  <c:v>0.166667</c:v>
                </c:pt>
                <c:pt idx="18">
                  <c:v>0.166667</c:v>
                </c:pt>
                <c:pt idx="19">
                  <c:v>0.166667</c:v>
                </c:pt>
                <c:pt idx="20">
                  <c:v>0.166667</c:v>
                </c:pt>
                <c:pt idx="21">
                  <c:v>0.166667</c:v>
                </c:pt>
                <c:pt idx="22">
                  <c:v>0.166667</c:v>
                </c:pt>
                <c:pt idx="23">
                  <c:v>0.166667</c:v>
                </c:pt>
                <c:pt idx="24">
                  <c:v>0.166667</c:v>
                </c:pt>
                <c:pt idx="25">
                  <c:v>0.166667</c:v>
                </c:pt>
                <c:pt idx="26">
                  <c:v>0.166667</c:v>
                </c:pt>
                <c:pt idx="27">
                  <c:v>0.166667</c:v>
                </c:pt>
                <c:pt idx="28">
                  <c:v>0.166667</c:v>
                </c:pt>
                <c:pt idx="29">
                  <c:v>0.166667</c:v>
                </c:pt>
                <c:pt idx="30">
                  <c:v>0.166667</c:v>
                </c:pt>
                <c:pt idx="31">
                  <c:v>0.166667</c:v>
                </c:pt>
                <c:pt idx="32">
                  <c:v>0.166667</c:v>
                </c:pt>
                <c:pt idx="33">
                  <c:v>0.166667</c:v>
                </c:pt>
                <c:pt idx="34">
                  <c:v>0.166667</c:v>
                </c:pt>
                <c:pt idx="35">
                  <c:v>0.166667</c:v>
                </c:pt>
                <c:pt idx="36">
                  <c:v>0.166667</c:v>
                </c:pt>
                <c:pt idx="37">
                  <c:v>0.166667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number of rolls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EDF2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050">
                    <a:solidFill>
                      <a:srgbClr val="586675"/>
                    </a:solidFill>
                    <a:latin typeface="Arial"/>
                    <a:ea typeface="Arial"/>
                    <a:cs typeface="Arial"/>
                  </a:rPr>
                  <a:t>relative frequency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>
                  <a:solidFill>
                    <a:srgbClr val="586675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17212B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E29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549AB-46CE-40B3-BB51-31B05AA5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81E637-073E-490B-9B8D-A488FEC1B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SE-801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7C4EA-084F-4355-9C30-F26D17BC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6477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Artificial Neural Networks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3FB31-20FF-48FF-9CF3-910CECBAD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B7D8EF"/>
                </a:solidFill>
                <a:latin typeface="Arial"/>
                <a:ea typeface="Arial"/>
                <a:cs typeface="Arial"/>
              </a:rPr>
              <a:t>LECTURE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682603-94C3-41C0-B7BD-30AFD2F4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09850"/>
            <a:ext cx="685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Learning and mathematical preliminaries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9E15A0-3236-48A4-9FA8-0B4E2CBAA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38600"/>
            <a:ext cx="609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1">
                <a:solidFill>
                  <a:srgbClr val="F4C867"/>
                </a:solidFill>
                <a:latin typeface="Arial"/>
                <a:ea typeface="Arial"/>
                <a:cs typeface="Arial"/>
              </a:defRPr>
            </a:pPr>
            <a:r>
              <a:rPr sz="2100" b="0" i="1">
                <a:solidFill>
                  <a:srgbClr val="F4C867"/>
                </a:solidFill>
                <a:latin typeface="Arial"/>
                <a:ea typeface="Arial"/>
                <a:cs typeface="Arial"/>
              </a:rPr>
              <a:t>Mathematics on the board. Python beside it.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3B050B-6585-4C9F-9253-F6A0C0BA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71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57B74A-16C8-4248-97BB-9F1D6DC3B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9335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E34976-3DB2-4837-8A32-38F3C56F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57162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1A841E-857A-40C0-9F6F-E4F032C8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9335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5E8315-EEDB-4647-9008-30001B72C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813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16CC1F-75B6-4630-8CDA-07D21DA3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433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3C6339-6AD1-4E46-B260-B43703E7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381375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08A82D-BB63-48A9-9EB4-C6AFC036A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433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964DB9-FA92-4AC8-AC7B-198C5F46C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D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9ABD2D-2F0A-47D2-BA56-2246162E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238375"/>
            <a:ext cx="47625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B6D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79943F-0004-4D03-A759-9083CDD48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0550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7D8EF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B7D8EF"/>
                </a:solidFill>
                <a:latin typeface="Arial"/>
                <a:ea typeface="Arial"/>
                <a:cs typeface="Arial"/>
              </a:rPr>
              <a:t>D2L Chapters 1 and 2 · PyTorch track</a:t>
            </a:r>
          </a:p>
        </p:txBody>
      </p:sp>
    </p:spTree>
    <p:extLst>
      <p:ext uri="{BB962C8B-B14F-4D97-AF65-F5344CB8AC3E}">
        <p14:creationId xmlns:p14="http://schemas.microsoft.com/office/powerpoint/2010/main" val="1479238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FF81BD-2E0B-46DF-990B-C69B2146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B82654-603C-4E66-9AF6-618D2EAC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1772D-4B78-4133-A983-F0D6F7BF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question for the semester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26B108-445D-4E04-8EFB-7D9AAB7A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AE09E-B0D8-4029-96C0-6C04BB82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714500"/>
            <a:ext cx="9810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How can a machine improve a prediction by changing numbers?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50663-F065-48CB-8998-ED511F26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0C467F-7B3F-44C0-9B35-F2492937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EC9D90-5B13-4888-B4B6-476FCA707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219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Represent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CEEC82-6DFA-4E87-854D-103C04884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5623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Turn observations into numerical arrays.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94DDF-10AB-40E0-AF1B-A4433CEE1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EC7643-1001-4798-8B4A-4C0426E7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11289-E77B-49DA-9C34-DD652B99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19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88C99-6068-405F-A8FA-9D7E92F6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 prediction error with a loss.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2791E6-1361-4D69-9650-01BBFAA97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2A84C5-D2DF-44E2-9A4C-73946E19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956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278CAC-BF43-4D9C-B2CE-2DEB7EC02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219450"/>
            <a:ext cx="2324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Update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151D92-EA8C-4823-BAD2-D7A1AC43A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324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derivatives to change parameters.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A06BB-8E87-479B-AC0E-01D0B1EA3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429250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Lecture 1 develops the language required to answer this question precisely.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9B1005-8014-4807-A098-16B1F351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83E88E-A914-41E0-A1DD-E015701A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537219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534639-7038-4AF4-8CF9-C4367372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FADCD9-DA1D-4639-9E5B-211B8BA07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C1B412-1F61-4C4B-ABA0-4EBC599B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Learning objectives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5158C3-4503-483A-9364-A7A1B8DA1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8777D8-F6B9-4812-82E0-4A441C912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By the end of the lecture, students can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C1AF22-1B92-497D-9D87-1697BC6C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1033462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 algn="l"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Formulate a supervised learning problem using data, a model, a loss, and parameters.</a:t>
            </a:r>
          </a:p>
          <a:p xmlns:a="http://schemas.openxmlformats.org/drawingml/2006/main">
            <a:pPr marL="254000" indent="-114300" algn="l"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Translate between mathematical notation and PyTorch tensor operations.</a:t>
            </a:r>
          </a:p>
          <a:p xmlns:a="http://schemas.openxmlformats.org/drawingml/2006/main">
            <a:pPr marL="254000" indent="-114300" algn="l"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Compute dot products, matrix products, gradients, and a chain-rule derivative.</a:t>
            </a:r>
          </a:p>
          <a:p xmlns:a="http://schemas.openxmlformats.org/drawingml/2006/main">
            <a:pPr marL="254000" indent="-114300" algn="l"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Use autograd and verify a derivative with finite differences.</a:t>
            </a:r>
          </a:p>
          <a:p xmlns:a="http://schemas.openxmlformats.org/drawingml/2006/main">
            <a:pPr marL="254000" indent="-114300" algn="l"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Explain why probability and data splits matter for prediction under uncertainty.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3DCFFB-1E3B-4B60-BE76-93AE5E08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667375"/>
            <a:ext cx="8953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Standard: derive it, compute it, implement it, interpret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FABA97-F544-4FD3-B609-BBC7D3F9D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97BEA-6286-4849-9675-C690D15F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1884811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F789B9-7742-49A0-88BD-EA7EE397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46176F-79C5-40EA-8643-D4B8461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COURSE ORIENTATION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FC5FC4-F2D4-4024-9694-932B6307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Three-hour lecture route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A82799-2ED1-4423-BE9D-4385BA29B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B6B68-61BD-41DD-AE8B-1950432F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6B79F1-A0D1-4049-9440-6DCBC683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81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AC02D5-E6D9-4F18-9BE9-531F7D60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5049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Learning 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ACC039-C267-4678-92DD-01CEBACE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18478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Data, model, loss, optimization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F9A2D9-677D-475F-91F9-78C918AB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5C63E-73B9-401C-8D7B-84ECF628B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811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1F473-ED6C-408F-B37E-92D035900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0495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2C9166-8D86-407A-9384-46923063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4785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Shapes, indexing, broadcasting, preprocessing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FA5003-D6D6-4C90-9E7B-03F5A1FB7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53A3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C7E59-018D-4752-825B-4E19EF37D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00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38A87-6BC3-4CB5-AAC1-26B49447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124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Mathematical operations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8509CC-8C7F-47F4-AC95-94F9A473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671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Linear algebra, calculus, chain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B2662-E916-499B-A450-96ABF56F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43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8074C7-57AB-42B6-8EFB-9243961A9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04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2682DE-5D1E-4D89-A266-4FDC3BDA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124200"/>
            <a:ext cx="4229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Executable derivatives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A172BC-112B-41CF-96DD-C13A812EB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4229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Autograd, gradient checking, uncertainty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098AE4-C78A-43F5-BBB7-D9CD038F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381625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Breaks after tensor preprocessing and automatic differentiation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BEAC0E-C8DC-4DCC-A71C-0764AC4B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B88A9A-1319-4522-B5F8-D0DA2AE8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37930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77879-8959-4E5D-A3F0-53D3239BD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3A15B-23A1-4A5C-8027-F5088EF0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11FD06-E05A-4184-AD1D-B0C5807A1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Rules struggle when observations vary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AEBB73-AADE-46F3-83E5-2EC424C8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14375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f6156bd4d74ec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076EA0-76D3-406A-BD5B-1BB76FB6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6192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Possible sources of variation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8ADEBC-7305-49E3-878D-955000FF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43125"/>
            <a:ext cx="2667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 algn="l">
              <a:spcAft>
                <a:spcPts val="8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measurement noise</a:t>
            </a:r>
          </a:p>
          <a:p xmlns:a="http://schemas.openxmlformats.org/drawingml/2006/main">
            <a:pPr marL="254000" indent="-114300" algn="l">
              <a:spcAft>
                <a:spcPts val="8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timing and amplitude</a:t>
            </a:r>
          </a:p>
          <a:p xmlns:a="http://schemas.openxmlformats.org/drawingml/2006/main">
            <a:pPr marL="254000" indent="-114300" algn="l">
              <a:spcAft>
                <a:spcPts val="8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subject and environment</a:t>
            </a:r>
          </a:p>
          <a:p xmlns:a="http://schemas.openxmlformats.org/drawingml/2006/main">
            <a:pPr marL="254000" indent="-114300" algn="l">
              <a:spcAft>
                <a:spcPts val="8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task-relevant differences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23F9C0-14D4-46E0-8605-676FE019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667250"/>
            <a:ext cx="30003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Learning uses examples to determine which variation matters for the target.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0B8BF2-9F16-4646-8AC7-60548BE1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7CCD3E-3DA2-4505-A71E-5FE7B0C62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966813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76F7C-A1D3-4D02-968A-2525C0E0A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DE8C9B-8D88-4971-99C7-AD805F8B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6C4F6F-DB0A-4FE6-849F-E9475AB5C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learning system has four components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F5B40-6E1C-4210-AB19-A7245A57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292DE2-98D7-4F2F-9FB5-44A3EDA2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3B71CC-5C65-4F0F-B613-9D01F189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28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911180-6465-4975-9189-EC96426C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55257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0AD56-A930-49BD-979E-9983D8333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1895475"/>
            <a:ext cx="4276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Observed examples and, for supervised learning, targets.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119F0A-3701-4B2D-BA67-A9BFABF9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716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DA4E16-3471-4CC1-B68C-A63C5A9FD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87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CD78C5-8502-4CE1-8243-2655015E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55257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94DCA6-2088-4CEF-95E7-4EF0308D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95475"/>
            <a:ext cx="4276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parameterized mapping from input to prediction.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26F23F-F43A-48AD-9409-72CB6DE6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A11B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C0D23-B876-4180-A20D-39ED7A03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38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0EEA5-FF20-49C7-B38E-3115B26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36232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Objective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17D747-6DB3-40A1-BFDE-510EE4D62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705225"/>
            <a:ext cx="4276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loss that assigns a numerical cost to predictions.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80538C4-CB28-46D9-923C-80CD0296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7D6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28F473-96B5-4CB5-898C-E6063A67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385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F437B3-2FEF-48A9-B52C-08DDB77F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362325"/>
            <a:ext cx="42767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Optimization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CE71A4-28BF-4CA9-9261-C39675AF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05225"/>
            <a:ext cx="42767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An algorithm that changes parameters to reduce loss.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D88483-402E-41F3-854A-C29D39BE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81625"/>
            <a:ext cx="971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data  +  model  +  loss  +  optimization  =  learning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581A56-83D4-4D84-8D8D-488B99CA8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37B24B-E78C-4985-AF34-5832E60FF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1113664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0A1EE4-D194-4850-A1AD-BAC7EE07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BEC42-925A-4EEB-B786-C4A780DB7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D66E02-B713-47CF-8ECA-ECFFF464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Supervised learning in one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A4C0E-ADC8-4B00-8E3C-DD8340AB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E5B800-16C0-4C82-B532-19BCE412F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71625"/>
            <a:ext cx="4476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 = {(xᵢ, yᵢ)}ᵢ₌₁ᴺ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1E9077-2F70-4C10-8546-8723B8599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4767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ŷᵢ = fθ(xᵢ)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33F0B5-3FCA-431E-9D39-E954077D3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L(θ) = (1/N) Σᵢ ℓ(fθ(xᵢ), yᵢ)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F5160F-295A-410C-915A-6197E076C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86250"/>
            <a:ext cx="647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θ* = arg minθ L(θ)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ED8110-28D4-445A-B324-F528C7C1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29250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The model supplies predictions. The loss defines improvement. Optimization searches over parameters.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9BC29-436B-4D39-9C80-F4C918F35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FF817B-DA14-4C30-9034-87E9B968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920091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43FBFD-2B7D-4D06-A6CF-E85C1188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84E073-D048-4DE8-9125-2DB75431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321B28-38D1-407C-82CD-5348EB70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Prediction tasks differ in their targets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906E64-14A1-44DB-9903-4B8FE1BAA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19125" y="1524000"/>
          <a:ext xmlns:a="http://schemas.openxmlformats.org/drawingml/2006/main" cx="10953750" cy="3667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2381250"/>
                <a:gridCol w="3048000"/>
                <a:gridCol w="3286125"/>
              </a:tblGrid>
              <a:tr h="733425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Task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Target y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Typical output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Regression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continuous value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remaining useful life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real value, e.g. force = 14.2 N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Binary classification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of two classes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fault / normal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probability, e.g. fault probability = 0.08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Multiclass classification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of k classes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gesture identity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k class scores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733425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Multilabel classification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several labels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simultaneous events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k independent scores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F0C627-CD3A-405A-BAF0-D146410A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The target determines the mathematical meaning of the output and the appropriate loss.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D238F1-F741-408A-ACB6-58E401513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B03F5-F397-4DDF-BC55-7191299F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188954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8D7085-9328-4D81-9AE2-A8961DA73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3709-2E72-43C4-94D0-BFAFC2070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WHY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FD173C-5D17-4A74-AE11-A13740690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Running case: predicting force from EMG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14BEBB-EE1B-43F9-83C4-8A7C33F0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371213-FEDE-4AE3-9FC4-D55C794A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Observation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69360A-3F3E-449C-A8A0-FD8537C8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x ∈ Rᵈ</a:t>
            </a:r>
          </a:p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window of samples from multiple EMG channels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F7B915-53DE-493A-8702-DE3D4D662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428875"/>
            <a:ext cx="809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62ECA6-23CC-44EF-A128-030407674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716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F3F8ED-7EC8-4F24-847E-97979E469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ŷ = fθ(x)</a:t>
            </a:r>
          </a:p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differentiable mapping with trainable parameters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95E323-EB2D-4BF5-89EA-BA61A9A60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428875"/>
            <a:ext cx="809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554027-3482-4C32-978B-FBD0B2BA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3555D0-B073-4855-9504-3FE66BA2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95500"/>
            <a:ext cx="23336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y ∈ R</a:t>
            </a:r>
          </a:p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Measured force for the same time window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41680B-89FA-4B26-A9BC-034B4FAA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905250"/>
            <a:ext cx="6286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ℓ(ŷ,y) = (ŷ − y)²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9B7350-00A2-435B-AF5B-02467797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8637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Question: what information may leak if neighboring windows enter both training and test sets?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F7B03-0CA1-48A1-9EA8-5E86AFE8A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7C477-4223-4587-B161-64A14255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761555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0FBF3B-9E16-458C-984D-82544CE5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3A69B7-9CDA-4887-A8A7-C87BC13F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895445-9E50-4ED8-9B5B-44294A61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Numerical arrays connect data to computation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FA08C-51FF-4C46-A1E6-76AF7E3DF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B4AAFB-C212-48CC-818E-FFD7DEA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Raw observations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BC141-ADF8-461E-82B4-87D85FC59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95500"/>
            <a:ext cx="3238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4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time,ch1,ch2,force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0.00,0.12,-0.03,14.1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0.01,0.16,-0.01,14.4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0.02,0.09, 0.02,13.9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9A7DCB-98B6-41D3-826D-4833E8F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762250"/>
            <a:ext cx="809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548121-2235-4175-B699-9A0EEC468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71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Feature matrix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98F7C4-7257-4C04-ABB9-2F4C3490D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095500"/>
            <a:ext cx="3143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= [0.12  −0.03</a:t>
            </a:r>
          </a:p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0.16  −0.01</a:t>
            </a:r>
          </a:p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0.09   0.02]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1D2880-E36C-4212-A3B7-397632E67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762250"/>
            <a:ext cx="8096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33514D-892A-4ADC-B06B-975A328F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716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Tensor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A38A06-324E-41CC-B1F9-CC0E92AB3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95500"/>
            <a:ext cx="20478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X.shape</a:t>
            </a:r>
          </a:p>
          <a:p xmlns:a="http://schemas.openxmlformats.org/drawingml/2006/main">
            <a:pPr algn="l">
              <a:def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# [3, 2]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X.dtype</a:t>
            </a:r>
          </a:p>
          <a:p xmlns:a="http://schemas.openxmlformats.org/drawingml/2006/main">
            <a:pPr algn="l">
              <a:def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27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# float32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6D0D7-347E-48FD-A4ED-F085FD5E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143500"/>
            <a:ext cx="8953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Rows represent examples or time samples. Columns represent measured variables or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04D5B0-6992-414E-B73D-DAE408BE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8EB9CC-9055-425F-9D25-6D858667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852076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9A4128-B11B-4ECD-A132-C3C5976B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6DE68E-8C91-443A-AC56-95467E0C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83FF3-AAD0-40DC-92C1-FEFD19D4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Scalars, vectors, matrices, and tensors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CAA21-1E76-4F78-87AA-C848B6E7E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523875" y="1476375"/>
          <a:ext xmlns:a="http://schemas.openxmlformats.org/drawingml/2006/main" cx="1114425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1524000"/>
                <a:gridCol w="1190625"/>
                <a:gridCol w="2238375"/>
                <a:gridCol w="4333875"/>
              </a:tblGrid>
              <a:tr h="7620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Object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Notation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Order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Example shape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Scalar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value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Vector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[d]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one example with d features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Matrix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[N,d]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N examples with d features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Tensor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3 or more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[B,C,T]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batch, channels, time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64575-1C8C-484F-BACD-75DF20CBC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19750"/>
            <a:ext cx="9620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 order and tensor dimension are related ideas, but shape communicates the exact size of every axis.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AABFE-0644-4B22-8884-765EF2D0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747542-1DE4-4094-8AA7-D61C4DDE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7468399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6533C4-84A6-46AD-8BC4-65DD17D9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C20FBB-5C5F-4339-92AB-AF1E9809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47B2AE-AF9B-4533-B3A9-B2491552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Every tensor axis must have a meaning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91D434-DAA2-4993-8346-8D62031EB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542C0C-11D9-4277-BFD6-62F271A97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4762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has shape [B, C, T]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F3066-DE2B-4810-9AFF-167CBB210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7F918A-BF38-44AB-98B2-A22DADB3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7162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batch size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number of examples processed together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304AC-67C6-449F-9040-F2F5D877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62250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CA8FB7-704D-46D1-8727-E734DE1B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622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channels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number of simultaneous sensors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C4F7BA-B779-4A6E-8EBB-95D305E9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5287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2FF390-3441-4B09-BEEA-3C059FCEA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952875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time</a:t>
            </a:r>
          </a:p>
          <a:p xmlns:a="http://schemas.openxmlformats.org/drawingml/2006/main">
            <a:pPr algn="l"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number of samples in each window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06EF1D-D6B3-40B1-9241-A9264ABCA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981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Example: X.shape = [32, 8, 256] contains 32 windows, 8 channels, and 256 samples per channel.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1F3105-7F0A-4860-85F7-DC1C4E29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B4FF67-E237-460E-A7D8-7B45FECA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6479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E10ABA-3518-426F-B088-A1A5BBE1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B2C03-6A10-467B-AEF5-C6429E963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BF025-FDC8-4E53-A453-39AAB586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same object in mathematics and PyTorch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CBF749-3614-4E3F-A379-58CAEDE0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D0CC9F-1618-4592-A72F-E6DD21CB8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4572000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= [0  1  2</a:t>
            </a:r>
          </a:p>
          <a:p xmlns:a="http://schemas.openxmlformats.org/drawingml/2006/main">
            <a:pPr algn="ctr">
              <a:defRPr sz="23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3  4  5]  ∈ R²ˣ³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BA81D-EDC0-471A-AF9A-6BECC507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76375"/>
            <a:ext cx="53340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torch.arange(6, dtype=torch.float32)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X.reshape(2, 3)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print(X)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print(X.shape, X.numel())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A9F00-F94F-4F7B-8F54-E83C11A2A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29125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AA4B12-B637-4355-857B-7C26C484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10125"/>
            <a:ext cx="53340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84D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tensor([[0., 1., 2.],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[3., 4., 5.]])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torch.Size([2, 3])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E8B73-D0BC-4805-8044-DF7D3E769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76750"/>
            <a:ext cx="4095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reshape changes the view of the values, not their number.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B2283-6556-4562-A9F0-B5A76B53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0AEC46-431D-4641-A533-B04CD7B62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617364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DDEDFC-895B-4932-B10F-EA5A8CD3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EDF55-08D8-4F68-A419-81A2450D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238A73-4FE2-438D-9EC7-88C26A33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Indexing and reductions preserve axis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250D4-40CA-4954-BEEF-771B81392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ED30B0-3647-4913-93F0-79B33CC80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5810250" cy="385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torch.tensor([[1., 2., 3.],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              [4., 5., 6.]])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X[0, 1]       # tensor(2.)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X[:, 1]        # tensor([2., 5.])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X.sum()        # tensor(21.)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X.sum(dim=0)   # tensor([5., 7., 9.])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X.mean(dim=1)  # tensor([2., 5.])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0FF20-64F7-4259-83B3-74445F7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66875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Questions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1F7FDB-FF96-43AD-BD78-3485B9B0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238375"/>
            <a:ext cx="3905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Which axis disappears after each reduction?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What does dim=0 mean in this matrix?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When should keepdim=True be used?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55D83-A572-439A-B76D-52B59B2CD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619625"/>
            <a:ext cx="4095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sum over rows  ⇒  one value per column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2B780D-B66C-461F-8590-A1408DCB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524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Never memorize dim numbers without naming the axes.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91E67-A55B-4084-9C20-43ADC9DB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3EF0B1-2922-44D2-B260-891E82C5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3939761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1D1C4F-94A6-4624-B7B5-051513457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68EA10-72FA-4693-B0A2-BAE09269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CDAF8-EDDD-4C76-A2D6-F496931B2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Broadcasting applies one vector across a batch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F9C81A-8AB9-4AF2-A122-7011266E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9A71C6-9CD4-4D2E-AEB2-2AB23720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= [1  2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3  4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5  6]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3795A-0CE5-4DEC-AE7E-303236F2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860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9A1FC7-EDBA-4EDF-9776-363793F5F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95500"/>
            <a:ext cx="2476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 = [10  20]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47629D-CB7C-4AD8-97AD-90D851AE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286000"/>
            <a:ext cx="5238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5E9E44-E599-467F-A3F5-4FD0B9FD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571625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[11  22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13  24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15  26]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3D29E7-92AD-4249-B849-09033848A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81500"/>
            <a:ext cx="87630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torch.tensor([[1.,2.],[3.,4.],[5.,6.]])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b = torch.tensor([10.,20.])</a:t>
            </a:r>
          </a:p>
          <a:p xmlns:a="http://schemas.openxmlformats.org/drawingml/2006/main">
            <a:pPr algn="l">
              <a:def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5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 = X + b                 # shape [3,2]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AE42A3-BE7E-46A5-B03C-A00602DBF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Compatible trailing dimensions allow b to act as one bias vector shared by all rows.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65788F-5BC2-4D25-B4FB-18CCBEEC4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02C5A-3FA3-41AB-A933-E0960F79A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5209024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952BD-B96D-4FD2-B9BB-FE496E68E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64662-51D2-452B-BCA9-DDB3AEEF3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TENSORS AND DATA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5BAE2A-86BD-4F6A-B5C0-5EA1598E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Preprocessing decisions become model assumptions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02CBE-6C83-410D-AF15-B0727C30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948989-A1BF-4E54-8953-6F2AB35F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Raw data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1B850-7C68-4B03-82F0-194AABE90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209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missing values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mixed units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categorical fields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outliers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sensor faults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2D7CB-A53A-49FD-9FC1-1CCD33C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7146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8912F4-9D82-49AA-AA2C-9D8126B07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Decisions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321CB-06CC-4C3E-AB4D-8CBFB41F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47875"/>
            <a:ext cx="2857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impute or remove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scale using training data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encode categories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filter or flag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record the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189B6E-FF40-4095-9C80-431FE0CF4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14625"/>
            <a:ext cx="7143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3D6F66-1004-40A2-B9D2-6CE03BC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5240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Tensor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B0B539-21B1-4A10-A3BC-9983F559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143125"/>
            <a:ext cx="2857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∈ Rᴺˣᵈ</a:t>
            </a:r>
          </a:p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y ∈ Rᴺ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661E2A-D8A6-4346-B851-968E4885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857750"/>
            <a:ext cx="9334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Fit every data-dependent transformation on the training set only.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D0772D-C64B-4653-8F18-4728CF4D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667375"/>
            <a:ext cx="885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Otherwise, information from validation or test data leaks into model development.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1F93FB-294A-40CD-9733-D76363878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0FFDAA-7177-4DF6-A83B-F71D4FDB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6574369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E29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F0E1FC-21F1-4E7F-B2D1-603134BE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5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CHECKPOINT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5C0FB1-5B8E-49E7-B7D3-F201B26F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952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Tensors carry both values and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CB1606-B9AB-49C0-965E-813DE303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47650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 algn="l">
              <a:spcAft>
                <a:spcPts val="1300"/>
              </a:spcAft>
              <a:buChar char="•"/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State the shape and axis meaning of a batch of 16 windows with 4 channels and 200 samples.</a:t>
            </a:r>
          </a:p>
          <a:p xmlns:a="http://schemas.openxmlformats.org/drawingml/2006/main">
            <a:pPr marL="254000" indent="-114300" algn="l">
              <a:spcAft>
                <a:spcPts val="1300"/>
              </a:spcAft>
              <a:buChar char="•"/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Predict the result shape of X.sum(dim=2).</a:t>
            </a:r>
          </a:p>
          <a:p xmlns:a="http://schemas.openxmlformats.org/drawingml/2006/main">
            <a:pPr marL="254000" indent="-114300" algn="l">
              <a:spcAft>
                <a:spcPts val="1300"/>
              </a:spcAft>
              <a:buChar char="•"/>
              <a:defRPr sz="2025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Explain one way preprocessing can leak test information.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5F9425-87DE-4749-BF4E-0E19A30DB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72125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4C867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4C867"/>
                </a:solidFill>
                <a:latin typeface="Arial"/>
                <a:ea typeface="Arial"/>
                <a:cs typeface="Arial"/>
              </a:rPr>
              <a:t>10-minute break · keep your answers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626553-2F18-4F92-9C9D-8840CBB8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32CAC6-43DF-47BE-B55E-96537419D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74371281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365AB-7D20-4BDD-840C-85453847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C4685-A262-48BB-9DC5-699B27F0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22979A-3FBF-4FB6-AA78-2608106C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dot product is a weighted sum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E9A43F-D987-40C2-B7E1-0CA7778B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C501E2-96DB-4769-B696-E009DEB5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047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x = [2, −1, 3]ᵀ      w = [0.5, 2, −1]ᵀ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7A21F4-D9E0-4DCC-8EBD-9E2290B6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14625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wᵀx = Σⱼ wⱼxⱼ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35DD7-03FB-439C-B15A-AEA20B44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= 0.5(2) + 2(−1) + (−1)(3) = −4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B1D8C-764C-42F0-842D-305E1740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64770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torch.tensor([2., -1., 3.])</a:t>
            </a:r>
          </a:p>
          <a:p xmlns:a="http://schemas.openxmlformats.org/drawingml/2006/main">
            <a:pPr algn="l">
              <a:def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 = torch.tensor([0.5, 2., -1.])</a:t>
            </a:r>
          </a:p>
          <a:p xmlns:a="http://schemas.openxmlformats.org/drawingml/2006/main">
            <a:pPr algn="l">
              <a:def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torch.dot(w, x)  # tensor(-4.)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398D7-23CB-47BF-A1E8-E0ABF708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8B6348-5201-4072-A98C-9EFCA9DE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691769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58FDED-DCB8-4B0D-A9DD-772B13E00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90ADDC-4351-43F2-B52A-5710B6F3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782003-F395-47E8-809B-5C97F0F97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Matrix multiplication computes many weighted sums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9A1572-ED33-4FB9-89FC-C88A711E9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B4D31A-83C6-4F76-95CE-76F6CDFBD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∈ Rᵐˣᵈ,  x ∈ Rᵈ   ⇒   Ax ∈ Rᵐ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6DCC93-1BE8-4CC5-98FD-0CD7B82F6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7175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Each row of A forms one dot product with x.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D985A2-E108-4844-A29C-66D8CA75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81375"/>
            <a:ext cx="10096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∈ Rᵐˣᵈ,  B ∈ Rᵈˣᵏ   ⇒   AB ∈ Rᵐˣᵏ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D9250-C39B-4B38-A762-509C573B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381500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Inner dimensions agree. Outer dimensions remain.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8F50A4-A44E-425F-9243-958F224F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191125"/>
            <a:ext cx="3810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 = A @ x</a:t>
            </a:r>
          </a:p>
          <a:p xmlns:a="http://schemas.openxmlformats.org/drawingml/2006/main">
            <a:pPr algn="l">
              <a:def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C = A @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2F2FB9-0426-4AC8-B773-B3E6B937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B6EA2B-5622-4296-A60D-AF260199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09409873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9FB2D-5ED5-478D-BABC-40E7FA2F3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5C76F-C8F7-4E61-BF70-9278AD62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8A2635-6648-4EC5-B661-AF949500C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Worked matrix product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7D9A5E-1DA4-460F-8DB1-B5BC44D3D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1D3929-25CA-43DE-8B89-6AC12C61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428750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= [1  2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3  4]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52172-EA77-448D-9FA8-427718D0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09575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B = [2  0</a:t>
            </a:r>
          </a:p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1 −1]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1095375" y="3000375"/>
          <a:ext xmlns:a="http://schemas.openxmlformats.org/drawingml/2006/main" cx="666750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524000"/>
                <a:gridCol w="3429000"/>
                <a:gridCol w="1714500"/>
              </a:tblGrid>
              <a:tr h="56197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Entry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Dot product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Value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C₁₁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[1,2] · [2,1]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C₁₂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[1,2] · [0,−1]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−2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C₂₁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[3,4] · [2,1]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C₂₂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[3,4] · [0,−1]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−4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5F755F-B58F-4CD3-86F2-300C7742F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337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AB = [ 4  −2</a:t>
            </a:r>
          </a:p>
          <a:p xmlns:a="http://schemas.openxmlformats.org/drawingml/2006/main">
            <a:pPr algn="ctr">
              <a:defRPr sz="24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4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      10  −4]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1CF47-C546-43FA-8E2F-93E9E6FB3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286375"/>
            <a:ext cx="19050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80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A @ 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EA1DEB-3BF7-4A16-AAC2-4BB28F754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58FAC-23ED-4160-8C4C-B37C618F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4878645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A7063-5AE5-4982-B049-DAC233FD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EC13B-C4D8-44D2-8F60-0254E5E07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LINEAR ALGEBRA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52616F-83FC-4302-A6D5-CD9253AA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Norms quantify size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87DAE-D9A0-464B-B4C3-B49F3AD3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7F020D-7546-4475-840C-B1B40F9D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7162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‖x‖₁ = Σᵢ |xᵢ|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6500EC-25A4-49CA-B8BF-47269972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57162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‖x‖₂ = √(Σᵢ xᵢ²)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E8325-92CC-49DF-95F6-54234BD9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0375"/>
            <a:ext cx="4762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‖A‖F = √(ΣᵢΣⱼ Aᵢⱼ²)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CBFFBB-416F-418A-9E2C-876B94EA3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For x = [3, −4]ᵀ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47A76B-A737-470B-9EDC-CF07FDAEC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2190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‖x‖₁ = 7</a:t>
            </a:r>
          </a:p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‖x‖₂ = 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1B7050-B5F7-4BB4-91C3-4B422B3D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524375"/>
            <a:ext cx="4762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torch.linalg.vector_norm(x, ord=1)</a:t>
            </a:r>
          </a:p>
          <a:p xmlns:a="http://schemas.openxmlformats.org/drawingml/2006/main">
            <a:pPr algn="l">
              <a:def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4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torch.linalg.vector_norm(x, ord=2)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09AE02-AD4D-42F6-9854-73B408E1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53D00B-543E-4942-BDBB-5F6EC423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37649595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670691-12FF-460B-B245-72468721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3268A-A0BD-425C-A3F4-E46078A8A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D239D1-C402-4264-9B59-2913410B4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derivative measures local sensitivity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791BA5-FFC2-4CBA-AAC3-7CA8382A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666750" y="1428750"/>
          <a:ext xmlns:a="http://schemas.openxmlformats.org/drawingml/2006/main" cx="70485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637997af8c3488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6842DD-505E-4066-B28D-03203A21C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619250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L(w) = (w−3)²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92E7F-8B24-4B9A-BA68-92D9A86A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85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dL/dw = 2(w−3)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CA5AD2-2647-4B11-8B7D-2CB19549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714750"/>
            <a:ext cx="238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At w = 1: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2175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dL/dw = −4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DC45E-3E30-4F63-ACD2-A94909FE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00625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Increasing w slightly should reduce the loss.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ECD78E-E690-430F-A202-E81D1E3A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67AA3E-48AA-4B7C-93AD-35966D30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180988505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D87835-A3A0-4E17-A159-74E32A64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05EAA-851F-4D6E-A276-3A3A8EEC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B04D1-FFAE-4258-8BB9-DB3411FDD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gradient collects all partial derivatives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D156F5-6669-4CF6-8C3C-3DDE8852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C0D54-93D5-4AFD-9890-3BA103A8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524000"/>
            <a:ext cx="962025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7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L(w,b) = (wx + b − y)²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D12F83-0B80-49D8-8B38-5244413D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667000"/>
            <a:ext cx="74295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∇L = [∂L/∂w,  ∂L/∂b]ᵀ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0D8682-CDB5-4AAC-8AE6-CFC53D4D0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∂L/∂w = 2(wx+b−y)x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5D5383-F784-4598-8531-E6733E54C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905250"/>
            <a:ext cx="49530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∂L/∂b = 2(wx+b−y)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2690FD-EA68-4E31-A6EA-AA25D41A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381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gradient points in the direction of greatest local increase. Gradient descent moves in the opposite direction.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35CAC-A4F3-42AF-92C6-F06AC172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F7ABA3-C6B4-4884-9FB4-110A9B79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995275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03D557-9AD3-40A8-848B-CCED4B2EC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B84E59-3BAB-466A-BB54-E6DC177C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CALCULUS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E5A5EA-8E05-401B-A436-A186551A5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chain rule follows dependence through a graph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9FC37E-2082-43FB-819D-FBC6793FE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42923F-37E3-41E0-ABEC-2EBE4F59E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28875"/>
            <a:ext cx="85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C2333C-D33F-439A-8EB9-1F23B988F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65747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61152-A6A9-4BF3-8443-4FD9DA8E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286000"/>
            <a:ext cx="2000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z = wx+b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FDF8FD-106C-4284-81B3-1A77D228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5747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B970C5-77A3-4BC8-9784-1E13DEAA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86000"/>
            <a:ext cx="1809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ŷ = g(z)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4B72B8-8609-4613-A4B3-AAEA6A3C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65747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35C7AE-85A8-4785-94C8-CD9FFDBC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86000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 = ℓ(ŷ,y)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DACD83-0D38-4B7A-B993-128422F14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10000"/>
            <a:ext cx="8953500" cy="857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dL/dw = (∂L/∂ŷ)(dŷ/dz)(∂z/∂w)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A83A27-DC0F-4797-8AD3-F2C52903B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286375"/>
            <a:ext cx="8667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Backpropagation evaluates these local derivatives from right to left.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A1451E-16F3-4E11-BD74-6D0B6988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C85D8-D103-48B7-AAE4-9154A12F9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23297978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F10D7F-EB47-423B-AE8C-FAB393DC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2B8FC0-3CBA-4C9C-AF5B-D5B3D698F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AUTOMATIC 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537581-252C-4128-B8FB-84E2EC022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PyTorch records the graph and computes the gradient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F2AB0B-1996-4AD1-BBA0-702C862D4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041766-69EA-4CD3-880B-1D68BB7F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38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torch.tensor(2.0)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 = torch.tensor(5.0)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 = torch.tensor(1.0, requires_grad=True)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b = torch.tensor(0.0, requires_grad=True)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y_hat = w*x + b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 = (y_hat - y)**2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print(loss.item())  # 9.0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print(w.grad)        # -12.0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print(b.grad)        #  -6.0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FA6A81-5592-44A6-B81F-B00EB00B9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166687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Manual check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C06E6-A098-492E-8470-71087407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38375"/>
            <a:ext cx="3333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∂L/∂w</a:t>
            </a:r>
          </a:p>
          <a:p xmlns:a="http://schemas.openxmlformats.org/drawingml/2006/main">
            <a:pPr algn="ctr">
              <a:defRPr sz="21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= 2(wx+b−y)x</a:t>
            </a:r>
          </a:p>
          <a:p xmlns:a="http://schemas.openxmlformats.org/drawingml/2006/main">
            <a:pPr algn="ctr">
              <a:defRPr sz="21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= 2(2−5)(2)</a:t>
            </a:r>
          </a:p>
          <a:p xmlns:a="http://schemas.openxmlformats.org/drawingml/2006/main">
            <a:pPr algn="ctr">
              <a:defRPr sz="21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= −12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9D646-6CA3-4850-B631-6BCDC707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857750"/>
            <a:ext cx="33337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Autograd replaces repetitive differentiation, not mathematical understanding.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41462F-BE4E-420C-ACD7-0C8A981E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2E1829-6C75-4E74-A05D-645346CF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204953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61DF16-DEB4-4E94-81E8-D544CFC1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FCF871-B186-4982-830B-A57D2B9F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AUTOMATIC DIFFERENTIATION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A62EF5-C5BA-4CC2-9BF8-2F03AE26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Finite differences test an analytical gradient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18505-A147-44D4-AB0F-B7D0D333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66750" y="1476375"/>
          <a:ext xmlns:a="http://schemas.openxmlformats.org/drawingml/2006/main" cx="6953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c67a3f3c6c4f7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1C21DB-6372-470B-8DC3-D774A381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352425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dL/dw ≈ [L(w+h) − L(w)] / 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73DC05-7400-4D95-9FF8-30D2D92B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05125"/>
            <a:ext cx="35242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def loss(w):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return (2*w - 5)**2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h = 1e-4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g = (loss(1+h)-loss(1))/h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print(g)  # about -12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14D912-3135-468D-ABC6-14AB0CCF4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286375"/>
            <a:ext cx="3524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Forward differences provide an independent diagnostic for implementation errors.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A51F91-3810-4343-8E11-7CEB9A02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320C4-3CB9-4582-A05D-3DA3D85F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8572716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5E0877-BA8F-4828-89AD-4634F146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9E51CA-E0D6-4E9F-B698-7CA2C4F37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981A81-AF1B-4AC7-B2FF-8ABC0EE72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Probability is the language of uncertain prediction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735941-1849-44C1-9266-1FF48656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85DDDB-0D95-4F46-9EEA-D91A6B3E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71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5A7C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5A7C4"/>
                </a:solidFill>
                <a:latin typeface="Arial"/>
                <a:ea typeface="Arial"/>
                <a:cs typeface="Arial"/>
              </a:rPr>
              <a:t>Outcome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BFF99F-C61D-4B86-98D6-692F5B3B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value that may occur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Example: gesture class 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0D2989-5255-4ACE-9533-C3785AE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1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Random variable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2EC8F1-1AE0-49C3-B166-310FDBA11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numerical mapping of outcomes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Example: force 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330CCB-4CD8-4ED1-BBBE-AA4DF102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Distribution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7E301A-2D5B-4114-9257-96C489C8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95500"/>
            <a:ext cx="285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Probabilities assigned to possible values</a:t>
            </a:r>
          </a:p>
          <a:p xmlns:a="http://schemas.openxmlformats.org/drawingml/2006/main">
            <a:pPr algn="l">
              <a:defRPr sz="1725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Example: P(Y | X=x)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28CFD8-9C6B-499D-95BF-F439818D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P(y | x) quantifies uncertainty about the target after observing 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BA919-50AC-49A7-9E58-15CC04D01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86375"/>
            <a:ext cx="9334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A prediction may report a value, a class, or an entire conditional distribution.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A45675-811A-466A-B710-2BD44F276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550914-A4DB-4616-8ED0-93EC3F26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233489491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02A83B-310D-4291-A9BD-69EF01C91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51FE8-74C4-400B-BB43-6F2A7AA93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8ABAB5-DBE9-4B0E-B01F-36C5BA259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Empirical frequency stabilizes with more observations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C13F21-1E82-46BA-B78F-0F5D9E68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14375" y="1428750"/>
          <a:ext xmlns:a="http://schemas.openxmlformats.org/drawingml/2006/main" cx="7620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9007ed9fba4441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0911FC-CE0E-4150-BA8B-FD186096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428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P̂(A) = count(A) / 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A2E2A9-8EB4-422B-AA34-FC61270C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2809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With more observations, empirical frequency often approaches the underlying probability.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DE30A5-6DC3-472C-BE52-69881D61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476750"/>
            <a:ext cx="309562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rolls = torch.randint(1, 7, (200,))</a:t>
            </a:r>
          </a:p>
          <a:p xmlns:a="http://schemas.openxmlformats.org/drawingml/2006/main">
            <a:pPr algn="l">
              <a:def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freq = (rolls == 1).float().cumsum(0)</a:t>
            </a:r>
          </a:p>
          <a:p xmlns:a="http://schemas.openxmlformats.org/drawingml/2006/main">
            <a:pPr algn="l">
              <a:def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125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freq /= torch.arange(1, 201)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50B2C8-F0B4-46AC-865B-70092A6D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7A3F4F-4F56-4FF9-A37B-8B029D9D4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71051507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B945B4-10C0-4289-8B29-09570394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226C-83C5-4DD5-920D-18FD92CCE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PROBABILITY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2C0EC-DB8E-42DA-A505-0AF58EAD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Expectation and variance summarize a distribution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7C98F4-DB50-421B-B840-E8CDDC3C7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CD1455-08A8-42F6-8DE6-019DDDB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6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6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E[X] = Σₓ x p(x)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FB29C9-1047-456B-B396-8BB17339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71625"/>
            <a:ext cx="457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5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Var(X) = E[(X − E[X])²]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EB21BD-67C7-48C1-BB34-B18D66B38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5125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Fair six-sided die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5E0F4C-93CE-4E2A-B190-801A7D198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29000"/>
            <a:ext cx="9906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E[X] = (1+2+3+4+5+6)/6 = 3.5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8BEFAF-D6D0-4F06-8502-B1B5C6A47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933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Expectation is a probability-weighted average. Variance measures squared deviation around that average.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69B723-B9DD-49FF-80E6-30B86F1F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Training losses are usually empirical averages that estimate an expected loss.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8AF8C6-E760-416E-A718-A81C11946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15456-0513-490C-9FE8-FACAA537E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180476097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7E267-CFB6-4ADA-AFF6-B3A14C37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19A944-BF01-491A-BBEC-0FF4D786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SCIENTIFIC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8892AF-80B0-41C5-9F6B-E4DF68C2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Training, validation, and test splits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4F1841-01BC-4B9C-8FD8-AF9E63619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571625"/>
          <a:ext xmlns:a="http://schemas.openxmlformats.org/drawingml/2006/main" cx="1076325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4191000"/>
                <a:gridCol w="4476750"/>
              </a:tblGrid>
              <a:tr h="738188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Split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Used to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Must not be used to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Training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fit parameters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claim final generalization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Validation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select models and hyperparameters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update weights directly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Test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estimate final performance once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choose preprocessing or architecture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BE58E4-9940-401A-B9E6-AE9646CE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000625"/>
            <a:ext cx="9620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For subject-dependent measurements, split by subject or acquisition session before forming windows.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DF1C9-8B7B-4C0C-B3BF-BA07D31A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626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The split must represent the deployment question.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6AD58-843B-4131-AC12-4D4A6D63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23937D-6716-40C6-B1AB-F0FC603F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73703021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1341B-00F5-46BB-B428-0D28F2730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554E08-AB88-440C-BD79-A008B330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2A646B-4A0B-4D2E-ABB7-D05BC228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mathematical skeleton of supervised learning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CDC78B-7761-47C9-B1BA-E3553CE1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BA1477-9919-4043-BF4E-B65971FF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 = {(xᵢ,yᵢ)}ᵢ₌₁ᴺ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04463-9592-4292-BBC3-1C28251A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5240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ŷᵢ = fθ(xᵢ)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3F909-5390-48BF-9A12-6E281A731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24000"/>
            <a:ext cx="3143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ℓᵢ = ℓ(ŷᵢ,yᵢ)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81DF1F-AE3B-4692-8BE7-6D2724667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3000375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L(θ) = (1/N) Σᵢ ℓᵢ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2EF8B9-8D68-46B8-9329-37887C79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00375"/>
            <a:ext cx="3524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g = ∇θ L(θ)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6914C2-8702-4BE6-8235-F2E216F3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76750"/>
            <a:ext cx="476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6F1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850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θ ← θ − ηg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28403-4966-48DA-A009-D520198E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62625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Data supplies evidence. Calculus supplies a local direction. Code carries out the update.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88735-69DB-48DD-801C-5E711047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3C404A-673D-47C5-8674-05C0A3927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88152957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4B308-2707-4B94-BB3A-BFC3A648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7FF45A-7EA5-461E-A289-AE8A466E0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A850F5-4D2C-4B76-A7BC-3BE9C12D8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One complete PyTorch gradient 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D319C-063C-45F2-956C-49D89CC0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E93D2B-2728-4B1C-9B60-E03C7C1D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6191250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2948"/>
          </a:solidFill>
          <a:ln xmlns:a="http://schemas.openxmlformats.org/drawingml/2006/main" w="9525">
            <a:solidFill>
              <a:srgbClr val="17365D"/>
            </a:solidFill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import torch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x = torch.tensor([1., 2., 3.])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 = 2*x + 1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 = torch.tensor(0., requires_grad=True)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b = torch.tensor(0., requires_grad=True)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y_hat = w*x + b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 = ((y_hat - y)**2).mean()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loss.backward()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with torch.no_grad():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w -= 0.1*w.grad</a:t>
            </a:r>
          </a:p>
          <a:p xmlns:a="http://schemas.openxmlformats.org/drawingml/2006/main">
            <a:pPr algn="l">
              <a:def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defRPr>
            </a:pPr>
            <a:r>
              <a:rPr sz="1350" b="0" i="0">
                <a:solidFill>
                  <a:srgbClr val="E8F1F8"/>
                </a:solidFill>
                <a:latin typeface="Consolas"/>
                <a:ea typeface="Consolas"/>
                <a:cs typeface="Consolas"/>
              </a:rPr>
              <a:t>    b -= 0.1*b.grad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1F5282-677C-47B9-977C-08226E4C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619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Before update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8DFBA6-4AF9-496D-85E9-AD9BD46CE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28575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w = 0,  b = 0</a:t>
            </a:r>
          </a:p>
          <a:p xmlns:a="http://schemas.openxmlformats.org/drawingml/2006/main">
            <a:pPr algn="ctr">
              <a:defRPr sz="217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 = 27.667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042D6-7CC6-477E-BAC7-5D18B2F4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476625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Gradient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07706D-A283-49BD-958E-793C36AA5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52875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∂L/∂w = −22.667</a:t>
            </a:r>
          </a:p>
          <a:p xmlns:a="http://schemas.openxmlformats.org/drawingml/2006/main">
            <a:pPr algn="ctr">
              <a:defRPr sz="2025" b="0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∂L/∂b = −10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5387D-BD1B-4B43-8D7F-D3F2A59A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5476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After update: w ≈ 2.267, b =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AA42A-D9F9-4428-9BD5-48E8B869D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7D7CE-887B-4372-8E39-B65A9A56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78263049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C9FC51-5C2A-49BE-9D23-4F5C3BBD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7218C-1916-40AD-9A68-2C05D54DA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SYNTHESIS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2B3344-39FD-4911-B909-D84E89F6F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The update changes predictions and loss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82DEE-5649-483D-A5DC-53D752D01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904875" y="16192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143250"/>
                <a:gridCol w="4095750"/>
              </a:tblGrid>
              <a:tr h="66675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Before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After one step</a:t>
                      </a:r>
                    </a:p>
                  </a:txBody>
                  <a:tcPr marL="91440" marR="91440" marT="45720" marB="45720" anchor="ctr">
                    <a:solidFill>
                      <a:srgbClr val="17365D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2.267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0.000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1.000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predictions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[0, 0, 0]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[3.267, 5.533, 7.800]</a:t>
                      </a:r>
                    </a:p>
                  </a:txBody>
                  <a:tcPr marL="91440" marR="91440" marT="45720" marB="45720" anchor="ctr">
                    <a:solidFill>
                      <a:srgbClr val="F3F6F9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mean squared loss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7212B"/>
                          </a:solidFill>
                          <a:latin typeface="Arial"/>
                          <a:ea typeface="Arial"/>
                          <a:cs typeface="Arial"/>
                        </a:rPr>
                        <a:t>27.667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2F7D64"/>
                          </a:solidFill>
                          <a:latin typeface="Arial"/>
                          <a:ea typeface="Arial"/>
                          <a:cs typeface="Arial"/>
                        </a:rPr>
                        <a:t>0.332</a:t>
                      </a:r>
                    </a:p>
                  </a:txBody>
                  <a:tcPr marL="91440" marR="91440" marT="45720" marB="45720" anchor="ctr">
                    <a:solidFill>
                      <a:srgbClr val="EAF6F1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2FE589-EF00-4CF1-AA17-B94AC78F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C74B50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C74B50"/>
                </a:solidFill>
                <a:latin typeface="Arial"/>
                <a:ea typeface="Arial"/>
                <a:cs typeface="Arial"/>
              </a:rPr>
              <a:t>A large improvement on three training points does not yet demonstrate generalization.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BE6464-2C97-4602-96DB-2592EEB18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C576C-F04B-4E7D-8ACA-258ABCA9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37677147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0B763-30ED-49C2-942B-87DA4929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A7C4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A7786E-6C62-4054-B8C9-44C9CAD72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5750"/>
            <a:ext cx="619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CLOSING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F5211-DD80-4DCD-B521-6A3CD26FD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"/>
            <a:ext cx="10906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Lecture 1 synthesis and preparation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5E6F29-016F-4B9C-876A-924C376E1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10896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EE8"/>
          </a:solidFill>
          <a:ln xmlns:a="http://schemas.openxmlformats.org/drawingml/2006/main" w="0">
            <a:noFill/>
          </a:ln>
        </p:spPr>
        <p:txBody xmlns:a="http://schemas.openxmlformats.org/drawingml/2006/main">
          <a:bodyPr/>
          <a:p/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5C3B66-5430-454E-A10B-F40879EC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Five ideas to retain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D2B2-AB59-48E9-BDCE-F99EF20C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00250"/>
            <a:ext cx="6334125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 learning system connects data, a parameterized model, a loss, and an optimization rule.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Tensor shapes encode the structure of examples and operations.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Linear algebra computes predictions efficiently across many examples.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Calculus describes how the loss responds to parameter changes.</a:t>
            </a:r>
          </a:p>
          <a:p xmlns:a="http://schemas.openxmlformats.org/drawingml/2006/main">
            <a:pPr marL="254000" indent="-114300" algn="l">
              <a:spcAft>
                <a:spcPts val="1000"/>
              </a:spcAft>
              <a:buChar char="•"/>
              <a:defRPr sz="165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Autograd evaluates derivatives, but independent checks remain valuable.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845755-FA82-4926-801D-9D553A82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4763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 i="0">
                <a:solidFill>
                  <a:srgbClr val="E4A11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4A11B"/>
                </a:solidFill>
                <a:latin typeface="Arial"/>
                <a:ea typeface="Arial"/>
                <a:cs typeface="Arial"/>
              </a:rPr>
              <a:t>Preparation for Lecture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2EB28F-F632-48E2-9C47-AAB52CA4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95500"/>
            <a:ext cx="3286125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Read D2L Chapter 3.1. Reproduce the one-step example. Then calculate a second update after clearing the gradients.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C171B4-35C4-4A00-846C-E974EEF9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04812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2F7D64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7D64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AE66F3-AA5C-44D9-9B4C-7FE06323E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72000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Explain, in symbols and words, how a gradient changes a parameter.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AE6F8-1DC2-4049-AEA5-E3A21101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 i="1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86675"/>
                </a:solidFill>
                <a:latin typeface="Arial"/>
                <a:ea typeface="Arial"/>
                <a:cs typeface="Arial"/>
              </a:rPr>
              <a:t>Next: linear regression from scratch</a:t>
            </a:r>
          </a:p>
          <a:p xmlns:a="http://schemas.openxmlformats.org/drawingml/2006/main">
            <a:pPr algn="ctr">
              <a:defRPr sz="1275" b="0" i="1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1275" b="0" i="1">
                <a:solidFill>
                  <a:srgbClr val="586675"/>
                </a:solidFill>
                <a:latin typeface="Arial"/>
                <a:ea typeface="Arial"/>
                <a:cs typeface="Arial"/>
              </a:rPr>
              <a:t>and with torch.nn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CEDEF1-DF91-46A7-8971-5DC2304F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238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238F3-8514-4F9A-B2CB-BA8A00B9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341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55756011"/>
      </p:ext>
    </p:extLst>
  </p:cSld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10" name="">
            <a:extLst>
              <a:ext uri="{FF2B5EF4-FFF2-40B4-BE49-F238E27FC236}">
                <a16:creationId xmlns:a16="http://schemas.microsoft.com/office/drawing/2014/main" id="{D9534639-7038-4AF4-8CF9-C4367372A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9DFADCD9-DA1D-4639-9E5B-211B8BA0717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AFTER CLASS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17C1B412-1F61-4C4B-ABA0-4EBC599B17A0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109061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Optional after-class exercises (1 of 2)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445158C3-4503-483A-9364-A7A1B8DA17E9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48777D8-F6B9-4812-82E0-4A441C912C44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1033272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Practise the board methods on new cases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6C1AF22-1B92-497D-9D87-1697BC6C8DE3}"/>
              </a:ext>
            </a:extLst>
          </p:cNvPr>
          <p:cNvSpPr>
            <a:spLocks noGrp="1"/>
          </p:cNvSpPr>
          <p:nvPr/>
        </p:nvSpPr>
        <p:spPr>
          <a:xfrm>
            <a:off x="904875" y="2148840"/>
            <a:ext cx="10334625" cy="3931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Exercise 1. X has shape [16, 8, 256]. State the likely meaning of each axis.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Give the shapes of X.mean(dim=2) and X.mean(dim=2, keepdim=True).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Can tensors of shape [8,1], [1,256] and [16,8] each broadcast with X? Explain from the rightmost axis.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Exercise 2. X ∈ ℝ^(64×20), W ∈ ℝ^(5×20): why is X @ W invalid? Write the valid batch prediction and state its shape.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AFABA97-F544-4FD3-B609-BBC7D3F9D239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2497BEA-6286-4849-9675-C690D15F2B92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</p:bgPr>
    </p:bg>
    <p:spTree>
      <p:nvGrpSpPr>
        <p:cNvPr id="1" name=""/>
        <p:cNvGrpSpPr/>
        <p:nvPr/>
      </p:nvGrpSpPr>
      <p:grpSpPr/>
      <p:sp>
        <p:nvSpPr>
          <p:cNvPr id="10" name="">
            <a:extLst>
              <a:ext uri="{FF2B5EF4-FFF2-40B4-BE49-F238E27FC236}">
                <a16:creationId xmlns:a16="http://schemas.microsoft.com/office/drawing/2014/main" id="{D9534639-7038-4AF4-8CF9-C4367372A9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5A7C4"/>
          </a:solidFill>
          <a:ln w="0">
            <a:noFill/>
          </a:ln>
        </p:spPr>
        <p:txBody>
          <a:bodyPr/>
          <a:p/>
        </p:txBody>
      </p:sp>
      <p:sp>
        <p:nvSpPr>
          <p:cNvPr id="2" name="">
            <a:extLst>
              <a:ext uri="{FF2B5EF4-FFF2-40B4-BE49-F238E27FC236}">
                <a16:creationId xmlns:a16="http://schemas.microsoft.com/office/drawing/2014/main" id="{9DFADCD9-DA1D-4639-9E5B-211B8BA0717E}"/>
              </a:ext>
            </a:extLst>
          </p:cNvPr>
          <p:cNvSpPr>
            <a:spLocks noGrp="1"/>
          </p:cNvSpPr>
          <p:nvPr/>
        </p:nvSpPr>
        <p:spPr>
          <a:xfrm>
            <a:off x="647700" y="285750"/>
            <a:ext cx="6191250" cy="209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1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AFTER CLASS</a:t>
            </a:r>
          </a:p>
        </p:txBody>
      </p:sp>
      <p:sp>
        <p:nvSpPr>
          <p:cNvPr id="3" name="">
            <a:extLst>
              <a:ext uri="{FF2B5EF4-FFF2-40B4-BE49-F238E27FC236}">
                <a16:creationId xmlns:a16="http://schemas.microsoft.com/office/drawing/2014/main" id="{17C1B412-1F61-4C4B-ABA0-4EBC599B17A0}"/>
              </a:ext>
            </a:extLst>
          </p:cNvPr>
          <p:cNvSpPr>
            <a:spLocks noGrp="1"/>
          </p:cNvSpPr>
          <p:nvPr/>
        </p:nvSpPr>
        <p:spPr>
          <a:xfrm>
            <a:off x="647700" y="552450"/>
            <a:ext cx="10906125" cy="552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3150" b="1" i="0">
                <a:solidFill>
                  <a:srgbClr val="17365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365D"/>
                </a:solidFill>
                <a:latin typeface="Arial"/>
                <a:ea typeface="Arial"/>
                <a:cs typeface="Arial"/>
              </a:rPr>
              <a:t>Optional after-class exercises (2 of 2)</a:t>
            </a:r>
          </a:p>
        </p:txBody>
      </p:sp>
      <p:sp>
        <p:nvSpPr>
          <p:cNvPr id="4" name="">
            <a:extLst>
              <a:ext uri="{FF2B5EF4-FFF2-40B4-BE49-F238E27FC236}">
                <a16:creationId xmlns:a16="http://schemas.microsoft.com/office/drawing/2014/main" id="{445158C3-4503-483A-9364-A7A1B8DA17E9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896600" cy="19050"/>
          </a:xfrm>
          <a:prstGeom prst="rect">
            <a:avLst/>
          </a:prstGeom>
          <a:solidFill>
            <a:srgbClr val="D5DEE8"/>
          </a:solidFill>
          <a:ln w="0">
            <a:noFill/>
          </a:ln>
        </p:spPr>
        <p:txBody>
          <a:bodyPr/>
          <a:p/>
        </p:txBody>
      </p:sp>
      <p:sp>
        <p:nvSpPr>
          <p:cNvPr id="5" name="">
            <a:extLst>
              <a:ext uri="{FF2B5EF4-FFF2-40B4-BE49-F238E27FC236}">
                <a16:creationId xmlns:a16="http://schemas.microsoft.com/office/drawing/2014/main" id="{548777D8-F6B9-4812-82E0-4A441C912C44}"/>
              </a:ext>
            </a:extLst>
          </p:cNvPr>
          <p:cNvSpPr>
            <a:spLocks noGrp="1"/>
          </p:cNvSpPr>
          <p:nvPr/>
        </p:nvSpPr>
        <p:spPr>
          <a:xfrm>
            <a:off x="838200" y="1504950"/>
            <a:ext cx="1033272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2025" b="1" i="0">
                <a:solidFill>
                  <a:srgbClr val="2F75B5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2F75B5"/>
                </a:solidFill>
                <a:latin typeface="Arial"/>
                <a:ea typeface="Arial"/>
                <a:cs typeface="Arial"/>
              </a:rPr>
              <a:t>Practise the board methods on new cases</a:t>
            </a:r>
          </a:p>
        </p:txBody>
      </p:sp>
      <p:sp>
        <p:nvSpPr>
          <p:cNvPr id="6" name="">
            <a:extLst>
              <a:ext uri="{FF2B5EF4-FFF2-40B4-BE49-F238E27FC236}">
                <a16:creationId xmlns:a16="http://schemas.microsoft.com/office/drawing/2014/main" id="{56C1AF22-1B92-497D-9D87-1697BC6C8DE3}"/>
              </a:ext>
            </a:extLst>
          </p:cNvPr>
          <p:cNvSpPr>
            <a:spLocks noGrp="1"/>
          </p:cNvSpPr>
          <p:nvPr/>
        </p:nvSpPr>
        <p:spPr>
          <a:xfrm>
            <a:off x="904875" y="2148840"/>
            <a:ext cx="10334625" cy="393192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Exercise 3. L(w) = (3w − 7)²: derive dL/dw, evaluate it at w = 1, and take one gradient step with η = 0.05.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Verify the derivative with autograd and with central differences.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Exercise 4. An EMG dataset has 100 overlapping windows from each of 20 subjects.</a:t>
            </a:r>
          </a:p>
          <a:p>
            <a:pPr marL="254000" indent="-114300" algn="l">
              <a:spcBef>
                <a:spcPts val="1000"/>
              </a:spcBef>
              <a:spcAft>
                <a:spcPts val="1200"/>
              </a:spcAft>
              <a:buChar char="•"/>
              <a:defRPr sz="1800" b="0" i="0">
                <a:solidFill>
                  <a:srgbClr val="17212B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7212B"/>
                </a:solidFill>
                <a:latin typeface="Arial"/>
                <a:ea typeface="Arial"/>
                <a:cs typeface="Arial"/>
              </a:rPr>
              <a:t>Propose train, validation and test splits for deployment to unseen subjects. Why is randomly splitting all 2,000 windows unsuitable?</a:t>
            </a:r>
          </a:p>
        </p:txBody>
      </p:sp>
      <p:sp>
        <p:nvSpPr>
          <p:cNvPr id="8" name="">
            <a:extLst>
              <a:ext uri="{FF2B5EF4-FFF2-40B4-BE49-F238E27FC236}">
                <a16:creationId xmlns:a16="http://schemas.microsoft.com/office/drawing/2014/main" id="{3AFABA97-F544-4FD3-B609-BBC7D3F9D239}"/>
              </a:ext>
            </a:extLst>
          </p:cNvPr>
          <p:cNvSpPr>
            <a:spLocks noGrp="1"/>
          </p:cNvSpPr>
          <p:nvPr/>
        </p:nvSpPr>
        <p:spPr>
          <a:xfrm>
            <a:off x="647700" y="6534150"/>
            <a:ext cx="2381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SE-801 Lecture 1</a:t>
            </a:r>
          </a:p>
        </p:txBody>
      </p:sp>
      <p:sp>
        <p:nvSpPr>
          <p:cNvPr id="9" name="">
            <a:extLst>
              <a:ext uri="{FF2B5EF4-FFF2-40B4-BE49-F238E27FC236}">
                <a16:creationId xmlns:a16="http://schemas.microsoft.com/office/drawing/2014/main" id="{F2497BEA-6286-4849-9675-C690D15F2B92}"/>
              </a:ext>
            </a:extLst>
          </p:cNvPr>
          <p:cNvSpPr>
            <a:spLocks noGrp="1"/>
          </p:cNvSpPr>
          <p:nvPr/>
        </p:nvSpPr>
        <p:spPr>
          <a:xfrm>
            <a:off x="11049000" y="6534150"/>
            <a:ext cx="476250" cy="1714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r">
              <a:defRPr sz="975" b="0" i="0">
                <a:solidFill>
                  <a:srgbClr val="586675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586675"/>
                </a:solidFill>
                <a:latin typeface="Arial"/>
                <a:ea typeface="Arial"/>
                <a:cs typeface="Arial"/>
              </a:rPr>
              <a:t>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2026-09-06T08:20:02.5110000Z</dcterms:created>
  <dcterms:modified xsi:type="dcterms:W3CDTF">2026-09-06T08:20:02.5110000Z</dcterms:modified>
</coreProperties>
</file>