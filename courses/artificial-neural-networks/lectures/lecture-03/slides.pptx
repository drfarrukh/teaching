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303" r:id="rId55"/>
    <p:sldId id="285" r:id="rId37"/>
    <p:sldId id="302" r:id="rId54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301" r:id="rId53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45720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SE-801 · ARTIFICIAL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8046720" cy="1417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26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Generalization</a:t>
            </a:r>
          </a:p>
          <a:p>
            <a:pPr algn="l">
              <a:spcAft>
                <a:spcPts val="126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and regularization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051560" cy="50292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896112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6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When does a learned correction work on new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15584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Lecture 3  ·  Dr. Muhammad Farrukh Qureshi  ·  PNEC, NUST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901952"/>
            <a:ext cx="3931920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alibrat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2468635"/>
            <a:ext cx="3438144" cy="1737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OPENING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1937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01952"/>
            <a:ext cx="475488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C68A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883664"/>
            <a:ext cx="4069080" cy="10789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Read training and validation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64208"/>
            <a:ext cx="51937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901952"/>
            <a:ext cx="475488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C68A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1883664"/>
            <a:ext cx="4069080" cy="10789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Derive and implement an L2-regularized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21608"/>
            <a:ext cx="51937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959352"/>
            <a:ext cx="475488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C68A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3941064"/>
            <a:ext cx="4069080" cy="10789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Choose a split that matches the intended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721608"/>
            <a:ext cx="51937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959352"/>
            <a:ext cx="475488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C68A2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3941064"/>
            <a:ext cx="4069080" cy="10789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Report a baseline, variability, and the limits of a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OPENING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From training code to scientific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25557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2555748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2336291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8980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60" y="2331720"/>
            <a:ext cx="25557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1860" y="2331720"/>
            <a:ext cx="2555748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588" y="2633472"/>
            <a:ext cx="2336291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331720"/>
            <a:ext cx="25557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331720"/>
            <a:ext cx="2555748" cy="9144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633472"/>
            <a:ext cx="2336291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Check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6236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9115" y="2331720"/>
            <a:ext cx="25557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9115" y="2331720"/>
            <a:ext cx="2555748" cy="9144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8843" y="2633472"/>
            <a:ext cx="2336291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Evaluate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103327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Lecture 1: data → prediction → loss → gradient → update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Lecture 2: repeat the updates; implement and check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Lecture 3: evaluate the claim on appropriate new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29"/>
              </a:spcAft>
              <a:defRPr sz="3100" b="1">
                <a:solidFill>
                  <a:srgbClr val="173B57"/>
                </a:solidFill>
                <a:latin typeface="Aptos"/>
              </a:defRPr>
            </a:pPr>
            <a:r>
              <a:t>Model selection: a first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10698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1005840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Candidate A</a:t>
            </a:r>
          </a:p>
          <a:p>
            <a:pPr>
              <a:spcAft>
                <a:spcPts val="13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Training residuals: 0, 0, 0     Validation residuals: 2, −2</a:t>
            </a:r>
          </a:p>
          <a:p>
            <a:pPr>
              <a:spcAft>
                <a:spcPts val="13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Candidate B</a:t>
            </a:r>
          </a:p>
          <a:p>
            <a:pPr>
              <a:spcAft>
                <a:spcPts val="13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Training residuals: 0.5, −0.5, 0     Validation residuals: 0.5, −0.5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24728"/>
            <a:ext cx="105613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Find all four MSEs. Which candidate should proceed?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29"/>
              </a:spcAft>
              <a:defRPr sz="3100" b="1">
                <a:solidFill>
                  <a:srgbClr val="173B57"/>
                </a:solidFill>
                <a:latin typeface="Aptos"/>
              </a:defRPr>
            </a:pPr>
            <a:r>
              <a:t>Validation can reverse the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10698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1005840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A: training MSE = 0       validation MSE = 4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B: training MSE = 1/6    validation MSE = 0.25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Choose B using validation. A final test estimate is still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EVIDENCE AND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Training loss and population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The fitted sample is available. The target population must be named.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A representative, independent test set estimates risk with uncertainty.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269372"/>
            <a:ext cx="5897880" cy="2822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EVIDENCE AND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Roles of training, validation, and test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1965960" cy="1078992"/>
          </a:xfrm>
          <a:prstGeom prst="round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62763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27632"/>
            <a:ext cx="8430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74519"/>
            <a:ext cx="7726679" cy="52120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17212B"/>
                </a:solidFill>
                <a:latin typeface="Aptos"/>
              </a:defRPr>
            </a:pPr>
            <a:r>
              <a:t>Fit model parameters and preprocessing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044952"/>
            <a:ext cx="1965960" cy="1078992"/>
          </a:xfrm>
          <a:prstGeom prst="round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62763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044952"/>
            <a:ext cx="8430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291840"/>
            <a:ext cx="7726679" cy="52120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17212B"/>
                </a:solidFill>
                <a:latin typeface="Aptos"/>
              </a:defRPr>
            </a:pPr>
            <a:r>
              <a:t>Choose degree, λ, learning rate, and stopping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462272"/>
            <a:ext cx="1965960" cy="1078992"/>
          </a:xfrm>
          <a:prstGeom prst="round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62763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462272"/>
            <a:ext cx="8430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709160"/>
            <a:ext cx="7726679" cy="52120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17212B"/>
                </a:solidFill>
                <a:latin typeface="Aptos"/>
              </a:defRPr>
            </a:pPr>
            <a:r>
              <a:t>Evaluate the frozen pipeline once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EVIDENCE AND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Sensor-calibration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alibrat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89" y="1709928"/>
            <a:ext cx="8375860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989320"/>
            <a:ext cx="10332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59"/>
              </a:spcAft>
              <a:defRPr sz="1200" b="0">
                <a:solidFill>
                  <a:srgbClr val="60717E"/>
                </a:solidFill>
                <a:latin typeface="Aptos"/>
              </a:defRPr>
            </a:pPr>
            <a:r>
              <a:t>18 training · 80 validation · 200 sealed test observations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Polynomial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Nonlinear in the input x. Linear in the learned coefficients.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Φ: [N,d]     w: [d,1]     b: [1]     predictions: [N,1]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450752"/>
            <a:ext cx="5897880" cy="2459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Constructing polynomial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Degree 3: φ(x) = [x, x², x³]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For x = 0: [0, 0, 0]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For x = 2: [2, 4, 8]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intercept b is separate from these three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Comparing polynomial degrees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polynomia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3305"/>
            <a:ext cx="10561320" cy="37269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Training and validation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00200" y="1645920"/>
          <a:ext cx="8961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3840480"/>
              </a:tblGrid>
              <a:tr h="620485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Degree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MSE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MSE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0.3263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0.3091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0.0259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0.0721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0.0256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0.0738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0.0252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0.0781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0.0082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0.2933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0.0051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0.1446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61120" y="6053328"/>
            <a:ext cx="157276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59"/>
              </a:spcAft>
              <a:defRPr sz="1200" b="1">
                <a:solidFill>
                  <a:srgbClr val="2C7A78"/>
                </a:solidFill>
                <a:latin typeface="Aptos"/>
              </a:defRPr>
            </a:pPr>
            <a:r>
              <a:t>Selected degree: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Error versus model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capacity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31" y="1709928"/>
            <a:ext cx="8370777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Interpreting error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5285232" cy="118872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46B8E"/>
                </a:solidFill>
                <a:latin typeface="Aptos"/>
              </a:defRPr>
            </a:pPr>
            <a:r>
              <a:t>Both errors are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Check optimization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Check model capacity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Inspect data and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627632"/>
            <a:ext cx="5285232" cy="118872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C7A78"/>
                </a:solidFill>
                <a:latin typeface="Aptos"/>
              </a:defRPr>
            </a:pPr>
            <a:r>
              <a:t>Training is low; validation is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Check overfitting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Check population mismatch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Audit leakage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Model-selection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1382050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Define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528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816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8162" y="2331720"/>
            <a:ext cx="1382050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789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21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309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3092" y="2331720"/>
            <a:ext cx="1382050" cy="9144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282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Fit 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14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802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8022" y="2331720"/>
            <a:ext cx="1382050" cy="9144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775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Fit 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07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7295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2953" y="2331720"/>
            <a:ext cx="1382050" cy="91440"/>
          </a:xfrm>
          <a:prstGeom prst="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268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500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3788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7883" y="2331720"/>
            <a:ext cx="1382050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761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Freeze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993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281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2813" y="2331720"/>
            <a:ext cx="1382050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254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15968"/>
            <a:ext cx="103327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Define claim → split → fit preprocessing on training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Fit candidates on training → choose with validation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Freeze preprocessing + fitted model → evaluate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Fit preprocessing on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Compute each feature's μ and s on training data.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Apply the same transformation to validation and test.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Equal coefficient penalties depend on feature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797617"/>
            <a:ext cx="5897880" cy="1765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Validation is part of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Trying more recipes spends validation information.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 lucky minimum can overstate the winner's performance.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Keep test evidence outside the development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L2 regularization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Keep the data loss from Lecture 2. Penalize w; leave b unpenalized.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500884"/>
            <a:ext cx="58978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Gradient of the regularized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Residual e = Φw + b − y. Compute both gradients at current parameters.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284687"/>
            <a:ext cx="5897880" cy="27915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SGD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For ordinary SGD without momentum: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911095"/>
            <a:ext cx="589788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29"/>
              </a:spcAft>
              <a:defRPr sz="3100" b="1">
                <a:solidFill>
                  <a:srgbClr val="173B57"/>
                </a:solidFill>
                <a:latin typeface="Aptos"/>
              </a:defRPr>
            </a:pPr>
            <a:r>
              <a:t>Worked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10698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1005840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Φ = I₂       y = [1, 2]ᵀ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w = [2, −1]ᵀ       b = 0.5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λ = 0.2       η = 0.1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Find residuals, MSE, penalty, gradients, and the new 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24728"/>
            <a:ext cx="105613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Take five minutes. Explain your result to a partner.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29"/>
              </a:spcAft>
              <a:defRPr sz="3100" b="1">
                <a:solidFill>
                  <a:srgbClr val="173B57"/>
                </a:solidFill>
                <a:latin typeface="Aptos"/>
              </a:defRPr>
            </a:pPr>
            <a:r>
              <a:t>Worked calculation: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10698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1005840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e = [1.5, −2.5]ᵀ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MSE = 4.25       penalty = 0.50       J = 4.75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∇wJ = [1.9, −2.7]ᵀ       ∂J/∂b = −1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w⁺ = [1.81, −0.73]ᵀ       b⁺ = 0.6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987552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C68A2B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0607040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19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987552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3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Before continuing: if some regularization helps, must more help more?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Implementing the derived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e = Z @ w + b − y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grad_w = (2/N) * Z.T @ e + λ*w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grad_b = 2 * mean(e)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w = w − η*grad_w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b = b − η*grad_b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Training and validation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8832"/>
            <a:ext cx="10561320" cy="41358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Compare the same metric across splits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5285232" cy="118872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46B8E"/>
                </a:solidFill>
                <a:latin typeface="Aptos"/>
              </a:defRPr>
            </a:pPr>
            <a:r>
              <a:t>Prediction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Training MSE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Validation MSE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Same definition on both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627632"/>
            <a:ext cx="5285232" cy="118872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C7A78"/>
                </a:solidFill>
                <a:latin typeface="Aptos"/>
              </a:defRPr>
            </a:pPr>
            <a:r>
              <a:t>Optimization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J = training MSE + penalty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Used to fit parameters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Do not plot as validation MSE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PyTorch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optimizer = torch.optim.SGD([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{"params": [net.weight], "weight_decay": lam},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{"params": [net.bias], "weight_decay": 0.0},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], lr=eta, momentum=0.0)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Backpropagate MSE only.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Numerical equivalence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338328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157984"/>
            <a:ext cx="292608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246B8E"/>
                </a:solidFill>
                <a:latin typeface="Aptos"/>
              </a:defRPr>
            </a:pPr>
            <a:r>
              <a:t>METHOD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724912"/>
            <a:ext cx="2880360" cy="10241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Explicit analytic 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38328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57984"/>
            <a:ext cx="292608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2C7A78"/>
                </a:solidFill>
                <a:latin typeface="Aptos"/>
              </a:defRPr>
            </a:pPr>
            <a:r>
              <a:t>METHOD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24912"/>
            <a:ext cx="2880360" cy="10241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Autograd with an explicit L2 penalty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874519"/>
            <a:ext cx="338328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157984"/>
            <a:ext cx="292608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METHOD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724912"/>
            <a:ext cx="2880360" cy="10241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SGD weight_decay on weights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70"/>
              </a:spcAft>
              <a:defRPr sz="1900" b="1">
                <a:solidFill>
                  <a:srgbClr val="173B57"/>
                </a:solidFill>
                <a:latin typeface="Aptos"/>
              </a:defRPr>
            </a:pPr>
            <a:r>
              <a:t>With matching precision, initialization, loss reduction, and updates, all three agree.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Selecting the regularization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65404"/>
            <a:ext cx="10561320" cy="412271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Final evaluation on test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4389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2C7A78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96312"/>
            <a:ext cx="43891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750"/>
              </a:spcAft>
              <a:defRPr sz="2500" b="1">
                <a:solidFill>
                  <a:srgbClr val="173B57"/>
                </a:solidFill>
                <a:latin typeface="Aptos"/>
              </a:defRPr>
            </a:pPr>
            <a:r>
              <a:t>Degree-2 polynomial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60717E"/>
                </a:solidFill>
                <a:latin typeface="Aptos"/>
              </a:defRPr>
            </a:pPr>
            <a:r>
              <a:t>TEST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22191"/>
            <a:ext cx="1828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212B"/>
                </a:solidFill>
                <a:latin typeface="Aptos"/>
              </a:defRPr>
            </a:pPr>
            <a:r>
              <a:t>0.08549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74720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60717E"/>
                </a:solidFill>
                <a:latin typeface="Aptos"/>
              </a:defRPr>
            </a:pPr>
            <a:r>
              <a:t>TEST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22191"/>
            <a:ext cx="1828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212B"/>
                </a:solidFill>
                <a:latin typeface="Aptos"/>
              </a:defRPr>
            </a:pPr>
            <a:r>
              <a:t>0.29238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645920"/>
            <a:ext cx="5303520" cy="4370832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93392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C68A2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05456"/>
            <a:ext cx="4498848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Baseline test MSE: 1.89395</a:t>
            </a:r>
          </a:p>
          <a:p>
            <a:pPr>
              <a:spcAft>
                <a:spcPts val="16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Population: fresh IID calibration readings</a:t>
            </a:r>
          </a:p>
          <a:p>
            <a:pPr>
              <a:spcAft>
                <a:spcPts val="16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Input range: x ∈ [−1,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974336"/>
            <a:ext cx="45262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A84E47"/>
                </a:solidFill>
                <a:latin typeface="Aptos"/>
              </a:defRPr>
            </a:pPr>
            <a:r>
              <a:t>This evidence does not establish performance on a new wearer.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Preprocessing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Training readings: [0, 2]       held-out reading: [10]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Training mean = 1       pooled mean = 4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Correct centred training readings: [−1, 1]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Pooled-centred training readings: [−4, −2]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Match the split to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205740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46B8E"/>
                </a:solidFill>
                <a:latin typeface="Aptos"/>
              </a:defRPr>
            </a:pPr>
            <a:r>
              <a:t>Known wearers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18488"/>
            <a:ext cx="8412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792224"/>
            <a:ext cx="7726679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7212B"/>
                </a:solidFill>
                <a:latin typeface="Aptos"/>
              </a:defRPr>
            </a:pPr>
            <a:r>
              <a:t>New measurements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25496"/>
            <a:ext cx="205740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C7A78"/>
                </a:solidFill>
                <a:latin typeface="Aptos"/>
              </a:defRPr>
            </a:pPr>
            <a:r>
              <a:t>New wearers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688336"/>
            <a:ext cx="8412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862072"/>
            <a:ext cx="7726679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7212B"/>
                </a:solidFill>
                <a:latin typeface="Aptos"/>
              </a:defRPr>
            </a:pPr>
            <a:r>
              <a:t>Hold out complete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95344"/>
            <a:ext cx="205740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68A2B"/>
                </a:solidFill>
                <a:latin typeface="Aptos"/>
              </a:defRPr>
            </a:pPr>
            <a:r>
              <a:t>New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758183"/>
            <a:ext cx="8412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931920"/>
            <a:ext cx="7726679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7212B"/>
                </a:solidFill>
                <a:latin typeface="Aptos"/>
              </a:defRPr>
            </a:pPr>
            <a:r>
              <a:t>Hold out sessions and audit identities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65192"/>
            <a:ext cx="205740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D7752"/>
                </a:solidFill>
                <a:latin typeface="Aptos"/>
              </a:defRPr>
            </a:pPr>
            <a:r>
              <a:t>Future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828031"/>
            <a:ext cx="8412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5001768"/>
            <a:ext cx="7726679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7212B"/>
                </a:solidFill>
                <a:latin typeface="Aptos"/>
              </a:defRPr>
            </a:pPr>
            <a:r>
              <a:t>Respect chronology and prediction horizon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Random-row and grouped splits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group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62" y="1709928"/>
            <a:ext cx="9868114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Audit grouped splits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Record train, validation, and test subject IDs.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Check all three pairwise intersections are empty.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Check every intended row belongs to exactly one split.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Fit preprocessing using training subjects only.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Overlapping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window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79013"/>
            <a:ext cx="10561320" cy="36955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LEAKAGE AND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Split before constructing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Split raw groups or time blocks before window extraction.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Discard boundary-crossing windows.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Choose a gap from input history, label horizon, and dependence.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For new-person claims, keep every session of a person together.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REPORTING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Variation across repeated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repeated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48" y="1709928"/>
            <a:ext cx="8380942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REPORTING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Report what varied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5285232" cy="118872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46B8E"/>
                </a:solidFill>
                <a:latin typeface="Aptos"/>
              </a:defRPr>
            </a:pPr>
            <a:r>
              <a:t>Spread across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Describe with mean and sample SD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State what changed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Report the number of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627632"/>
            <a:ext cx="5285232" cy="118872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709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C7A78"/>
                </a:solidFill>
                <a:latin typeface="Aptos"/>
              </a:defRPr>
            </a:pPr>
            <a:r>
              <a:t>Confidence interval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Name the estimand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Use the independent sampling unit</a:t>
            </a:r>
          </a:p>
          <a:p>
            <a:pPr>
              <a:spcAft>
                <a:spcPts val="14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State what uncertainty is excluded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REPORTING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Uncertainty across subjects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subject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31" y="1709928"/>
            <a:ext cx="8370777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1382050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Define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528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816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8162" y="2331720"/>
            <a:ext cx="1382050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789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21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309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3092" y="2331720"/>
            <a:ext cx="1382050" cy="9144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282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142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8022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8022" y="2331720"/>
            <a:ext cx="1382050" cy="9144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7750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07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7295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2953" y="2331720"/>
            <a:ext cx="1382050" cy="91440"/>
          </a:xfrm>
          <a:prstGeom prst="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268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Freeze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500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3788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7883" y="2331720"/>
            <a:ext cx="1382050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761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9933" y="2770632"/>
            <a:ext cx="1828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2813" y="2331720"/>
            <a:ext cx="138205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2813" y="2331720"/>
            <a:ext cx="1382050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2541" y="2633472"/>
            <a:ext cx="1162594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15968"/>
            <a:ext cx="103327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Claim → split → baseline → fit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→ validate → freeze → test → report</a:t>
            </a: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</a:p>
          <a:p>
            <a:pPr algn="ctr">
              <a:spcAft>
                <a:spcPts val="509"/>
              </a:spcAft>
              <a:defRPr sz="1700" b="0">
                <a:solidFill>
                  <a:srgbClr val="60717E"/>
                </a:solidFill>
                <a:latin typeface="Aptos"/>
              </a:defRPr>
            </a:pPr>
            <a:r>
              <a:t>A small score is meaningful only with its evaluation protocol.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Week 3 project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30632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69"/>
              </a:spcAft>
              <a:defRPr sz="2900" b="1">
                <a:solidFill>
                  <a:srgbClr val="173B57"/>
                </a:solidFill>
                <a:latin typeface="Aptos"/>
              </a:defRPr>
            </a:pPr>
            <a:r>
              <a:t>Teams of 2–3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04872"/>
            <a:ext cx="3063240" cy="265176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16352"/>
            <a:ext cx="25146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17212B"/>
                </a:solidFill>
                <a:latin typeface="Aptos"/>
              </a:defRPr>
            </a:pPr>
            <a:r>
              <a:t>Submit three candidate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685032"/>
            <a:ext cx="25146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60717E"/>
                </a:solidFill>
                <a:latin typeface="Aptos"/>
              </a:defRPr>
            </a:pPr>
            <a:r>
              <a:t>Choose one preferred candidate and explain feasibility.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792224"/>
            <a:ext cx="6812280" cy="33375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Prediction target</a:t>
            </a:r>
          </a:p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Data access</a:t>
            </a:r>
          </a:p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What counts as a new unit</a:t>
            </a:r>
          </a:p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Proposed split</a:t>
            </a:r>
          </a:p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Baseline</a:t>
            </a:r>
          </a:p>
          <a:p>
            <a:pPr>
              <a:spcAft>
                <a:spcPts val="13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 Main technical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5532120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C7A78"/>
                </a:solidFill>
                <a:latin typeface="Aptos"/>
              </a:defRPr>
            </a:pPr>
            <a:r>
              <a:t>Two-page proposal: Week 5  ·  Assignment 1: due Week 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29"/>
              </a:spcAft>
              <a:defRPr sz="3100" b="1">
                <a:solidFill>
                  <a:srgbClr val="173B57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10698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1005840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1. Degree 9 wins on training MSE. What evidence remains?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2. w=2, data gradient=−0.4, λ=0.1, η=0.05: find w⁺.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3. Why can disjoint row IDs still leak information?</a:t>
            </a:r>
          </a:p>
          <a:p>
            <a:pPr>
              <a:spcAft>
                <a:spcPts val="1300"/>
              </a:spcAft>
              <a:defRPr sz="2200">
                <a:solidFill>
                  <a:srgbClr val="17212B"/>
                </a:solidFill>
                <a:latin typeface="Aptos"/>
              </a:defRPr>
            </a:pPr>
            <a:r>
              <a:t>4. Do initialization seeds measure future-subject uncertainty?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24728"/>
            <a:ext cx="105613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Three minutes individually; then explain your reasoning.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Reading and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D2L 3.6: Generalization · 3.7: Weight Decay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Selected discussion from D2L 4.6–4.7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Derive the L2 update; repeat the hand example with λ=0.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Next: categorical targets, softmax, and cross-entropy.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OPTIONAL RESERVE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Beyond the training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8136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extra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89" y="1709928"/>
            <a:ext cx="837586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OPTIONAL RESERVE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Ridge-regression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840480" cy="4434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A = [1,Z], β = [b;w], P = [0,I]. Multiply J by N.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Add penalty rows √(Nλ/2) P and zero targets.</a:t>
            </a:r>
          </a:p>
          <a:p>
            <a:pPr>
              <a:spcAft>
                <a:spcPts val="14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•  Solve the augmented least-squares problem without an inverse.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72768"/>
            <a:ext cx="18288" cy="443484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v2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3204943"/>
            <a:ext cx="5897880" cy="95103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REPORTING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Mean ± SD: state what was repeated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Scores [1, 2, 3]: mean = 2; sample SD = 1 (squared deviations sum to 2, divided by n − 1 = 2).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SD describes variation. It is not a 95% interval.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Initialization or minibatch seed varies → training randomness on fixed data.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Independently sampled datasets vary → variation across simulated data draws.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Held-out subjects vary → heterogeneity across evaluated subjects.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Keep every run: rare failures can dominate mean ± SD. Do not choose the best seed.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Baseline: predict the training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Training targets [1, 2, 3] → constant prediction c = 2.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Test targets [2, 4]: baseline MSE = ((2 − 2)² + (2 − 4)²) / 2 = 2,  RMSE = √2.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Computing c from the test targets would fit the baseline on the data meant to evaluate it.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If the test result disappoints, report it. Further revisions start a new development cycle, and the old test becomes development evidence.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3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383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IMPLEMENTATION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Exercise: choose λ by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Generalization and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00200" y="1645920"/>
          <a:ext cx="8961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040"/>
                <a:gridCol w="2987040"/>
                <a:gridCol w="298704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λ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MSE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MSE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0.30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0.08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0.12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0.15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0.90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1.10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00200" y="4709160"/>
            <a:ext cx="89611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359"/>
              </a:spcAft>
              <a:defRPr sz="1200" b="1">
                <a:solidFill>
                  <a:srgbClr val="2C7A78"/>
                </a:solidFill>
                <a:latin typeface="Aptos"/>
              </a:defRPr>
            </a:pPr>
            <a:r>
              <a:t>Select λ = 0.01: lowest validation MSE. Illustrative teaching values, not notebook outputs; strong regularization (λ = 10) underfits.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SE-801 Lecture 3 — Generalization and Regularization</dc:title>
  <dc:subject>Student-facing redesigned lecture deck</dc:subject>
  <dc:creator>Dr. Muhammad Farrukh Qureshi</dc:creator>
  <cp:keywords/>
  <dc:description>Redesigned v2; original lecture deck retained separately.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