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charts/chart3.xml" ContentType="application/vnd.openxmlformats-officedocument.drawingml.chart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charts/chart4.xml" ContentType="application/vnd.openxmlformats-officedocument.drawingml.chart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7efbac0cdd4b29" /><Relationship Type="http://schemas.openxmlformats.org/officeDocument/2006/relationships/extended-properties" Target="/docProps/app.xml" Id="Ra6b1aa8e6c394ccc" /><Relationship Type="http://schemas.openxmlformats.org/officeDocument/2006/relationships/officeDocument" Target="/ppt/presentation.xml" Id="R955373361992436a" /></Relationships>
</file>

<file path=ppt/presentation.xml><?xml version="1.0" encoding="utf-8"?>
<ns0:presentation xmlns:ns0="http://schemas.openxmlformats.org/presentationml/2006/main" xmlns:ns1="http://schemas.openxmlformats.org/officeDocument/2006/relationships">
  <ns0:sldMasterIdLst>
    <ns0:sldMasterId id="2147483648" ns1:id="R4a1654dec63f4dd2"/>
  </ns0:sldMasterIdLst>
  <ns0:sldIdLst>
    <ns0:sldId id="256" ns1:id="R5f3a2b6383bc42e1"/>
    <ns0:sldId id="257" ns1:id="Re00787bf4e844685"/>
    <ns0:sldId id="258" ns1:id="R13d158553d57423b"/>
    <ns0:sldId id="259" ns1:id="Rc4750dc63be5422b"/>
    <ns0:sldId id="260" ns1:id="R8345f4bb79514fcc"/>
    <ns0:sldId id="261" ns1:id="R1b29607715ad454d"/>
    <ns0:sldId id="262" ns1:id="R58e876a54c804b8d"/>
    <ns0:sldId id="263" ns1:id="Rc2b00ffb07e64173"/>
    <ns0:sldId id="264" ns1:id="R4951050bffb643af"/>
    <ns0:sldId id="265" ns1:id="R55396a471f9a4657"/>
    <ns0:sldId id="266" ns1:id="Rddaca02df9da4236"/>
    <ns0:sldId id="267" ns1:id="Rfc57a27d56e942e7"/>
    <ns0:sldId id="268" ns1:id="Rae44cdbe59b547f8"/>
    <ns0:sldId id="269" ns1:id="Rcecb274afb9e4dc4"/>
    <ns0:sldId id="270" ns1:id="Rcd43c04aa2eb45f4"/>
    <ns0:sldId id="271" ns1:id="R86c8a405c97b428c"/>
    <ns0:sldId id="272" ns1:id="Rf9aef395faff487e"/>
    <ns0:sldId id="273" ns1:id="R6b682a6396de4208"/>
    <ns0:sldId id="274" ns1:id="R6575062181ab4ac8"/>
    <ns0:sldId id="275" ns1:id="R51f2e6cfb3b24ab1"/>
    <ns0:sldId id="276" ns1:id="Ra5849310b41f4c1e"/>
    <ns0:sldId id="277" ns1:id="Ra92e210720504494"/>
    <ns0:sldId id="278" ns1:id="R2425bdbc867f486d"/>
    <ns0:sldId id="279" ns1:id="R68537a8a86d74c9c"/>
    <ns0:sldId id="280" ns1:id="Rb64ae3edbc7143f0"/>
    <ns0:sldId id="281" ns1:id="R6a409009447c4fc0"/>
    <ns0:sldId id="282" ns1:id="R6eac67a16ea44994"/>
    <ns0:sldId id="283" ns1:id="R57cde779b2af4489"/>
    <ns0:sldId id="284" ns1:id="R019c24151fda4002"/>
    <ns0:sldId id="285" ns1:id="R87add0e341b84cde"/>
    <ns0:sldId id="286" ns1:id="Rf512e9bf44f647ed"/>
    <ns0:sldId id="287" ns1:id="Ra42a5c0f15554444"/>
    <ns0:sldId id="288" ns1:id="R2254e5152a9d4e8a"/>
    <ns0:sldId id="289" ns1:id="R2e9f0b1f77834151"/>
    <ns0:sldId id="290" ns1:id="Rb718299ea46f489c"/>
    <ns0:sldId id="291" ns1:id="Rf011df52b0124fcd"/>
    <ns0:sldId id="292" ns1:id="Rf8f9094bfa9646de"/>
    <ns0:sldId id="293" ns1:id="Re1b8a518452c43f9"/>
  </ns0:sldIdLst>
  <ns0:sldSz cx="12192000" cy="6858000"/>
  <ns0:notesSz cx="6858000" cy="9144000"/>
</ns0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76db2924a7b540f2" /><Relationship Type="http://schemas.openxmlformats.org/officeDocument/2006/relationships/slideMaster" Target="/ppt/slideMasters/slideMaster1.xml" Id="R4a1654dec63f4dd2" /><Relationship Type="http://schemas.openxmlformats.org/officeDocument/2006/relationships/presProps" Target="/ppt/presProps.xml" Id="Rf9a0ed0149064b2c" /><Relationship Type="http://schemas.openxmlformats.org/officeDocument/2006/relationships/tableStyles" Target="/ppt/tableStyles.xml" Id="R4cc59ddd7fae4207" /><Relationship Type="http://schemas.openxmlformats.org/officeDocument/2006/relationships/slide" Target="/ppt/slides/slide1.xml" Id="R5f3a2b6383bc42e1" /><Relationship Type="http://schemas.openxmlformats.org/officeDocument/2006/relationships/slide" Target="/ppt/slides/slide2.xml" Id="Re00787bf4e844685" /><Relationship Type="http://schemas.openxmlformats.org/officeDocument/2006/relationships/slide" Target="/ppt/slides/slide3.xml" Id="R13d158553d57423b" /><Relationship Type="http://schemas.openxmlformats.org/officeDocument/2006/relationships/slide" Target="/ppt/slides/slide4.xml" Id="Rc4750dc63be5422b" /><Relationship Type="http://schemas.openxmlformats.org/officeDocument/2006/relationships/slide" Target="/ppt/slides/slide5.xml" Id="R8345f4bb79514fcc" /><Relationship Type="http://schemas.openxmlformats.org/officeDocument/2006/relationships/slide" Target="/ppt/slides/slide6.xml" Id="R1b29607715ad454d" /><Relationship Type="http://schemas.openxmlformats.org/officeDocument/2006/relationships/slide" Target="/ppt/slides/slide7.xml" Id="R58e876a54c804b8d" /><Relationship Type="http://schemas.openxmlformats.org/officeDocument/2006/relationships/slide" Target="/ppt/slides/slide8.xml" Id="Rc2b00ffb07e64173" /><Relationship Type="http://schemas.openxmlformats.org/officeDocument/2006/relationships/slide" Target="/ppt/slides/slide9.xml" Id="R4951050bffb643af" /><Relationship Type="http://schemas.openxmlformats.org/officeDocument/2006/relationships/slide" Target="/ppt/slides/slide10.xml" Id="R55396a471f9a4657" /><Relationship Type="http://schemas.openxmlformats.org/officeDocument/2006/relationships/slide" Target="/ppt/slides/slide11.xml" Id="Rddaca02df9da4236" /><Relationship Type="http://schemas.openxmlformats.org/officeDocument/2006/relationships/slide" Target="/ppt/slides/slide12.xml" Id="Rfc57a27d56e942e7" /><Relationship Type="http://schemas.openxmlformats.org/officeDocument/2006/relationships/slide" Target="/ppt/slides/slide13.xml" Id="Rae44cdbe59b547f8" /><Relationship Type="http://schemas.openxmlformats.org/officeDocument/2006/relationships/slide" Target="/ppt/slides/slide14.xml" Id="Rcecb274afb9e4dc4" /><Relationship Type="http://schemas.openxmlformats.org/officeDocument/2006/relationships/slide" Target="/ppt/slides/slide15.xml" Id="Rcd43c04aa2eb45f4" /><Relationship Type="http://schemas.openxmlformats.org/officeDocument/2006/relationships/slide" Target="/ppt/slides/slide16.xml" Id="R86c8a405c97b428c" /><Relationship Type="http://schemas.openxmlformats.org/officeDocument/2006/relationships/slide" Target="/ppt/slides/slide17.xml" Id="Rf9aef395faff487e" /><Relationship Type="http://schemas.openxmlformats.org/officeDocument/2006/relationships/slide" Target="/ppt/slides/slide18.xml" Id="R6b682a6396de4208" /><Relationship Type="http://schemas.openxmlformats.org/officeDocument/2006/relationships/slide" Target="/ppt/slides/slide19.xml" Id="R6575062181ab4ac8" /><Relationship Type="http://schemas.openxmlformats.org/officeDocument/2006/relationships/slide" Target="/ppt/slides/slide20.xml" Id="R51f2e6cfb3b24ab1" /><Relationship Type="http://schemas.openxmlformats.org/officeDocument/2006/relationships/slide" Target="/ppt/slides/slide21.xml" Id="Ra5849310b41f4c1e" /><Relationship Type="http://schemas.openxmlformats.org/officeDocument/2006/relationships/slide" Target="/ppt/slides/slide22.xml" Id="Ra92e210720504494" /><Relationship Type="http://schemas.openxmlformats.org/officeDocument/2006/relationships/slide" Target="/ppt/slides/slide23.xml" Id="R2425bdbc867f486d" /><Relationship Type="http://schemas.openxmlformats.org/officeDocument/2006/relationships/slide" Target="/ppt/slides/slide24.xml" Id="R68537a8a86d74c9c" /><Relationship Type="http://schemas.openxmlformats.org/officeDocument/2006/relationships/slide" Target="/ppt/slides/slide25.xml" Id="Rb64ae3edbc7143f0" /><Relationship Type="http://schemas.openxmlformats.org/officeDocument/2006/relationships/slide" Target="/ppt/slides/slide26.xml" Id="R6a409009447c4fc0" /><Relationship Type="http://schemas.openxmlformats.org/officeDocument/2006/relationships/slide" Target="/ppt/slides/slide27.xml" Id="R6eac67a16ea44994" /><Relationship Type="http://schemas.openxmlformats.org/officeDocument/2006/relationships/slide" Target="/ppt/slides/slide28.xml" Id="R57cde779b2af4489" /><Relationship Type="http://schemas.openxmlformats.org/officeDocument/2006/relationships/slide" Target="/ppt/slides/slide29.xml" Id="R019c24151fda4002" /><Relationship Type="http://schemas.openxmlformats.org/officeDocument/2006/relationships/slide" Target="/ppt/slides/slide30.xml" Id="R87add0e341b84cde" /><Relationship Type="http://schemas.openxmlformats.org/officeDocument/2006/relationships/slide" Target="/ppt/slides/slide31.xml" Id="Rf512e9bf44f647ed" /><Relationship Type="http://schemas.openxmlformats.org/officeDocument/2006/relationships/slide" Target="/ppt/slides/slide32.xml" Id="Ra42a5c0f15554444" /><Relationship Type="http://schemas.openxmlformats.org/officeDocument/2006/relationships/slide" Target="/ppt/slides/slide33.xml" Id="R2254e5152a9d4e8a" /><Relationship Type="http://schemas.openxmlformats.org/officeDocument/2006/relationships/slide" Target="/ppt/slides/slide34.xml" Id="R2e9f0b1f77834151" /><Relationship Type="http://schemas.openxmlformats.org/officeDocument/2006/relationships/slide" Target="/ppt/slides/slide35.xml" Id="Rb718299ea46f489c" /><Relationship Type="http://schemas.openxmlformats.org/officeDocument/2006/relationships/slide" Target="/ppt/slides/slide36.xml" Id="Rf011df52b0124fcd" /><Relationship Type="http://schemas.openxmlformats.org/officeDocument/2006/relationships/slide" Target="/ppt/slides/slide37.xml" Id="Rf8f9094bfa9646de" /><Relationship Type="http://schemas.openxmlformats.org/officeDocument/2006/relationships/slide" Target="/ppt/slides/slide38.xml" Id="Re1b8a518452c43f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bf50750d0d42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09230b322d4d76" /><Relationship Type="http://schemas.openxmlformats.org/officeDocument/2006/relationships/slideLayout" Target="/ppt/slideLayouts/slideLayout1.xml" Id="R1a5c92a9f6ed43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5c92a9f6ed43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3f5880bfd48d43c3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7166b8ddc5e844f6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334c7f55c2bb4c0e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207a844062c54f5e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0c1b9ee54edf4a72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7a52925426544788" 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9d64ed1836d94b8c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f494750a5aed4cef" 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3d451f0fdc904732" 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a157996f0bb84df7" /><Relationship Type="http://schemas.openxmlformats.org/officeDocument/2006/relationships/chart" Target="/ppt/slides/charts/chart1.xml" Id="R9651963306314e94" /><Relationship Type="http://schemas.openxmlformats.org/officeDocument/2006/relationships/chart" Target="/ppt/slides/charts/chart2.xml" Id="Rfcb414d5c5564682" 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37bd5ac914ae404d" 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b15b3c7abca049dc" 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b70adedb0586428d" 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a1d77bdb42964370" /></Relationships>
</file>

<file path=ppt/slides/_rels/slide15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89cc0f4b5752494f" /></Relationships>
</file>

<file path=ppt/slides/_rels/slide16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8875045bc54e4eab" /></Relationships>
</file>

<file path=ppt/slides/_rels/slide17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1afae7ef89ab4097" /></Relationships>
</file>

<file path=ppt/slides/_rels/slide18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e05ae7cefcef476d" /><Relationship Type="http://schemas.openxmlformats.org/officeDocument/2006/relationships/chart" Target="/ppt/slides/charts/chart3.xml" Id="R7c197a1edd82444c" /></Relationships>
</file>

<file path=ppt/slides/_rels/slide19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bef4b9a0b638410a" /></Relationships>
</file>

<file path=ppt/slides/_rels/slide2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7aba30184dac48d0" /></Relationships>
</file>

<file path=ppt/slides/_rels/slide2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b28c03dda62e4fd8" /></Relationships>
</file>

<file path=ppt/slides/_rels/slide2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326b54c7085f48b6" /></Relationships>
</file>

<file path=ppt/slides/_rels/slide2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7d6c7062caae432f" /></Relationships>
</file>

<file path=ppt/slides/_rels/slide24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4e810e4d87714989" /></Relationships>
</file>

<file path=ppt/slides/_rels/slide25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6c48e3f1a9c04174" /></Relationships>
</file>

<file path=ppt/slides/_rels/slide26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e526889f463e44db" /></Relationships>
</file>

<file path=ppt/slides/_rels/slide27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00364b0bc52f46dc" /></Relationships>
</file>

<file path=ppt/slides/_rels/slide28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a64b75ed24b546b6" /><Relationship Type="http://schemas.openxmlformats.org/officeDocument/2006/relationships/chart" Target="/ppt/slides/charts/chart4.xml" Id="Rf961ad1bc1ce40da" /></Relationships>
</file>

<file path=ppt/slides/_rels/slide29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7dbc8b9e72ff48a9" /></Relationships>
</file>

<file path=ppt/slides/_rels/slide3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f89a603bde454326" /></Relationships>
</file>

<file path=ppt/slides/_rels/slide3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8f5934fb6a854f74" /></Relationships>
</file>

<file path=ppt/slides/_rels/slide3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f5b39b4f36f24591" /></Relationships>
</file>

<file path=ppt/slides/_rels/slide3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63e6ede7b7104477" /></Relationships>
</file>

<file path=ppt/slides/_rels/slide34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68f85b5049b84365" /></Relationships>
</file>

<file path=ppt/slides/_rels/slide35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b9be5c1f99004b5e" /></Relationships>
</file>

<file path=ppt/slides/_rels/slide36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d43a785898274b7f" /></Relationships>
</file>

<file path=ppt/slides/_rels/slide37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b0e5d616bf584da3" /></Relationships>
</file>

<file path=ppt/slides/_rels/slide38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c685c843266c4e3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relative deviation</c:v>
          </c:tx>
          <c:spPr>
            <a:ln xmlns:a="http://schemas.openxmlformats.org/drawingml/2006/main" w="23813">
              <a:solidFill>
                <a:srgbClr val="A8483D"/>
              </a:solidFill>
            </a:ln>
          </c:spPr>
          <c:marker>
            <c:spPr>
              <a:solidFill xmlns:a="http://schemas.openxmlformats.org/drawingml/2006/main">
                <a:srgbClr val="A8483D"/>
              </a:solidFill>
            </c:spPr>
          </c:marker>
          <c:cat>
            <c:numRef>
              <c:f>'Chart Data'!$A$2:$A$5</c:f>
              <c:numCache>
                <c:formatCode>General</c:formatCode>
                <c:ptCount val="4"/>
                <c:pt idx="0">
                  <c:v>1</c:v>
                </c:pt>
                <c:pt idx="1">
                  <c:v>16</c:v>
                </c:pt>
                <c:pt idx="2">
                  <c:v>64</c:v>
                </c:pt>
                <c:pt idx="3">
                  <c:v>540</c:v>
                </c:pt>
              </c:numCache>
            </c:num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9.25481263796</c:v>
                </c:pt>
                <c:pt idx="1">
                  <c:v>1.97685573374</c:v>
                </c:pt>
                <c:pt idx="2">
                  <c:v>0.864129099995</c:v>
                </c:pt>
                <c:pt idx="3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Noto Sans"/>
              <a:ea typeface="Noto Sans"/>
              <a:cs typeface="Noto Sans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cosine</c:v>
          </c:tx>
          <c:spPr>
            <a:ln xmlns:a="http://schemas.openxmlformats.org/drawingml/2006/main" w="23813">
              <a:solidFill>
                <a:srgbClr val="246B8E"/>
              </a:solidFill>
            </a:ln>
          </c:spPr>
          <c:marker>
            <c:spPr>
              <a:solidFill xmlns:a="http://schemas.openxmlformats.org/drawingml/2006/main">
                <a:srgbClr val="246B8E"/>
              </a:solidFill>
            </c:spPr>
          </c:marker>
          <c:cat>
            <c:numRef>
              <c:f>'Chart Data'!$A$2:$A$5</c:f>
              <c:numCache>
                <c:formatCode>General</c:formatCode>
                <c:ptCount val="4"/>
                <c:pt idx="0">
                  <c:v>1</c:v>
                </c:pt>
                <c:pt idx="1">
                  <c:v>16</c:v>
                </c:pt>
                <c:pt idx="2">
                  <c:v>64</c:v>
                </c:pt>
                <c:pt idx="3">
                  <c:v>540</c:v>
                </c:pt>
              </c:numCache>
            </c:num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0.101050846997</c:v>
                </c:pt>
                <c:pt idx="1">
                  <c:v>0.50845682947</c:v>
                </c:pt>
                <c:pt idx="2">
                  <c:v>0.760866431519</c:v>
                </c:pt>
                <c:pt idx="3">
                  <c:v>0.999999761581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Noto Sans"/>
              <a:ea typeface="Noto Sans"/>
              <a:cs typeface="Noto Sans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SGD</c:v>
          </c:tx>
          <c:spPr>
            <a:ln xmlns:a="http://schemas.openxmlformats.org/drawingml/2006/main" w="23813">
              <a:solidFill>
                <a:srgbClr val="A8483D"/>
              </a:solidFill>
            </a:ln>
          </c:spPr>
          <c:marker>
            <c:spPr>
              <a:solidFill xmlns:a="http://schemas.openxmlformats.org/drawingml/2006/main">
                <a:srgbClr val="A8483D"/>
              </a:solidFill>
            </c:spPr>
          </c:marker>
          <c:cat>
            <c:numRef>
              <c:f>'Chart Data'!$A$2:$A$37</c:f>
              <c:numCache>
                <c:formatCode>General</c:formatCode>
                <c:ptCount val="3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</c:numCache>
            </c:numRef>
          </c:cat>
          <c:val>
            <c:numRef>
              <c:f>'Chart Data'!$B$2:$B$37</c:f>
              <c:numCache>
                <c:formatCode>General</c:formatCode>
                <c:ptCount val="36"/>
                <c:pt idx="0">
                  <c:v>5.6</c:v>
                </c:pt>
                <c:pt idx="1">
                  <c:v>1.5305216</c:v>
                </c:pt>
                <c:pt idx="2">
                  <c:v>1.45185189724</c:v>
                </c:pt>
                <c:pt idx="3">
                  <c:v>1.38298953487</c:v>
                </c:pt>
                <c:pt idx="4">
                  <c:v>1.31740262359</c:v>
                </c:pt>
                <c:pt idx="5">
                  <c:v>1.25492612154</c:v>
                </c:pt>
                <c:pt idx="6">
                  <c:v>1.19541250516</c:v>
                </c:pt>
                <c:pt idx="7">
                  <c:v>1.13872126251</c:v>
                </c:pt>
                <c:pt idx="8">
                  <c:v>1.08471854536</c:v>
                </c:pt>
                <c:pt idx="9">
                  <c:v>1.03327685306</c:v>
                </c:pt>
                <c:pt idx="10">
                  <c:v>0.984274731583</c:v>
                </c:pt>
                <c:pt idx="11">
                  <c:v>0.937596486713</c:v>
                </c:pt>
                <c:pt idx="12">
                  <c:v>0.893131910927</c:v>
                </c:pt>
                <c:pt idx="13">
                  <c:v>0.850776023183</c:v>
                </c:pt>
                <c:pt idx="14">
                  <c:v>0.81042882106</c:v>
                </c:pt>
                <c:pt idx="15">
                  <c:v>0.77199504465</c:v>
                </c:pt>
                <c:pt idx="16">
                  <c:v>0.735383951652</c:v>
                </c:pt>
                <c:pt idx="17">
                  <c:v>0.700509103129</c:v>
                </c:pt>
                <c:pt idx="18">
                  <c:v>0.667288159422</c:v>
                </c:pt>
                <c:pt idx="19">
                  <c:v>0.63564268575</c:v>
                </c:pt>
                <c:pt idx="20">
                  <c:v>0.605497967021</c:v>
                </c:pt>
                <c:pt idx="21">
                  <c:v>0.576782831433</c:v>
                </c:pt>
                <c:pt idx="22">
                  <c:v>0.549429482435</c:v>
                </c:pt>
                <c:pt idx="23">
                  <c:v>0.52337333866</c:v>
                </c:pt>
                <c:pt idx="24">
                  <c:v>0.498552881447</c:v>
                </c:pt>
                <c:pt idx="25">
                  <c:v>0.474909509598</c:v>
                </c:pt>
                <c:pt idx="26">
                  <c:v>0.452387401014</c:v>
                </c:pt>
                <c:pt idx="27">
                  <c:v>0.430933380909</c:v>
                </c:pt>
                <c:pt idx="28">
                  <c:v>0.410496796252</c:v>
                </c:pt>
                <c:pt idx="29">
                  <c:v>0.391029396187</c:v>
                </c:pt>
                <c:pt idx="30">
                  <c:v>0.372485218102</c:v>
                </c:pt>
                <c:pt idx="31">
                  <c:v>0.354820479119</c:v>
                </c:pt>
                <c:pt idx="32">
                  <c:v>0.337993472717</c:v>
                </c:pt>
                <c:pt idx="33">
                  <c:v>0.321964470267</c:v>
                </c:pt>
                <c:pt idx="34">
                  <c:v>0.306695627229</c:v>
                </c:pt>
                <c:pt idx="35">
                  <c:v>0.292150893803</c:v>
                </c:pt>
              </c:numCache>
            </c:numRef>
          </c:val>
        </c:ser>
        <c:ser>
          <c:idx val="1"/>
          <c:order val="1"/>
          <c:tx>
            <c:v>Momentum</c:v>
          </c:tx>
          <c:spPr>
            <a:ln xmlns:a="http://schemas.openxmlformats.org/drawingml/2006/main" w="23813">
              <a:solidFill>
                <a:srgbClr val="B87521"/>
              </a:solidFill>
            </a:ln>
          </c:spPr>
          <c:marker>
            <c:spPr>
              <a:solidFill xmlns:a="http://schemas.openxmlformats.org/drawingml/2006/main">
                <a:srgbClr val="B87521"/>
              </a:solidFill>
            </c:spPr>
          </c:marker>
          <c:cat>
            <c:numRef>
              <c:f>'Chart Data'!$C$2:$C$37</c:f>
              <c:numCache>
                <c:formatCode>General</c:formatCode>
                <c:ptCount val="3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</c:numCache>
            </c:numRef>
          </c:cat>
          <c:val>
            <c:numRef>
              <c:f>'Chart Data'!$D$2:$D$37</c:f>
              <c:numCache>
                <c:formatCode>General</c:formatCode>
                <c:ptCount val="36"/>
                <c:pt idx="0">
                  <c:v>5.6</c:v>
                </c:pt>
                <c:pt idx="1">
                  <c:v>3.00816</c:v>
                </c:pt>
                <c:pt idx="2">
                  <c:v>1.508856336</c:v>
                </c:pt>
                <c:pt idx="3">
                  <c:v>2.59336271303</c:v>
                </c:pt>
                <c:pt idx="4">
                  <c:v>3.95194219159</c:v>
                </c:pt>
                <c:pt idx="5">
                  <c:v>3.34135740017</c:v>
                </c:pt>
                <c:pt idx="6">
                  <c:v>1.62729100125</c:v>
                </c:pt>
                <c:pt idx="7">
                  <c:v>1.02046032388</c:v>
                </c:pt>
                <c:pt idx="8">
                  <c:v>1.81828641851</c:v>
                </c:pt>
                <c:pt idx="9">
                  <c:v>2.36723394907</c:v>
                </c:pt>
                <c:pt idx="10">
                  <c:v>1.68501054512</c:v>
                </c:pt>
                <c:pt idx="11">
                  <c:v>0.671008502503</c:v>
                </c:pt>
                <c:pt idx="12">
                  <c:v>0.527010336916</c:v>
                </c:pt>
                <c:pt idx="13">
                  <c:v>1.06606975651</c:v>
                </c:pt>
                <c:pt idx="14">
                  <c:v>1.23078319652</c:v>
                </c:pt>
                <c:pt idx="15">
                  <c:v>0.696383267034</c:v>
                </c:pt>
                <c:pt idx="16">
                  <c:v>0.172407569111</c:v>
                </c:pt>
                <c:pt idx="17">
                  <c:v>0.240026962759</c:v>
                </c:pt>
                <c:pt idx="18">
                  <c:v>0.584576111834</c:v>
                </c:pt>
                <c:pt idx="19">
                  <c:v>0.592038628954</c:v>
                </c:pt>
                <c:pt idx="20">
                  <c:v>0.239192686485</c:v>
                </c:pt>
                <c:pt idx="21">
                  <c:v>0.0110931584657</c:v>
                </c:pt>
                <c:pt idx="22">
                  <c:v>0.142981304447</c:v>
                </c:pt>
                <c:pt idx="23">
                  <c:v>0.346034512196</c:v>
                </c:pt>
                <c:pt idx="24">
                  <c:v>0.298047735856</c:v>
                </c:pt>
                <c:pt idx="25">
                  <c:v>0.0864139024747</c:v>
                </c:pt>
                <c:pt idx="26">
                  <c:v>0.0100348671121</c:v>
                </c:pt>
                <c:pt idx="27">
                  <c:v>0.131380437392</c:v>
                </c:pt>
                <c:pt idx="28">
                  <c:v>0.235372757744</c:v>
                </c:pt>
                <c:pt idx="29">
                  <c:v>0.17371573889</c:v>
                </c:pt>
                <c:pt idx="30">
                  <c:v>0.0531409298721</c:v>
                </c:pt>
                <c:pt idx="31">
                  <c:v>0.0412011535785</c:v>
                </c:pt>
                <c:pt idx="32">
                  <c:v>0.126385256524</c:v>
                </c:pt>
                <c:pt idx="33">
                  <c:v>0.167461616667</c:v>
                </c:pt>
                <c:pt idx="34">
                  <c:v>0.109973335268</c:v>
                </c:pt>
                <c:pt idx="35">
                  <c:v>0.0436760180391</c:v>
                </c:pt>
              </c:numCache>
            </c:numRef>
          </c:val>
        </c:ser>
        <c:ser>
          <c:idx val="2"/>
          <c:order val="2"/>
          <c:tx>
            <c:v>Adam</c:v>
          </c:tx>
          <c:spPr>
            <a:ln xmlns:a="http://schemas.openxmlformats.org/drawingml/2006/main" w="23813">
              <a:solidFill>
                <a:srgbClr val="246B8E"/>
              </a:solidFill>
            </a:ln>
          </c:spPr>
          <c:marker>
            <c:spPr>
              <a:solidFill xmlns:a="http://schemas.openxmlformats.org/drawingml/2006/main">
                <a:srgbClr val="246B8E"/>
              </a:solidFill>
            </c:spPr>
          </c:marker>
          <c:cat>
            <c:numRef>
              <c:f>'Chart Data'!$E$2:$E$37</c:f>
              <c:numCache>
                <c:formatCode>General</c:formatCode>
                <c:ptCount val="3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</c:numCache>
            </c:numRef>
          </c:cat>
          <c:val>
            <c:numRef>
              <c:f>'Chart Data'!$F$2:$F$37</c:f>
              <c:numCache>
                <c:formatCode>General</c:formatCode>
                <c:ptCount val="36"/>
                <c:pt idx="0">
                  <c:v>5.6</c:v>
                </c:pt>
                <c:pt idx="1">
                  <c:v>4.14884000319</c:v>
                </c:pt>
                <c:pt idx="2">
                  <c:v>2.97276855233</c:v>
                </c:pt>
                <c:pt idx="3">
                  <c:v>2.07122981223</c:v>
                </c:pt>
                <c:pt idx="4">
                  <c:v>1.43508623343</c:v>
                </c:pt>
                <c:pt idx="5">
                  <c:v>1.04285834394</c:v>
                </c:pt>
                <c:pt idx="6">
                  <c:v>0.857409898581</c:v>
                </c:pt>
                <c:pt idx="7">
                  <c:v>0.825498969994</c:v>
                </c:pt>
                <c:pt idx="8">
                  <c:v>0.883020995586</c:v>
                </c:pt>
                <c:pt idx="9">
                  <c:v>0.96625811886</c:v>
                </c:pt>
                <c:pt idx="10">
                  <c:v>1.02467597981</c:v>
                </c:pt>
                <c:pt idx="11">
                  <c:v>1.02883974773</c:v>
                </c:pt>
                <c:pt idx="12">
                  <c:v>0.970700750945</c:v>
                </c:pt>
                <c:pt idx="13">
                  <c:v>0.858478072921</c:v>
                </c:pt>
                <c:pt idx="14">
                  <c:v>0.709906109811</c:v>
                </c:pt>
                <c:pt idx="15">
                  <c:v>0.546279396067</c:v>
                </c:pt>
                <c:pt idx="16">
                  <c:v>0.388054724607</c:v>
                </c:pt>
                <c:pt idx="17">
                  <c:v>0.251905698772</c:v>
                </c:pt>
                <c:pt idx="18">
                  <c:v>0.148937516415</c:v>
                </c:pt>
                <c:pt idx="19">
                  <c:v>0.0838724681104</c:v>
                </c:pt>
                <c:pt idx="20">
                  <c:v>0.0551522548658</c:v>
                </c:pt>
                <c:pt idx="21">
                  <c:v>0.0559444161266</c:v>
                </c:pt>
                <c:pt idx="22">
                  <c:v>0.0759434515311</c:v>
                </c:pt>
                <c:pt idx="23">
                  <c:v>0.103661288528</c:v>
                </c:pt>
                <c:pt idx="24">
                  <c:v>0.128723334865</c:v>
                </c:pt>
                <c:pt idx="25">
                  <c:v>0.143656357668</c:v>
                </c:pt>
                <c:pt idx="26">
                  <c:v>0.144817313974</c:v>
                </c:pt>
                <c:pt idx="27">
                  <c:v>0.13238693685</c:v>
                </c:pt>
                <c:pt idx="28">
                  <c:v>0.109601341802</c:v>
                </c:pt>
                <c:pt idx="29">
                  <c:v>0.0815295176041</c:v>
                </c:pt>
                <c:pt idx="30">
                  <c:v>0.0537206612474</c:v>
                </c:pt>
                <c:pt idx="31">
                  <c:v>0.0309902947989</c:v>
                </c:pt>
                <c:pt idx="32">
                  <c:v>0.0165352581747</c:v>
                </c:pt>
                <c:pt idx="33">
                  <c:v>0.0114875928867</c:v>
                </c:pt>
                <c:pt idx="34">
                  <c:v>0.0149378065877</c:v>
                </c:pt>
                <c:pt idx="35">
                  <c:v>0.0243761658571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Noto Sans"/>
              <a:ea typeface="Noto Sans"/>
              <a:cs typeface="Noto Sans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SGD</c:v>
          </c:tx>
          <c:spPr>
            <a:ln xmlns:a="http://schemas.openxmlformats.org/drawingml/2006/main" w="23813">
              <a:solidFill>
                <a:srgbClr val="A8483D"/>
              </a:solidFill>
            </a:ln>
          </c:spPr>
          <c:marker>
            <c:spPr>
              <a:solidFill xmlns:a="http://schemas.openxmlformats.org/drawingml/2006/main">
                <a:srgbClr val="A8483D"/>
              </a:solidFill>
            </c:spPr>
          </c:marker>
          <c:cat>
            <c:numRef>
              <c:f>'Chart Data'!$A$2:$A$22</c:f>
              <c:numCache>
                <c:formatCode>General</c:formatCode>
                <c:ptCount val="21"/>
                <c:pt idx="0">
                  <c:v>1</c:v>
                </c:pt>
                <c:pt idx="1">
                  <c:v>5</c:v>
                </c:pt>
                <c:pt idx="2">
                  <c:v>9</c:v>
                </c:pt>
                <c:pt idx="3">
                  <c:v>13</c:v>
                </c:pt>
                <c:pt idx="4">
                  <c:v>17</c:v>
                </c:pt>
                <c:pt idx="5">
                  <c:v>21</c:v>
                </c:pt>
                <c:pt idx="6">
                  <c:v>25</c:v>
                </c:pt>
                <c:pt idx="7">
                  <c:v>29</c:v>
                </c:pt>
                <c:pt idx="8">
                  <c:v>33</c:v>
                </c:pt>
                <c:pt idx="9">
                  <c:v>37</c:v>
                </c:pt>
                <c:pt idx="10">
                  <c:v>41</c:v>
                </c:pt>
                <c:pt idx="11">
                  <c:v>45</c:v>
                </c:pt>
                <c:pt idx="12">
                  <c:v>49</c:v>
                </c:pt>
                <c:pt idx="13">
                  <c:v>53</c:v>
                </c:pt>
                <c:pt idx="14">
                  <c:v>57</c:v>
                </c:pt>
                <c:pt idx="15">
                  <c:v>61</c:v>
                </c:pt>
                <c:pt idx="16">
                  <c:v>65</c:v>
                </c:pt>
                <c:pt idx="17">
                  <c:v>69</c:v>
                </c:pt>
                <c:pt idx="18">
                  <c:v>73</c:v>
                </c:pt>
                <c:pt idx="19">
                  <c:v>77</c:v>
                </c:pt>
                <c:pt idx="20">
                  <c:v>80</c:v>
                </c:pt>
              </c:numCache>
            </c:numRef>
          </c:cat>
          <c:val>
            <c:numRef>
              <c:f>'Chart Data'!$B$2:$B$22</c:f>
              <c:numCache>
                <c:formatCode>General</c:formatCode>
                <c:ptCount val="21"/>
                <c:pt idx="0">
                  <c:v>1.07524943352</c:v>
                </c:pt>
                <c:pt idx="1">
                  <c:v>0.962792873383</c:v>
                </c:pt>
                <c:pt idx="2">
                  <c:v>0.921379685402</c:v>
                </c:pt>
                <c:pt idx="3">
                  <c:v>0.909694135189</c:v>
                </c:pt>
                <c:pt idx="4">
                  <c:v>0.905835807323</c:v>
                </c:pt>
                <c:pt idx="5">
                  <c:v>0.902634620667</c:v>
                </c:pt>
                <c:pt idx="6">
                  <c:v>0.899273574352</c:v>
                </c:pt>
                <c:pt idx="7">
                  <c:v>0.895840704441</c:v>
                </c:pt>
                <c:pt idx="8">
                  <c:v>0.893026053905</c:v>
                </c:pt>
                <c:pt idx="9">
                  <c:v>0.888893127441</c:v>
                </c:pt>
                <c:pt idx="10">
                  <c:v>0.88582777977</c:v>
                </c:pt>
                <c:pt idx="11">
                  <c:v>0.881871521473</c:v>
                </c:pt>
                <c:pt idx="12">
                  <c:v>0.877462685108</c:v>
                </c:pt>
                <c:pt idx="13">
                  <c:v>0.871294677258</c:v>
                </c:pt>
                <c:pt idx="14">
                  <c:v>0.865470290184</c:v>
                </c:pt>
                <c:pt idx="15">
                  <c:v>0.859290242195</c:v>
                </c:pt>
                <c:pt idx="16">
                  <c:v>0.84902125597</c:v>
                </c:pt>
                <c:pt idx="17">
                  <c:v>0.836723327637</c:v>
                </c:pt>
                <c:pt idx="18">
                  <c:v>0.821071207523</c:v>
                </c:pt>
                <c:pt idx="19">
                  <c:v>0.799437880516</c:v>
                </c:pt>
                <c:pt idx="20">
                  <c:v>0.780405938625</c:v>
                </c:pt>
              </c:numCache>
            </c:numRef>
          </c:val>
        </c:ser>
        <c:ser>
          <c:idx val="1"/>
          <c:order val="1"/>
          <c:tx>
            <c:v>Momentum</c:v>
          </c:tx>
          <c:spPr>
            <a:ln xmlns:a="http://schemas.openxmlformats.org/drawingml/2006/main" w="23813">
              <a:solidFill>
                <a:srgbClr val="B87521"/>
              </a:solidFill>
            </a:ln>
          </c:spPr>
          <c:marker>
            <c:spPr>
              <a:solidFill xmlns:a="http://schemas.openxmlformats.org/drawingml/2006/main">
                <a:srgbClr val="B87521"/>
              </a:solidFill>
            </c:spPr>
          </c:marker>
          <c:cat>
            <c:numRef>
              <c:f>'Chart Data'!$C$2:$C$22</c:f>
              <c:numCache>
                <c:formatCode>General</c:formatCode>
                <c:ptCount val="21"/>
                <c:pt idx="0">
                  <c:v>1</c:v>
                </c:pt>
                <c:pt idx="1">
                  <c:v>5</c:v>
                </c:pt>
                <c:pt idx="2">
                  <c:v>9</c:v>
                </c:pt>
                <c:pt idx="3">
                  <c:v>13</c:v>
                </c:pt>
                <c:pt idx="4">
                  <c:v>17</c:v>
                </c:pt>
                <c:pt idx="5">
                  <c:v>21</c:v>
                </c:pt>
                <c:pt idx="6">
                  <c:v>25</c:v>
                </c:pt>
                <c:pt idx="7">
                  <c:v>29</c:v>
                </c:pt>
                <c:pt idx="8">
                  <c:v>33</c:v>
                </c:pt>
                <c:pt idx="9">
                  <c:v>37</c:v>
                </c:pt>
                <c:pt idx="10">
                  <c:v>41</c:v>
                </c:pt>
                <c:pt idx="11">
                  <c:v>45</c:v>
                </c:pt>
                <c:pt idx="12">
                  <c:v>49</c:v>
                </c:pt>
                <c:pt idx="13">
                  <c:v>53</c:v>
                </c:pt>
                <c:pt idx="14">
                  <c:v>57</c:v>
                </c:pt>
                <c:pt idx="15">
                  <c:v>61</c:v>
                </c:pt>
                <c:pt idx="16">
                  <c:v>65</c:v>
                </c:pt>
                <c:pt idx="17">
                  <c:v>69</c:v>
                </c:pt>
                <c:pt idx="18">
                  <c:v>73</c:v>
                </c:pt>
                <c:pt idx="19">
                  <c:v>77</c:v>
                </c:pt>
                <c:pt idx="20">
                  <c:v>80</c:v>
                </c:pt>
              </c:numCache>
            </c:numRef>
          </c:cat>
          <c:val>
            <c:numRef>
              <c:f>'Chart Data'!$D$2:$D$22</c:f>
              <c:numCache>
                <c:formatCode>General</c:formatCode>
                <c:ptCount val="21"/>
                <c:pt idx="0">
                  <c:v>1.01841926575</c:v>
                </c:pt>
                <c:pt idx="1">
                  <c:v>0.905521810055</c:v>
                </c:pt>
                <c:pt idx="2">
                  <c:v>0.886085748672</c:v>
                </c:pt>
                <c:pt idx="3">
                  <c:v>0.858954012394</c:v>
                </c:pt>
                <c:pt idx="4">
                  <c:v>0.839117586613</c:v>
                </c:pt>
                <c:pt idx="5">
                  <c:v>0.637952029705</c:v>
                </c:pt>
                <c:pt idx="6">
                  <c:v>0.423808157444</c:v>
                </c:pt>
                <c:pt idx="7">
                  <c:v>0.294539481401</c:v>
                </c:pt>
                <c:pt idx="8">
                  <c:v>0.21914511919</c:v>
                </c:pt>
                <c:pt idx="9">
                  <c:v>0.144032627344</c:v>
                </c:pt>
                <c:pt idx="10">
                  <c:v>0.0957286432385</c:v>
                </c:pt>
                <c:pt idx="11">
                  <c:v>0.0688079297543</c:v>
                </c:pt>
                <c:pt idx="12">
                  <c:v>0.0530739612877</c:v>
                </c:pt>
                <c:pt idx="13">
                  <c:v>0.0428052172065</c:v>
                </c:pt>
                <c:pt idx="14">
                  <c:v>0.0360745824873</c:v>
                </c:pt>
                <c:pt idx="15">
                  <c:v>0.0311514250934</c:v>
                </c:pt>
                <c:pt idx="16">
                  <c:v>0.0267866980284</c:v>
                </c:pt>
                <c:pt idx="17">
                  <c:v>0.0240749642253</c:v>
                </c:pt>
                <c:pt idx="18">
                  <c:v>0.020820248872</c:v>
                </c:pt>
                <c:pt idx="19">
                  <c:v>0.0190579891205</c:v>
                </c:pt>
                <c:pt idx="20">
                  <c:v>0.018139410764</c:v>
                </c:pt>
              </c:numCache>
            </c:numRef>
          </c:val>
        </c:ser>
        <c:ser>
          <c:idx val="2"/>
          <c:order val="2"/>
          <c:tx>
            <c:v>Adam</c:v>
          </c:tx>
          <c:spPr>
            <a:ln xmlns:a="http://schemas.openxmlformats.org/drawingml/2006/main" w="23813">
              <a:solidFill>
                <a:srgbClr val="246B8E"/>
              </a:solidFill>
            </a:ln>
          </c:spPr>
          <c:marker>
            <c:spPr>
              <a:solidFill xmlns:a="http://schemas.openxmlformats.org/drawingml/2006/main">
                <a:srgbClr val="246B8E"/>
              </a:solidFill>
            </c:spPr>
          </c:marker>
          <c:cat>
            <c:numRef>
              <c:f>'Chart Data'!$E$2:$E$22</c:f>
              <c:numCache>
                <c:formatCode>General</c:formatCode>
                <c:ptCount val="21"/>
                <c:pt idx="0">
                  <c:v>1</c:v>
                </c:pt>
                <c:pt idx="1">
                  <c:v>5</c:v>
                </c:pt>
                <c:pt idx="2">
                  <c:v>9</c:v>
                </c:pt>
                <c:pt idx="3">
                  <c:v>13</c:v>
                </c:pt>
                <c:pt idx="4">
                  <c:v>17</c:v>
                </c:pt>
                <c:pt idx="5">
                  <c:v>21</c:v>
                </c:pt>
                <c:pt idx="6">
                  <c:v>25</c:v>
                </c:pt>
                <c:pt idx="7">
                  <c:v>29</c:v>
                </c:pt>
                <c:pt idx="8">
                  <c:v>33</c:v>
                </c:pt>
                <c:pt idx="9">
                  <c:v>37</c:v>
                </c:pt>
                <c:pt idx="10">
                  <c:v>41</c:v>
                </c:pt>
                <c:pt idx="11">
                  <c:v>45</c:v>
                </c:pt>
                <c:pt idx="12">
                  <c:v>49</c:v>
                </c:pt>
                <c:pt idx="13">
                  <c:v>53</c:v>
                </c:pt>
                <c:pt idx="14">
                  <c:v>57</c:v>
                </c:pt>
                <c:pt idx="15">
                  <c:v>61</c:v>
                </c:pt>
                <c:pt idx="16">
                  <c:v>65</c:v>
                </c:pt>
                <c:pt idx="17">
                  <c:v>69</c:v>
                </c:pt>
                <c:pt idx="18">
                  <c:v>73</c:v>
                </c:pt>
                <c:pt idx="19">
                  <c:v>77</c:v>
                </c:pt>
                <c:pt idx="20">
                  <c:v>80</c:v>
                </c:pt>
              </c:numCache>
            </c:numRef>
          </c:cat>
          <c:val>
            <c:numRef>
              <c:f>'Chart Data'!$F$2:$F$22</c:f>
              <c:numCache>
                <c:formatCode>General</c:formatCode>
                <c:ptCount val="21"/>
                <c:pt idx="0">
                  <c:v>0.922201633453</c:v>
                </c:pt>
                <c:pt idx="1">
                  <c:v>0.884572148323</c:v>
                </c:pt>
                <c:pt idx="2">
                  <c:v>0.779606044292</c:v>
                </c:pt>
                <c:pt idx="3">
                  <c:v>0.421836346388</c:v>
                </c:pt>
                <c:pt idx="4">
                  <c:v>0.230829045177</c:v>
                </c:pt>
                <c:pt idx="5">
                  <c:v>0.109027341008</c:v>
                </c:pt>
                <c:pt idx="6">
                  <c:v>0.0570931062102</c:v>
                </c:pt>
                <c:pt idx="7">
                  <c:v>0.0352321788669</c:v>
                </c:pt>
                <c:pt idx="8">
                  <c:v>0.0250186044723</c:v>
                </c:pt>
                <c:pt idx="9">
                  <c:v>0.0194566510618</c:v>
                </c:pt>
                <c:pt idx="10">
                  <c:v>0.0147183192894</c:v>
                </c:pt>
                <c:pt idx="11">
                  <c:v>0.012052574195</c:v>
                </c:pt>
                <c:pt idx="12">
                  <c:v>0.0103005208075</c:v>
                </c:pt>
                <c:pt idx="13">
                  <c:v>0.00873074214906</c:v>
                </c:pt>
                <c:pt idx="14">
                  <c:v>0.00748263252899</c:v>
                </c:pt>
                <c:pt idx="15">
                  <c:v>0.00666967360303</c:v>
                </c:pt>
                <c:pt idx="16">
                  <c:v>0.00587781285867</c:v>
                </c:pt>
                <c:pt idx="17">
                  <c:v>0.00542519474402</c:v>
                </c:pt>
                <c:pt idx="18">
                  <c:v>0.00461627170444</c:v>
                </c:pt>
                <c:pt idx="19">
                  <c:v>0.00423633353785</c:v>
                </c:pt>
                <c:pt idx="20">
                  <c:v>0.00395381217822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Noto Sans"/>
              <a:ea typeface="Noto Sans"/>
              <a:cs typeface="Noto Sans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B5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36E1A5-CA6E-4BB4-9E07-2D248DE2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A7D8CF"/>
                </a:solidFill>
                <a:latin typeface="Noto Sans"/>
                <a:ea typeface="Noto Sans"/>
                <a:cs typeface="Noto Sans"/>
              </a:defRPr>
            </a:pPr>
            <a:r>
              <a:rPr sz="1800" b="1" i="0">
                <a:solidFill>
                  <a:srgbClr val="A7D8CF"/>
                </a:solidFill>
                <a:latin typeface="Noto Sans"/>
                <a:ea typeface="Noto Sans"/>
                <a:cs typeface="Noto Sans"/>
              </a:rPr>
              <a:t>SE-801 Artificial Neural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81CA4-D43B-4660-AF2F-8471402E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4200" b="1" i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Optimization Algorithms 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187E4A-B3EF-45E8-BC81-2BE66C24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4200" b="1" i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Learning Dynamics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6632C1-64E0-41A5-8E35-7AE02FEB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847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CE8EE"/>
                </a:solidFill>
                <a:latin typeface="Noto Sans"/>
                <a:ea typeface="Noto Sans"/>
                <a:cs typeface="Noto Sans"/>
              </a:defRPr>
            </a:pPr>
            <a:r>
              <a:rPr sz="2175" b="0" i="0">
                <a:solidFill>
                  <a:srgbClr val="DCE8EE"/>
                </a:solidFill>
                <a:latin typeface="Noto Sans"/>
                <a:ea typeface="Noto Sans"/>
                <a:cs typeface="Noto Sans"/>
              </a:rPr>
              <a:t>How the update rule changes the path across a loss surface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5238A-B332-420C-8C9B-7AC99A9D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4095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7648A-31D4-45C5-BC81-D7F2167D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9CAD3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B9CAD3"/>
                </a:solidFill>
                <a:latin typeface="Noto Sans"/>
                <a:ea typeface="Noto Sans"/>
                <a:cs typeface="Noto Sans"/>
              </a:rPr>
              <a:t>Lecture 7   Dr. Muhammad Farrukh Qureshi   PNEC, NUST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BDACD-C84D-4F78-964D-C1E8930D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76750"/>
            <a:ext cx="152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900" b="1" i="0">
                <a:solidFill>
                  <a:srgbClr val="31576C"/>
                </a:solidFill>
                <a:latin typeface="Noto Sans"/>
                <a:ea typeface="Noto Sans"/>
                <a:cs typeface="Noto Sans"/>
              </a:defRPr>
            </a:pPr>
            <a:r>
              <a:rPr sz="6900" b="1" i="0">
                <a:solidFill>
                  <a:srgbClr val="31576C"/>
                </a:solidFill>
                <a:latin typeface="Noto Sans"/>
                <a:ea typeface="Noto Sans"/>
                <a:cs typeface="Noto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505609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1FC0C9-6B98-4BA7-A506-EDB00CA7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Learning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97AFD-FF67-4E96-B618-6C489F18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93094-2DD6-4BCA-9C88-20E2860A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7  / 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0270C-1ACB-4968-9F09-4E170E26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Optimization and learning dynamics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FCE64-2BBF-44BF-B06A-65BF08EA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85925"/>
            <a:ext cx="1038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Distinguish batch, stochastic, and minibatch gradient estimates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Compute one momentum and one Adam update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Diagnose poor conditioning, noisy updates, and an unstable learning rate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Compare optimizers under the same initialization and update budget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Defend an optimizer choice with controlled evidence</a:t>
            </a:r>
          </a:p>
        </p:txBody>
      </p:sp>
    </p:spTree>
    <p:extLst>
      <p:ext uri="{BB962C8B-B14F-4D97-AF65-F5344CB8AC3E}">
        <p14:creationId xmlns:p14="http://schemas.microsoft.com/office/powerpoint/2010/main" val="9474006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4CE5DC-A5BD-4B5F-8EBD-5141E01F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Optimization within the learning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5C1E13-C0A8-400B-800B-F414AEEC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9AF8EF-1735-4917-B7B2-0B7B1504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7  / 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30119-5AB7-4506-A9C2-D19D63A4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Optimization and learning dynamics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33E0E-019A-4C4B-82B7-53248510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53841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The model and loss define the objective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7800F0-7A89-45A4-8159-21C15F51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2095500"/>
            <a:ext cx="253841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Backpropagation supplies the current gradient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9CFCC0-067D-41A1-9DA4-BA0588CF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95500"/>
            <a:ext cx="253841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The optimizer converts gradient history into a parameter update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1803F0-256E-483B-A3A1-BF19AA2C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338" y="2095500"/>
            <a:ext cx="253841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Validation evidence judges the training recipe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5C9CEB-9E6F-4A7D-9C11-B9276F49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815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2025" b="1" i="0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Each stage passes a checked contract to the next.</a:t>
            </a:r>
          </a:p>
        </p:txBody>
      </p:sp>
    </p:spTree>
    <p:extLst>
      <p:ext uri="{BB962C8B-B14F-4D97-AF65-F5344CB8AC3E}">
        <p14:creationId xmlns:p14="http://schemas.microsoft.com/office/powerpoint/2010/main" val="10952079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ED55DF-2DFF-47C3-A689-42548A2D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One update, three separate choices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5C871-D737-41A8-8008-19AEF3B4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F43D4-01DB-4F4F-A2C5-23667DCB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7  / 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43BD2-565C-4522-81E9-DA8ED6AA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Optimization and learning dynamics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7DCB1-EC50-4F24-B3D7-BFCCF69E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62125"/>
            <a:ext cx="285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62AF38-E562-4655-9521-C092E791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668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2550" b="1" i="0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2C95D-0BFF-445F-90B6-722FDFEE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2912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Direction comes from the gradient or a transformed gradient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Step scale comes from the learning rate and optimizer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09B28-5EF7-4036-BC26-5AD26AD2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2550" b="1" i="0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21BCA-8E30-4E4F-A1AD-6F706727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Gradient evidence comes from a batch of examples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Changing any one choice can alter the training path</a:t>
            </a:r>
          </a:p>
        </p:txBody>
      </p:sp>
    </p:spTree>
    <p:extLst>
      <p:ext uri="{BB962C8B-B14F-4D97-AF65-F5344CB8AC3E}">
        <p14:creationId xmlns:p14="http://schemas.microsoft.com/office/powerpoint/2010/main" val="18231854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82BC0-A897-489C-BA41-54D2B7C0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The empirical-risk gradient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8CCD5-F171-4F48-BBC8-62A9B5F6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A48AF-73E6-4C4A-BE61-3BB5747D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7  / 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5B357-776A-4170-812F-08AAF056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Optimization and learning dynamics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9A20D0-C0F7-4393-9D9B-C0B3596C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10382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3B57"/>
                </a:solidFill>
                <a:latin typeface="Noto Sans Mono"/>
                <a:ea typeface="Noto Sans Mono"/>
                <a:cs typeface="Noto Sans Mono"/>
              </a:defRPr>
            </a:pPr>
            <a:r>
              <a:rPr sz="2550" b="1">
                <a:solidFill>
                  <a:srgbClr val="173B57"/>
                </a:solidFill>
                <a:latin typeface="Noto Sans Mono"/>
                <a:ea typeface="Noto Sans Mono"/>
                <a:cs typeface="Noto Sans Mono"/>
              </a:rPr>
              <a:t>g(theta) = (1/N) sum_i grad_theta l_i(theta)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0913F-A16D-4FF8-A750-BB6C5523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81375"/>
            <a:ext cx="9429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Full-batch gradient descent uses every training example before one update.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It is deterministic for fixed parameters and data order.</a:t>
            </a:r>
          </a:p>
        </p:txBody>
      </p:sp>
    </p:spTree>
    <p:extLst>
      <p:ext uri="{BB962C8B-B14F-4D97-AF65-F5344CB8AC3E}">
        <p14:creationId xmlns:p14="http://schemas.microsoft.com/office/powerpoint/2010/main" val="18749551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E805B-33CE-4DD7-946C-20799304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Stochastic and minibatch estimates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A61AA-9953-4FC1-8B21-70BD974D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8ED67C-2281-4709-93F7-F917334A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7  / 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55281-8D46-428F-A421-1151ACC5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Optimization and learning dynamics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04AA7-2826-4D50-9C6C-D729C2CD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10382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3B57"/>
                </a:solidFill>
                <a:latin typeface="Noto Sans Mono"/>
                <a:ea typeface="Noto Sans Mono"/>
                <a:cs typeface="Noto Sans Mono"/>
              </a:defRPr>
            </a:pPr>
            <a:r>
              <a:rPr sz="2550" b="1">
                <a:solidFill>
                  <a:srgbClr val="173B57"/>
                </a:solidFill>
                <a:latin typeface="Noto Sans Mono"/>
                <a:ea typeface="Noto Sans Mono"/>
                <a:cs typeface="Noto Sans Mono"/>
              </a:rPr>
              <a:t>g_B(theta) = (1/|B|) sum_{i in B} grad_theta l_i(theta)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C6877-013D-4F43-9D95-A34B1F7C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81375"/>
            <a:ext cx="9429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 single example gives a high-variance estimate.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 minibatch reduces variance while retaining frequent updates.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 full batch removes sampling noise but can make each update expensive.</a:t>
            </a:r>
          </a:p>
        </p:txBody>
      </p:sp>
    </p:spTree>
    <p:extLst>
      <p:ext uri="{BB962C8B-B14F-4D97-AF65-F5344CB8AC3E}">
        <p14:creationId xmlns:p14="http://schemas.microsoft.com/office/powerpoint/2010/main" val="3040499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FB273-B4E7-41B7-B15C-56FF0094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Student calculation: two batch gradients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8204B-F0EC-469F-A755-144865A9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05EE1-91BC-4796-9C9C-4F9BDE2C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7  / 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62D64-F0DA-4AE2-A2C6-5C47A5E6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Optimization and learning dynamics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11875-D132-4036-9112-97EC3BCE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87521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B87521"/>
                </a:solidFill>
                <a:latin typeface="Noto Sans"/>
                <a:ea typeface="Noto Sans"/>
                <a:cs typeface="Noto Sans"/>
              </a:rPr>
              <a:t>CALCULATE OR EXPLAIN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D82856-8270-4486-8D16-5EE33FFB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9953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Per-example gradients are g1 = [2, 0], g2 = [0, 2], g3 = [2, 2], g4 = [-2, 0]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Calculate the full-batch mean gradient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Calculate the mean for minibatch {1, 4}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Explain why both can be valid estimates but lead to different steps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C20E6-6465-4B10-BF91-4C495488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150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Show shapes, substitutions, and assumptions.</a:t>
            </a:r>
          </a:p>
        </p:txBody>
      </p:sp>
    </p:spTree>
    <p:extLst>
      <p:ext uri="{BB962C8B-B14F-4D97-AF65-F5344CB8AC3E}">
        <p14:creationId xmlns:p14="http://schemas.microsoft.com/office/powerpoint/2010/main" val="7044671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C8BEB6-9C6A-4908-B056-CBF4AC7B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Batch-gradient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AD9A3-AE9C-4B9C-9ADF-A9750CC5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15EF0-D1EC-4E84-8B80-D98D95F3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7  / 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2DBCF-4AC5-4B52-BA41-8FB11E01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Optimization and learning dynamics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575C3-928F-4D52-A1BF-9866E1E3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WORKED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20756-8947-4E90-BB48-CCFD6682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9953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Full batch: [0.5, 1.0]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Minibatch {1, 4}: [0, 0]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minibatch has no useful direction at this parameter value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Sampling noise changes the step, not the objective being estimated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4F0F8-F3E5-446C-8EC7-3B5940B4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150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Check the method and the final statement.</a:t>
            </a:r>
          </a:p>
        </p:txBody>
      </p:sp>
    </p:spTree>
    <p:extLst>
      <p:ext uri="{BB962C8B-B14F-4D97-AF65-F5344CB8AC3E}">
        <p14:creationId xmlns:p14="http://schemas.microsoft.com/office/powerpoint/2010/main" val="13889458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FDA4C-68B1-4318-9916-B4BB9F2E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Batch size changes more than memory 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6DEE2-6829-4068-9F1D-4DF2A206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D4A81-71C0-45C4-948A-43C0E563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7  / 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58CF20-1DA0-4EA2-8211-31A1D1FB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Optimization and learning dynamics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EFB096-548B-4080-AE84-740B24B5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85925"/>
            <a:ext cx="1038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Small batches provide more updates per pass through the data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Large batches reduce gradient noise and improve vectorized throughput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best choice depends on hardware, data, and the learning rate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Compare equal examples processed or equal updates, then state which budget you used</a:t>
            </a:r>
          </a:p>
        </p:txBody>
      </p:sp>
    </p:spTree>
    <p:extLst>
      <p:ext uri="{BB962C8B-B14F-4D97-AF65-F5344CB8AC3E}">
        <p14:creationId xmlns:p14="http://schemas.microsoft.com/office/powerpoint/2010/main" val="6663651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15793E-F735-4D78-A4E7-9F08FD7F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Gradient noise as a diagnostic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C0562-8942-4424-A67F-5D2FBC78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DD13B2-C858-41FC-B659-EC04D365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7  /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E80DBE-677D-4004-934A-180B9F5A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Optimization and learning dynamics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871C7-A993-4A36-ADA2-67B5DDF0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A8483D"/>
                </a:solidFill>
                <a:latin typeface="Noto Sans"/>
                <a:ea typeface="Noto Sans"/>
                <a:cs typeface="Noto Sans"/>
              </a:defRPr>
            </a:pPr>
            <a:r>
              <a:rPr sz="1500" b="1" i="0">
                <a:solidFill>
                  <a:srgbClr val="A8483D"/>
                </a:solidFill>
                <a:latin typeface="Noto Sans"/>
                <a:ea typeface="Noto Sans"/>
                <a:cs typeface="Noto Sans"/>
              </a:rPr>
              <a:t>Relative deviation from full gradient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13882-C248-4816-9431-B7FFB9C1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81150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1500" b="1" i="0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Directional agreement with full gradient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52387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651963306314e94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286500" y="2000250"/>
          <a:ext xmlns:a="http://schemas.openxmlformats.org/drawingml/2006/main" cx="52387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b414d5c5564682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71565-F71C-435D-A815-82EA993E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84835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Measured at one fixed parameter state. Full-batch deviation is zero by construction.</a:t>
            </a:r>
          </a:p>
        </p:txBody>
      </p:sp>
    </p:spTree>
    <p:extLst>
      <p:ext uri="{BB962C8B-B14F-4D97-AF65-F5344CB8AC3E}">
        <p14:creationId xmlns:p14="http://schemas.microsoft.com/office/powerpoint/2010/main" val="4013831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8923C-D8EA-4E79-B410-92DA8D93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6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Poor conditioning creates a narrow valley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DDD4D-230C-48DC-9105-FB9C457B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92A7B0-C036-48EB-A12E-7E30CAE5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7  /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E74EA6-8814-42F4-83FF-98BE0B86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Optimization and learning dynamics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1DF82-F92F-4DED-BA6B-A1CD7C27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10382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3B57"/>
                </a:solidFill>
                <a:latin typeface="Noto Sans Mono"/>
                <a:ea typeface="Noto Sans Mono"/>
                <a:cs typeface="Noto Sans Mono"/>
              </a:defRPr>
            </a:pPr>
            <a:r>
              <a:rPr sz="2550" b="1">
                <a:solidFill>
                  <a:srgbClr val="173B57"/>
                </a:solidFill>
                <a:latin typeface="Noto Sans Mono"/>
                <a:ea typeface="Noto Sans Mono"/>
                <a:cs typeface="Noto Sans Mono"/>
              </a:rPr>
              <a:t>f(x, y) = 0.5 (0.2 x^2 + 8 y^2)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189AC-606A-4D1E-8DCA-13AD03A5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81375"/>
            <a:ext cx="9429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y direction is forty times steeper than the x direction.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One global learning rate must remain stable in the steep direction.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Progress along the shallow direction can then become slow.</a:t>
            </a:r>
          </a:p>
        </p:txBody>
      </p:sp>
    </p:spTree>
    <p:extLst>
      <p:ext uri="{BB962C8B-B14F-4D97-AF65-F5344CB8AC3E}">
        <p14:creationId xmlns:p14="http://schemas.microsoft.com/office/powerpoint/2010/main" val="13629127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921B57-89A8-4B3F-9167-CD1F929A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Gradient descent on the quadratic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F7EE6-CFFD-4E48-967C-B34C8264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5D860-737B-46FD-BDE5-15E5DC7D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7  /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5D69C-1EA9-4366-AFE7-6E4070C1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Optimization and learning dynamics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B1800-5654-4753-9E22-3B3946B9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10382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3B57"/>
                </a:solidFill>
                <a:latin typeface="Noto Sans Mono"/>
                <a:ea typeface="Noto Sans Mono"/>
                <a:cs typeface="Noto Sans Mono"/>
              </a:defRPr>
            </a:pPr>
            <a:r>
              <a:rPr sz="2550" b="1">
                <a:solidFill>
                  <a:srgbClr val="173B57"/>
                </a:solidFill>
                <a:latin typeface="Noto Sans Mono"/>
                <a:ea typeface="Noto Sans Mono"/>
                <a:cs typeface="Noto Sans Mono"/>
              </a:rPr>
              <a:t>theta_t = theta_(t-1) - eta g_t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740FC-D813-4D68-8D82-46166C22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81375"/>
            <a:ext cx="9429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grad f = [0.2x, 8y]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With eta = 0.12, y changes rapidly while x contracts slowly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trajectory can zigzag across a narrow valley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Feature scaling and normalization can improve the geometry seen by the optimizer</a:t>
            </a:r>
          </a:p>
        </p:txBody>
      </p:sp>
    </p:spTree>
    <p:extLst>
      <p:ext uri="{BB962C8B-B14F-4D97-AF65-F5344CB8AC3E}">
        <p14:creationId xmlns:p14="http://schemas.microsoft.com/office/powerpoint/2010/main" val="4198186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676B6-A0F4-49BB-B74C-36FDD17D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Student calculation: two SGD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B4AEA-831C-4FF0-911C-8C9C79C5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DB256-95AB-4A11-ADB5-1E9D01CF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7  / 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56389-276F-4423-A1A8-868E15CB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Optimization and learning dynamics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81EB0-DF07-47D7-942D-9425851F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87521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B87521"/>
                </a:solidFill>
                <a:latin typeface="Noto Sans"/>
                <a:ea typeface="Noto Sans"/>
                <a:cs typeface="Noto Sans"/>
              </a:rPr>
              <a:t>CALCULATE OR EXPLAIN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FD1987-4561-4DC3-8AAE-1A844F78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9953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Start at theta0 = [4, 1]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Use f(x,y) = 0.5(0.2x^2 + 8y^2) and eta = 0.1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Calculate theta1 and theta2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Which coordinate limits a larger stable learning rate?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A4B56-7E40-4BE8-A9A9-610795E4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150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Show shapes, substitutions, and assumptions.</a:t>
            </a:r>
          </a:p>
        </p:txBody>
      </p:sp>
    </p:spTree>
    <p:extLst>
      <p:ext uri="{BB962C8B-B14F-4D97-AF65-F5344CB8AC3E}">
        <p14:creationId xmlns:p14="http://schemas.microsoft.com/office/powerpoint/2010/main" val="17310398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BE570-6BA1-47DE-970B-A848BE5C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Two-step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727FE-FEFF-4A40-A65D-4B1EC1F1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71E44-0DD0-4EC9-A2BF-DF6876BA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7  / 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7AFBF-0190-405E-B732-D8E8D729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Optimization and learning dynamics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648D3-070C-4306-BA2F-A35FE900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WORKED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358E4F-4AD0-4573-A7EE-2FBD0046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9953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g0 = [0.8, 8.0], so theta1 = [3.92, 0.20]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g1 = [0.784, 1.60], so theta2 = [3.8416, 0.04]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steep y direction constrains the learning rate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shallow x direction still moves slowly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387FB-D915-4653-9D4B-3FDD15FA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150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Check the method and the final statement.</a:t>
            </a:r>
          </a:p>
        </p:txBody>
      </p:sp>
    </p:spTree>
    <p:extLst>
      <p:ext uri="{BB962C8B-B14F-4D97-AF65-F5344CB8AC3E}">
        <p14:creationId xmlns:p14="http://schemas.microsoft.com/office/powerpoint/2010/main" val="15782387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AD368-563E-4DED-A353-32911E40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Momentum stores a velocity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5FEAA-07F2-4C67-B8B5-47B78056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804F4-7966-433E-93AF-21EC6294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7  / 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858D0-A650-4CCC-8105-47C27299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Optimization and learning dynamics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41936-4B50-4844-A399-635FBD86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10382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3B57"/>
                </a:solidFill>
                <a:latin typeface="Noto Sans Mono"/>
                <a:ea typeface="Noto Sans Mono"/>
                <a:cs typeface="Noto Sans Mono"/>
              </a:defRPr>
            </a:pPr>
            <a:r>
              <a:rPr sz="2550" b="1">
                <a:solidFill>
                  <a:srgbClr val="173B57"/>
                </a:solidFill>
                <a:latin typeface="Noto Sans Mono"/>
                <a:ea typeface="Noto Sans Mono"/>
                <a:cs typeface="Noto Sans Mono"/>
              </a:rPr>
              <a:t>v_t = beta v_(t-1) + g_t    theta_t = theta_(t-1) - eta v_t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25884-5108-49C5-99B7-AC4D0352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81375"/>
            <a:ext cx="9429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Repeated directions accumulate.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Alternating directions can partly cancel.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state v_t makes the next update depend on earlier gradients.</a:t>
            </a:r>
          </a:p>
        </p:txBody>
      </p:sp>
    </p:spTree>
    <p:extLst>
      <p:ext uri="{BB962C8B-B14F-4D97-AF65-F5344CB8AC3E}">
        <p14:creationId xmlns:p14="http://schemas.microsoft.com/office/powerpoint/2010/main" val="132559409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BFA73-8AC9-45A3-B384-04084EAC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Student calculation: one momentum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7A66D-9F64-425F-BFA5-A372CFB6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A49B2-E9DB-4D9D-9731-2D9C731E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7  / 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337E0-2396-4BAA-9E58-924C4294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Optimization and learning dynamics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F5E40-D834-4DE4-9B83-3EECEF09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87521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B87521"/>
                </a:solidFill>
                <a:latin typeface="Noto Sans"/>
                <a:ea typeface="Noto Sans"/>
                <a:cs typeface="Noto Sans"/>
              </a:rPr>
              <a:t>CALCULATE OR EXPLAIN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39661-59E2-48E9-BB7D-84199828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9953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beta = 0.9, eta = 0.1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Previous velocity v = [1, -2]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Current gradient g = [3, 4]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Calculate the new velocity and parameter change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95E3E9-FD2F-4E74-B9D8-5F24F0AC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150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Show shapes, substitutions, and assumptions.</a:t>
            </a:r>
          </a:p>
        </p:txBody>
      </p:sp>
    </p:spTree>
    <p:extLst>
      <p:ext uri="{BB962C8B-B14F-4D97-AF65-F5344CB8AC3E}">
        <p14:creationId xmlns:p14="http://schemas.microsoft.com/office/powerpoint/2010/main" val="12660937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E0267B-4A25-41A9-B8BB-2AA6A7A4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Momentum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E3182-31F5-4643-B397-38D8C06F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B0701-60F4-4D6F-A3CB-E2649F2C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7  / 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C1995-992C-4D25-9449-633E8432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Optimization and learning dynamics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7D7B3D-B92D-42F9-8B9C-8FC063F0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WORKED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3B9CD-8004-424F-99B7-634CB13A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9953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v_new = 0.9[1, -2] + [3, 4] = [3.9, 2.2]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Parameter change = -0.1 v_new = [-0.39, -0.22]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first coordinate reinforces earlier motion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second coordinate reverses only after overcoming stored velocity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24E307-982E-475D-A8AC-31122174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150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Check the method and the final statement.</a:t>
            </a:r>
          </a:p>
        </p:txBody>
      </p:sp>
    </p:spTree>
    <p:extLst>
      <p:ext uri="{BB962C8B-B14F-4D97-AF65-F5344CB8AC3E}">
        <p14:creationId xmlns:p14="http://schemas.microsoft.com/office/powerpoint/2010/main" val="187765240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555AA-DB3B-4A99-BE5B-C041358B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Momentum changes the trajectory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4863F-6839-4A98-BD7F-8277ACB1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5156E-845B-4DBC-9E99-36514351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7  / 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AF5024-7FDB-49C9-9370-6211219A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Optimization and learning dynamics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1000125" y="1714500"/>
          <a:ext xmlns:a="http://schemas.openxmlformats.org/drawingml/2006/main" cx="10191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197a1edd82444c"/>
          </a:graphicData>
        </a:graphic>
      </p:graphicFrame>
    </p:spTree>
    <p:extLst>
      <p:ext uri="{BB962C8B-B14F-4D97-AF65-F5344CB8AC3E}">
        <p14:creationId xmlns:p14="http://schemas.microsoft.com/office/powerpoint/2010/main" val="140474468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BEBCF3-5503-4DCF-8990-03C30AE0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Adaptive coordinate scaling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1A775C-2F02-467B-BF9D-D5A13045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4CB6F-37A0-4003-AB46-C3C096C4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7  /  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25A8E-3D85-4ABA-A66F-C5A6A5F8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Optimization and learning dynamics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F1A2D-0796-4340-9050-C3260B4D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62125"/>
            <a:ext cx="285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398ADE-5A92-4122-A28E-38C349BC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668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2550" b="1" i="0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7C2F5-D190-430E-814E-C8ED1F56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2912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Some parameters repeatedly receive large gradients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Others receive small or sparse gradients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19678-647E-4D26-B2B1-2941A0FB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2550" b="1" i="0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01399B-4D8B-4D42-896C-D89673BB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Adaptive methods maintain a separate scale for each coordinate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effective step still depends on a global learning rate</a:t>
            </a:r>
          </a:p>
        </p:txBody>
      </p:sp>
    </p:spTree>
    <p:extLst>
      <p:ext uri="{BB962C8B-B14F-4D97-AF65-F5344CB8AC3E}">
        <p14:creationId xmlns:p14="http://schemas.microsoft.com/office/powerpoint/2010/main" val="33050838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89D6C-9475-4CFE-8537-E402B4F9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Adam maintains two moving averages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480E7-3FA7-4B0E-B01F-6A29081A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6B3826-F504-4086-8A11-90DC0830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7  / 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992FC-0E58-4EEA-8C23-C53DC018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Optimization and learning dynamics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66EC9-33A0-4D0A-8AB3-3AEF0317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10382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B57"/>
                </a:solidFill>
                <a:latin typeface="Noto Sans Mono"/>
                <a:ea typeface="Noto Sans Mono"/>
                <a:cs typeface="Noto Sans Mono"/>
              </a:defRPr>
            </a:pPr>
            <a:r>
              <a:rPr sz="2100" b="1">
                <a:solidFill>
                  <a:srgbClr val="173B57"/>
                </a:solidFill>
                <a:latin typeface="Noto Sans Mono"/>
                <a:ea typeface="Noto Sans Mono"/>
                <a:cs typeface="Noto Sans Mono"/>
              </a:rPr>
              <a:t>m_t = beta1 m_(t-1) + (1-beta1)g_t    s_t = beta2 s_(t-1) + (1-beta2)g_t^2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AE4722-434E-4655-90A0-94EDF8F6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81375"/>
            <a:ext cx="9429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m_t estimates a smoothed first moment.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s_t estimates a smoothed second raw moment.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Bias correction matters when both states start at zero.</a:t>
            </a:r>
          </a:p>
        </p:txBody>
      </p:sp>
    </p:spTree>
    <p:extLst>
      <p:ext uri="{BB962C8B-B14F-4D97-AF65-F5344CB8AC3E}">
        <p14:creationId xmlns:p14="http://schemas.microsoft.com/office/powerpoint/2010/main" val="167174765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CB25B-D9C6-4EEE-8454-C888B328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Adam update after bias correction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BD982-2A1B-482B-8788-D31984E1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889EC-8C4E-42B9-895D-679BF73A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7  /  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8AB08F-033C-4789-ABF0-99B07AF8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Optimization and learning dynamics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D73A8-B8CB-4E5F-8862-556E32E9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10382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3B57"/>
                </a:solidFill>
                <a:latin typeface="Noto Sans Mono"/>
                <a:ea typeface="Noto Sans Mono"/>
                <a:cs typeface="Noto Sans Mono"/>
              </a:defRPr>
            </a:pPr>
            <a:r>
              <a:rPr sz="2550" b="1">
                <a:solidFill>
                  <a:srgbClr val="173B57"/>
                </a:solidFill>
                <a:latin typeface="Noto Sans Mono"/>
                <a:ea typeface="Noto Sans Mono"/>
                <a:cs typeface="Noto Sans Mono"/>
              </a:rPr>
              <a:t>theta_t = theta_(t-1) - eta m_hat_t / (sqrt(s_hat_t) + epsilon)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F8E1F0-E3FC-425A-87FC-BCE8CAE5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81375"/>
            <a:ext cx="9429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Coordinates with persistent large squared gradients receive smaller scaled steps.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Adam often reduces early tuning effort, but it does not remove the need for controlled comparison.</a:t>
            </a:r>
          </a:p>
        </p:txBody>
      </p:sp>
    </p:spTree>
    <p:extLst>
      <p:ext uri="{BB962C8B-B14F-4D97-AF65-F5344CB8AC3E}">
        <p14:creationId xmlns:p14="http://schemas.microsoft.com/office/powerpoint/2010/main" val="168201527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1C3677-2AC2-48E6-9B7D-670C473B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6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Student calculation: Adam at the first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7E200-6CDD-4F46-8B15-342C5884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9E86F-AF57-43BA-8D4E-99EF71A2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7  / 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A11D0-5C28-435F-8CED-2B05EA0E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Optimization and learning dynamics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29C69-75A3-4439-BFF2-F0BD6875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87521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B87521"/>
                </a:solidFill>
                <a:latin typeface="Noto Sans"/>
                <a:ea typeface="Noto Sans"/>
                <a:cs typeface="Noto Sans"/>
              </a:rPr>
              <a:t>CALCULATE OR EXPLAIN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950D2-BEA3-4F05-B75A-B81CD710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9953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g1 = [2, -4], beta1 = 0.9, beta2 = 0.999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m0 = 0, s0 = 0, eta = 0.01, ignore epsilon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Calculate m1, s1, their bias-corrected values, and the parameter change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78D49-D038-4298-A4AF-A2AB30C6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150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Show shapes, substitutions, and assumptions.</a:t>
            </a:r>
          </a:p>
        </p:txBody>
      </p:sp>
    </p:spTree>
    <p:extLst>
      <p:ext uri="{BB962C8B-B14F-4D97-AF65-F5344CB8AC3E}">
        <p14:creationId xmlns:p14="http://schemas.microsoft.com/office/powerpoint/2010/main" val="168792109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5E50B2-987A-4699-8C2A-FD0A88F5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First-step Adam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904D80-D39A-4B32-B9A0-BDB071DC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10497-875F-4107-B732-C5E915F5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7  / 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54922-236E-4FF5-9F8F-98DD46B3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Optimization and learning dynamics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7E2E55-D72E-483F-98B7-2A3CE780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WORKED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DDCED-CEDF-4CBE-B448-4DD52797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9953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m1 = [0.2, -0.4] and s1 = [0.004, 0.016]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m_hat1 = [2, -4] and s_hat1 = [4, 16]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scaled direction is [1, -1]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Parameter change = [-0.01, +0.01]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EA3D2-45C8-4909-9B34-A2F1C3C4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150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Check the method and the final statement.</a:t>
            </a:r>
          </a:p>
        </p:txBody>
      </p:sp>
    </p:spTree>
    <p:extLst>
      <p:ext uri="{BB962C8B-B14F-4D97-AF65-F5344CB8AC3E}">
        <p14:creationId xmlns:p14="http://schemas.microsoft.com/office/powerpoint/2010/main" val="77043439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63E46-A616-46EA-A9C8-1C3FC054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Learning-rate schedules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7269C3-8CAF-41C8-BC41-6183B9A5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4DC555-C368-46E7-AC8E-427919E7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7  / 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679BD-75D4-4E8F-BC71-62DF1C99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Optimization and learning dynamics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1EDCC-BF35-417C-A98C-84659AF2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85925"/>
            <a:ext cx="1038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 constant rate makes interpretation simple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Step decay changes the rate at specified milestones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Cosine decay changes it smoothly over a fixed budget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Warmup limits early steps before the optimizer state becomes informative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schedule belongs in the recorded training recipe</a:t>
            </a:r>
          </a:p>
        </p:txBody>
      </p:sp>
    </p:spTree>
    <p:extLst>
      <p:ext uri="{BB962C8B-B14F-4D97-AF65-F5344CB8AC3E}">
        <p14:creationId xmlns:p14="http://schemas.microsoft.com/office/powerpoint/2010/main" val="82149630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73B5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EF768-4856-4D9B-AC7C-9D281BC1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5700" b="1" i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Break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1F9C0-CB4B-4ED0-9DB2-3C0B23FC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8607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A7D8CF"/>
                </a:solidFill>
                <a:latin typeface="Noto Sans"/>
                <a:ea typeface="Noto Sans"/>
                <a:cs typeface="Noto Sans"/>
              </a:defRPr>
            </a:pPr>
            <a:r>
              <a:rPr sz="3000" b="1" i="0">
                <a:solidFill>
                  <a:srgbClr val="A7D8CF"/>
                </a:solidFill>
                <a:latin typeface="Noto Sans"/>
                <a:ea typeface="Noto Sans"/>
                <a:cs typeface="Noto Sans"/>
              </a:rPr>
              <a:t>20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A82DC-2EFC-4A03-9CBD-34BEAE7F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971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175" b="0" i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After the break: controlled optimizer evidence and diagnosis</a:t>
            </a:r>
          </a:p>
        </p:txBody>
      </p:sp>
    </p:spTree>
    <p:extLst>
      <p:ext uri="{BB962C8B-B14F-4D97-AF65-F5344CB8AC3E}">
        <p14:creationId xmlns:p14="http://schemas.microsoft.com/office/powerpoint/2010/main" val="211197152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512DE-F43B-4361-9B9E-CE5566E8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A fair optimizer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C8F6A-D437-44A3-B187-1B24B60A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B01DD-C6D2-4F2C-AAC0-E2E57EA4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7  /  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8A1ED-720F-4B4E-9026-F67EC31B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Optimization and learning dynamics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A3DC4-E1CD-4126-AC04-FA67E794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85925"/>
            <a:ext cx="1038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Hold the data split, model, initialization, and update budget fixed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Use the same batch sequence when the comparison requires it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Tune learning rates without consulting the test set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Report the selected rule and the full learning curves</a:t>
            </a:r>
          </a:p>
        </p:txBody>
      </p:sp>
    </p:spTree>
    <p:extLst>
      <p:ext uri="{BB962C8B-B14F-4D97-AF65-F5344CB8AC3E}">
        <p14:creationId xmlns:p14="http://schemas.microsoft.com/office/powerpoint/2010/main" val="174576672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BBB7F-F9B9-420F-BA1D-35A24665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Controlled classification experiment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CE06C-BA17-49AE-A51F-105DD523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F90ED-F589-49BC-91D3-D6BEFD27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7  /  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E42687-88B3-4E50-9A33-2E460C39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Optimization and learning dynamics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952500" y="1714500"/>
          <a:ext xmlns:a="http://schemas.openxmlformats.org/drawingml/2006/main" cx="102870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51435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Control</a:t>
                      </a:r>
                    </a:p>
                  </a:txBody>
                  <a:tcPr marL="91440" marR="91440" marT="45720" marB="45720" anchor="ctr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Value</a:t>
                      </a:r>
                    </a:p>
                  </a:txBody>
                  <a:tcPr marL="91440" marR="91440" marT="45720" marB="45720" anchor="ctr">
                    <a:solidFill>
                      <a:srgbClr val="173B57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Initialization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Identical parameter tensors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Data order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Identical seed and batch size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Budget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80 epochs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Metric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Validation cross-entropy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530539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41E29E-378A-4BF2-8F11-814F3DE5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Same budget, different learning curves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A0AF0-D7F0-42E7-819F-AC9C7547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D64642-CE79-48E4-9A46-4B9ECD32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7  /  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68EBF-A28D-48FB-8F02-D34DCEAF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Optimization and learning dynamics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1000125" y="1714500"/>
          <a:ext xmlns:a="http://schemas.openxmlformats.org/drawingml/2006/main" cx="10191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961ad1bc1ce40da"/>
          </a:graphicData>
        </a:graphic>
      </p:graphicFrame>
    </p:spTree>
    <p:extLst>
      <p:ext uri="{BB962C8B-B14F-4D97-AF65-F5344CB8AC3E}">
        <p14:creationId xmlns:p14="http://schemas.microsoft.com/office/powerpoint/2010/main" val="112416148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836DD2-277F-46AE-A2C1-872D6C05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Reference-run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3A3D8-8BD4-44DE-A088-9B418F78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0C13A-80DC-4EB6-97A9-6C274812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7  /  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DB613-0AC3-4288-B6B1-53EC4BFA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Optimization and learning dynamics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952500" y="1809750"/>
          <a:ext xmlns:a="http://schemas.openxmlformats.org/drawingml/2006/main" cx="10287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  <a:gridCol w="2057400"/>
              </a:tblGrid>
              <a:tr h="90487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Optimizer</a:t>
                      </a:r>
                    </a:p>
                  </a:txBody>
                  <a:tcPr marL="91440" marR="91440" marT="45720" marB="45720" anchor="ctr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Selected epoch</a:t>
                      </a:r>
                    </a:p>
                  </a:txBody>
                  <a:tcPr marL="91440" marR="91440" marT="45720" marB="45720" anchor="ctr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Validation CE</a:t>
                      </a:r>
                    </a:p>
                  </a:txBody>
                  <a:tcPr marL="91440" marR="91440" marT="45720" marB="45720" anchor="ctr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Test CE</a:t>
                      </a:r>
                    </a:p>
                  </a:txBody>
                  <a:tcPr marL="91440" marR="91440" marT="45720" marB="45720" anchor="ctr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Test accuracy</a:t>
                      </a:r>
                    </a:p>
                  </a:txBody>
                  <a:tcPr marL="91440" marR="91440" marT="45720" marB="45720" anchor="ctr">
                    <a:solidFill>
                      <a:srgbClr val="173B57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SGD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80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0.7804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0.7842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51.7%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Momentum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80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0.0181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0.0178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100.0%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Adam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80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0.0040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0.0036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100.0%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E4269-3118-458A-8FA4-CE41FFE1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6262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Reference values come from the executed notebook. Read the experiment report before generalizing.</a:t>
            </a:r>
          </a:p>
        </p:txBody>
      </p:sp>
    </p:spTree>
    <p:extLst>
      <p:ext uri="{BB962C8B-B14F-4D97-AF65-F5344CB8AC3E}">
        <p14:creationId xmlns:p14="http://schemas.microsoft.com/office/powerpoint/2010/main" val="34321745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9C004-E8A1-4BA6-B417-B5B178F9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Diagnosing a plateau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E8B46-EBD5-431F-8745-2369967A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43923-73C4-4484-B39D-2F957F69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7  /  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2C7B3-A01C-4A11-8509-BDAA2297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Optimization and learning dynamics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8D7B2-1001-4257-8CFB-C08D0C8D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85925"/>
            <a:ext cx="1038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Check whether gradients are near zero or merely noisy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Inspect activation scale and the first-layer gradient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Compare training and validation loss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Try a learning-rate range before changing the architecture</a:t>
            </a:r>
          </a:p>
        </p:txBody>
      </p:sp>
    </p:spTree>
    <p:extLst>
      <p:ext uri="{BB962C8B-B14F-4D97-AF65-F5344CB8AC3E}">
        <p14:creationId xmlns:p14="http://schemas.microsoft.com/office/powerpoint/2010/main" val="57383012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E452B-5F7B-48B4-8889-71FFCD40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Diagnosing unstable updates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596AD-1EDC-45C7-88B5-BA94833F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34021E-723E-4220-95DA-AA79EDCC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7  /  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843E0-6E44-48B0-A04E-1CE3ED05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Optimization and learning dynamics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3C261-5BD6-4C75-8148-B03B5A27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85925"/>
            <a:ext cx="1038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Loss spikes can indicate a learning rate that is too large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Non-finite values require an immediate numerical check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Gradient norms reveal whether clipping would address the symptom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Clipping does not repair a wrong loss or invalid data scale</a:t>
            </a:r>
          </a:p>
        </p:txBody>
      </p:sp>
    </p:spTree>
    <p:extLst>
      <p:ext uri="{BB962C8B-B14F-4D97-AF65-F5344CB8AC3E}">
        <p14:creationId xmlns:p14="http://schemas.microsoft.com/office/powerpoint/2010/main" val="98308661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50F3D5-2C15-4E7C-8237-85CEC554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6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Optimizer choice is an experimental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433393-89DE-42FC-BBD8-79C15DC6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89F925-3E66-4713-AB60-78D82A83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7  / 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872D1-2BAD-475F-894F-88905D19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Optimization and learning dynamics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F42E9-363B-4C17-8C79-7608FEC3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62125"/>
            <a:ext cx="285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2253D-831A-43EF-81A0-886DFF41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668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2550" b="1" i="0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5F2D0-87E2-4C92-8CCA-9BFDB10C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2912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SGD offers a simple baseline and transparent state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Momentum can accelerate consistent directions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0DF72-5FDC-4A5A-A89F-D2CD11AE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2550" b="1" i="0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93BF0-8278-4389-BC44-6A549017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Adam provides coordinate-wise scaling and useful defaults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evidence should include tuned settings, compute budget, and variability</a:t>
            </a:r>
          </a:p>
        </p:txBody>
      </p:sp>
    </p:spTree>
    <p:extLst>
      <p:ext uri="{BB962C8B-B14F-4D97-AF65-F5344CB8AC3E}">
        <p14:creationId xmlns:p14="http://schemas.microsoft.com/office/powerpoint/2010/main" val="14850563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76761-4ADA-4727-8716-725C1051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Notebook investigation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5A41AA-148C-49CF-BB9E-6B5C6695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B1869-E78F-4DA2-88F2-555E63BA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7  /  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A9B851-8B7C-40AE-934A-75C7B035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Optimization and learning dynamics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95DDF-C5B5-45C2-A2CB-19A951E6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105537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 w="11430">
            <a:solidFill>
              <a:srgbClr val="31576C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python lecture_07_experiments.py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# or open ANN_Lec_7_live.ipynb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C2ABD-86DE-4DBD-AD05-B089C4A5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0"/>
            <a:ext cx="10096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6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6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Run the quadratic trajectory comparison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6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6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Measure gradient variability at four batch sizes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6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6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Train SGD, momentum, and Adam under the frozen protocol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6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6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Change one learning rate and predict the curve before rerunning</a:t>
            </a:r>
          </a:p>
        </p:txBody>
      </p:sp>
    </p:spTree>
    <p:extLst>
      <p:ext uri="{BB962C8B-B14F-4D97-AF65-F5344CB8AC3E}">
        <p14:creationId xmlns:p14="http://schemas.microsoft.com/office/powerpoint/2010/main" val="19992049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1E23E-0D95-4525-9DAE-76179FCF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Project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04A8F-C058-48C8-A922-A50C823E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8A649B-9302-4A90-8093-51F2C025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7  /  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585DC-2362-4693-BC79-C1F8ECF4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Optimization and learning dynamics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92026D-CE8F-4363-8F67-C01A0DDA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85925"/>
            <a:ext cx="1038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Commit the verified train, validation, and test split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Record one baseline result with its configuration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State the optimizer, learning rate, batch size, and budget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Add one diagnostic plot that can falsify your training claim</a:t>
            </a:r>
          </a:p>
        </p:txBody>
      </p:sp>
    </p:spTree>
    <p:extLst>
      <p:ext uri="{BB962C8B-B14F-4D97-AF65-F5344CB8AC3E}">
        <p14:creationId xmlns:p14="http://schemas.microsoft.com/office/powerpoint/2010/main" val="2928640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D9A014-4519-41E5-9162-E6647949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Concept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A872F-F85F-49A3-BBFB-55B2DA92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70013-2EC5-467A-B7C1-792E2DBB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7  / 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75A35-6CE1-4567-AF84-981754D4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Optimization and learning dynamics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D7300-8EE1-4B62-BF20-5A90C5A8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87521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B87521"/>
                </a:solidFill>
                <a:latin typeface="Noto Sans"/>
                <a:ea typeface="Noto Sans"/>
                <a:cs typeface="Noto Sans"/>
              </a:rPr>
              <a:t>CALCULATE OR EXPLAIN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7DF07-AC70-4A0A-9A52-3199CD2B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9953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Why does a smaller batch produce a noisier gradient estimate?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What state does momentum add to plain SGD?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Why must Adam still use a validation protocol?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What must remain fixed in an optimizer comparison?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3914D-3027-4D04-8593-8BEA350F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150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Show shapes, substitutions, and assumptions.</a:t>
            </a:r>
          </a:p>
        </p:txBody>
      </p:sp>
    </p:spTree>
    <p:extLst>
      <p:ext uri="{BB962C8B-B14F-4D97-AF65-F5344CB8AC3E}">
        <p14:creationId xmlns:p14="http://schemas.microsoft.com/office/powerpoint/2010/main" val="194940415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5C5F9-B9C5-4CA5-8CC3-0A8C8985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Lecture 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BB784-E102-43D0-B7C7-63AF1407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9EAFB-2EB8-442E-ABCD-BEBAB42A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7  /  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02BEC-CC44-4D9A-8786-7890C673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Optimization and learning dynamics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B5642-3D03-4771-92E8-1848AA3D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85925"/>
            <a:ext cx="1038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Backpropagation supplies a gradient at the current parameters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Batch selection controls the noise in that gradient estimate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Optimizer state changes how gradients become updates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Learning curves and diagnostics support the final choice</a:t>
            </a:r>
          </a:p>
        </p:txBody>
      </p:sp>
    </p:spTree>
    <p:extLst>
      <p:ext uri="{BB962C8B-B14F-4D97-AF65-F5344CB8AC3E}">
        <p14:creationId xmlns:p14="http://schemas.microsoft.com/office/powerpoint/2010/main" val="6505367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BFFF3-0802-4FAE-848F-C770BB47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6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Reserve: saddle points and flat directions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188D2-3D3F-4F37-A10E-F3D415F8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0F117-E38A-43E1-80C1-FCC7CAA1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7  /  37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5A26B0-A789-4681-9945-67035270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Optimization and learning dynamics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FCF1E-393D-4CF7-87ED-EBB1D4DE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85925"/>
            <a:ext cx="1038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 small gradient can occur away from a minimum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Curvature can differ sharply across directions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Noise and momentum may help leave a flat region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local picture remains a diagnostic aid, not a proof of global behavior</a:t>
            </a:r>
          </a:p>
        </p:txBody>
      </p:sp>
    </p:spTree>
    <p:extLst>
      <p:ext uri="{BB962C8B-B14F-4D97-AF65-F5344CB8AC3E}">
        <p14:creationId xmlns:p14="http://schemas.microsoft.com/office/powerpoint/2010/main" val="23754725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8370A3-AECF-4535-A9E7-58DE94A8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Reserve: gradient clipping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3D0AF-6654-471A-BFD7-04DDB2AE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74F869-8AE1-4E01-8989-43F11AC8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7  /  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9825E-FFC4-42AC-AAC3-F63531A5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Optimization and learning dynamics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4F9A5-F2DF-48B8-8574-354BA305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85925"/>
            <a:ext cx="1038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1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Clip by value or by global norm when the training recipe requires it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1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Record the threshold and the unclipped gradient norm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1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Use clipping to control extreme steps, not to hide a broken pipeline</a:t>
            </a:r>
          </a:p>
        </p:txBody>
      </p:sp>
    </p:spTree>
    <p:extLst>
      <p:ext uri="{BB962C8B-B14F-4D97-AF65-F5344CB8AC3E}">
        <p14:creationId xmlns:p14="http://schemas.microsoft.com/office/powerpoint/2010/main" val="17586462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2026-10-26T06:29:29.3620000Z</dcterms:created>
  <dcterms:modified xsi:type="dcterms:W3CDTF">2026-10-26T06:29:29.3620000Z</dcterms:modified>
</coreProperties>
</file>