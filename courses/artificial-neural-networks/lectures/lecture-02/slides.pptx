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8" r:id="rId59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07" r:id="rId58"/>
    <p:sldId id="306" r:id="rId57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05" r:id="rId56"/>
    <p:sldId id="283" r:id="rId29"/>
    <p:sldId id="284" r:id="rId30"/>
    <p:sldId id="285" r:id="rId31"/>
    <p:sldId id="286" r:id="rId32"/>
    <p:sldId id="287" r:id="rId33"/>
    <p:sldId id="288" r:id="rId34"/>
    <p:sldId id="304" r:id="rId55"/>
    <p:sldId id="289" r:id="rId35"/>
    <p:sldId id="303" r:id="rId54"/>
    <p:sldId id="290" r:id="rId36"/>
    <p:sldId id="302" r:id="rId53"/>
    <p:sldId id="291" r:id="rId37"/>
    <p:sldId id="292" r:id="rId38"/>
    <p:sldId id="293" r:id="rId39"/>
    <p:sldId id="301" r:id="rId52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61" autoAdjust="0"/>
  </p:normalViewPr>
  <p:slideViewPr>
    <p:cSldViewPr snapToGrid="0">
      <p:cViewPr varScale="1">
        <p:scale>
          <a:sx n="67" d="100"/>
          <a:sy n="67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Observed</c:v>
          </c:tx>
          <c:spPr>
            <a:ln w="23813">
              <a:solidFill>
                <a:srgbClr val="2F75B5"/>
              </a:solidFill>
            </a:ln>
          </c:spPr>
          <c:marker>
            <c:symbol val="circle"/>
            <c:size val="6"/>
            <c:spPr>
              <a:solidFill>
                <a:srgbClr val="2F75B5"/>
              </a:solidFill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'Chart Data'!$B$2:$B$4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75F-4662-ABD1-9AD61D62ADE9}"/>
            </c:ext>
          </c:extLst>
        </c:ser>
        <c:ser>
          <c:idx val="1"/>
          <c:order val="1"/>
          <c:tx>
            <c:v>Initial</c:v>
          </c:tx>
          <c:spPr>
            <a:ln w="23813">
              <a:solidFill>
                <a:srgbClr val="C74B50"/>
              </a:solidFill>
            </a:ln>
          </c:spPr>
          <c:marker>
            <c:symbol val="none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'Chart Data'!$D$2:$D$4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75F-4662-ABD1-9AD61D62ADE9}"/>
            </c:ext>
          </c:extLst>
        </c:ser>
        <c:ser>
          <c:idx val="2"/>
          <c:order val="2"/>
          <c:tx>
            <c:v>After step 1</c:v>
          </c:tx>
          <c:spPr>
            <a:ln w="23813">
              <a:solidFill>
                <a:srgbClr val="2F7D64"/>
              </a:solidFill>
            </a:ln>
          </c:spPr>
          <c:marker>
            <c:symbol val="none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'Chart Data'!$F$2:$F$4</c:f>
              <c:numCache>
                <c:formatCode>General</c:formatCode>
                <c:ptCount val="3"/>
                <c:pt idx="0">
                  <c:v>3.2666666700000002</c:v>
                </c:pt>
                <c:pt idx="1">
                  <c:v>5.5333333299999996</c:v>
                </c:pt>
                <c:pt idx="2">
                  <c:v>7.8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75F-4662-ABD1-9AD61D62AD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5DE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Target / prediction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Input 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BFCFE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η = 0.005</c:v>
          </c:tx>
          <c:spPr>
            <a:ln w="23813">
              <a:solidFill>
                <a:srgbClr val="2F75B5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1.4419568300000001</c:v>
                </c:pt>
                <c:pt idx="1">
                  <c:v>1.3923959400000001</c:v>
                </c:pt>
                <c:pt idx="2">
                  <c:v>1.3428353399999999</c:v>
                </c:pt>
                <c:pt idx="3">
                  <c:v>1.29327511</c:v>
                </c:pt>
                <c:pt idx="4">
                  <c:v>1.2437153000000001</c:v>
                </c:pt>
                <c:pt idx="5">
                  <c:v>1.1941558800000001</c:v>
                </c:pt>
                <c:pt idx="6">
                  <c:v>1.14459691</c:v>
                </c:pt>
                <c:pt idx="7">
                  <c:v>1.0950385899999999</c:v>
                </c:pt>
                <c:pt idx="8">
                  <c:v>1.04548095</c:v>
                </c:pt>
                <c:pt idx="9">
                  <c:v>0.99592387999999998</c:v>
                </c:pt>
                <c:pt idx="10">
                  <c:v>0.94636770000000003</c:v>
                </c:pt>
                <c:pt idx="11">
                  <c:v>0.89681228999999996</c:v>
                </c:pt>
                <c:pt idx="12">
                  <c:v>0.84725797000000003</c:v>
                </c:pt>
                <c:pt idx="13">
                  <c:v>0.79770461000000004</c:v>
                </c:pt>
                <c:pt idx="14">
                  <c:v>0.74815251999999999</c:v>
                </c:pt>
                <c:pt idx="15">
                  <c:v>0.69860180999999999</c:v>
                </c:pt>
                <c:pt idx="16">
                  <c:v>0.64905268999999999</c:v>
                </c:pt>
                <c:pt idx="17">
                  <c:v>0.59950517999999997</c:v>
                </c:pt>
                <c:pt idx="18">
                  <c:v>0.54995949</c:v>
                </c:pt>
                <c:pt idx="19">
                  <c:v>0.50041614000000001</c:v>
                </c:pt>
                <c:pt idx="20">
                  <c:v>0.45087497999999998</c:v>
                </c:pt>
                <c:pt idx="21">
                  <c:v>0.40133648</c:v>
                </c:pt>
                <c:pt idx="22">
                  <c:v>0.35180122000000003</c:v>
                </c:pt>
                <c:pt idx="23">
                  <c:v>0.30226924999999999</c:v>
                </c:pt>
                <c:pt idx="24">
                  <c:v>0.25274069999999998</c:v>
                </c:pt>
                <c:pt idx="25">
                  <c:v>0.20321654</c:v>
                </c:pt>
                <c:pt idx="26">
                  <c:v>0.1536969</c:v>
                </c:pt>
                <c:pt idx="27">
                  <c:v>0.10418267</c:v>
                </c:pt>
                <c:pt idx="28">
                  <c:v>5.4674019999999997E-2</c:v>
                </c:pt>
                <c:pt idx="29">
                  <c:v>5.1720100000000003E-3</c:v>
                </c:pt>
                <c:pt idx="30">
                  <c:v>-4.4322769999999997E-2</c:v>
                </c:pt>
                <c:pt idx="31">
                  <c:v>-9.3809509999999999E-2</c:v>
                </c:pt>
                <c:pt idx="32">
                  <c:v>-0.143287</c:v>
                </c:pt>
                <c:pt idx="33">
                  <c:v>-0.19275444</c:v>
                </c:pt>
                <c:pt idx="34">
                  <c:v>-0.24221073000000001</c:v>
                </c:pt>
                <c:pt idx="35">
                  <c:v>-0.29165410000000003</c:v>
                </c:pt>
                <c:pt idx="36">
                  <c:v>-0.34108295999999999</c:v>
                </c:pt>
                <c:pt idx="37">
                  <c:v>-0.39049620000000002</c:v>
                </c:pt>
                <c:pt idx="38">
                  <c:v>-0.43989181999999999</c:v>
                </c:pt>
                <c:pt idx="39">
                  <c:v>-0.48926810999999998</c:v>
                </c:pt>
                <c:pt idx="40">
                  <c:v>-0.53862204999999996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AE3-47AA-AC09-9685FCBAE55A}"/>
            </c:ext>
          </c:extLst>
        </c:ser>
        <c:ser>
          <c:idx val="1"/>
          <c:order val="1"/>
          <c:tx>
            <c:v>η = 0.1</c:v>
          </c:tx>
          <c:spPr>
            <a:ln w="23813">
              <a:solidFill>
                <a:srgbClr val="2F7D64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General</c:formatCode>
                <c:ptCount val="4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</c:numCache>
            </c:numRef>
          </c:xVal>
          <c:yVal>
            <c:numRef>
              <c:f>'Chart Data'!$D$2:$D$42</c:f>
              <c:numCache>
                <c:formatCode>General</c:formatCode>
                <c:ptCount val="41"/>
                <c:pt idx="0">
                  <c:v>1.4419568300000001</c:v>
                </c:pt>
                <c:pt idx="1">
                  <c:v>-0.47905502999999999</c:v>
                </c:pt>
                <c:pt idx="2">
                  <c:v>-2.2783949200000002</c:v>
                </c:pt>
                <c:pt idx="3">
                  <c:v>-2.8845677599999999</c:v>
                </c:pt>
                <c:pt idx="4">
                  <c:v>-2.9214868300000001</c:v>
                </c:pt>
                <c:pt idx="5">
                  <c:v>-2.9428262300000001</c:v>
                </c:pt>
                <c:pt idx="6">
                  <c:v>-2.9639650500000001</c:v>
                </c:pt>
                <c:pt idx="7">
                  <c:v>-2.9851006500000001</c:v>
                </c:pt>
                <c:pt idx="8">
                  <c:v>-3.0062312200000001</c:v>
                </c:pt>
                <c:pt idx="9">
                  <c:v>-3.0273671499999999</c:v>
                </c:pt>
                <c:pt idx="10">
                  <c:v>-3.0485020999999999</c:v>
                </c:pt>
                <c:pt idx="11">
                  <c:v>-3.06963995</c:v>
                </c:pt>
                <c:pt idx="12">
                  <c:v>-3.0907705399999998</c:v>
                </c:pt>
                <c:pt idx="13">
                  <c:v>-3.1119091999999999</c:v>
                </c:pt>
                <c:pt idx="14">
                  <c:v>-3.1330484099999998</c:v>
                </c:pt>
                <c:pt idx="15">
                  <c:v>-3.15417689</c:v>
                </c:pt>
                <c:pt idx="16">
                  <c:v>-3.1753190899999999</c:v>
                </c:pt>
                <c:pt idx="17">
                  <c:v>-3.1964516700000001</c:v>
                </c:pt>
                <c:pt idx="18">
                  <c:v>-3.21758685</c:v>
                </c:pt>
                <c:pt idx="19">
                  <c:v>-3.23872407</c:v>
                </c:pt>
                <c:pt idx="20">
                  <c:v>-3.2598573000000002</c:v>
                </c:pt>
                <c:pt idx="21">
                  <c:v>-3.2809943000000001</c:v>
                </c:pt>
                <c:pt idx="22">
                  <c:v>-3.3021282799999998</c:v>
                </c:pt>
                <c:pt idx="23">
                  <c:v>-3.32326604</c:v>
                </c:pt>
                <c:pt idx="24">
                  <c:v>-3.3444051799999999</c:v>
                </c:pt>
                <c:pt idx="25">
                  <c:v>-3.36553711</c:v>
                </c:pt>
                <c:pt idx="26">
                  <c:v>-3.3866675499999999</c:v>
                </c:pt>
                <c:pt idx="27">
                  <c:v>-3.4078072599999998</c:v>
                </c:pt>
                <c:pt idx="28">
                  <c:v>-3.4289429999999999</c:v>
                </c:pt>
                <c:pt idx="29">
                  <c:v>-3.4500786400000001</c:v>
                </c:pt>
                <c:pt idx="30">
                  <c:v>-3.4712121300000001</c:v>
                </c:pt>
                <c:pt idx="31">
                  <c:v>-3.49234518</c:v>
                </c:pt>
                <c:pt idx="32">
                  <c:v>-3.5134838300000002</c:v>
                </c:pt>
                <c:pt idx="33">
                  <c:v>-3.5346171700000002</c:v>
                </c:pt>
                <c:pt idx="34">
                  <c:v>-3.5557511700000002</c:v>
                </c:pt>
                <c:pt idx="35">
                  <c:v>-3.57688439</c:v>
                </c:pt>
                <c:pt idx="36">
                  <c:v>-3.5980295999999998</c:v>
                </c:pt>
                <c:pt idx="37">
                  <c:v>-3.6191569600000002</c:v>
                </c:pt>
                <c:pt idx="38">
                  <c:v>-3.64030195</c:v>
                </c:pt>
                <c:pt idx="39">
                  <c:v>-3.6614255299999998</c:v>
                </c:pt>
                <c:pt idx="40">
                  <c:v>-3.6825595600000001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AE3-47AA-AC09-9685FCBAE55A}"/>
            </c:ext>
          </c:extLst>
        </c:ser>
        <c:ser>
          <c:idx val="2"/>
          <c:order val="2"/>
          <c:tx>
            <c:v>η = 0.2</c:v>
          </c:tx>
          <c:spPr>
            <a:ln w="23813">
              <a:solidFill>
                <a:srgbClr val="C74B50"/>
              </a:solidFill>
            </a:ln>
          </c:spPr>
          <c:marker>
            <c:symbol val="none"/>
          </c:marker>
          <c:xVal>
            <c:numRef>
              <c:f>'Chart Data'!$E$2:$E$42</c:f>
              <c:numCache>
                <c:formatCode>General</c:formatCode>
                <c:ptCount val="4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</c:numCache>
            </c:numRef>
          </c:xVal>
          <c:yVal>
            <c:numRef>
              <c:f>'Chart Data'!$F$2:$F$42</c:f>
              <c:numCache>
                <c:formatCode>General</c:formatCode>
                <c:ptCount val="41"/>
                <c:pt idx="0">
                  <c:v>1.4419568300000001</c:v>
                </c:pt>
                <c:pt idx="1">
                  <c:v>1.6136618700000001</c:v>
                </c:pt>
                <c:pt idx="2">
                  <c:v>1.78537035</c:v>
                </c:pt>
                <c:pt idx="3">
                  <c:v>1.95708097</c:v>
                </c:pt>
                <c:pt idx="4">
                  <c:v>2.1287928300000001</c:v>
                </c:pt>
                <c:pt idx="5">
                  <c:v>2.3005055300000001</c:v>
                </c:pt>
                <c:pt idx="6">
                  <c:v>2.4722186499999999</c:v>
                </c:pt>
                <c:pt idx="7">
                  <c:v>2.6439321900000001</c:v>
                </c:pt>
                <c:pt idx="8">
                  <c:v>2.8156458799999999</c:v>
                </c:pt>
                <c:pt idx="9">
                  <c:v>2.9873595499999999</c:v>
                </c:pt>
                <c:pt idx="10">
                  <c:v>3.1590733000000002</c:v>
                </c:pt>
                <c:pt idx="11">
                  <c:v>3.3307871900000001</c:v>
                </c:pt>
                <c:pt idx="12">
                  <c:v>3.5025010000000001</c:v>
                </c:pt>
                <c:pt idx="13">
                  <c:v>3.67421489</c:v>
                </c:pt>
                <c:pt idx="14">
                  <c:v>3.8459287500000001</c:v>
                </c:pt>
                <c:pt idx="15">
                  <c:v>4.0176426999999997</c:v>
                </c:pt>
                <c:pt idx="16">
                  <c:v>4.1893566199999999</c:v>
                </c:pt>
                <c:pt idx="17">
                  <c:v>4.36107055</c:v>
                </c:pt>
                <c:pt idx="18">
                  <c:v>4.5327844800000001</c:v>
                </c:pt>
                <c:pt idx="19">
                  <c:v>4.7044982500000003</c:v>
                </c:pt>
                <c:pt idx="20">
                  <c:v>4.8762121599999997</c:v>
                </c:pt>
                <c:pt idx="21">
                  <c:v>5.0479259699999997</c:v>
                </c:pt>
                <c:pt idx="22">
                  <c:v>5.2196398999999998</c:v>
                </c:pt>
                <c:pt idx="23">
                  <c:v>5.3913538299999999</c:v>
                </c:pt>
                <c:pt idx="24">
                  <c:v>5.5630676899999996</c:v>
                </c:pt>
                <c:pt idx="25">
                  <c:v>5.7347815300000002</c:v>
                </c:pt>
                <c:pt idx="26">
                  <c:v>5.9064954800000002</c:v>
                </c:pt>
                <c:pt idx="27">
                  <c:v>6.0782093799999997</c:v>
                </c:pt>
                <c:pt idx="28">
                  <c:v>6.2499233600000004</c:v>
                </c:pt>
                <c:pt idx="29">
                  <c:v>6.4216372399999999</c:v>
                </c:pt>
                <c:pt idx="30">
                  <c:v>6.5933510699999998</c:v>
                </c:pt>
                <c:pt idx="31">
                  <c:v>6.7650648499999999</c:v>
                </c:pt>
                <c:pt idx="32">
                  <c:v>6.9367788600000004</c:v>
                </c:pt>
                <c:pt idx="33">
                  <c:v>7.1084926700000004</c:v>
                </c:pt>
                <c:pt idx="34">
                  <c:v>7.2802065999999996</c:v>
                </c:pt>
                <c:pt idx="35">
                  <c:v>7.4519204500000003</c:v>
                </c:pt>
                <c:pt idx="36">
                  <c:v>7.6236342400000003</c:v>
                </c:pt>
                <c:pt idx="37">
                  <c:v>7.79534825</c:v>
                </c:pt>
                <c:pt idx="38">
                  <c:v>7.96706219</c:v>
                </c:pt>
                <c:pt idx="39">
                  <c:v>8.1387760100000008</c:v>
                </c:pt>
                <c:pt idx="40">
                  <c:v>8.3104899000000003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AE3-47AA-AC09-9685FCBAE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5DEE8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log10(MSE)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Update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BFCFE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Training</c:v>
          </c:tx>
          <c:spPr>
            <a:ln w="23813">
              <a:solidFill>
                <a:srgbClr val="2F75B5"/>
              </a:solidFill>
            </a:ln>
          </c:spPr>
          <c:marker>
            <c:symbol val="none"/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General</c:formatCode>
                <c:ptCount val="20"/>
                <c:pt idx="0">
                  <c:v>-0.18904614</c:v>
                </c:pt>
                <c:pt idx="1">
                  <c:v>-1.6354653100000001</c:v>
                </c:pt>
                <c:pt idx="2">
                  <c:v>-1.9704145099999999</c:v>
                </c:pt>
                <c:pt idx="3">
                  <c:v>-1.9823902499999999</c:v>
                </c:pt>
                <c:pt idx="4">
                  <c:v>-1.9823978600000001</c:v>
                </c:pt>
                <c:pt idx="5">
                  <c:v>-1.98243356</c:v>
                </c:pt>
                <c:pt idx="6">
                  <c:v>-1.98277061</c:v>
                </c:pt>
                <c:pt idx="7">
                  <c:v>-1.9823792600000001</c:v>
                </c:pt>
                <c:pt idx="8">
                  <c:v>-1.9825174299999999</c:v>
                </c:pt>
                <c:pt idx="9">
                  <c:v>-1.98304686</c:v>
                </c:pt>
                <c:pt idx="10">
                  <c:v>-1.9830056700000001</c:v>
                </c:pt>
                <c:pt idx="11">
                  <c:v>-1.98239246</c:v>
                </c:pt>
                <c:pt idx="12">
                  <c:v>-1.9825659200000001</c:v>
                </c:pt>
                <c:pt idx="13">
                  <c:v>-1.9824731799999999</c:v>
                </c:pt>
                <c:pt idx="14">
                  <c:v>-1.98209276</c:v>
                </c:pt>
                <c:pt idx="15">
                  <c:v>-1.9824362</c:v>
                </c:pt>
                <c:pt idx="16">
                  <c:v>-1.9829350800000001</c:v>
                </c:pt>
                <c:pt idx="17">
                  <c:v>-1.9816325699999999</c:v>
                </c:pt>
                <c:pt idx="18">
                  <c:v>-1.98159682</c:v>
                </c:pt>
                <c:pt idx="19">
                  <c:v>-1.98198751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79E-40B7-8445-A0F79A2C3751}"/>
            </c:ext>
          </c:extLst>
        </c:ser>
        <c:ser>
          <c:idx val="1"/>
          <c:order val="1"/>
          <c:tx>
            <c:v>Validation</c:v>
          </c:tx>
          <c:spPr>
            <a:ln w="23813">
              <a:solidFill>
                <a:srgbClr val="E4A11B"/>
              </a:solidFill>
            </a:ln>
          </c:spPr>
          <c:marker>
            <c:symbol val="none"/>
          </c:marker>
          <c:xVal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Data'!$D$2:$D$21</c:f>
              <c:numCache>
                <c:formatCode>General</c:formatCode>
                <c:ptCount val="20"/>
                <c:pt idx="0">
                  <c:v>-0.18530304</c:v>
                </c:pt>
                <c:pt idx="1">
                  <c:v>-1.6050869999999999</c:v>
                </c:pt>
                <c:pt idx="2">
                  <c:v>-1.9640664699999999</c:v>
                </c:pt>
                <c:pt idx="3">
                  <c:v>-1.9658680900000001</c:v>
                </c:pt>
                <c:pt idx="4">
                  <c:v>-1.9653048099999999</c:v>
                </c:pt>
                <c:pt idx="5">
                  <c:v>-1.9588473799999999</c:v>
                </c:pt>
                <c:pt idx="6">
                  <c:v>-1.9679895300000001</c:v>
                </c:pt>
                <c:pt idx="7">
                  <c:v>-1.9762997600000001</c:v>
                </c:pt>
                <c:pt idx="8">
                  <c:v>-1.97287473</c:v>
                </c:pt>
                <c:pt idx="9">
                  <c:v>-1.96799415</c:v>
                </c:pt>
                <c:pt idx="10">
                  <c:v>-1.9690735399999999</c:v>
                </c:pt>
                <c:pt idx="11">
                  <c:v>-1.9725018999999999</c:v>
                </c:pt>
                <c:pt idx="12">
                  <c:v>-1.9633001800000001</c:v>
                </c:pt>
                <c:pt idx="13">
                  <c:v>-1.9705982500000001</c:v>
                </c:pt>
                <c:pt idx="14">
                  <c:v>-1.97137746</c:v>
                </c:pt>
                <c:pt idx="15">
                  <c:v>-1.9684497400000001</c:v>
                </c:pt>
                <c:pt idx="16">
                  <c:v>-1.97048728</c:v>
                </c:pt>
                <c:pt idx="17">
                  <c:v>-1.9687862</c:v>
                </c:pt>
                <c:pt idx="18">
                  <c:v>-1.9743011500000001</c:v>
                </c:pt>
                <c:pt idx="19">
                  <c:v>-1.9631659100000001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79E-40B7-8445-A0F79A2C37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5DEE8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log10(MSE)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BFCFE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Batch 1</c:v>
          </c:tx>
          <c:spPr>
            <a:ln w="23813">
              <a:solidFill>
                <a:srgbClr val="2F75B5"/>
              </a:solidFill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General</c:formatCode>
                <c:ptCount val="12"/>
                <c:pt idx="0">
                  <c:v>-1.9592740200000001</c:v>
                </c:pt>
                <c:pt idx="1">
                  <c:v>-1.95855275</c:v>
                </c:pt>
                <c:pt idx="2">
                  <c:v>-1.9189576699999999</c:v>
                </c:pt>
                <c:pt idx="3">
                  <c:v>-1.8956147800000001</c:v>
                </c:pt>
                <c:pt idx="4">
                  <c:v>-1.9558535100000001</c:v>
                </c:pt>
                <c:pt idx="5">
                  <c:v>-1.9483911</c:v>
                </c:pt>
                <c:pt idx="6">
                  <c:v>-1.9346650000000001</c:v>
                </c:pt>
                <c:pt idx="7">
                  <c:v>-1.9153897099999999</c:v>
                </c:pt>
                <c:pt idx="8">
                  <c:v>-1.9728959699999999</c:v>
                </c:pt>
                <c:pt idx="9">
                  <c:v>-1.98092939</c:v>
                </c:pt>
                <c:pt idx="10">
                  <c:v>-1.9738867600000001</c:v>
                </c:pt>
                <c:pt idx="11">
                  <c:v>-1.90569553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C41-47CE-B6E2-9215DA375CDC}"/>
            </c:ext>
          </c:extLst>
        </c:ser>
        <c:ser>
          <c:idx val="1"/>
          <c:order val="1"/>
          <c:tx>
            <c:v>Batch 32</c:v>
          </c:tx>
          <c:spPr>
            <a:ln w="23813">
              <a:solidFill>
                <a:srgbClr val="2F7D64"/>
              </a:solidFill>
            </a:ln>
          </c:spPr>
          <c:marker>
            <c:symbol val="none"/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Data'!$D$2:$D$13</c:f>
              <c:numCache>
                <c:formatCode>General</c:formatCode>
                <c:ptCount val="12"/>
                <c:pt idx="0">
                  <c:v>-0.18904614</c:v>
                </c:pt>
                <c:pt idx="1">
                  <c:v>-1.6354653100000001</c:v>
                </c:pt>
                <c:pt idx="2">
                  <c:v>-1.9704145099999999</c:v>
                </c:pt>
                <c:pt idx="3">
                  <c:v>-1.9823902499999999</c:v>
                </c:pt>
                <c:pt idx="4">
                  <c:v>-1.9823978600000001</c:v>
                </c:pt>
                <c:pt idx="5">
                  <c:v>-1.98243356</c:v>
                </c:pt>
                <c:pt idx="6">
                  <c:v>-1.98277061</c:v>
                </c:pt>
                <c:pt idx="7">
                  <c:v>-1.9823792600000001</c:v>
                </c:pt>
                <c:pt idx="8">
                  <c:v>-1.9825174299999999</c:v>
                </c:pt>
                <c:pt idx="9">
                  <c:v>-1.98304686</c:v>
                </c:pt>
                <c:pt idx="10">
                  <c:v>-1.9830056700000001</c:v>
                </c:pt>
                <c:pt idx="11">
                  <c:v>-1.98239246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C41-47CE-B6E2-9215DA375CDC}"/>
            </c:ext>
          </c:extLst>
        </c:ser>
        <c:ser>
          <c:idx val="2"/>
          <c:order val="2"/>
          <c:tx>
            <c:v>Batch 1000</c:v>
          </c:tx>
          <c:spPr>
            <a:ln w="23813">
              <a:solidFill>
                <a:srgbClr val="C74B50"/>
              </a:solidFill>
            </a:ln>
          </c:spPr>
          <c:marker>
            <c:symbol val="none"/>
          </c:marker>
          <c:xVal>
            <c:numRef>
              <c:f>'Chart Data'!$E$2:$E$13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Data'!$F$2:$F$13</c:f>
              <c:numCache>
                <c:formatCode>General</c:formatCode>
                <c:ptCount val="12"/>
                <c:pt idx="0">
                  <c:v>1.4651177900000001</c:v>
                </c:pt>
                <c:pt idx="1">
                  <c:v>1.41195556</c:v>
                </c:pt>
                <c:pt idx="2">
                  <c:v>1.3588021400000001</c:v>
                </c:pt>
                <c:pt idx="3">
                  <c:v>1.3056577300000001</c:v>
                </c:pt>
                <c:pt idx="4">
                  <c:v>1.25252271</c:v>
                </c:pt>
                <c:pt idx="5">
                  <c:v>1.19939749</c:v>
                </c:pt>
                <c:pt idx="6">
                  <c:v>1.1462825000000001</c:v>
                </c:pt>
                <c:pt idx="7">
                  <c:v>1.0931783100000001</c:v>
                </c:pt>
                <c:pt idx="8">
                  <c:v>1.04008546</c:v>
                </c:pt>
                <c:pt idx="9">
                  <c:v>0.98700471000000001</c:v>
                </c:pt>
                <c:pt idx="10">
                  <c:v>0.93393671</c:v>
                </c:pt>
                <c:pt idx="11">
                  <c:v>0.88088244000000004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C41-47CE-B6E2-9215DA375C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5DEE8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log10(training MSE)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Arial"/>
                    <a:ea typeface="Arial"/>
                    <a:cs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BFCFE"/>
    </a:solidFill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9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6A0787-0FE7-433E-8703-402099B406C9}"/>
              </a:ext>
            </a:extLst>
          </p:cNvPr>
          <p:cNvSpPr>
            <a:spLocks noGrp="1"/>
          </p:cNvSpPr>
          <p:nvPr/>
        </p:nvSpPr>
        <p:spPr>
          <a:xfrm>
            <a:off x="723900" y="62865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5A7C4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5A7C4"/>
                </a:solidFill>
                <a:latin typeface="Arial"/>
                <a:ea typeface="Arial"/>
                <a:cs typeface="Arial"/>
              </a:rPr>
              <a:t>SE-801  ·  ARTIFICIAL NEURAL NETWORKS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89ECA-7A13-44A9-8A36-870F40D10D04}"/>
              </a:ext>
            </a:extLst>
          </p:cNvPr>
          <p:cNvSpPr>
            <a:spLocks noGrp="1"/>
          </p:cNvSpPr>
          <p:nvPr/>
        </p:nvSpPr>
        <p:spPr>
          <a:xfrm>
            <a:off x="723900" y="176212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B7D8E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D8EF"/>
                </a:solidFill>
                <a:latin typeface="Arial"/>
                <a:ea typeface="Arial"/>
                <a:cs typeface="Arial"/>
              </a:rPr>
              <a:t>LECTURE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B9961A-E17A-4211-837B-A185C832190B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Linear regression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AC33C-946C-4294-9AC1-6E2C635BDF84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10001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F4C86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C867"/>
                </a:solidFill>
                <a:latin typeface="Arial"/>
                <a:ea typeface="Arial"/>
                <a:cs typeface="Arial"/>
              </a:rPr>
              <a:t>A complete learning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4452F-9440-410C-98EF-6DEE173AFF36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001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B7D8E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D8EF"/>
                </a:solidFill>
                <a:latin typeface="Arial"/>
                <a:ea typeface="Arial"/>
                <a:cs typeface="Arial"/>
              </a:rPr>
              <a:t>Dr. Muhammad Farrukh Qureshi</a:t>
            </a:r>
          </a:p>
          <a:p>
            <a:pPr>
              <a:defRPr sz="1650" b="0">
                <a:solidFill>
                  <a:srgbClr val="B7D8E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D8EF"/>
                </a:solidFill>
                <a:latin typeface="Arial"/>
                <a:ea typeface="Arial"/>
                <a:cs typeface="Arial"/>
              </a:rPr>
              <a:t>Pakistan Navy Engineering College, NUST</a:t>
            </a:r>
          </a:p>
        </p:txBody>
      </p:sp>
    </p:spTree>
    <p:extLst>
      <p:ext uri="{BB962C8B-B14F-4D97-AF65-F5344CB8AC3E}">
        <p14:creationId xmlns:p14="http://schemas.microsoft.com/office/powerpoint/2010/main" val="37955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F8D9C2-2976-485F-9913-B29B3A412E27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RETRIEVAL AND LEARNING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EB28C4-4589-4E1D-8211-E9535C0B1599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Today’s learning outcomes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D7EF39-742D-449F-93CA-E00D6FEA14D6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68D78-0708-4801-A8BC-084DAF6DC5B8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C2F67-700C-4B2B-9638-38427629D296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9478C3-529F-4214-8091-4D1691CD191F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Derive a regression update for a batch.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31FFEC-FF34-485A-B969-B92E3FEFE1EA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Build and inspect a complete training loop.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8E4F79-F30F-4486-AC61-6AB959F86B9B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Match the same model with torch.nn.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430C80-549C-4D16-B5D8-5878A49E8A89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Explain failed training using evidence.</a:t>
            </a:r>
          </a:p>
        </p:txBody>
      </p:sp>
    </p:spTree>
    <p:extLst>
      <p:ext uri="{BB962C8B-B14F-4D97-AF65-F5344CB8AC3E}">
        <p14:creationId xmlns:p14="http://schemas.microsoft.com/office/powerpoint/2010/main" val="132965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72D29E-C784-4C79-8FF4-CBCDE4DB790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RETRIEVAL AND LEARNING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2EE32E-13F9-4D62-AB6A-0B551B61D88A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Retrieval: the second 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1683B1-D937-44A5-9F74-8116C399DF16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E066E6-154F-4338-B105-A1C640B328F3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926E4-CE68-4209-847F-EE9DD0F5B694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503C46F-1F63-4EA2-B65E-8A24A90778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[1, 2, 3]     </m:t>
                      </m:r>
                      <m:r>
                        <a:rPr lang="en-US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[3, 5, 7]</m:t>
                      </m:r>
                    </m:oMath>
                  </m:oMathPara>
                </a14:m>
                <a:endParaRPr sz="2250" b="0" dirty="0">
                  <a:solidFill>
                    <a:srgbClr val="17212B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503C46F-1F63-4EA2-B65E-8A24A9077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466A85-B0EC-400A-9992-C2C4F6DB19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233362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After step 1: </a:t>
                </a:r>
                <a:r>
                  <a:rPr lang="en-US"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𝑤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34/15, 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𝑏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1</m:t>
                    </m:r>
                  </m:oMath>
                </a14:m>
                <a:endParaRPr sz="2250" b="0" dirty="0">
                  <a:solidFill>
                    <a:srgbClr val="17212B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466A85-B0EC-400A-9992-C2C4F6DB19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333625"/>
                <a:ext cx="10477500" cy="495300"/>
              </a:xfrm>
              <a:prstGeom prst="rect">
                <a:avLst/>
              </a:prstGeom>
              <a:blipFill>
                <a:blip r:embed="rId4"/>
                <a:stretch>
                  <a:fillRect l="-815" t="-7407" b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A058D0-5E49-4A8E-947D-530660AC45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290512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𝑀𝑆𝐸</m:t>
                      </m:r>
                      <m:r>
                        <a:rPr lang="en-US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224/675 ≈ 0.33185</m:t>
                      </m:r>
                    </m:oMath>
                  </m:oMathPara>
                </a14:m>
                <a:endParaRPr sz="2250" b="0" dirty="0">
                  <a:solidFill>
                    <a:srgbClr val="17212B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A058D0-5E49-4A8E-947D-530660AC4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905125"/>
                <a:ext cx="10477500" cy="495300"/>
              </a:xfrm>
              <a:prstGeom prst="rect">
                <a:avLst/>
              </a:prstGeom>
              <a:blipFill>
                <a:blip r:embed="rId5"/>
                <a:stretch>
                  <a:fillRect b="-493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191609-05F3-4F6F-8C1E-3BC9609778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368617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Predict: which way will 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𝑤</m:t>
                    </m:r>
                  </m:oMath>
                </a14:m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𝑏</m:t>
                    </m:r>
                  </m:oMath>
                </a14:m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 move next?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191609-05F3-4F6F-8C1E-3BC9609778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3686175"/>
                <a:ext cx="10477500" cy="495300"/>
              </a:xfrm>
              <a:prstGeom prst="rect">
                <a:avLst/>
              </a:prstGeom>
              <a:blipFill>
                <a:blip r:embed="rId6"/>
                <a:stretch>
                  <a:fillRect l="-815" t="-7407" b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881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AB8FC1-F880-4519-9F5B-BCB9A95D78E3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REGRESSION PROBLEM AND AFFINE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CBA71E-AA4E-4CF2-9F94-8ED0150E8A97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 calibration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B412C5-8085-486F-8035-25EB554E0AE1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AD913-BBA7-478E-A943-EDD1E010A1E0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4B5D69-7DD5-4F9D-AA8F-CD16FF51766F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8721ECC-562E-481E-AC31-3BEC4BAA02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Input 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</m:oMath>
                </a14:m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: a sensor reading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8721ECC-562E-481E-AC31-3BEC4BAA0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blipFill>
                <a:blip r:embed="rId3"/>
                <a:stretch>
                  <a:fillRect l="-815" t="-7407" b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43136F-2935-43B6-B9D8-CA712D0D20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233362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Target 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𝑦</m:t>
                    </m:r>
                  </m:oMath>
                </a14:m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: a reference measurement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43136F-2935-43B6-B9D8-CA712D0D2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333625"/>
                <a:ext cx="10477500" cy="495300"/>
              </a:xfrm>
              <a:prstGeom prst="rect">
                <a:avLst/>
              </a:prstGeom>
              <a:blipFill>
                <a:blip r:embed="rId4"/>
                <a:stretch>
                  <a:fillRect l="-815" t="-7407" b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D5A4D8-3817-4FCD-8C8A-F136B66F530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290512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Prediction: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250" b="0" i="1" dirty="0" smtClean="0">
                            <a:solidFill>
                              <a:srgbClr val="17212B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ar-AE" sz="2250" b="0" i="1" dirty="0" smtClean="0">
                            <a:solidFill>
                              <a:srgbClr val="17212B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𝑦</m:t>
                        </m:r>
                      </m:e>
                    </m:acc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cs typeface="Arial"/>
                      </a:rPr>
                      <m:t>𝑤𝑥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cs typeface="Arial"/>
                      </a:rPr>
                      <m:t>𝑏</m:t>
                    </m:r>
                  </m:oMath>
                </a14:m>
                <a:endParaRPr sz="2250" b="0" dirty="0">
                  <a:solidFill>
                    <a:srgbClr val="17212B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D5A4D8-3817-4FCD-8C8A-F136B66F5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905125"/>
                <a:ext cx="10477500" cy="495300"/>
              </a:xfrm>
              <a:prstGeom prst="rect">
                <a:avLst/>
              </a:prstGeom>
              <a:blipFill>
                <a:blip r:embed="rId5"/>
                <a:stretch>
                  <a:fillRect l="-815" t="-7407" b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D6F757A-107E-4E89-8E44-2FD42C7FFD7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368617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What does changing 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𝑤</m:t>
                    </m:r>
                  </m:oMath>
                </a14:m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 do? What does changing 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𝑏</m:t>
                    </m:r>
                  </m:oMath>
                </a14:m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 do?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D6F757A-107E-4E89-8E44-2FD42C7FFD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3686175"/>
                <a:ext cx="10477500" cy="495300"/>
              </a:xfrm>
              <a:prstGeom prst="rect">
                <a:avLst/>
              </a:prstGeom>
              <a:blipFill>
                <a:blip r:embed="rId6"/>
                <a:stretch>
                  <a:fillRect l="-815" t="-7407" b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22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ED1CBC-DD47-41F4-9C7D-D54EE768EE2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REGRESSION PROBLEM AND AFFINE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15EF66-E32F-479C-82A4-6F55485F0A9E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Regression and an affine neuron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4DEE22-65C4-45D4-8AC2-FCAAB36A27A3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CAFAC-46E3-45CA-B700-46B9B9B2596F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C3C27A-9681-491B-8FBC-6F0CF91B957F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1CF12D2-9C54-43CD-9F4B-1A1B083DA46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 algn="ctr"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acc>
                      <m:r>
                        <a:rPr lang="en-US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r>
                        <a:rPr lang="en-US" sz="2250" b="0" i="1" dirty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= </m:t>
                      </m:r>
                      <m:sSub>
                        <m:sSubPr>
                          <m:ctrlPr>
                            <a:rPr lang="en-US" sz="2250" b="0" i="1" dirty="0" err="1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250" b="0" i="1" dirty="0" err="1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𝑤</m:t>
                          </m:r>
                        </m:e>
                        <m:sub>
                          <m: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2250" b="0" i="1" dirty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</m:t>
                      </m:r>
                      <m:sSub>
                        <m:sSubPr>
                          <m:ctrlPr>
                            <a:rPr lang="en-US" sz="2250" b="0" i="1" dirty="0" err="1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250" b="0" i="1" dirty="0" err="1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𝑤</m:t>
                          </m:r>
                        </m:e>
                        <m:sub>
                          <m: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50" b="0" i="1" dirty="0" err="1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250" b="0" i="1" dirty="0" err="1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2</m:t>
                          </m:r>
                        </m:sub>
                      </m:sSub>
                      <m:r>
                        <a:rPr lang="en-US" sz="2250" b="0" i="1" dirty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… + </m:t>
                      </m:r>
                      <m:sSub>
                        <m:sSubPr>
                          <m:ctrlPr>
                            <a:rPr lang="en-US" sz="2250" b="0" i="1" dirty="0" err="1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50" b="0" i="1" dirty="0" err="1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2250" b="0" i="1" dirty="0" err="1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50" b="0" i="1" dirty="0" err="1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𝑑𝑥</m:t>
                              </m:r>
                            </m:sub>
                          </m:sSub>
                        </m:e>
                        <m:sub>
                          <m:r>
                            <a:rPr lang="en-US" sz="2250" b="0" i="1" dirty="0" err="1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𝑑</m:t>
                          </m:r>
                        </m:sub>
                      </m:sSub>
                      <m:r>
                        <a:rPr lang="en-US" sz="2250" b="0" i="1" dirty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</m:t>
                      </m:r>
                      <m:r>
                        <a:rPr lang="en-US" sz="2250" b="0" i="1" dirty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𝑏</m:t>
                      </m:r>
                    </m:oMath>
                  </m:oMathPara>
                </a14:m>
                <a:endParaRPr sz="2250" b="0" dirty="0">
                  <a:solidFill>
                    <a:srgbClr val="17212B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1CF12D2-9C54-43CD-9F4B-1A1B083DA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blipFill>
                <a:blip r:embed="rId3"/>
                <a:stretch>
                  <a:fillRect t="-4938" b="-123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ECAA518-FF5C-4EFC-98C3-A0829436ACF0}"/>
              </a:ext>
            </a:extLst>
          </p:cNvPr>
          <p:cNvSpPr>
            <a:spLocks noGrp="1"/>
          </p:cNvSpPr>
          <p:nvPr/>
        </p:nvSpPr>
        <p:spPr>
          <a:xfrm>
            <a:off x="857250" y="2543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output is a continuous value.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31EB44-5D11-4144-9234-56ADB5E41036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 identity activation leaves the weighted sum unchanged.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28EDE42-0766-4B28-B013-AD1AE43934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368617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The bias allows a nonzero prediction at 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0</m:t>
                    </m:r>
                  </m:oMath>
                </a14:m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28EDE42-0766-4B28-B013-AD1AE4393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3686175"/>
                <a:ext cx="10477500" cy="495300"/>
              </a:xfrm>
              <a:prstGeom prst="rect">
                <a:avLst/>
              </a:prstGeom>
              <a:blipFill>
                <a:blip r:embed="rId4"/>
                <a:stretch>
                  <a:fillRect l="-815" t="-7407" b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134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3BE6D3-9893-4830-AE8B-9817B2A211F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REGRESSION PROBLEM AND AFFINE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A4E326-C1C1-436D-9611-C03E9F66C803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Observed data and candidate predictions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035DA5-D6A3-4BE4-B0FF-053D5A6A16AB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4F8C9-A7D2-4943-8CCC-A23C4C39AC1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AB046-8AA0-4CD4-B3CF-4D2B45DC9D43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8DDF85-7641-440F-99F8-BD79DA615247}"/>
              </a:ext>
            </a:extLst>
          </p:cNvPr>
          <p:cNvSpPr>
            <a:spLocks noGrp="1"/>
          </p:cNvSpPr>
          <p:nvPr/>
        </p:nvSpPr>
        <p:spPr>
          <a:xfrm>
            <a:off x="8715375" y="1809750"/>
            <a:ext cx="2724150" cy="400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Three observations can already distinguish candidate lines.</a:t>
            </a:r>
          </a:p>
          <a:p>
            <a:endParaRPr sz="1875" b="0">
              <a:solidFill>
                <a:srgbClr val="17365D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Which line has the smaller total squared residual?</a:t>
            </a:r>
          </a:p>
        </p:txBody>
      </p:sp>
      <p:graphicFrame>
        <p:nvGraphicFramePr>
          <p:cNvPr id="16" name="Chart"/>
          <p:cNvGraphicFramePr/>
          <p:nvPr>
            <p:extLst>
              <p:ext uri="{D42A27DB-BD31-4B8C-83A1-F6EECF244321}">
                <p14:modId xmlns:p14="http://schemas.microsoft.com/office/powerpoint/2010/main" val="1304257740"/>
              </p:ext>
            </p:extLst>
          </p:nvPr>
        </p:nvGraphicFramePr>
        <p:xfrm>
          <a:off x="723900" y="1571625"/>
          <a:ext cx="7667625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6832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B8995D-4C1E-4146-9F8D-A02FD7620AC7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LOSS, GRADIENTS AND REPEATED UPDATES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0B2565-A03E-4583-9871-F2E5FB19CA41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Squared error and mean squared error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179717-C9B0-4703-8605-A7C9ADCA648A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48C1A-33F2-476D-B661-6765DC334276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616F77-8529-49EE-B579-1F792C3D2D0C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19B8710-BD15-4E46-A9E5-24B2A381D2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𝑒</m:t>
                      </m:r>
                      <m:r>
                        <a:rPr lang="en-US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ᵢ = </m:t>
                      </m:r>
                      <m:acc>
                        <m:accPr>
                          <m:chr m:val="̂"/>
                          <m:ctrlP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2250" b="0" i="1" dirty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− </m:t>
                      </m:r>
                      <m:sSub>
                        <m:sSubPr>
                          <m:ctrlPr>
                            <a:rPr lang="en-US" sz="2250" b="0" i="1" dirty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250" b="0" i="1" dirty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𝑦</m:t>
                          </m:r>
                        </m:e>
                        <m:sub>
                          <m: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2250" b="0" dirty="0">
                  <a:solidFill>
                    <a:srgbClr val="17212B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19B8710-BD15-4E46-A9E5-24B2A381D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blipFill>
                <a:blip r:embed="rId3"/>
                <a:stretch>
                  <a:fillRect t="-370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550C825-892E-4C86-83FB-5D891F8E654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274510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l-GR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𝐿</m:t>
                      </m:r>
                      <m:r>
                        <a:rPr lang="el-GR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d>
                        <m:dPr>
                          <m:ctrlPr>
                            <a:rPr lang="el-GR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l-GR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l-GR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l-GR" sz="2250" b="0" i="1" dirty="0" smtClean="0">
                          <a:solidFill>
                            <a:srgbClr val="17212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250" b="0" i="1" dirty="0" smtClean="0">
                              <a:solidFill>
                                <a:srgbClr val="17212B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SupPr>
                            <m:e>
                              <m:r>
                                <a:rPr lang="en-US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250" b="0" i="1" dirty="0" smtClean="0">
                                  <a:solidFill>
                                    <a:srgbClr val="17212B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sz="2250" b="0" dirty="0">
                  <a:solidFill>
                    <a:srgbClr val="17212B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550C825-892E-4C86-83FB-5D891F8E6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745105"/>
                <a:ext cx="10477500" cy="495300"/>
              </a:xfrm>
              <a:prstGeom prst="rect">
                <a:avLst/>
              </a:prstGeom>
              <a:blipFill>
                <a:blip r:embed="rId4"/>
                <a:stretch>
                  <a:fillRect b="-6463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C0513E9-8AC5-4C7D-8A1F-049A26A80C27}"/>
              </a:ext>
            </a:extLst>
          </p:cNvPr>
          <p:cNvSpPr>
            <a:spLocks noGrp="1"/>
          </p:cNvSpPr>
          <p:nvPr/>
        </p:nvSpPr>
        <p:spPr>
          <a:xfrm>
            <a:off x="857250" y="39147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Squaring prevents sign cancellation.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54F70-F02C-41DA-935A-73B629C8AB04}"/>
              </a:ext>
            </a:extLst>
          </p:cNvPr>
          <p:cNvSpPr>
            <a:spLocks noGrp="1"/>
          </p:cNvSpPr>
          <p:nvPr/>
        </p:nvSpPr>
        <p:spPr>
          <a:xfrm>
            <a:off x="857250" y="463486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Averaging makes the scale easier to compare across batches.</a:t>
            </a:r>
          </a:p>
        </p:txBody>
      </p:sp>
    </p:spTree>
    <p:extLst>
      <p:ext uri="{BB962C8B-B14F-4D97-AF65-F5344CB8AC3E}">
        <p14:creationId xmlns:p14="http://schemas.microsoft.com/office/powerpoint/2010/main" val="75989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01E203-E160-44E3-A305-769B3B95F1F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LOSS, GRADIENTS AND REPEATED UPDATES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352BB-9EB3-440F-83C0-97040529CEAF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Why squared error appears in regression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BFD40E-7F57-4D42-BABF-1E9E69E27DA2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14FB7-74F8-4FE1-80B5-7F2162D6944F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209BD7-29AD-469B-AD10-B0787F31F741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66975A-71A2-45B7-BFBF-1BE0C5B87D8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𝑦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𝑓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+ 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𝜀</m:t>
                    </m:r>
                  </m:oMath>
                </a14:m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, with independent </a:t>
                </a:r>
                <a14:m>
                  <m:oMath xmlns:m="http://schemas.openxmlformats.org/officeDocument/2006/math"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𝜀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~ 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𝑁𝑜𝑟𝑚𝑎𝑙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(0, 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𝜎</m:t>
                    </m:r>
                    <m:r>
                      <a:rPr lang="en-US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²)</m:t>
                    </m:r>
                  </m:oMath>
                </a14:m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66975A-71A2-45B7-BFBF-1BE0C5B87D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1762125"/>
                <a:ext cx="10477500" cy="495300"/>
              </a:xfrm>
              <a:prstGeom prst="rect">
                <a:avLst/>
              </a:prstGeom>
              <a:blipFill>
                <a:blip r:embed="rId3"/>
                <a:stretch>
                  <a:fillRect l="-815" t="-7407" b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EE6C292-E9B1-4EEB-AAA5-C96A69ED9B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2543175"/>
                <a:ext cx="104775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>
                <a:noAutofit/>
              </a:bodyPr>
              <a:lstStyle/>
              <a:p>
                <a:pPr>
                  <a:defRPr sz="2250" b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250" b="0" dirty="0">
                    <a:solidFill>
                      <a:srgbClr val="17212B"/>
                    </a:solidFill>
                    <a:latin typeface="Arial"/>
                    <a:ea typeface="Arial"/>
                    <a:cs typeface="Arial"/>
                  </a:rPr>
                  <a:t>Negative log-likelihood = </a:t>
                </a:r>
                <a14:m>
                  <m:oMath xmlns:m="http://schemas.openxmlformats.org/officeDocument/2006/math">
                    <m:r>
                      <a:rPr lang="el-GR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𝑐𝑜𝑛𝑠𝑡𝑎𝑛𝑡</m:t>
                    </m:r>
                    <m:r>
                      <a:rPr lang="el-GR" sz="2250" b="0" i="1" dirty="0" smtClean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 </m:t>
                    </m:r>
                    <m:r>
                      <m:rPr>
                        <m:sty m:val="p"/>
                      </m:rPr>
                      <a:rPr lang="el-GR" sz="2250" b="0" i="0" dirty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Σ</m:t>
                    </m:r>
                    <m:r>
                      <a:rPr lang="en-US" sz="2250" b="0" i="1" dirty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ᵢ </m:t>
                    </m:r>
                    <m:r>
                      <a:rPr lang="en-US" sz="2250" b="0" i="1" dirty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2250" b="0" i="1" dirty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ᵢ² / (2</m:t>
                    </m:r>
                    <m:r>
                      <a:rPr lang="en-US" sz="2250" b="0" i="1" dirty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𝜎</m:t>
                    </m:r>
                    <m:r>
                      <a:rPr lang="en-US" sz="2250" b="0" i="1" dirty="0">
                        <a:solidFill>
                          <a:srgbClr val="17212B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²)</m:t>
                    </m:r>
                  </m:oMath>
                </a14:m>
                <a:endParaRPr sz="2250" b="0" dirty="0">
                  <a:solidFill>
                    <a:srgbClr val="17212B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EE6C292-E9B1-4EEB-AAA5-C96A69ED9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543175"/>
                <a:ext cx="10477500" cy="495300"/>
              </a:xfrm>
              <a:prstGeom prst="rect">
                <a:avLst/>
              </a:prstGeom>
              <a:blipFill>
                <a:blip r:embed="rId4"/>
                <a:stretch>
                  <a:fillRect l="-815" t="-7407" b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BF74962-6E53-4173-BDD6-1212454DBB75}"/>
              </a:ext>
            </a:extLst>
          </p:cNvPr>
          <p:cNvSpPr>
            <a:spLocks noGrp="1"/>
          </p:cNvSpPr>
          <p:nvPr/>
        </p:nvSpPr>
        <p:spPr>
          <a:xfrm>
            <a:off x="857250" y="33242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For fixed σ², minimizing it also minimizes squared error.</a:t>
            </a:r>
          </a:p>
        </p:txBody>
      </p:sp>
    </p:spTree>
    <p:extLst>
      <p:ext uri="{BB962C8B-B14F-4D97-AF65-F5344CB8AC3E}">
        <p14:creationId xmlns:p14="http://schemas.microsoft.com/office/powerpoint/2010/main" val="41543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72A69-7BA0-4B1A-BF09-C6CBD02510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BDCEF-91D2-4558-9BEE-4425FE9D105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LOSS, GRADIENTS AND REPEATED UPDATES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DD44E4-09B2-4D09-8CA6-23E480F326CA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Derive the gradients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5AE6CE-E358-4747-A6CF-918F5C3291F2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05B3BC-2C1D-4FCB-B8E4-23DA84C1CF5E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92CA4-8471-4E9D-9929-2047C0E9373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30EFA-E8C9-47E3-AA69-6DDBC7E48020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L(w,b) = (1/N) Σᵢ (wxᵢ + b − yᵢ)²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5DFE31-ED87-43F9-95BD-5D5BC48DB896}"/>
              </a:ext>
            </a:extLst>
          </p:cNvPr>
          <p:cNvSpPr>
            <a:spLocks noGrp="1"/>
          </p:cNvSpPr>
          <p:nvPr/>
        </p:nvSpPr>
        <p:spPr>
          <a:xfrm>
            <a:off x="857250" y="2543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∂L/∂w = (2/N) Σᵢ eᵢxᵢ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D26F3-5715-4CA4-A952-FD3B067F3BB4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∂L/∂b = (2/N) Σᵢ eᵢ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D57015-8135-42C8-82EE-61E776C49D74}"/>
              </a:ext>
            </a:extLst>
          </p:cNvPr>
          <p:cNvSpPr>
            <a:spLocks noGrp="1"/>
          </p:cNvSpPr>
          <p:nvPr/>
        </p:nvSpPr>
        <p:spPr>
          <a:xfrm>
            <a:off x="857250" y="38957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w ← w − η ∂L/∂w     b ← b − η ∂L/∂b</a:t>
            </a:r>
          </a:p>
        </p:txBody>
      </p:sp>
    </p:spTree>
    <p:extLst>
      <p:ext uri="{BB962C8B-B14F-4D97-AF65-F5344CB8AC3E}">
        <p14:creationId xmlns:p14="http://schemas.microsoft.com/office/powerpoint/2010/main" val="587762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800A6BA-965E-440E-AD1C-6A59F6A95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D647-80E5-430A-B7F0-620D744A2E9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LOSS, GRADIENTS AND REPEATED UPDATES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E18BE-F3BE-4448-B1F6-F323CD842A42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One step, checked numerically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16599-E868-499B-AE62-3AEDB70E96CE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E6409-B9C2-4A77-8283-9A61FB02FE2B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1CA2B-5BF1-49D2-BC47-C18949FB658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1762125"/>
          <a:ext cx="10382250" cy="25908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Full-data MSE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27.666667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2.266667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1.000000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0.331852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2.017778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0.893333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0.005267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40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466FB68-1E20-4C54-AC63-999E840FA2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8652C6-1E22-407E-AEF9-72C2E5C427B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LOSS, GRADIENTS AND REPEATED UPDATES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996EF-D435-42E0-9171-95FB1C3CD103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Learning rate and the loss trajectory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2DAC21-8D77-4BBF-A0DB-37FE6CB63862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F20DD-388A-4CF1-82D0-60702D34BB1F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5DDB8C-17D6-4A67-BC00-3F2713F7B71B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8D7EBA-BF37-497E-A0CE-F9AC1F3D5FCA}"/>
              </a:ext>
            </a:extLst>
          </p:cNvPr>
          <p:cNvSpPr>
            <a:spLocks noGrp="1"/>
          </p:cNvSpPr>
          <p:nvPr/>
        </p:nvSpPr>
        <p:spPr>
          <a:xfrm>
            <a:off x="8715375" y="1809750"/>
            <a:ext cx="2724150" cy="400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Same data. Same initial weights.</a:t>
            </a:r>
          </a:p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Only η changes.</a:t>
            </a:r>
          </a:p>
          <a:p>
            <a:endParaRPr sz="1875" b="0">
              <a:solidFill>
                <a:srgbClr val="17365D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Predict the curves before running the experiment.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723900" y="1571625"/>
          <a:ext cx="7667625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9554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238542-C520-4808-98E6-D1170C4577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8B83B-A92C-452F-BFF6-D58823D7D3C0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VECTORIZATION AND TWO-FEATURE EXERCISE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A1D827-584C-47B0-89B1-860E33D33296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Many examples and many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DFDB9-6EDE-417E-A9A7-FB632488E4AD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F0DF3-7AE4-463D-A78D-0F9ED92ED21B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03BB5A-CF02-41F3-9048-2199D3E2C275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76A61-B99D-4118-B6D7-40B10D2A0434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X: [N, d]      w: [d, 1]      b: [1]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81413-19EF-47BD-A195-1424A44CC968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y: [N, 1]      y_hat: [N, 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E5371B-E4EB-4BEC-BE19-EA3839A76A44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y_hat = X @ w +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EB7354-7DBE-4BE9-8DC7-2B5B49BAEDFE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Each row of X is one example.</a:t>
            </a:r>
          </a:p>
        </p:txBody>
      </p:sp>
    </p:spTree>
    <p:extLst>
      <p:ext uri="{BB962C8B-B14F-4D97-AF65-F5344CB8AC3E}">
        <p14:creationId xmlns:p14="http://schemas.microsoft.com/office/powerpoint/2010/main" val="440946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010F9-55A8-4E37-8987-81EFA251E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9667-474C-44F2-8986-A56B5A9B5D66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VECTORIZATION AND TWO-FEATURE EXERCISE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C935F-F55B-4F80-8BC3-918849B6BD74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Two-feature board exercise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05F638-B98A-469D-ACA3-D8FAA8376E01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E9109-426D-4FC3-9423-32C32C71F5FE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815D7-F0AD-4A05-94DE-44B79CFB312F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95774-97C8-4C0F-ACA5-0F46BA55624E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 = [[1,0], [0,1], [1,1]]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8589E-8545-4B5D-AFF7-391720ED33BB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y = [[3], [-2], [0]]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5817E-0296-489D-AD53-3AFAEDB3DF4E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 = [[0], [0]], b = 0, η = 0.1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4CD436-1C43-4B67-B0F4-998503DBE117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Find predictions, MSE, both weight gradients and the bias gradient.</a:t>
            </a:r>
          </a:p>
        </p:txBody>
      </p:sp>
    </p:spTree>
    <p:extLst>
      <p:ext uri="{BB962C8B-B14F-4D97-AF65-F5344CB8AC3E}">
        <p14:creationId xmlns:p14="http://schemas.microsoft.com/office/powerpoint/2010/main" val="1227502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6551D01-8559-424E-9D03-A4F7D783B4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FE2C72-115B-4B12-9BEE-C7AA22476E48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VECTORIZATION AND TWO-FEATURE EXERCISE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58D177-EEE4-44CC-ADF2-AA38897D4705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Two-feature exercise: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5A24B5-892E-48D9-8EFC-295B6ACB0F69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7FAD97-1BEB-493C-AA63-6077E315455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5F450B-79C4-482E-B899-252CF6230A9A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1DAF1-1A30-4DD0-8A71-69E9A9047882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 = [−3, 2, 0]ᵀ     MSE = 13/3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F24CC-BBA3-42C6-B458-117E0FC00D29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∇w L = [−2, 4/3]ᵀ     ∂L/∂b = −2/3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CBDED8-C685-4D17-A38E-B9C45170C919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w_new = [1/5, −2/15]ᵀ     b_new = 1/15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E15688-B08E-4CD7-BBA2-9B23C0359785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y_hat_new = [4/15, −1/15, 2/15]ᵀ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A989EB-41D8-49CB-AD21-84110966B515}"/>
              </a:ext>
            </a:extLst>
          </p:cNvPr>
          <p:cNvSpPr>
            <a:spLocks noGrp="1"/>
          </p:cNvSpPr>
          <p:nvPr/>
        </p:nvSpPr>
        <p:spPr>
          <a:xfrm>
            <a:off x="857250" y="4257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MSE_new = 842/225 ≈ 3.74222</a:t>
            </a:r>
          </a:p>
        </p:txBody>
      </p:sp>
    </p:spTree>
    <p:extLst>
      <p:ext uri="{BB962C8B-B14F-4D97-AF65-F5344CB8AC3E}">
        <p14:creationId xmlns:p14="http://schemas.microsoft.com/office/powerpoint/2010/main" val="937513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53F741-CC52-4D32-8044-AD6E06B3BC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7A9270-F34E-452E-9A5E-80E5D5DE44BA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VECTORIZATION AND TWO-FEATURE EXERCISE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5160B5-85E4-4D4B-9EBA-BABEF97BDD43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Vectorized gradient and its shapes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CF019-E9A4-4FEA-A8A3-0BA2F2F8CAA1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57898-7793-42A3-B8EC-8BFB8AF1C6D2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D4FF5-58F8-4501-AAE2-37A3B46BD4E2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17078-2D8C-4D09-B1AD-3798EC36C87A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 = Xw + b − y                    [N,1]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6C73CD-7F9A-4191-985E-530A7F5B0711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∇w L = (2/N) XᵀE                 [d,1]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74CF4C-2FA8-4F7C-8E53-142A39FC76C7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∂L/∂b = (2/N) Σᵢ Eᵢ             [1]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2E99B2-6E46-4F6B-8785-232B529D81F6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Every parameter gradient has the parameter’s shape.</a:t>
            </a:r>
          </a:p>
        </p:txBody>
      </p:sp>
    </p:spTree>
    <p:extLst>
      <p:ext uri="{BB962C8B-B14F-4D97-AF65-F5344CB8AC3E}">
        <p14:creationId xmlns:p14="http://schemas.microsoft.com/office/powerpoint/2010/main" val="890070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AFF472E-60D2-465B-9777-F3C76574B7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09838F-F75E-4F6D-8E0C-F440C7331A79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VECTORIZATION AND TWO-FEATURE EXERCISE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3B000-2482-414B-A6C0-FA78F062F2AD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Generating data with known weights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6E62C-AD56-4696-87F3-0F45C1FF5D61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8B8B9-A81B-491F-BBC0-D54E555C52A0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CF21C7-CC48-4A6F-AB64-28BBA58D73BE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0E2968-F41D-43D5-A20F-E7A79DFC2581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y = 2x₁ − 3.4x₂ + 4.2 + ε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4E049-94E6-4067-B377-F7C87C46ACE5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ε ~ Normal(0, 0.1²)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93D78B-A021-4F4E-A223-92D6187B6D4F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1,000 training rows · 140 validation rows · 140 test rows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F07393-F630-49F9-A0B2-A6BD292AF852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Can training recover approximately the generating coefficients?</a:t>
            </a:r>
          </a:p>
        </p:txBody>
      </p:sp>
    </p:spTree>
    <p:extLst>
      <p:ext uri="{BB962C8B-B14F-4D97-AF65-F5344CB8AC3E}">
        <p14:creationId xmlns:p14="http://schemas.microsoft.com/office/powerpoint/2010/main" val="477535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E2F823-1654-4352-A87F-047313A6CF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46E582-A602-4853-BF67-825E9302723F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MINIBATCHES AND TRAINING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E80972-A593-430F-BFDE-BEC633C3EC25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Batch, minibatch and stochastic updates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658EA5-8DA8-4C33-A84B-BDD474077CDB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41D59-4627-40BB-8CBD-9ABE12ACAB8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EEB869-BCEF-4413-8940-2C6F51B57B65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1762125"/>
          <a:ext cx="10382250" cy="25908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Examples per update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Updates per epoch, N=1000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Full batch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Minibatch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32 (last: 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Single-example SGD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367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4DC320-5261-4483-9C48-763AC3681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5CE3AC-4E4F-47DA-9E80-5E1287C2FB70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MINIBATCHES AND TRAINING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E48C4A-D258-4578-9EDE-9F012F3E0853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Epochs are not update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C9748A-40F0-4BF4-95AC-92F8F5C00389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93DC38-C04E-4FDF-84DE-2AFC0B2FD87C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8C3C35-8411-41BC-9DE5-25650108A8EE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4EA763-1966-4BE8-BB75-CA53BCF429B0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 = 1,000, batch size = 32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7508B9-BDB5-4C1F-ABEC-CBE043020137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31 complete batches + one batch of 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8AB7A0-F9B0-4195-B5FA-6A98FDC707DD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32 updates per epoch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0BDF29-5D16-40C9-84AB-452E20D59868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20 epochs → 640 updates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611099-FE8F-4A49-A385-786D2ACDCEE3}"/>
              </a:ext>
            </a:extLst>
          </p:cNvPr>
          <p:cNvSpPr>
            <a:spLocks noGrp="1"/>
          </p:cNvSpPr>
          <p:nvPr/>
        </p:nvSpPr>
        <p:spPr>
          <a:xfrm>
            <a:off x="857250" y="4257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What changes if the batch size becomes 100?</a:t>
            </a:r>
          </a:p>
        </p:txBody>
      </p:sp>
    </p:spTree>
    <p:extLst>
      <p:ext uri="{BB962C8B-B14F-4D97-AF65-F5344CB8AC3E}">
        <p14:creationId xmlns:p14="http://schemas.microsoft.com/office/powerpoint/2010/main" val="1349035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943FDBA-50F3-45A0-B6DC-BDC1152B08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CAA5AD-9D32-49AC-818A-5274A653A480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MINIBATCHES AND TRAINING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60A42-5F58-4571-8DD0-E4762A3C5F7B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complete training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B4A10-29F5-4944-8448-FBE10B3E7D7F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8657B-E3E2-49A6-9B5A-B2628911F196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109530-D171-4CEC-9DEB-E6F607865390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50A87B-DF2A-4785-B330-B561657EE40C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Initialize the parameters once.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58F467-11CB-4173-B1FB-AC14B1DD08E9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For each epoch: shuffle the training indices.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7FBF40-487C-4843-B702-BDD704E523CE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For each batch: predict → loss → backward → update → clear gradients.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2CA23A-2FD5-4042-84D5-01B9C73AC1B3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After the epoch: measure loss using the current model.</a:t>
            </a:r>
          </a:p>
        </p:txBody>
      </p:sp>
    </p:spTree>
    <p:extLst>
      <p:ext uri="{BB962C8B-B14F-4D97-AF65-F5344CB8AC3E}">
        <p14:creationId xmlns:p14="http://schemas.microsoft.com/office/powerpoint/2010/main" val="1778837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295B794-1EBA-43BB-837C-6836BAEEDE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6C9FEF-07B4-422F-901B-2F950A684D0A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MINIBATCHES AND TRAINING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02B0FD-505F-428D-9E57-F51E6940B855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Before the break: trace the state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0176A-E175-46D5-A5FD-084E30F61DBD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633E1-8A26-4EFF-BB22-ACF658B7EB74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B40EC1-C7C2-4050-A336-ED54D3DC122C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9B8EA-D93C-4F8F-A484-8F9C0639FC77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Which quantities persist?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6037A8-68A9-4DD9-8DB5-9C311752952D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Which quantities are recomputed?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168D09-C801-4116-842F-72F93E0034BE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Which data can choose the learning rate?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A4B8CA-366A-40EC-B921-2C4B408B646A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Explain why backward() does not train the model on its own.</a:t>
            </a:r>
          </a:p>
        </p:txBody>
      </p:sp>
    </p:spTree>
    <p:extLst>
      <p:ext uri="{BB962C8B-B14F-4D97-AF65-F5344CB8AC3E}">
        <p14:creationId xmlns:p14="http://schemas.microsoft.com/office/powerpoint/2010/main" val="1555091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9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D3CA769-4CA1-4665-AD21-91FBE90B63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F5D02D-D87C-43CB-9B2F-C5A41DD8D0DB}"/>
              </a:ext>
            </a:extLst>
          </p:cNvPr>
          <p:cNvSpPr>
            <a:spLocks noGrp="1"/>
          </p:cNvSpPr>
          <p:nvPr/>
        </p:nvSpPr>
        <p:spPr>
          <a:xfrm>
            <a:off x="723900" y="62865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5A7C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A7C4"/>
                </a:solidFill>
                <a:latin typeface="Arial"/>
                <a:ea typeface="Arial"/>
                <a:cs typeface="Arial"/>
              </a:rPr>
              <a:t>SE-801  ·  ARTIFICIAL NEURAL NETWORKS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BD5256-3FC6-4770-A239-E22A8F9C5E23}"/>
              </a:ext>
            </a:extLst>
          </p:cNvPr>
          <p:cNvSpPr>
            <a:spLocks noGrp="1"/>
          </p:cNvSpPr>
          <p:nvPr/>
        </p:nvSpPr>
        <p:spPr>
          <a:xfrm>
            <a:off x="723900" y="176212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B7D8E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D8EF"/>
                </a:solidFill>
                <a:latin typeface="Arial"/>
                <a:ea typeface="Arial"/>
                <a:cs typeface="Arial"/>
              </a:rPr>
              <a:t>PAUSE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CFFE35-EDF2-42F1-8C39-38B863EB04A8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Break — 20 minutes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168015-A8CD-4C81-AFF2-74E3102BCFFA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10001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F4C86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C867"/>
                </a:solidFill>
                <a:latin typeface="Arial"/>
                <a:ea typeface="Arial"/>
                <a:cs typeface="Arial"/>
              </a:rPr>
              <a:t>When you return:</a:t>
            </a:r>
          </a:p>
          <a:p>
            <a:pPr>
              <a:defRPr sz="2550" b="0">
                <a:solidFill>
                  <a:srgbClr val="F4C86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C867"/>
                </a:solidFill>
                <a:latin typeface="Arial"/>
                <a:ea typeface="Arial"/>
                <a:cs typeface="Arial"/>
              </a:rPr>
              <a:t>We will build the training loop together.</a:t>
            </a:r>
          </a:p>
        </p:txBody>
      </p:sp>
    </p:spTree>
    <p:extLst>
      <p:ext uri="{BB962C8B-B14F-4D97-AF65-F5344CB8AC3E}">
        <p14:creationId xmlns:p14="http://schemas.microsoft.com/office/powerpoint/2010/main" val="1246926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B9179C8-4DF5-4F26-A533-1165CC73B0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025EC8-E096-4718-BC37-9BA61942355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COMPLETE IMPLEMENTATION FROM SCRATCH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8A72E8-143A-4958-AF3B-50164AA3AD0F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Implementation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714EF5-AA53-46A1-B85E-0F08031FADC9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A777F-FF3C-43D9-96DE-5BF014325689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8806A-F92B-4919-8839-1E2DE16F7A2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6ADC4E-9C92-4599-879D-3EE515E363BC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 iterator → minibatches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CD8E25-8DF7-41E9-984F-3EEA80AE71A4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Parameters → tensors requiring gradients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C2CB4-92FF-4A81-A652-955297583569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Model → X @ w +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7DA88-0F72-4562-BD4E-C24F97B0AF24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Loss → mean squared residual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767E5-4C39-4E54-95F2-237D725DBC4A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SGD → a parameter update under no_grad</a:t>
            </a:r>
          </a:p>
        </p:txBody>
      </p:sp>
    </p:spTree>
    <p:extLst>
      <p:ext uri="{BB962C8B-B14F-4D97-AF65-F5344CB8AC3E}">
        <p14:creationId xmlns:p14="http://schemas.microsoft.com/office/powerpoint/2010/main" val="673548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7A84C4-4A47-43CF-B548-AA3ABC7353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ED2B1-B8E2-4DE6-9E8B-645CCEBBE4F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COMPLETE IMPLEMENTATION FROM SCRATCH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4C5536-6862-40AA-9FBB-CB7D12DA0BB6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 data iterator from scratch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DCCC2-94CB-4362-B4D3-B4EF78DEE4CE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4E0CE6-C551-48F2-A95E-6D081F214249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F49516-00AC-4FBA-8E46-32C55EC8EC3C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3E0249-FDCE-4956-848B-FD24A311A98A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10668000" cy="3619500"/>
          </a:xfrm>
          <a:prstGeom prst="rect">
            <a:avLst/>
          </a:prstGeom>
          <a:solidFill>
            <a:srgbClr val="0E29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0FC5F6-F47A-4A85-A732-25FB4844C916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10191750" cy="3190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indices = torch.randperm(len(X), generator=g)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for start in range(0, len(X), batch_size):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selected = indices[start:start + batch_size]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yield X[selected], y[selected]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817AA-5F0F-411D-931E-90791FCE8F65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Trace each line using one batch before running the full loop.</a:t>
            </a:r>
          </a:p>
        </p:txBody>
      </p:sp>
    </p:spTree>
    <p:extLst>
      <p:ext uri="{BB962C8B-B14F-4D97-AF65-F5344CB8AC3E}">
        <p14:creationId xmlns:p14="http://schemas.microsoft.com/office/powerpoint/2010/main" val="1416798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0F63B2-0FD7-45A5-9D05-869681EF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B3D1AC-BE70-43E5-ADD6-20B5A798EFAF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COMPLETE IMPLEMENTATION FROM SCRATCH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6CA766-D1AE-4A14-8E28-443D3F92B86D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Model, loss and parameters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0B427-272B-4C7F-A28F-C1EA5CDAC775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28B3F-F7ED-48E8-8DD2-BA2774186A54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4E361-0D06-4BF8-9FC7-FEF0402CD13A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9D07EF-6738-4505-BE34-C66245052C02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10668000" cy="3619500"/>
          </a:xfrm>
          <a:prstGeom prst="rect">
            <a:avLst/>
          </a:prstGeom>
          <a:solidFill>
            <a:srgbClr val="0E29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8DBC9C-FC18-41BA-8778-C5EBBA50FCBA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10191750" cy="3190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w = initial_w.clone().requires_grad_()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b = initial_b.clone().requires_grad_()</a:t>
            </a:r>
          </a:p>
          <a:p>
            <a:endParaRPr sz="2100" b="0">
              <a:solidFill>
                <a:srgbClr val="E8F1F8"/>
              </a:solidFill>
              <a:latin typeface="Consolas"/>
              <a:ea typeface="Consolas"/>
              <a:cs typeface="Consolas"/>
            </a:endParaRP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prediction = X_batch @ w + b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assert prediction.shape == y_batch.shape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loss = ((prediction - y_batch)**2).mean()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21AE0D-3822-42A8-B0C5-9D8A865657B2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Trace each line using one batch before running the full loop.</a:t>
            </a:r>
          </a:p>
        </p:txBody>
      </p:sp>
    </p:spTree>
    <p:extLst>
      <p:ext uri="{BB962C8B-B14F-4D97-AF65-F5344CB8AC3E}">
        <p14:creationId xmlns:p14="http://schemas.microsoft.com/office/powerpoint/2010/main" val="1984311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70FA02-82B0-43D2-B999-BCD512AB91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C2327A-94C9-4C71-904F-FF81369C47B0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COMPLETE IMPLEMENTATION FROM SCRATCH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DA0B15-6996-4029-9E50-738F14494894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manual SGD 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9EDEA-CBF2-45E0-82C4-D164E06327D5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BE203-C6DC-4914-88FC-56590B7E8B5F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B3CC8B-2330-470E-AEE5-9D234E276571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284B69-B7D1-4B84-A713-F1273BBDFEDC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10668000" cy="3619500"/>
          </a:xfrm>
          <a:prstGeom prst="rect">
            <a:avLst/>
          </a:prstGeom>
          <a:solidFill>
            <a:srgbClr val="0E29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384D58-846D-4850-BD59-6F5955D630F1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10191750" cy="3190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loss.backward()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with torch.no_grad():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for parameter in [w, b]: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    parameter -= learning_rate * parameter.grad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    parameter.grad.zero_()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D90079-20CD-4965-93F8-4C088081331E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Trace each line using one batch before running the full loop.</a:t>
            </a:r>
          </a:p>
        </p:txBody>
      </p:sp>
    </p:spTree>
    <p:extLst>
      <p:ext uri="{BB962C8B-B14F-4D97-AF65-F5344CB8AC3E}">
        <p14:creationId xmlns:p14="http://schemas.microsoft.com/office/powerpoint/2010/main" val="852988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6A67418-C648-498D-A915-27256A2EED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FDC6D5-EFA9-4DCF-B197-36BDFD18CCE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COMPLETE IMPLEMENTATION FROM SCRATCH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C6554-C007-4956-8C92-DD71A7193799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outer training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E396F5-CD41-466B-AA4C-71C08CE28687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DF517-9DB8-4BAD-8C2A-6E0BCB74F496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B9203-AA0B-4198-8C72-D927BA1F1A79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A3854-7D2B-40F4-A9FE-0165EC8783A7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10668000" cy="3619500"/>
          </a:xfrm>
          <a:prstGeom prst="rect">
            <a:avLst/>
          </a:prstGeom>
          <a:solidFill>
            <a:srgbClr val="0E29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EB3CEE-9580-4051-ADCC-F3B7A94DBF66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10191750" cy="3190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for epoch in range(epochs):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for xb, yb in data_iter(batch_size, X, y, g):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    loss = mse(linear_model(xb, w, b), yb)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    loss.backward()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    sgd([w, b], learning_rate)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# Evaluate the updated model after the epoch.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E2FCD2-0E13-476B-A298-15DB723B391B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Trace each line using one batch before running the full loop.</a:t>
            </a:r>
          </a:p>
        </p:txBody>
      </p:sp>
    </p:spTree>
    <p:extLst>
      <p:ext uri="{BB962C8B-B14F-4D97-AF65-F5344CB8AC3E}">
        <p14:creationId xmlns:p14="http://schemas.microsoft.com/office/powerpoint/2010/main" val="1590982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9BB5022-9F2E-425A-B1E8-19A93C2F4A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9768B-7380-4342-9DD6-2C335FF08337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COMPLETE IMPLEMENTATION FROM SCRATCH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B4E39-E977-42D6-9B0A-B2DC91301433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Training curves and parameter recovery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01B7EE-3C11-4D25-941F-3A7130BA8DDA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8D2C2E-A16C-474D-8724-CC03BA649F44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B7DEE-CA7E-4443-A3B9-B28CA1599088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DDC42E-49D8-415E-BC47-3AEAED8695DC}"/>
              </a:ext>
            </a:extLst>
          </p:cNvPr>
          <p:cNvSpPr>
            <a:spLocks noGrp="1"/>
          </p:cNvSpPr>
          <p:nvPr/>
        </p:nvSpPr>
        <p:spPr>
          <a:xfrm>
            <a:off x="8715375" y="1809750"/>
            <a:ext cx="2724150" cy="400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Compare learned weights with [2, −3.4].</a:t>
            </a:r>
          </a:p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Compare learned bias with 4.2.</a:t>
            </a:r>
          </a:p>
          <a:p>
            <a:endParaRPr sz="1875" b="0">
              <a:solidFill>
                <a:srgbClr val="17365D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Loss near the noise variance is plausible.</a:t>
            </a:r>
          </a:p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Exact recovery is not expected from a finite noisy sample.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723900" y="1571625"/>
          <a:ext cx="7667625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34425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74C1E1-0136-4626-AFC0-1032224555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A14721-B70C-4607-99D6-85D27CA90944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COMPLETE IMPLEMENTATION FROM SCRATCH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B9324C-8DED-4F0C-808C-7AFC8A793E0D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Checkpoint: rebuild the loop in words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629114-21DA-4F78-8C43-55F4728BE9D9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E95B04-5167-4019-BBFA-9F1269AE604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4E870-F4FE-4EBF-9F07-D95DC3B1289A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BB4B88-397B-4788-95A3-F3067C3D9370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batch enters the model. What happens next?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A66939-1576-4A71-B0F5-B239ED1F604A}"/>
              </a:ext>
            </a:extLst>
          </p:cNvPr>
          <p:cNvSpPr>
            <a:spLocks noGrp="1"/>
          </p:cNvSpPr>
          <p:nvPr/>
        </p:nvSpPr>
        <p:spPr>
          <a:xfrm>
            <a:off x="857250" y="2543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Name one shape check.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CFB770-48F5-491B-9974-E0E43F715A64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Name one gradient-management rule.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B25345-5FBE-4EF1-89AF-0BC711225A00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Name one useful diagnostic beyond a printed loss.</a:t>
            </a:r>
          </a:p>
        </p:txBody>
      </p:sp>
    </p:spTree>
    <p:extLst>
      <p:ext uri="{BB962C8B-B14F-4D97-AF65-F5344CB8AC3E}">
        <p14:creationId xmlns:p14="http://schemas.microsoft.com/office/powerpoint/2010/main" val="1203265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8D0E7C-7117-4FF0-8CF9-35E126DEB7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54562A-E201-4BF0-8588-431032E3DD46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EQUIVALENT TORCH.NN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566F88-EF9E-44CE-A3EA-2D89296991C4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same mathematics in torch.nn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E0AA2E-79F2-4A39-90FA-78D5C04FC6AB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57A7E7-DDC3-40EF-8CF7-25BD2778CBF7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71CD5F-8383-4CAB-B139-F89460CD1D7C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1762125"/>
          <a:ext cx="10382250" cy="3886200"/>
        </p:xfrm>
        <a:graphic>
          <a:graphicData uri="http://schemas.openxmlformats.org/drawingml/2006/table">
            <a:tbl>
              <a:tblPr/>
              <a:tblGrid>
                <a:gridCol w="519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Scratch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PyTorch equivalent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X @ w + b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nn.Linear(2, 1)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((prediction − y)**2).mean()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nn.MSELoss()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parameter -= η * parameter.grad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torch.optim.SGD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clear .grad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optimizer.zero_grad()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manual iterator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TensorDataset + DataLoader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748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0FF777-3C95-468C-9093-4E227065CB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1B64B-48F7-4431-83D9-04117E4B88A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EQUIVALENT TORCH.NN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235771-BAA2-4220-A654-A456D43D208C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framework training step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ACEA02-ED59-4D88-8ED8-D7AD681EA449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E9CF29-4AE3-469C-87E2-028CCF69EA4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26E2C5-90A8-428B-94FE-F9FC863E2840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341448-1146-43D5-B244-2F8D63A3995B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10668000" cy="3619500"/>
          </a:xfrm>
          <a:prstGeom prst="rect">
            <a:avLst/>
          </a:prstGeom>
          <a:solidFill>
            <a:srgbClr val="0E294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8FF73-B684-4F65-A000-238454046370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10191750" cy="3190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optimizer.zero_grad()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prediction = model(xb)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loss = criterion(prediction, yb)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loss.backward()</a:t>
            </a:r>
          </a:p>
          <a:p>
            <a:pPr>
              <a:defRPr sz="2100" b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optimizer.step()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337CDE-0417-4C7F-9C68-E70F8B9B9999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Trace each line using one batch before running the full loop.</a:t>
            </a:r>
          </a:p>
        </p:txBody>
      </p:sp>
    </p:spTree>
    <p:extLst>
      <p:ext uri="{BB962C8B-B14F-4D97-AF65-F5344CB8AC3E}">
        <p14:creationId xmlns:p14="http://schemas.microsoft.com/office/powerpoint/2010/main" val="1343271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A6D61B-BF92-4594-8489-870C13DC05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7390C0-A2D6-4D75-906E-7B307F8BAFA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EQUIVALENT TORCH.NN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8E19C9-2226-4E00-AD20-F8B9D4F22A00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Weight orientation and multiple outputs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C79C20-1AEF-498A-AEB5-2488EEE79204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F5B5A-4554-4C23-B4CF-D2A7F3AD7B69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70573-3782-4077-A569-03CA1EF33430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0CEEC-794E-4E8C-9198-0D1E8E251099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Scratch: w has shape [d, 1]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2A039-C48C-4997-82D2-1742BB4206AD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nn.Linear: weight has shape [out_features, in_features]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50B52F-6C46-4A8E-89DC-62B785C584A0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For nn.Linear(2, 3):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FC8206-9977-47D5-8679-206A34022770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 [B,2] @ weight.T [2,3] + bias [3] → output [B,3]</a:t>
            </a:r>
          </a:p>
        </p:txBody>
      </p:sp>
    </p:spTree>
    <p:extLst>
      <p:ext uri="{BB962C8B-B14F-4D97-AF65-F5344CB8AC3E}">
        <p14:creationId xmlns:p14="http://schemas.microsoft.com/office/powerpoint/2010/main" val="969346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C340B6-821A-41C3-8E8B-4DCB5DCD0E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4ED2F3-9809-46BC-80B3-FA6B4BD128F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EQUIVALENT TORCH.NN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138594-2E8D-4E88-943F-F6E06A16EBAA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Verify equivalence fairly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A40E2B-CAED-446D-9D3B-DB614B797693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630031-334E-49F7-91F6-D90E5BBF7AD4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A94AF8-A2EE-4B25-909D-E385FCA92294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BEBC1-C96B-49D7-B841-0772AD5117B7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Match the data and batch order.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8D3D8A-90C0-4E11-9654-16757FB5CCBF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Copy the same initial parameters.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801283-824B-4BF4-B025-CFBF9906772E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Use the same loss reduction, learning rate and update budget.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E25BF9-E1CD-49F3-B6B9-67DA0A127A91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Compare predictions, not just the final printed loss.</a:t>
            </a:r>
          </a:p>
        </p:txBody>
      </p:sp>
    </p:spTree>
    <p:extLst>
      <p:ext uri="{BB962C8B-B14F-4D97-AF65-F5344CB8AC3E}">
        <p14:creationId xmlns:p14="http://schemas.microsoft.com/office/powerpoint/2010/main" val="657151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3A2BCF-9268-4D97-937D-307411464A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B427DD-136A-4897-B0E6-83C8943738EC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9B0CE1-E788-4EA1-8D68-8D149A7F40C7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Experiment: batch size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6D226-4324-4C34-BC05-26893EF98D4A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02EFD-A14F-4640-AFCB-9DED404A4A6F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3D034-DBB6-4E77-B63A-ED6F7AD6C676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6DD31-6AFB-4ED9-864E-C26118F12AD3}"/>
              </a:ext>
            </a:extLst>
          </p:cNvPr>
          <p:cNvSpPr>
            <a:spLocks noGrp="1"/>
          </p:cNvSpPr>
          <p:nvPr/>
        </p:nvSpPr>
        <p:spPr>
          <a:xfrm>
            <a:off x="8715375" y="1809750"/>
            <a:ext cx="2724150" cy="400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Keep the learning rate and epoch count fixed.</a:t>
            </a:r>
          </a:p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Compare batches of 1, 32 and 1,000.</a:t>
            </a:r>
          </a:p>
          <a:p>
            <a:endParaRPr sz="1875" b="0">
              <a:solidFill>
                <a:srgbClr val="17365D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Does equal epoch count mean equal update count?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723900" y="1571625"/>
          <a:ext cx="7667625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113343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45AB936-1A55-4F79-B9C9-49C2497E90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5C9575-B156-4F50-A1AF-4E2DFA6D4933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5D339D-DC50-4D3E-9158-273A9D93EEF1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Debugging: a silent broadcasting error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74754D-C183-4526-8ABA-5BC6F1A32D9D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0534EE-D20B-475E-A58D-83579CED056B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67B249-F9A5-499D-9A31-711FED9F0BA3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C4DCC-FE77-4465-904B-22167F9B86E0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prediction.shape = [3, 1]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0F4B98-8065-48CD-97C5-85795E034524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target.shape = [3]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9780C3-CA1F-4460-961C-D717ECFB3B56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(prediction - target).shape =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E7EE3F-C796-4474-BDF7-62F2E9CB9092}"/>
              </a:ext>
            </a:extLst>
          </p:cNvPr>
          <p:cNvSpPr>
            <a:spLocks noGrp="1"/>
          </p:cNvSpPr>
          <p:nvPr/>
        </p:nvSpPr>
        <p:spPr>
          <a:xfrm>
            <a:off x="857250" y="38957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Prediction and target values are both 3, 5, 7.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68838B-F161-4E80-9CFD-3E8CB5608120}"/>
              </a:ext>
            </a:extLst>
          </p:cNvPr>
          <p:cNvSpPr>
            <a:spLocks noGrp="1"/>
          </p:cNvSpPr>
          <p:nvPr/>
        </p:nvSpPr>
        <p:spPr>
          <a:xfrm>
            <a:off x="857250" y="44672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Will this code report zero loss?</a:t>
            </a:r>
          </a:p>
        </p:txBody>
      </p:sp>
    </p:spTree>
    <p:extLst>
      <p:ext uri="{BB962C8B-B14F-4D97-AF65-F5344CB8AC3E}">
        <p14:creationId xmlns:p14="http://schemas.microsoft.com/office/powerpoint/2010/main" val="2068517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83CC89-DEBA-43AC-BED3-77CBC9D7E7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119CE7-D712-4E88-9625-F5D80C9B65D4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A2CFAC-2642-481C-935B-42D9D909E406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Debugging: three training mistakes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4FA808-1A3D-46B9-B928-637EAD0DAD9C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7B5C7D-B1C8-4556-B822-C46AFD1447CC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42E40D-AF33-43E6-B52D-2A585EECDC87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B7ABA9-3DB1-46E5-8026-0CB2A40FCD4E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A. Initialize w inside every epoch.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C9ECD4-6783-49EF-B203-8AF7D4FC13C3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B. Call backward() repeatedly without clearing .grad.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8AFC9-A4AD-4C27-9230-5770E72253E7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C. Take mean loss, then divide gradients by batch size again.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D76E7A-B8C6-4CA4-8E46-864E042D2853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For each: explain the effect and repair the code.</a:t>
            </a:r>
          </a:p>
        </p:txBody>
      </p:sp>
    </p:spTree>
    <p:extLst>
      <p:ext uri="{BB962C8B-B14F-4D97-AF65-F5344CB8AC3E}">
        <p14:creationId xmlns:p14="http://schemas.microsoft.com/office/powerpoint/2010/main" val="109190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0C0949-244B-4BCC-BDE6-396A4C5DF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FF014C-4932-40AE-8A00-88D8E33A9B3D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697A6-9533-4FF8-86B1-2E8210837891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An independent least-squares reference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7DB13-DCC5-44ED-B32A-5C9660D9C3FE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8B8786-BB38-4BEB-9D0A-B3E5E8343AC1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6EB4B-903F-4427-845A-4CE81404661A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00037-1BA5-45D0-B505-9FAE3F66B8D1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= [X | 1]     θ = [w; b]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633C04-8C7C-45B9-BE19-5561D20DB669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Solve minθ ||Aθ − y||²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CFFA75-AC14-4F27-8217-262289C03692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reference = torch.linalg.lstsq(A, y).solution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CC361-64A3-4CCB-88D0-BC37C212E03C}"/>
              </a:ext>
            </a:extLst>
          </p:cNvPr>
          <p:cNvSpPr>
            <a:spLocks noGrp="1"/>
          </p:cNvSpPr>
          <p:nvPr/>
        </p:nvSpPr>
        <p:spPr>
          <a:xfrm>
            <a:off x="857250" y="38957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Use the training data for this reference.</a:t>
            </a:r>
          </a:p>
        </p:txBody>
      </p:sp>
    </p:spTree>
    <p:extLst>
      <p:ext uri="{BB962C8B-B14F-4D97-AF65-F5344CB8AC3E}">
        <p14:creationId xmlns:p14="http://schemas.microsoft.com/office/powerpoint/2010/main" val="1971903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0DEBFB4-0279-46BD-BDD2-49F3E80AA8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63DE7A-DF07-4DDA-9A26-ACC70465AF92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23F78-049A-495C-92F9-908000F9900C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Prediction accuracy and identifiable weights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9A8349-B6D2-434A-A613-EF0A90733255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7C5FD-7C15-49D0-B84D-DC6492EBF1F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690299-AEEA-45FB-B6DC-863D9600F53C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A4060B-D766-4E47-B93E-9AC91C12ED53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Suppose feature 2 duplicates feature 1.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862B06-87B8-4617-83A9-EDB3658A6F9B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y_hat = w₁x + w₂x = (w₁+w₂)x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8939EC-FB77-4F08-987B-C6A5D1BC9AC2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[2,3] and [1,4] produce the same predictions.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EAC76-D9A3-4115-9053-E0006F391BD0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data can identify the sum, but not both weights separately.</a:t>
            </a:r>
          </a:p>
        </p:txBody>
      </p:sp>
    </p:spTree>
    <p:extLst>
      <p:ext uri="{BB962C8B-B14F-4D97-AF65-F5344CB8AC3E}">
        <p14:creationId xmlns:p14="http://schemas.microsoft.com/office/powerpoint/2010/main" val="1409263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22E3F9D-F1B0-4392-B807-2295CEF830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84CF6A-DC35-4562-A810-1A3A34FDA2C1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90550-7BC4-4153-8715-1CF6D66F97FA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Held-out evaluation and a baseline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950201-FCE9-4F52-8D99-351C2B2B7D0A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240B6E-028F-4898-BD64-A570B6170EAA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42A3BA-3C54-4704-A869-EFEC37983F50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C4F13E-116D-436D-9420-B50600986D5A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Fix the model choices before reading test results.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8D632-1631-4833-A605-AA5118045FC9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Compare with a constant prediction: training-target mean.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5F79A5-AB59-4A5C-8FA1-5E9BB18D3AAA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Report MSE and RMSE.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466374-8D7D-41F7-8394-A238896E6972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RMSE has the same units as the target.</a:t>
            </a:r>
          </a:p>
        </p:txBody>
      </p:sp>
    </p:spTree>
    <p:extLst>
      <p:ext uri="{BB962C8B-B14F-4D97-AF65-F5344CB8AC3E}">
        <p14:creationId xmlns:p14="http://schemas.microsoft.com/office/powerpoint/2010/main" val="115380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025422-3AA9-49BB-B0C0-EFF82E54D0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BD6E4F-9376-44EB-BBE3-5899D10DD2E8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ASSIGNMENT, EXIT TICKET AND SYNTHESIS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BFC5E7-1324-495C-9A26-98EF4F26683A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Assignment 1: regression and gradients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581E9F-0E2F-4CEA-BB2E-66450241087C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3D9EC-169D-4621-83EF-B0AD6525219F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D38947-5E88-4635-A225-09E6B25B1CD3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292D1-84BD-435F-B2A2-57A74F54CF49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Implement regression from scratch and with torch.nn.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863B9D-2B16-4ECB-B38B-1117B7D6E668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Check one gradient three ways.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A7114C-6795-4CAC-A6CF-B5DA6A486E1C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Investigate learning rate with controlled runs.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622619-3FED-477C-869F-E3489A9B205F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Explain a broadcasting or gradient-management bug.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0FC96A-1A8E-4B1E-A89A-C1F6676B95D9}"/>
              </a:ext>
            </a:extLst>
          </p:cNvPr>
          <p:cNvSpPr>
            <a:spLocks noGrp="1"/>
          </p:cNvSpPr>
          <p:nvPr/>
        </p:nvSpPr>
        <p:spPr>
          <a:xfrm>
            <a:off x="857250" y="4257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Released Week 2 · Due Week 7</a:t>
            </a:r>
          </a:p>
        </p:txBody>
      </p:sp>
    </p:spTree>
    <p:extLst>
      <p:ext uri="{BB962C8B-B14F-4D97-AF65-F5344CB8AC3E}">
        <p14:creationId xmlns:p14="http://schemas.microsoft.com/office/powerpoint/2010/main" val="8596960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D94218-E548-4C80-8441-67F7E1EA33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8DD0F2-40FF-450F-9499-04B0BCA6920C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ASSIGNMENT, EXIT TICKET AND SYNTHESIS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B1CC0-1D5E-4E1E-8B07-0146A7154185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F7863D-2D63-49E2-B9FE-F713D3685C14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5F4C1-350F-4E5E-B0BC-DA3FAFB9E8F3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3A96C-0850-4606-AC5E-E1DDC580A9B1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45429E-E855-4D81-BC73-35FB4BCDD76E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1. Why does backward() need an update step?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23D352-70A7-4E88-8143-079029EFA748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2. N=1000, batch=32: how many updates in 5 epochs?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B7DEFF-F670-43EC-B566-1EDBF94CDD39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3. What shape should targets have for output [B,1]?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D65AC0-125A-4E68-B3A0-7460FD9E54A6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4. Why might learned weights differ from generating weights?</a:t>
            </a:r>
          </a:p>
        </p:txBody>
      </p:sp>
    </p:spTree>
    <p:extLst>
      <p:ext uri="{BB962C8B-B14F-4D97-AF65-F5344CB8AC3E}">
        <p14:creationId xmlns:p14="http://schemas.microsoft.com/office/powerpoint/2010/main" val="16601850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C01975-6B13-449B-93A7-8B3F555F63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E2EB2-ED1B-401B-8D07-02F2642575D7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ASSIGNMENT, EXIT TICKET AND SYNTHESIS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926A6-E78E-486A-9A16-567C83A6EADD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Lecture 2 synthesis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32D627-EA1E-4369-B141-3EDA78A72417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F5153A-A2AF-4B8C-9052-E518E469C6AC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4FA909-6771-4FF4-A81C-0FD939E4BA17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BD1DEE-C65B-443F-A62D-AD28D9B54936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training loop repeatedly changes shared parameters.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CA79EF-EC5D-4127-BF5A-DB06EF5277E2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Correct shapes and loss scaling are part of the mathematics.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98632-516E-4BB6-87C8-61DE7C6D0A95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Scratch and framework implementations should agree under matched conditions.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DF547E-9C38-45D5-9CBD-44FBD4DF960B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Next: generalization, regularization and experimental discipline.</a:t>
            </a:r>
          </a:p>
        </p:txBody>
      </p:sp>
    </p:spTree>
    <p:extLst>
      <p:ext uri="{BB962C8B-B14F-4D97-AF65-F5344CB8AC3E}">
        <p14:creationId xmlns:p14="http://schemas.microsoft.com/office/powerpoint/2010/main" val="169779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EBDA11-021A-4683-8C8B-6BEDA0547A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FE4E08-07A3-4583-9E2D-F2378B2CEB53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ASSIGNMENT, EXIT TICKET AND SYNTHESIS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9516B-E924-4AC0-BA78-8FA7B2070DEA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Reading and practice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41010-A280-4002-B6C1-26174C7525C8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4EEBB-4171-43F4-9E4F-A62CE7060507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FEA67D-DEB1-4754-95D7-0AE7BF98A488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C0A5CA-9733-49F1-92B5-D8D6D38685AB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D2L: Sections 3.1, 3.3, 3.4 and 3.5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3B7ED-D2D9-48DC-B917-07B2BECAE5C6}"/>
              </a:ext>
            </a:extLst>
          </p:cNvPr>
          <p:cNvSpPr>
            <a:spLocks noGrp="1"/>
          </p:cNvSpPr>
          <p:nvPr/>
        </p:nvSpPr>
        <p:spPr>
          <a:xfrm>
            <a:off x="857250" y="2543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Reproduce the training loop in a fresh notebook.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7E3866-EF15-4795-9D9D-B0D4E0015838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Derive the two-feature gradient without looking at the solution.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E99C07-A084-4EB3-A1F8-3C27CB73D00F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Bring one question about a learning curve to Lecture 3.</a:t>
            </a:r>
          </a:p>
        </p:txBody>
      </p:sp>
    </p:spTree>
    <p:extLst>
      <p:ext uri="{BB962C8B-B14F-4D97-AF65-F5344CB8AC3E}">
        <p14:creationId xmlns:p14="http://schemas.microsoft.com/office/powerpoint/2010/main" val="327890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263F004-46B0-4F56-9ABE-6ABE6ED620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12397B-6B60-427A-8B2A-E17E7F5AA644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OPTIONAL RESERVE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737EA-BE80-4502-A8C8-415E55A0F991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Reserve: noise and achievable error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DC88C-5574-4428-AD78-D05066BDDECC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EF6A68-BA47-4F9C-9961-160025D57E7B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8C7831-2E4A-4505-AA04-C6B9089910D0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1DA2B-22D6-4108-A0A7-98A3E8C68DEA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For y = f(x) + ε and E[ε]=0: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64C5C4-34AF-428D-9103-2A24570439B6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E[(f(x) − y)²] = Var(ε)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6AB36E-518C-443F-8517-E03BCF42BA9F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Predict the MSE when noise standard deviation doubles.</a:t>
            </a:r>
          </a:p>
        </p:txBody>
      </p:sp>
    </p:spTree>
    <p:extLst>
      <p:ext uri="{BB962C8B-B14F-4D97-AF65-F5344CB8AC3E}">
        <p14:creationId xmlns:p14="http://schemas.microsoft.com/office/powerpoint/2010/main" val="309461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979B71-9803-464E-A062-2EE2CF7D8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A47031-E78C-4538-B9AA-465E0BAAEA7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OPTIONAL RESERVE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0D2BF5-9A5F-4067-A4D2-06E055E608D3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Reserve: feature scaling and stability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B57348-9204-40F8-80F9-578F35D64362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98305-DA0B-49E9-A5F5-5C95B5988C53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8EE829-AE99-45D6-BDD6-E1F36B6ADD38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1D82CE-0C27-46A8-A178-88151E695FB0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Replace x by 100x and adjust the true slope accordingly.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C8BA44-D4E3-438A-8069-B5BF3E472E3E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prediction family can stay the same.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3CD662-E78A-4E3E-B8ED-AF2B0BB5FEE3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gradient magnitudes and curvature change.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BB9D70-BD73-4F23-9A57-DB864A67FE09}"/>
              </a:ext>
            </a:extLst>
          </p:cNvPr>
          <p:cNvSpPr>
            <a:spLocks noGrp="1"/>
          </p:cNvSpPr>
          <p:nvPr/>
        </p:nvSpPr>
        <p:spPr>
          <a:xfrm>
            <a:off x="857250" y="36861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Should the same learning rate still work?</a:t>
            </a:r>
          </a:p>
        </p:txBody>
      </p:sp>
    </p:spTree>
    <p:extLst>
      <p:ext uri="{BB962C8B-B14F-4D97-AF65-F5344CB8AC3E}">
        <p14:creationId xmlns:p14="http://schemas.microsoft.com/office/powerpoint/2010/main" val="10276291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904AE85-566D-4DCF-8F66-ADD272FFDD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F4AA97-5B61-45B2-A1C9-82A53B950609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OPTIONAL RESERVE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8C08B9-D845-4C01-99B8-E232D93C6AAF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Reserve: gradient verification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0B16C-2F11-4C24-B46F-5D44231915C2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5B8FB-5544-4BE3-B1B5-C90097775DB3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86EA02-6B2D-4152-847C-1F097ECE20B7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DBFD78-B07F-4440-9741-01A5E0493934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Analytical derivative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10C492-818F-48A2-8113-D75C50166573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Autograd derivative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0A4454-E517-4D81-8E05-D6FF070CC32A}"/>
              </a:ext>
            </a:extLst>
          </p:cNvPr>
          <p:cNvSpPr>
            <a:spLocks noGrp="1"/>
          </p:cNvSpPr>
          <p:nvPr/>
        </p:nvSpPr>
        <p:spPr>
          <a:xfrm>
            <a:off x="857250" y="29051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Central finite difference: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D6780E-729A-4FC2-99F9-70F57151D1CD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[L(w+h) − L(w−h)] / (2h)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D1D749-912D-4430-8D73-24FE02E65933}"/>
              </a:ext>
            </a:extLst>
          </p:cNvPr>
          <p:cNvSpPr>
            <a:spLocks noGrp="1"/>
          </p:cNvSpPr>
          <p:nvPr/>
        </p:nvSpPr>
        <p:spPr>
          <a:xfrm>
            <a:off x="857250" y="42576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Why can an extremely small h be unreliable?</a:t>
            </a:r>
          </a:p>
        </p:txBody>
      </p:sp>
    </p:spTree>
    <p:extLst>
      <p:ext uri="{BB962C8B-B14F-4D97-AF65-F5344CB8AC3E}">
        <p14:creationId xmlns:p14="http://schemas.microsoft.com/office/powerpoint/2010/main" val="845911866"/>
      </p:ext>
    </p:extLst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A800A6BA-965E-440E-AD1C-6A59F6A95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D647-80E5-430A-B7F0-620D744A2E9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E18BE-F3BE-4448-B1F6-F323CD842A42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Held-out results for the fixed correction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16599-E868-499B-AE62-3AEDB70E96CE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E6409-B9C2-4A77-8283-9A61FB02FE2B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1CA2B-5BF1-49D2-BC47-C18949FB658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1762125"/>
          <a:ext cx="10382250" cy="1536192"/>
        </p:xfrm>
        <a:graphic>
          <a:graphicData uri="http://schemas.openxmlformats.org/drawingml/2006/table">
            <a:tbl>
              <a:tblPr/>
              <a:tblGrid>
                <a:gridCol w="519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Test MSE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0.011261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Test RMSE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0.106116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Training-mean baseline test MSE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14.115685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34CD436-1C43-4B67-B0F4-998503DBE117}"/>
              </a:ext>
            </a:extLst>
          </p:cNvPr>
          <p:cNvSpPr>
            <a:spLocks noGrp="1"/>
          </p:cNvSpPr>
          <p:nvPr/>
        </p:nvSpPr>
        <p:spPr>
          <a:xfrm>
            <a:off x="857250" y="3572636"/>
            <a:ext cx="10477500" cy="1280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Supports a useful predictor under this synthetic IID setup. It does not establish performance on a different sensor, population or environment.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A800A6BA-965E-440E-AD1C-6A59F6A95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D647-80E5-430A-B7F0-620D744A2E9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E18BE-F3BE-4448-B1F6-F323CD842A42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Three mistakes: effects and repairs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16599-E868-499B-AE62-3AEDB70E96CE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E6409-B9C2-4A77-8283-9A61FB02FE2B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1CA2B-5BF1-49D2-BC47-C18949FB658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1762125"/>
          <a:ext cx="10382250" cy="1536192"/>
        </p:xfrm>
        <a:graphic>
          <a:graphicData uri="http://schemas.openxmlformats.org/drawingml/2006/table">
            <a:tbl>
              <a:tblPr/>
              <a:tblGrid>
                <a:gridCol w="519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Mistake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Effect and repair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Initialize parameters inside each epoch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Repeatedly resets learning; initialize before the loops.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Never clear gradients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Accumulates old gradients; clear once per intended update.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Divide mean-loss gradients by batch size again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Shrinks updates unnecessarily; remove the extra division.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8EB010F9-55A8-4E37-8987-81EFA251E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9667-474C-44F2-8986-A56B5A9B5D66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C935F-F55B-4F80-8BC3-918849B6BD74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Solution: broadcasting compared every pair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05F638-B98A-469D-ACA3-D8FAA8376E01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E9109-426D-4FC3-9423-32C32C71F5FE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815D7-F0AD-4A05-94DE-44B79CFB312F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95774-97C8-4C0F-ACA5-0F46BA55624E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480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prediction [3,1] − target [3]  →  shape [3,3]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[[0, −2, −4], [2, 0, −2], [4, 2, 0]]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Squared sum = 48;  mean = 48/9 = 16/3 ≈ 5.33.  Correctly shaped [3,1] targets give 0.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Repair: reshape the target to [N,1] and assert exact shape agreement before subtracting.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Do not blindly squeeze: a batch of size one can lose its batch axis.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A800A6BA-965E-440E-AD1C-6A59F6A95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D647-80E5-430A-B7F0-620D744A2E9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EXPERIMENTS, DEBUGGING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E18BE-F3BE-4448-B1F6-F323CD842A42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Equal epochs are not equal updates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16599-E868-499B-AE62-3AEDB70E96CE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E6409-B9C2-4A77-8283-9A61FB02FE2B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1CA2B-5BF1-49D2-BC47-C18949FB658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1762125"/>
          <a:ext cx="10382250" cy="1536192"/>
        </p:xfrm>
        <a:graphic>
          <a:graphicData uri="http://schemas.openxmlformats.org/drawingml/2006/table">
            <a:tbl>
              <a:tblPr/>
              <a:tblGrid>
                <a:gridCol w="346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Batch size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updates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MSE after epoch 12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12,000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0.012425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0.010414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7.601205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34CD436-1C43-4B67-B0F4-998503DBE117}"/>
              </a:ext>
            </a:extLst>
          </p:cNvPr>
          <p:cNvSpPr>
            <a:spLocks noGrp="1"/>
          </p:cNvSpPr>
          <p:nvPr/>
        </p:nvSpPr>
        <p:spPr>
          <a:xfrm>
            <a:off x="857250" y="3572636"/>
            <a:ext cx="10477500" cy="1280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η = 0.03 and 12 epochs for all three. Equal epochs fix data exposure, not update count or runtime: this does not show that full-batch learning is inherently poor.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A800A6BA-965E-440E-AD1C-6A59F6A95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D647-80E5-430A-B7F0-620D744A2E9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COMPLETE IMPLEMENTATION FROM SCRATCH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E18BE-F3BE-4448-B1F6-F323CD842A42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Recorded training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16599-E868-499B-AE62-3AEDB70E96CE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E6409-B9C2-4A77-8283-9A61FB02FE2B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1CA2B-5BF1-49D2-BC47-C18949FB658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1762125"/>
          <a:ext cx="10382250" cy="2304288"/>
        </p:xfrm>
        <a:graphic>
          <a:graphicData uri="http://schemas.openxmlformats.org/drawingml/2006/table">
            <a:tbl>
              <a:tblPr/>
              <a:tblGrid>
                <a:gridCol w="346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Epoch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Full-training MSE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MSE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0.647074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0.652675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0.023149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0.024826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0.010705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0.010863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0.010414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0.010832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0.010423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0.010885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34CD436-1C43-4B67-B0F4-998503DBE117}"/>
              </a:ext>
            </a:extLst>
          </p:cNvPr>
          <p:cNvSpPr>
            <a:spLocks noGrp="1"/>
          </p:cNvSpPr>
          <p:nvPr/>
        </p:nvSpPr>
        <p:spPr>
          <a:xfrm>
            <a:off x="857250" y="4340733"/>
            <a:ext cx="10477500" cy="1280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Two-feature synthetic experiment, η = 0.03, batch size 32, 20 epochs. Learned w ≈ [2.001889, −3.406205], b ≈ 4.198950; generating values [2, −3.4], 4.2.</a:t>
            </a:r>
          </a:p>
          <a:p>
            <a:pPr>
              <a:spcBef>
                <a:spcPts val="8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small rise after epoch 5 is not automatically a bug: constant-step minibatch updates fluctuate.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8EB010F9-55A8-4E37-8987-81EFA251E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9667-474C-44F2-8986-A56B5A9B5D66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MINIBATCHES AND TRAINING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C935F-F55B-4F80-8BC3-918849B6BD74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Trace one epoch by hand: end-of-epoch loss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05F638-B98A-469D-ACA3-D8FAA8376E01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E9109-426D-4FC3-9423-32C32C71F5FE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815D7-F0AD-4A05-94DE-44B79CFB312F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95774-97C8-4C0F-ACA5-0F46BA55624E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480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After the epoch: w = 2.68, b = 1.26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Predictions on all three rows: [3.94, 6.62, 9.30]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L_epoch = (0.94² + 1.62² + 2.30²) / 3 = 2.93267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the mean of the two batch losses: those were measured at different parameter states and batch sizes.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One minibatch epoch ≠ one full-batch update: the second batch uses already-changed parameters.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8EB010F9-55A8-4E37-8987-81EFA251E6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9667-474C-44F2-8986-A56B5A9B5D66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MINIBATCHES AND TRAINING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C935F-F55B-4F80-8BC3-918849B6BD74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Trace one epoch by hand: two minibatches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05F638-B98A-469D-ACA3-D8FAA8376E01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E9109-426D-4FC3-9423-32C32C71F5FE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815D7-F0AD-4A05-94DE-44B79CFB312F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95774-97C8-4C0F-ACA5-0F46BA55624E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10477500" cy="4480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Points (1,3), (2,5), (3,7);  w = b = 0;  η = 0.1;  batches: [(1,3), (2,5)], then [(3,7)]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Batch 1 (m = 2): predictions [0, 0], residuals [−3, −5], L = 17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g_w = (2/2)[−3(1) − 5(2)] = −13,   g_b = −8   →   w = 1.3, b = 0.8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Batch 2 (m = 1): ŷ = 1.3(3) + 0.8 = 4.7,  e = −2.3,  L = 5.29</a:t>
            </a:r>
          </a:p>
          <a:p>
            <a:pPr>
              <a:spcBef>
                <a:spcPts val="14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g_w = 2(−2.3)(3) = −13.8,   g_b = 2(−2.3) = −4.6   →   w = 2.68, b = 1.26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A800A6BA-965E-440E-AD1C-6A59F6A95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D647-80E5-430A-B7F0-620D744A2E9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108966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LOSS, GRADIENTS AND REPEATED UPDATES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E18BE-F3BE-4448-B1F6-F323CD842A42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10896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Learning rate: measured MSE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16599-E868-499B-AE62-3AEDB70E96CE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E6409-B9C2-4A77-8283-9A61FB02FE2B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1CA2B-5BF1-49D2-BC47-C18949FB658D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1762125"/>
          <a:ext cx="10382250" cy="2304288"/>
        </p:xfrm>
        <a:graphic>
          <a:graphicData uri="http://schemas.openxmlformats.org/drawingml/2006/table">
            <a:tbl>
              <a:tblPr/>
              <a:tblGrid>
                <a:gridCol w="2595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5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5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5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Update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η = 0.005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η = 0.1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η = 0.2</a:t>
                      </a:r>
                    </a:p>
                  </a:txBody>
                  <a:tcPr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27.6667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27.6667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27.6667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24.6829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0.331852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41.0830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22.0209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0.005267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61.0057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8.8383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0.000894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1,442.36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0.289320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0.000208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204,404,240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34CD436-1C43-4B67-B0F4-998503DBE117}"/>
              </a:ext>
            </a:extLst>
          </p:cNvPr>
          <p:cNvSpPr>
            <a:spLocks noGrp="1"/>
          </p:cNvSpPr>
          <p:nvPr/>
        </p:nvSpPr>
        <p:spPr>
          <a:xfrm>
            <a:off x="857250" y="4340733"/>
            <a:ext cx="10477500" cy="1280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defRPr sz="22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Same three points, zero initialization, ordinary MSE, full-batch updates. Whether η = 0.2 is too large depends on data scale and curvature.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6658</Words>
  <Application>Microsoft Office PowerPoint</Application>
  <DocSecurity>0</DocSecurity>
  <PresentationFormat>Widescreen</PresentationFormat>
  <Paragraphs>545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Cambria Math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Muhammad Farrukh Qureshi</cp:lastModifiedBy>
  <cp:revision>4</cp:revision>
  <dcterms:created xsi:type="dcterms:W3CDTF">2026-09-13T16:07:22Z</dcterms:created>
  <dcterms:modified xsi:type="dcterms:W3CDTF">2026-09-14T09:31:49Z</dcterms:modified>
</cp:coreProperties>
</file>