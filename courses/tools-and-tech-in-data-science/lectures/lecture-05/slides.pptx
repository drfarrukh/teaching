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m Lecture 4 to Lecture 5" id="{e35d755a-1213-6178-870e-5cd89ded5aa3}">
          <p14:sldIdLst>
            <p14:sldId id="256"/>
            <p14:sldId id="257"/>
            <p14:sldId id="258"/>
          </p14:sldIdLst>
        </p14:section>
        <p14:section name="Inspect and parse real evidence" id="{959419cc-93ea-8016-41d7-f1aae7bf6e95}">
          <p14:sldIdLst>
            <p14:sldId id="259"/>
            <p14:sldId id="260"/>
            <p14:sldId id="261"/>
            <p14:sldId id="262"/>
          </p14:sldIdLst>
        </p14:section>
        <p14:section name="Synthetic data-quality laboratory" id="{20daffe2-5754-85cc-a177-4af5fac8500e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mbine the real data with checks" id="{96e4407d-4d34-60db-f05f-6c9a8ed04944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Summarize and reshape without loss" id="{d9face4e-d578-f177-9e22-cb363058b094}">
          <p14:sldIdLst>
            <p14:sldId id="276"/>
            <p14:sldId id="277"/>
            <p14:sldId id="278"/>
            <p14:sldId id="279"/>
            <p14:sldId id="280"/>
          </p14:sldIdLst>
        </p14:section>
        <p14:section name="Package reproducible deliverables" id="{c9a04450-242e-c9d8-2c3e-fd4a77adb740}">
          <p14:sldIdLst>
            <p14:sldId id="281"/>
            <p14:sldId id="282"/>
          </p14:sldIdLst>
        </p14:section>
        <p14:section name="Return to the motivating question" id="{e1f24150-3072-e504-676e-456c1ed76c8e}">
          <p14:sldIdLst>
            <p14:sldId id="283"/>
            <p14:sldId id="284"/>
            <p14:sldId id="285"/>
            <p14:sldId id="286"/>
          </p14:sldIdLst>
        </p14:section>
        <p14:section name="Exit check" id="{ec0acdb8-aea9-361a-1fed-1afce2911650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j-lt"/>
              </a:rPr>
              <a:t>Unknown is not $0 oil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 2024 Brent mean</c:v>
                </c:pt>
              </c:strCache>
            </c:strRef>
          </c:tx>
          <c:spPr>
            <a:solidFill>
              <a:srgbClr val="1F8A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Observed quotes</c:v>
                  </c:pt>
                  <c:pt idx="1">
                    <c:v>Gaps filled with 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85.40850000000002</c:v>
                </c:pt>
                <c:pt idx="1">
                  <c:v>55.10225806451613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7620" cap="flat">
              <a:solidFill>
                <a:srgbClr val="D5DD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+mn-lt"/>
                  </a:rPr>
                  <a:t>USD / barrel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j-lt"/>
              </a:rPr>
              <a:t>15 = 11 + 3 + 1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disposition</c:v>
                </c:pt>
              </c:strCache>
            </c:strRef>
          </c:tx>
          <c:spPr>
            <a:solidFill>
              <a:srgbClr val="1F8A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26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Clean keys</c:v>
                  </c:pt>
                  <c:pt idx="1">
                    <c:v>Quarantined</c:v>
                  </c:pt>
                  <c:pt idx="2">
                    <c:v>Copy removed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6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7620" cap="flat">
              <a:solidFill>
                <a:srgbClr val="D5DD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+mn-lt"/>
                  </a:rPr>
                  <a:t>Synthetic records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j-lt"/>
              </a:rPr>
              <a:t>Three CPI baskets in matched months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Food + drinks</c:v>
                </c:pt>
              </c:strCache>
            </c:strRef>
          </c:tx>
          <c:spPr>
            <a:solidFill>
              <a:srgbClr val="1F8A7A"/>
            </a:solidFill>
            <a:ln w="31750" cap="flat">
              <a:solidFill>
                <a:srgbClr val="1F8A7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7A"/>
              </a:solidFill>
              <a:ln w="9525" cap="flat">
                <a:solidFill>
                  <a:srgbClr val="1F8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290.74</c:v>
                </c:pt>
                <c:pt idx="1">
                  <c:v>298.58</c:v>
                </c:pt>
                <c:pt idx="2">
                  <c:v>297.9</c:v>
                </c:pt>
                <c:pt idx="3">
                  <c:v>291.47</c:v>
                </c:pt>
                <c:pt idx="4">
                  <c:v>291.6335102956167</c:v>
                </c:pt>
                <c:pt idx="5">
                  <c:v>289.14034454638124</c:v>
                </c:pt>
                <c:pt idx="6">
                  <c:v>288.2238209989806</c:v>
                </c:pt>
                <c:pt idx="7">
                  <c:v>293.409975127421</c:v>
                </c:pt>
                <c:pt idx="8">
                  <c:v>293.7071200815494</c:v>
                </c:pt>
                <c:pt idx="9">
                  <c:v>296.52108460754334</c:v>
                </c:pt>
                <c:pt idx="10">
                  <c:v>308.8558874617737</c:v>
                </c:pt>
                <c:pt idx="11">
                  <c:v>313.9900440366972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General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276.01</c:v>
                </c:pt>
                <c:pt idx="1">
                  <c:v>280.66</c:v>
                </c:pt>
                <c:pt idx="2">
                  <c:v>281.78</c:v>
                </c:pt>
                <c:pt idx="3">
                  <c:v>280.53</c:v>
                </c:pt>
                <c:pt idx="4">
                  <c:v>281.6183050369451</c:v>
                </c:pt>
                <c:pt idx="5">
                  <c:v>282.38620099836425</c:v>
                </c:pt>
                <c:pt idx="6">
                  <c:v>285.72761295053306</c:v>
                </c:pt>
                <c:pt idx="7">
                  <c:v>292.8060801511648</c:v>
                </c:pt>
                <c:pt idx="8">
                  <c:v>294.3417001804952</c:v>
                </c:pt>
                <c:pt idx="9">
                  <c:v>293.471797760731</c:v>
                </c:pt>
                <c:pt idx="10">
                  <c:v>296.9713518810988</c:v>
                </c:pt>
                <c:pt idx="11">
                  <c:v>300.49612668509224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rgbClr val="12263A"/>
            </a:solidFill>
            <a:ln w="31750" cap="flat">
              <a:solidFill>
                <a:srgbClr val="12263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A"/>
              </a:solidFill>
              <a:ln w="9525" cap="flat">
                <a:solidFill>
                  <a:srgbClr val="1226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317.05</c:v>
                </c:pt>
                <c:pt idx="1">
                  <c:v>319.76</c:v>
                </c:pt>
                <c:pt idx="2">
                  <c:v>320.24</c:v>
                </c:pt>
                <c:pt idx="3">
                  <c:v>320.05</c:v>
                </c:pt>
                <c:pt idx="4">
                  <c:v>315.65288851754593</c:v>
                </c:pt>
                <c:pt idx="5">
                  <c:v>309.69296013368347</c:v>
                </c:pt>
                <c:pt idx="6">
                  <c:v>346.1341752208164</c:v>
                </c:pt>
                <c:pt idx="7">
                  <c:v>399.6950656481261</c:v>
                </c:pt>
                <c:pt idx="8">
                  <c:v>420.1949558367152</c:v>
                </c:pt>
                <c:pt idx="9">
                  <c:v>389.8712270231559</c:v>
                </c:pt>
                <c:pt idx="10">
                  <c:v>369.4538672714252</c:v>
                </c:pt>
                <c:pt idx="11">
                  <c:v>382.0613368345668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50"/>
        </c:scaling>
        <c:delete val="0"/>
        <c:axPos val="l"/>
        <c:majorGridlines>
          <c:spPr>
            <a:ln w="7620" cap="flat">
              <a:solidFill>
                <a:srgbClr val="D5DD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+mn-lt"/>
                  </a:rPr>
                  <a:t>Index: 2015–16 = 100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j-lt"/>
              </a:rPr>
              <a:t>Brent across the same matched months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Brent mean</c:v>
                </c:pt>
              </c:strCache>
            </c:strRef>
          </c:tx>
          <c:spPr>
            <a:solidFill>
              <a:srgbClr val="1F8A7A"/>
            </a:solidFill>
            <a:ln w="31750" cap="flat">
              <a:solidFill>
                <a:srgbClr val="1F8A7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7A"/>
              </a:solidFill>
              <a:ln w="9525" cap="flat">
                <a:solidFill>
                  <a:srgbClr val="1F8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2025-09</c:v>
                  </c:pt>
                  <c:pt idx="1">
                    <c:v>2025-10</c:v>
                  </c:pt>
                  <c:pt idx="2">
                    <c:v>2025-11</c:v>
                  </c:pt>
                  <c:pt idx="3">
                    <c:v>2025-12</c:v>
                  </c:pt>
                  <c:pt idx="4">
                    <c:v>2026-01</c:v>
                  </c:pt>
                  <c:pt idx="5">
                    <c:v>2026-02</c:v>
                  </c:pt>
                  <c:pt idx="6">
                    <c:v>2026-03</c:v>
                  </c:pt>
                  <c:pt idx="7">
                    <c:v>2026-04</c:v>
                  </c:pt>
                  <c:pt idx="8">
                    <c:v>2026-05</c:v>
                  </c:pt>
                  <c:pt idx="9">
                    <c:v>2026-06</c:v>
                  </c:pt>
                  <c:pt idx="10">
                    <c:v>2026-07</c:v>
                  </c:pt>
                  <c:pt idx="11">
                    <c:v>2026-08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67.98545454545454</c:v>
                </c:pt>
                <c:pt idx="1">
                  <c:v>64.54347826086956</c:v>
                </c:pt>
                <c:pt idx="2">
                  <c:v>63.797</c:v>
                </c:pt>
                <c:pt idx="3">
                  <c:v>62.54428571428572</c:v>
                </c:pt>
                <c:pt idx="4">
                  <c:v>66.60238095238095</c:v>
                </c:pt>
                <c:pt idx="5">
                  <c:v>70.887</c:v>
                </c:pt>
                <c:pt idx="6">
                  <c:v>103.13454545454546</c:v>
                </c:pt>
                <c:pt idx="7">
                  <c:v>117.2875</c:v>
                </c:pt>
                <c:pt idx="8">
                  <c:v>107.13947368421051</c:v>
                </c:pt>
                <c:pt idx="9">
                  <c:v>85.3990909090909</c:v>
                </c:pt>
                <c:pt idx="10">
                  <c:v>83.75869565217391</c:v>
                </c:pt>
                <c:pt idx="11">
                  <c:v>91.076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7620" cap="flat">
              <a:solidFill>
                <a:srgbClr val="D5DD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+mn-lt"/>
                  </a:rPr>
                  <a:t>USD / barrel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CS-808  /  Lecture 5  /  V3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CS-808  /  Lecture 5  /  V3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Reproducible pandas pipelines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FROM LECTURE 4 TO LECTURE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We have downloaded the evidence.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How do we transform it into reliable results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without silently making it wrong?</a:t>
            </a:r>
            <a:endParaRPr lang="en-US" sz="3200" dirty="0"/>
          </a:p>
        </p:txBody>
      </p:sp>
      <p:sp>
        <p:nvSpPr>
          <p:cNvPr id="6" name="Stage 1"/>
          <p:cNvSpPr/>
          <p:nvPr/>
        </p:nvSpPr>
        <p:spPr>
          <a:xfrm>
            <a:off x="667512" y="39319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39684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18304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Same evidence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4041648" y="39593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tage 2"/>
          <p:cNvSpPr/>
          <p:nvPr/>
        </p:nvSpPr>
        <p:spPr>
          <a:xfrm>
            <a:off x="4453128" y="39319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53128" y="39684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334256" y="4718304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Explicit contracts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7827264" y="39593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tage 3"/>
          <p:cNvSpPr/>
          <p:nvPr/>
        </p:nvSpPr>
        <p:spPr>
          <a:xfrm>
            <a:off x="8238744" y="39319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8744" y="39684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718304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Reliable results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Begin with the exact Lecture 4 evidence pack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FROM LECTURE 4 TO LECTURE 5</a:t>
            </a:r>
            <a:endParaRPr lang="en-US" sz="1200" dirty="0"/>
          </a:p>
        </p:txBody>
      </p:sp>
      <p:sp>
        <p:nvSpPr>
          <p:cNvPr id="5" name="Stage 1"/>
          <p:cNvSpPr/>
          <p:nvPr/>
        </p:nvSpPr>
        <p:spPr>
          <a:xfrm>
            <a:off x="667512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L4 writes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the pack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3095244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age 2"/>
          <p:cNvSpPr/>
          <p:nvPr/>
        </p:nvSpPr>
        <p:spPr>
          <a:xfrm>
            <a:off x="3506724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06724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87852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L5 verifies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the manifest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5934456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tage 3"/>
          <p:cNvSpPr/>
          <p:nvPr/>
        </p:nvSpPr>
        <p:spPr>
          <a:xfrm>
            <a:off x="6345936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27064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Parse and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transform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8773668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age 4"/>
          <p:cNvSpPr/>
          <p:nvPr/>
        </p:nvSpPr>
        <p:spPr>
          <a:xfrm>
            <a:off x="9185148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5148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66276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Save outputs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+ decisions</a:t>
            </a:r>
            <a:endParaRPr lang="en-US" sz="2300" dirty="0"/>
          </a:p>
        </p:txBody>
      </p:sp>
      <p:sp>
        <p:nvSpPr>
          <p:cNvPr id="20" name="Card: No manual copying. No new download. No silent substitution."/>
          <p:cNvSpPr/>
          <p:nvPr/>
        </p:nvSpPr>
        <p:spPr>
          <a:xfrm>
            <a:off x="548640" y="4709160"/>
            <a:ext cx="11064240" cy="932688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" y="4846320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No manual copying. No new download. No silent substitution.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Notebook cells 2–3 · a changed persisted input stops execution before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Write the transformation contract first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FROM LECTURE 4 TO LECTURE 5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Contract for the real case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Grain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Brent: reported date → month; PBS: indicator × month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Keys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Unique raw date; unique oil month; unique PBS composite key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Units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USD / barrel and CPI index remain separate columns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Missingness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Missing quote ≠ malformed token ≠ invalid value; never zero-fill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Deliverables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Joined table, clean lab, quarantine, issue log and run record</a:t>
                      </a:r>
                      <a:endParaRPr lang="en-US" sz="20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Parse deliberately and keep the raw tokens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INSPECT AND PARSE REAL EVIDENCE</a:t>
            </a:r>
            <a:endParaRPr lang="en-US" sz="1200" dirty="0"/>
          </a:p>
        </p:txBody>
      </p:sp>
      <p:sp>
        <p:nvSpPr>
          <p:cNvPr id="5" name="Short teaching code"/>
          <p:cNvSpPr/>
          <p:nvPr/>
        </p:nvSpPr>
        <p:spPr>
          <a:xfrm>
            <a:off x="548640" y="1828800"/>
            <a:ext cx="7315200" cy="361188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48840"/>
            <a:ext cx="6766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pd.read_csv(path, dtype='string',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keep_default_na=False)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raw['DCOILBRENTEU'].eq('')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pd.to_numeric(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raw['DCOILBRENTEU'].mask(missing),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errors='coerce')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malformed = ~missing &amp; value.isna()</a:t>
            </a:r>
            <a:endParaRPr lang="en-US" sz="1800" dirty="0"/>
          </a:p>
        </p:txBody>
      </p:sp>
      <p:sp>
        <p:nvSpPr>
          <p:cNvPr id="7" name="Card: Three decisions"/>
          <p:cNvSpPr/>
          <p:nvPr/>
        </p:nvSpPr>
        <p:spPr>
          <a:xfrm>
            <a:off x="8183880" y="1828800"/>
            <a:ext cx="3447288" cy="361188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03336" y="2048256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Three decisions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03336" y="2761488"/>
            <a:ext cx="300837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Raw token retained.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Blank is missing.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Nonblank parse failure is a different event.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source uses reported observation dates, not a complete daily calendar.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Missing, malformed and invalid are different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INSPECT AND PARSE REAL EVIDENCE</a:t>
            </a:r>
            <a:endParaRPr lang="en-US" sz="1200" dirty="0"/>
          </a:p>
        </p:txBody>
      </p:sp>
      <p:sp>
        <p:nvSpPr>
          <p:cNvPr id="5" name="Card: Missing"/>
          <p:cNvSpPr/>
          <p:nvPr/>
        </p:nvSpPr>
        <p:spPr>
          <a:xfrm>
            <a:off x="548640" y="1874520"/>
            <a:ext cx="3474720" cy="34747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9397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Missing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807208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 reported quote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Blank token → NA</a:t>
            </a:r>
            <a:endParaRPr lang="en-US" sz="2200" dirty="0"/>
          </a:p>
        </p:txBody>
      </p:sp>
      <p:sp>
        <p:nvSpPr>
          <p:cNvPr id="8" name="Card: Malformed"/>
          <p:cNvSpPr/>
          <p:nvPr/>
        </p:nvSpPr>
        <p:spPr>
          <a:xfrm>
            <a:off x="4343400" y="1874520"/>
            <a:ext cx="3474720" cy="34747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2856" y="209397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Malformed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62856" y="2807208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Cannot parse as numeric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“1O20” → parse failure</a:t>
            </a:r>
            <a:endParaRPr lang="en-US" sz="2200" dirty="0"/>
          </a:p>
        </p:txBody>
      </p:sp>
      <p:sp>
        <p:nvSpPr>
          <p:cNvPr id="11" name="Card: Invalid"/>
          <p:cNvSpPr/>
          <p:nvPr/>
        </p:nvSpPr>
        <p:spPr>
          <a:xfrm>
            <a:off x="8138160" y="1874520"/>
            <a:ext cx="3474720" cy="34747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57616" y="209397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Invalid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357616" y="2807208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Parsed but violates policy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−5 → invalid in this lab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isna() result cannot explain why the value became missing. Synthetic zero remains observed.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denominator can silently change the answer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INSPECT AND PARSE REAL EVIDENCE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10512"/>
          <a:ext cx="7635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: State the denominator"/>
          <p:cNvSpPr/>
          <p:nvPr/>
        </p:nvSpPr>
        <p:spPr>
          <a:xfrm>
            <a:off x="8503920" y="1828800"/>
            <a:ext cx="3127248" cy="379476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23376" y="2048256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State the denominator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723376" y="2761488"/>
            <a:ext cx="26883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20 observed quotes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21 source rows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31 calendar days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Weekends / closures are not zero prices.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Executed real-data example · reindexing is not permission to impute zeros.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Audit real keys before injecting any defects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INSPECT AND PARSE REAL EVIDENCE</a:t>
            </a:r>
            <a:endParaRPr lang="en-US" sz="1200" dirty="0"/>
          </a:p>
        </p:txBody>
      </p:sp>
      <p:pic>
        <p:nvPicPr>
          <p:cNvPr id="5" name="Notebook output: brent_conflict" descr="brent_conflict: Date (defect copy), USD / barrel; notebook cells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94614"/>
            <a:ext cx="11064240" cy="15168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Defect copy only: same date, two values → quarantine both; the raw evidence remains unchanged.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Controlled failure lab: raw records 1–7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pic>
        <p:nvPicPr>
          <p:cNvPr id="5" name="Notebook output: lab_raw_a" descr="lab_raw_a: Row, Category text, Date text, Value text; notebook cells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8207"/>
            <a:ext cx="11064240" cy="31896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Synthetic fixture · row 3 is a confirmed copy; blank and −5 need different policies.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Controlled failure lab: raw records 8–15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pic>
        <p:nvPicPr>
          <p:cNvPr id="5" name="Notebook output: lab_raw_b" descr="lab_raw_b: Row, Category text, Date text, Value text; notebook cells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1880"/>
            <a:ext cx="11064240" cy="35822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Synthetic fixture · 1O20 is not 1020; 31/02/2024 is invalid; zero is an observed value.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Normalize identifiers, not evidence away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pic>
        <p:nvPicPr>
          <p:cNvPr id="5" name="Notebook output: lab_masks" descr="lab_masks: Row, Raw token, Typed value, Reason; notebook cells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4499"/>
            <a:ext cx="11064240" cy="201705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Actual notebook display · parsed NA values retain different reason codes.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Confirmed copies and key conflicts need policies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sp>
        <p:nvSpPr>
          <p:cNvPr id="5" name="Card: Confirmed repeated record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Confirmed repeated record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Rows 2 and 3: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FOOD, February, 110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Source note confirms row 3 is an accidental copy. Remove and log.</a:t>
            </a:r>
            <a:endParaRPr lang="en-US" sz="2200" dirty="0"/>
          </a:p>
        </p:txBody>
      </p:sp>
      <p:sp>
        <p:nvSpPr>
          <p:cNvPr id="8" name="Card: Unresolved analytical key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Unresolved analytical key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Rows 8 and 12: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HOUSING, January, 1000 / 1050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Quarantine both. Never average or keep first.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Invalid date row 11 is also quarantined; unknown values remain as missing-valued clean records.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Account for every input record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10512"/>
          <a:ext cx="7635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: Clean ≠ all observed"/>
          <p:cNvSpPr/>
          <p:nvPr/>
        </p:nvSpPr>
        <p:spPr>
          <a:xfrm>
            <a:off x="8503920" y="1828800"/>
            <a:ext cx="3127248" cy="379476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23376" y="2048256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Clean ≠ all observed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723376" y="2761488"/>
            <a:ext cx="26883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11 clean keys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7 observed values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4 missing values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8 issue events explain the decisions.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Independent check: staged result == prepare_prices result; input unmutated.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issue log is part of the result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SYNTHETIC DATA-QUALITY LABORATORY</a:t>
            </a:r>
            <a:endParaRPr lang="en-US" sz="1200" dirty="0"/>
          </a:p>
        </p:txBody>
      </p:sp>
      <p:pic>
        <p:nvPicPr>
          <p:cNvPr id="5" name="Notebook output: lab_issues" descr="lab_issues: Row, Issue, Action; notebook cells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1880"/>
            <a:ext cx="11064240" cy="35822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Actual notebook issue log · each saved event also includes a reason.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concat stacks; merge relates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sp>
        <p:nvSpPr>
          <p:cNvPr id="5" name="Card: concat: compatible batches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concat: compatible batches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Same columns, units and meaning.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More observations, same grain.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schema and key overlap.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reset index does not deduplicate.</a:t>
            </a:r>
            <a:endParaRPr lang="en-US" sz="2200" dirty="0"/>
          </a:p>
        </p:txBody>
      </p:sp>
      <p:sp>
        <p:nvSpPr>
          <p:cNvPr id="8" name="Card: merge: a key relationship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merge: a key relationship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Related tables, explicit join keys.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Potentially different grains.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cardinality, coverage and primary-row preservation.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Daily oil must become monthly before the join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sp>
        <p:nvSpPr>
          <p:cNvPr id="5" name="Stage 1"/>
          <p:cNvSpPr/>
          <p:nvPr/>
        </p:nvSpPr>
        <p:spPr>
          <a:xfrm>
            <a:off x="667512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Brent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reported dates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3095244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age 2"/>
          <p:cNvSpPr/>
          <p:nvPr/>
        </p:nvSpPr>
        <p:spPr>
          <a:xfrm>
            <a:off x="3506724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06724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87852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groupby month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observed mean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5934456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tage 3"/>
          <p:cNvSpPr/>
          <p:nvPr/>
        </p:nvSpPr>
        <p:spPr>
          <a:xfrm>
            <a:off x="6345936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27064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One oil row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per month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8773668" y="203911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age 4"/>
          <p:cNvSpPr/>
          <p:nvPr/>
        </p:nvSpPr>
        <p:spPr>
          <a:xfrm>
            <a:off x="9185148" y="201168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5148" y="204825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66276" y="279806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Join PBS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series × month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Aggregation changes grain. Keep observed quote counts with the mean.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aggregation should carry its coverage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pic>
        <p:nvPicPr>
          <p:cNvPr id="5" name="Notebook output: monthly_oil" descr="monthly_oil: Month, Mean USD / barrel, Observed, Source rows, Cal. days; notebook cells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4499"/>
            <a:ext cx="11064240" cy="201705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count = observed quotes; size = source rows; calendar days ≠ either · September is partial.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Validate cardinality and expose match coverage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sp>
        <p:nvSpPr>
          <p:cNvPr id="5" name="Short teaching code"/>
          <p:cNvSpPr/>
          <p:nvPr/>
        </p:nvSpPr>
        <p:spPr>
          <a:xfrm>
            <a:off x="548640" y="1828800"/>
            <a:ext cx="7315200" cy="361188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48840"/>
            <a:ext cx="6766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 = recent.merge(brent_monthly,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on='period', how='left',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validate='many_to_one', indicator=True)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len(joined) == len(recent)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joined['_merge'].eq('both').all()</a:t>
            </a:r>
            <a:endParaRPr lang="en-US" sz="1800" dirty="0"/>
          </a:p>
        </p:txBody>
      </p:sp>
      <p:sp>
        <p:nvSpPr>
          <p:cNvPr id="7" name="Card: Predict first"/>
          <p:cNvSpPr/>
          <p:nvPr/>
        </p:nvSpPr>
        <p:spPr>
          <a:xfrm>
            <a:off x="8183880" y="1828800"/>
            <a:ext cx="3447288" cy="361188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03336" y="2048256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Predict first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03336" y="2761488"/>
            <a:ext cx="300837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 series × 12 months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36 retained rows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 unmatched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Keys, count and coverage are separate checks.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executed CPI–Brent join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pic>
        <p:nvPicPr>
          <p:cNvPr id="5" name="Notebook output: joined_results" descr="joined_results: Month, CPI basket, CPI index, Oil USD / barrel, Quotes; notebook cells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40826"/>
            <a:ext cx="11064240" cy="16244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Same month, separate units · CPI base 2015–16 = 100; Brent USD / barrel · alignment, not causality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duplicated month multiplies observations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sp>
        <p:nvSpPr>
          <p:cNvPr id="5" name="Card: Unchecked join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Unchecked join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Duplicate one right-side oil month.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36 primary rows become 39 rows.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operation runs, but observation weights change.</a:t>
            </a:r>
            <a:endParaRPr lang="en-US" sz="2200" dirty="0"/>
          </a:p>
        </p:txBody>
      </p:sp>
      <p:sp>
        <p:nvSpPr>
          <p:cNvPr id="8" name="Card: Validated join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Validated join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validate="many_to_one"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MergeError: right keys not unique.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Fail visibly before a plausible summary hides the defect.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Predict the three extra rows before executing the labelled defect copy.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Valid cardinality does not guarantee coverage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COMBINE THE REAL DATA WITH CHECKS</a:t>
            </a:r>
            <a:endParaRPr lang="en-US" sz="1200" dirty="0"/>
          </a:p>
        </p:txBody>
      </p:sp>
      <p:sp>
        <p:nvSpPr>
          <p:cNvPr id="5" name="Card: Cardinality passes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Cardinality passes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At most one oil record per month.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 row multiplication.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relationship is structurally valid.</a:t>
            </a:r>
            <a:endParaRPr lang="en-US" sz="2200" dirty="0"/>
          </a:p>
        </p:txBody>
      </p:sp>
      <p:sp>
        <p:nvSpPr>
          <p:cNvPr id="8" name="Card: Coverage can fail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Coverage can fail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Restricted oil table: 2026 onward.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24 rows matched; 12 left_only.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Retain and report, reconcile, or explicitly fail.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indicator=True reveals unmatched rows. An inner join would silently change the cohort.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index level becomes a rate by comparison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SUMMARIZE AND RESHAPE WITHOUT LOSS</a:t>
            </a:r>
            <a:endParaRPr lang="en-US" sz="1200" dirty="0"/>
          </a:p>
        </p:txBody>
      </p:sp>
      <p:sp>
        <p:nvSpPr>
          <p:cNvPr id="5" name="Short teaching code"/>
          <p:cNvSpPr/>
          <p:nvPr/>
        </p:nvSpPr>
        <p:spPr>
          <a:xfrm>
            <a:off x="548640" y="1828800"/>
            <a:ext cx="7315200" cy="361188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48840"/>
            <a:ext cx="6766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= pbs.sort_values(['indicator', 'month'])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ordered['yoy_pct'] = (ordered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.groupby('indicator')['index_2015_16_100']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.pct_change(12, fill_method=None) * 100)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YoY = 100 × (I_t / I_(t-12) - 1)</a:t>
            </a:r>
            <a:endParaRPr lang="en-US" sz="1800" dirty="0"/>
          </a:p>
        </p:txBody>
      </p:sp>
      <p:sp>
        <p:nvSpPr>
          <p:cNvPr id="7" name="Card: Index ≠ inflation"/>
          <p:cNvSpPr/>
          <p:nvPr/>
        </p:nvSpPr>
        <p:spPr>
          <a:xfrm>
            <a:off x="8183880" y="1828800"/>
            <a:ext cx="3447288" cy="361188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03336" y="2048256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Index ≠ inflation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03336" y="2761488"/>
            <a:ext cx="300837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Denominator: same month one year earlier.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First 12 months: no YoY.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Monthly gaps require a calendar audit.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Aggregation and transform keep different grains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SUMMARIZE AND RESHAPE WITHOUT LOSS</a:t>
            </a:r>
            <a:endParaRPr lang="en-US" sz="1200" dirty="0"/>
          </a:p>
        </p:txBody>
      </p:sp>
      <p:sp>
        <p:nvSpPr>
          <p:cNvPr id="5" name="Card: agg: group-level output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agg: group-level output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Daily Brent → one monthly mean.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Return the mean and observed count.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Output grain changes.</a:t>
            </a:r>
            <a:endParaRPr lang="en-US" sz="2200" dirty="0"/>
          </a:p>
        </p:txBody>
      </p:sp>
      <p:sp>
        <p:nvSpPr>
          <p:cNvPr id="8" name="Card: transform: row-level output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transform: row-level output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Annual mean broadcast to daily rows.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Daily deviation = quote − annual mean.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Original grain is retained.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Mean of means and pooled mean answer differently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SUMMARIZE AND RESHAPE WITHOUT LOSS</a:t>
            </a:r>
            <a:endParaRPr lang="en-US" sz="1200" dirty="0"/>
          </a:p>
        </p:txBody>
      </p:sp>
      <p:sp>
        <p:nvSpPr>
          <p:cNvPr id="5" name="Card: Equal month weights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Equal month weights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2024 mean of monthly means: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80.53 USD / barrel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Each month counts equally.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Board check: (70 + 100) / 2 = 85</a:t>
            </a:r>
            <a:endParaRPr lang="en-US" sz="2200" dirty="0"/>
          </a:p>
        </p:txBody>
      </p:sp>
      <p:sp>
        <p:nvSpPr>
          <p:cNvPr id="8" name="Card: Equal quote weights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Equal quote weights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2024 pooled observed mean: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80.52 USD / barrel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Each observed quote counts equally.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Board check: (3×70 + 2×100) / 5 = 82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Choose weights according to the question, not according to whichever result looks convenient.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pivot and melt change layout, not meaning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SUMMARIZE AND RESHAPE WITHOUT LOSS</a:t>
            </a:r>
            <a:endParaRPr lang="en-US" sz="1200" dirty="0"/>
          </a:p>
        </p:txBody>
      </p:sp>
      <p:sp>
        <p:nvSpPr>
          <p:cNvPr id="5" name="Stage 1"/>
          <p:cNvSpPr/>
          <p:nvPr/>
        </p:nvSpPr>
        <p:spPr>
          <a:xfrm>
            <a:off x="667512" y="21031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21396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950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Long: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series × month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3095244" y="21305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age 2"/>
          <p:cNvSpPr/>
          <p:nvPr/>
        </p:nvSpPr>
        <p:spPr>
          <a:xfrm>
            <a:off x="3506724" y="21031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06724" y="21396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87852" y="288950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pivot: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12 × 3 cells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5934456" y="21305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tage 3"/>
          <p:cNvSpPr/>
          <p:nvPr/>
        </p:nvSpPr>
        <p:spPr>
          <a:xfrm>
            <a:off x="6345936" y="21031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1396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27064" y="288950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melt: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36 records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8773668" y="21305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age 4"/>
          <p:cNvSpPr/>
          <p:nvPr/>
        </p:nvSpPr>
        <p:spPr>
          <a:xfrm>
            <a:off x="9185148" y="210312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5148" y="213969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66276" y="288950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Check keys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and values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Unique cell keys are the contract; a reshape is not a reconciliation policy.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ambiguous pivot cell is not an average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SUMMARIZE AND RESHAPE WITHOUT LOSS</a:t>
            </a:r>
            <a:endParaRPr lang="en-US" sz="1200" dirty="0"/>
          </a:p>
        </p:txBody>
      </p:sp>
      <p:sp>
        <p:nvSpPr>
          <p:cNvPr id="5" name="Card: pivot: expose the ambiguity"/>
          <p:cNvSpPr/>
          <p:nvPr/>
        </p:nvSpPr>
        <p:spPr>
          <a:xfrm>
            <a:off x="548640" y="1810512"/>
            <a:ext cx="5394960" cy="370332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pivot: expose the ambiguity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One cell, two candidate values: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290.74 and 999.00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ValueError: duplicate cell keys.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Reconcile the evidence first.</a:t>
            </a:r>
            <a:endParaRPr lang="en-US" sz="2200" dirty="0"/>
          </a:p>
        </p:txBody>
      </p:sp>
      <p:sp>
        <p:nvSpPr>
          <p:cNvPr id="8" name="Card: pivot_table: implicit aggregation"/>
          <p:cNvSpPr/>
          <p:nvPr/>
        </p:nvSpPr>
        <p:spPr>
          <a:xfrm>
            <a:off x="6236208" y="1810512"/>
            <a:ext cx="5394960" cy="37033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5664" y="202996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pivot_table: implicit aggregation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55664" y="2743200"/>
            <a:ext cx="495604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Default mean: 644.87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tidy-looking number that silently changes the evidence.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only a justified aggregation policy.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Package a policy, then independently validate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PACKAGE REPRODUCIBLE DELIVERABLES</a:t>
            </a:r>
            <a:endParaRPr lang="en-US" sz="1200" dirty="0"/>
          </a:p>
        </p:txBody>
      </p:sp>
      <p:sp>
        <p:nvSpPr>
          <p:cNvPr id="5" name="Short teaching code"/>
          <p:cNvSpPr/>
          <p:nvPr/>
        </p:nvSpPr>
        <p:spPr>
          <a:xfrm>
            <a:off x="548640" y="1828800"/>
            <a:ext cx="7315200" cy="361188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48840"/>
            <a:ext cx="6766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oil_monthly = (raw.pipe(tidy_brent)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.pipe(monthly_oil))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assert_frame_equal(oil_monthly, staged)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recent.merge(oil_monthly,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on='period', how='left',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validate='many_to_one', indicator=True)</a:t>
            </a:r>
            <a:endParaRPr lang="en-US" sz="1800" dirty="0"/>
          </a:p>
        </p:txBody>
      </p:sp>
      <p:sp>
        <p:nvSpPr>
          <p:cNvPr id="7" name="Card: Independent check"/>
          <p:cNvSpPr/>
          <p:nvPr/>
        </p:nvSpPr>
        <p:spPr>
          <a:xfrm>
            <a:off x="8183880" y="1828800"/>
            <a:ext cx="3447288" cy="361188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03336" y="2048256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Independent check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03336" y="2761488"/>
            <a:ext cx="300837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Same raw inputs.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Same declared policies.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Staged == packaged result.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Re-check join preservation.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Small functions state contracts; validate against the staged computation, not just “it ran”.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Reproducibility needs more than a CSV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PACKAGE REPRODUCIBLE DELIVERABLES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Artifact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What another person can inspect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lab_clean_prices.csv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Unique keys; observed and missing values with reasons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lab_quarantine.csv + lab_issues.csv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Rejected candidates and explicit decisions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cpi_brent_monthly.csv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36-row real join with declared monthly grain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run_record.json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Versions, persisted input path and accounting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Slide asset manifest + build sources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Notebook cells, hashes and reproducible slide assets</a:t>
                      </a:r>
                      <a:endParaRPr lang="en-US" sz="1900" dirty="0"/>
                    </a:p>
                  </a:txBody>
                  <a:tcPr marL="118872" marR="118872" marT="118872" marB="118872" anchor="ctr">
                    <a:lnL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Recompute the iPhone benchmark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RETURN TO THE MOTIVATING QUESTION</a:t>
            </a:r>
            <a:endParaRPr lang="en-US" sz="1200" dirty="0"/>
          </a:p>
        </p:txBody>
      </p:sp>
      <p:pic>
        <p:nvPicPr>
          <p:cNvPr id="5" name="Notebook output: iphone_recheck" descr="iphone_recheck: Launch, Model, USD, PKR / USD, Pre-tax PKR; notebook cells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4499"/>
            <a:ext cx="11064240" cy="201705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Recomputed benchmark: +110.0% since 2019 · pre-tax arithmetic, not Pakistan retail prices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Fresh-fruit change is not apple inflation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RETURN TO THE MOTIVATING QUESTION</a:t>
            </a:r>
            <a:endParaRPr lang="en-US" sz="1200" dirty="0"/>
          </a:p>
        </p:txBody>
      </p:sp>
      <p:pic>
        <p:nvPicPr>
          <p:cNvPr id="5" name="Notebook output: fruit_recheck" descr="fruit_recheck: Fresh-fruit basket, Aug 2026, Sep 2026, Change (%); notebook cells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40826"/>
            <a:ext cx="11064240" cy="16244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CPI / WPI fresh-fruit baskets are NOT apple-specific retail prices; monthly change ≠ YoY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Aligned months do not identify a causal effect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RETURN TO THE MOTIVATING QUESTION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10512"/>
          <a:ext cx="7635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: Describe, do not attribute"/>
          <p:cNvSpPr/>
          <p:nvPr/>
        </p:nvSpPr>
        <p:spPr>
          <a:xfrm>
            <a:off x="8503920" y="1828800"/>
            <a:ext cx="3127248" cy="379476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23376" y="2048256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Describe, do not attribute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723376" y="2761488"/>
            <a:ext cx="26883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join aligns observations.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does not estimate oil pass-through or apple-specific costs.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Validated join · September 2025–August 2026 · shared timing is not a counterfactual.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Keep the oil benchmark on its own scale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RETURN TO THE MOTIVATING QUESTION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10512"/>
          <a:ext cx="7635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: A separate measurement"/>
          <p:cNvSpPr/>
          <p:nvPr/>
        </p:nvSpPr>
        <p:spPr>
          <a:xfrm>
            <a:off x="8503920" y="1828800"/>
            <a:ext cx="3127248" cy="379476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23376" y="2048256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 separate measurement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723376" y="2761488"/>
            <a:ext cx="26883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Observed-quote monthly mean.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zero prices for weekends / closures.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causal share is estimated.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253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benchmark crude series is not a Pakistan fuel-price series.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85216"/>
            <a:ext cx="11064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Defend the operation, policy and pass condition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EXIT CHECK</a:t>
            </a:r>
            <a:endParaRPr lang="en-US" sz="1200" dirty="0"/>
          </a:p>
        </p:txBody>
      </p:sp>
      <p:sp>
        <p:nvSpPr>
          <p:cNvPr id="5" name="Stage 1"/>
          <p:cNvSpPr/>
          <p:nvPr/>
        </p:nvSpPr>
        <p:spPr>
          <a:xfrm>
            <a:off x="667512" y="219456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223113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8094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Name the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grain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3095244" y="222199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age 2"/>
          <p:cNvSpPr/>
          <p:nvPr/>
        </p:nvSpPr>
        <p:spPr>
          <a:xfrm>
            <a:off x="3506724" y="219456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06724" y="223113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87852" y="298094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State the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policy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5934456" y="222199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tage 3"/>
          <p:cNvSpPr/>
          <p:nvPr/>
        </p:nvSpPr>
        <p:spPr>
          <a:xfrm>
            <a:off x="6345936" y="219456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23113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27064" y="298094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Predict the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result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8773668" y="222199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age 4"/>
          <p:cNvSpPr/>
          <p:nvPr/>
        </p:nvSpPr>
        <p:spPr>
          <a:xfrm>
            <a:off x="9185148" y="2194560"/>
            <a:ext cx="484632" cy="4846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5148" y="2231136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66276" y="2980944"/>
            <a:ext cx="2546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Check the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invariant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Reliable results preserve the meaning of their evidence.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1088" y="6473952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808 Evidence Chain">
  <a:themeElements>
    <a:clrScheme name="CS808 Evidence Chain">
      <a:dk1>
        <a:srgbClr val="12263A"/>
      </a:dk1>
      <a:lt1>
        <a:srgbClr val="FFFFFF"/>
      </a:lt1>
      <a:dk2>
        <a:srgbClr val="5B6B7A"/>
      </a:dk2>
      <a:lt2>
        <a:srgbClr val="F4F7F9"/>
      </a:lt2>
      <a:accent1>
        <a:srgbClr val="1F8A7A"/>
      </a:accent1>
      <a:accent2>
        <a:srgbClr val="C8553D"/>
      </a:accent2>
      <a:accent3>
        <a:srgbClr val="F2A541"/>
      </a:accent3>
      <a:accent4>
        <a:srgbClr val="DDF1EC"/>
      </a:accent4>
      <a:accent5>
        <a:srgbClr val="1B3550"/>
      </a:accent5>
      <a:accent6>
        <a:srgbClr val="D5DDE3"/>
      </a:accent6>
      <a:hlink>
        <a:srgbClr val="1F8A7A"/>
      </a:hlink>
      <a:folHlink>
        <a:srgbClr val="C8553D"/>
      </a:folHlink>
    </a:clrScheme>
    <a:fontScheme name="CS808 Evidence Ch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pandas pipelines — V3</dc:title>
  <dc:subject>CS-808 Lecture 5: V3 teaching scaffold aligned to the executed notebook</dc:subject>
  <dc:creator>Teaching</dc:creator>
  <cp:lastModifiedBy>Teaching</cp:lastModifiedBy>
  <cp:revision>1</cp:revision>
  <dcterms:created xsi:type="dcterms:W3CDTF">2026-10-08T10:00:20Z</dcterms:created>
  <dcterms:modified xsi:type="dcterms:W3CDTF">2026-10-08T10:00:20Z</dcterms:modified>
</cp:coreProperties>
</file>