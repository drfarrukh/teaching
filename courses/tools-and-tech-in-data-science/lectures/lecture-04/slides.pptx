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CS-808 · LECTURE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data quality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local apples and imported iPhones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become expensive?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Farrukh Qureshi · Evidence cut-off: 2026-10-01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puzzle: two very different products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Locally grown apple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Rs100/kg a few years ago, around Rs300/kg now?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variety, market, season and dates?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Imported iPhone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Flagships feel far more expensive in Pakistan.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price, rupee, then domestic additions.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apple numbers are illustrative observations. Their exact history remains to be tested.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people say caused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023360" cy="1481328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/ foreign price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934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rupee collapsed. Imported goods track USD.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7720" y="1078992"/>
            <a:ext cx="4023360" cy="1481328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/ programme policy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0934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PTI-period inflation, IMF conditions, fuel prices and subsidies.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4023360" cy="1481328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816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/ domestic shocks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3697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COVID, floods, and the 2026 conflict / oil shock.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17720" y="2706624"/>
            <a:ext cx="4023360" cy="1481328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00600" y="2816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local-product objection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23697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apples are grown here, why would USD or oil matter?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explanations to investigate. None is adopted as a conclusion here.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 that must stay separate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61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CLAIM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44168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attributed what to whom?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37944"/>
            <a:ext cx="8229600" cy="6858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9476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POLICY / EVENT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30552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primary record establish?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8229600" cy="6858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7340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DATA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16936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measured variable moved, in what period?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8229600" cy="6858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follows, and where must we stop?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records explanations. A primary document or measurement tests a different part of the claim.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claim and the evidence that could change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337560"/>
                <a:gridCol w="292608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we would need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weaken it?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floor rose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price and matched-date FX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smaller computed product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Apples tripled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apple-specific prices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varieties / seasons / markets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caused all inflation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policy effect and counterfactual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shocks moving at the same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 passed into prices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 reports, oil, fuel policy, CPI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 in timing / benchmark / exposure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candidate claims are preserved with supporting and weakening evidence in the notebook matrix.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determines the source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37560"/>
                <a:gridCol w="2514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said what?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/ archive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RSS, permitted article HTML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/ price 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 / government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/ primary web page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baskets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SDMX feed + PDF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/ currency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FRED–EIA / SBP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/ official tables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product price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Newsroom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HTML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Apple-specific 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market observations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 panel still needed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most direct permitted method. Use a browser when the required data need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the PTI period: competing explanations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attribution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 Khan pointed to global shocks.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Dawn, 8 Nov 2021 (N01).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speaker’s explanation is a claim.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Opposition and response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Asif / Gilani challenged policy performance. Waseem pointed to world fuel prices.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Tribune, 6 Nov 2021 (N02).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record attribution before testing it. The lecture does not adopt either political explanation.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news: replay a saved RSS response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https://feeds.bbci.co.uk/news/world/rss.xml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→ title, link, pubDate, description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pubDate → UTC timestamp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permitted snapshot + retrieval record + SHA-256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0" y="1097280"/>
            <a:ext cx="3017520" cy="30175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852160" y="1207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feed?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27632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item metadata.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coverage.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 that it contains historical claims.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notebook execution uses saved evidence. Live requests require an intentional, permitted collection.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success is not a quality verdict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response can contain stale data.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188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314 days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a stale feed in the saved collection log.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authors in the retained feed sample.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218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meaning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478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≠ null. Retrieval time ≠ publication time. Repeated stories ≠ independent evidence.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 on 429. A 403 means stop and record the access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rolling feed cannot answer a historical question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4/outputs/v2/plots/article_wind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2860"/>
            <a:ext cx="8321040" cy="2582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years are missing rows. Archive reporting is acquired and labelled separately.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public explanation to an official record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News: public attribution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“IMF-linked measures raised prices” needs a specific channel.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speaker, article date and interpretation.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Primary: policy evidence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subsidy, tariff, revenue or FX clauses.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staff analysis, authorities’ commitments and implementation.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→ audit → reconcile. A document can verify a commitment without estimating its inflation effect.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Inflation needs a structured measurement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PBS SDMX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Series: indicator, unit, base period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month, index value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month × series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YoY = (index / index 12 months earlier − 1) × 100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715000" y="1143000"/>
            <a:ext cx="2971800" cy="30175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897880" y="1252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73352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series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observed months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months?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Index, rate or rupees?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reparses the preserved XML and reconciles it with the tidy table.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PDF is newer than the feed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23774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month: 2026-08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Multi-category monthly indices.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expected month rows.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17720" y="1188720"/>
            <a:ext cx="4069080" cy="23774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September PDF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19072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inflation: 10.3% YoY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narrative have newer data.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physical page locators.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vintages explicit. Do not paste a new headline into an older complete multi-series feed.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the evidence before transforming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82240" cy="1005840"/>
          </a:xfrm>
          <a:prstGeom prst="rect">
            <a:avLst/>
          </a:prstGeom>
          <a:solidFill>
            <a:srgbClr val="DDF1EC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188720"/>
            <a:ext cx="259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evidence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9372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30880" y="1188720"/>
            <a:ext cx="2682240" cy="10058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6600" y="1188720"/>
            <a:ext cx="259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/ extracted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6740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04560" y="1188720"/>
            <a:ext cx="2682240" cy="1005840"/>
          </a:xfrm>
          <a:prstGeom prst="rect">
            <a:avLst/>
          </a:prstGeom>
          <a:solidFill>
            <a:srgbClr val="DDF1EC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50280" y="1188720"/>
            <a:ext cx="259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/ findings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4630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2670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record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90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· publisher · retrieval time · observation period · request/status · file · parser/method · SHA-256 · limitations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source records checked in the notebook. A matching checksum detects changes, not factual truth.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quality questions recur throughout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rows and values?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402336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161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490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units, ranges and meaning?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212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 or stories?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402336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00600" y="2212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definition, period and product?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402336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264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Timeliness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observation or stale response?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17720" y="3154680"/>
            <a:ext cx="402336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800600" y="3264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Representativeness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measure our item / population?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after each acquisition. Cleaning follows evidence and a stated rule.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2018–2026: context, with dated source roles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3272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marker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PTI government period begins (August)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Jul: 39-month EFF approved, about US$6bn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Mar–Jun: COVID response; SBP rate cuts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Nov: competing public inflation explanations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Mar fuel cut; 10 Apr no-confidence; Jun subsidy reversal; floods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Jul: nine-month SBA, about US$3bn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Sep: 37-month EFF approved, about US$7bn (release 27 Sep)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inflation in the observed PBS monthly window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Feb conflict; 7 Mar/3 Apr fuel changes; Sep Apple launch</a:t>
                      </a:r>
                      <a:endParaRPr lang="en-US" sz="13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context markers, not estimated causal effects. 2026 is an incomplete year.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Currency, general inflation and oil moved together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4/outputs/v2/plots/historical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128" y="1005840"/>
            <a:ext cx="5627744" cy="345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calendar-year data and FRED/EIA annual oil means. Launch-date FX is a separate methodology.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was government policy responsible?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document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price/subsidy decisions.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Exchange-rate and commodity movements.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speakers blamed or defended.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data cannot isolate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counterfactual without the policy.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 of total inflation assigned to PTI, the IMF or any other government.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data straddle transitions. COVID, global prices, currency and domestic policies overlapped.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iPhone: verify the actual US launch offer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1645920"/>
                <a:gridCol w="19202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storage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start price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2019-09-20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11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2021-09-24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13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2023-09-22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15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iPhone 18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Newsroom primary sources. Entry-tier product family, with changing storage and hardware.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iPhone: match every exchange rate to the same event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3886200"/>
                <a:gridCol w="28346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year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availability = FX date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SBP PKR per USD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2019-09-20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156.0798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2021-09-24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169.0810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2023-09-22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291.7629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277.2522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READY M2M weighted closing interbank rate on each US availability date. All four dates are business days.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imported pre-tax floor is a product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4/outputs/v2/plots/iphone_fl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0117"/>
            <a:ext cx="8321040" cy="34278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2019→2026: US price +18.2%, PKR/USD +77.6%, floor +110.0%.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iPhone: what is quantified, what remains open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inputs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2019→2026: US base price +18.2%; PKR/USD +77.6%; pre-tax floor +110.0%. 2023→2026 floor +3.0% despite a lower PKR/USD rate.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USD launch price and FX changed.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unverified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current Pakistan PTA / FBR addition.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margins, freight and transaction price.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unofficial tax number enters the verdict.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is reproducible. It is not an observed Pakistani retail price.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production does not identify every cost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4/outputs/v2/plots/divisions_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775" y="1005840"/>
            <a:ext cx="7040450" cy="345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category price levels, Jul 2022→Aug 2026. Broad baskets do not identify the costs of a specific apple.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fruit: retail and wholesale differ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4/outputs/v2/plots/fresh_fruit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081" y="1005840"/>
            <a:ext cx="7409838" cy="345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PBS PDF baskets, not apples. Different coverage/weights also prevent interpreting the gap as a margin.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apple channels need their own evidence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Measurements available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electricity: 32.5% YoY.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food indices moved.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category observations.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still needed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Apple-specific transport, energy, storage and retail costs.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exposure, supply and market coverage.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imported-input share is assumed.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channels are hypotheses until measured. A local product can face downstream costs.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 reporting meets a damage assessment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Contemporary news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Dawn and Reuters reported food-supply disruption.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traders describe roads and supply conditions.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N09 / N10, Aug 2022.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official PDNA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and transport damage documented.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Affected-area assessment.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apple-specific retail-price effect.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turn reported local prices or aggregate assessed damages into an apple-price coefficient.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people say “the IMF made prices rise”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reporting said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2019: programme policy commitments reported.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Miftah linked subsidy reversal to IMF support.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N03 / N04 / N07 / N08.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must test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subsidy, energy, tax, levy or FX channel?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or implementation?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analysis or authorities’ memorandum?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reported attribution becomes a list of specific document and measurement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IMF documents actually establish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policy / commitment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Subsidy reversal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Authorities’ MEFP ¶8(a): reports June 2022 fuel and blanket power subsidy reversal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Oil-price pass-through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 to pass international oil changes through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tariffs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adjustment / cost recovery with protected consumers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Exchange-rate regime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policy: market-determined rate; no fixed rupee value is specified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/ levy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commitments include fuel taxation; distinguish target, law, notification and effective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EFF release + 2022 staff report / MEFP. Commitments, implementation and causal effects are separate.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fuel-policy decision we can calculate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34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159.86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petrol price, Rs/litre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149.86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petrol price, Rs/litre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234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-10.00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Change, Rs/litre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05156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1272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matters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6557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2022-02-28. Effective 2022-03-01. Computed change -6.3%.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subsidy reversal is documented in the authorities’ MEFP. This arithmetic does not measure a share of CPI.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period and vintage before judging 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343400"/>
                <a:gridCol w="1691640"/>
                <a:gridCol w="21945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“2025” measurement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Recomputed from PBS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Bank: Jan–Dec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IMF: Jul 2024–Jun 2025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355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 check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667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report overlaps Apr–Jun. Full FY27 cannot be checked using only Jul–Aug.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year label ≠ same period. Observation ≠ projection. Announcement date ≠ effective date.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2026: event reports, oil and domestic fuel decisions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4/outputs/v2/plots/war_events_o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05154"/>
            <a:ext cx="8321040" cy="32578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reported conflict timing. Green: fuel changes described in the May IMF report. Context is not a causal estimate.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oil series before drawing the 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80060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DCOILBRENTEU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Oil Prices: Brent – Europe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Spot Prices, via FRED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USD/barrel, not seasonally adjusted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contract-specific futures quote.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40680" y="1097280"/>
            <a:ext cx="324612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623560" y="12070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result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627632"/>
            <a:ext cx="2880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missing 2026 values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dates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observation lag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quote ≠ zero.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daily fill.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futures comparison needs matching contract, date, time and units. Non-trading dates are not simply null rows.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oil to Pakistan fuel: a documented channel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29718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IMF report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Mar: initial 20% fuel increase.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Apr: subsidy unwound, petrol +18%, diesel +55%.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around PKR280/USD.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297180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observe PBS transport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Feb: 0.4% YoY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Mar: 12.5%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Apr: 29.9%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Aug: 20.2%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rates include base effects.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role: IMF staff document describes measures; PBS supplies observed basket indices.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Oil, transport, food and headline prices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4/outputs/v2/plots/monthly_inflation_vs_b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18" y="1005840"/>
            <a:ext cx="7719365" cy="34564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scales and periods. Missing first-year YoY values reflect the required comparison window.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Scoreboard: imported versus local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48840"/>
                <a:gridCol w="2286000"/>
                <a:gridCol w="2148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 Imported floor rose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BY ARITHMETIC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/ SBP: calculated floor rose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storage changes; pre-tax benchmark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 FX alone explains 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Apple: dollar price also 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Pakistan additions unverified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Apples exactly tripled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TESTABLE WITH CURRENT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PBS: fresh-fruit baskets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matched apple-specific price panel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Local goods insulated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ESTABLISHED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PBS: food, energy, transport moved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apple cost accounts or causal shares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evidence, source records, periods and limitations are retained in the generated matrix.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Scoreboard: public / policy explanations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48840"/>
                <a:gridCol w="2286000"/>
                <a:gridCol w="2148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All inflation = 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ESTABLISHED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 / WB / SBP: overlapping changes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counterfactual or political blame share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IMF-specific channels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IMF: subsidy, tariff, tax, FX clauses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 ≠ implementation ≠ CPI effect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Fuel decision changed 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BY DIRECT 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PID: official petrol-price reduction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price change ≠ contribution to CPI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evidence, source records, periods and limitations are retained in the generated matrix.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Scoreboard: overlapping shocks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48840"/>
                <a:gridCol w="2286000"/>
                <a:gridCol w="2148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COVID 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SBP / news: pandemic response documented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Product-specific contribution not isolated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Flood supply disruption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PDNA / news: supply damage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assessment ≠ apple-price effect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2026 oil transmission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WITH OBSERVATIONAL TIMING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 / IMF / PBS: timing aligns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identified oil→food causal share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evidence, source records, periods and limitations are retained in the generated matrix.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why did both become expensive?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Imported iPhone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entry price × exchange rate.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domestic duties, freight and margins.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verified inputs changed across actual generations.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Locally grown apples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baskets and downstream costs moved.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disruption is documented.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apple history and cost shares need additional measurements.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explanation for every product and period. Earlier shocks overlapped; 2026 timing supports an energy channel.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can and cannot say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establish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source inputs and a calculated floor.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basket movements.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policy changes.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attributed what to whom.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632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establish here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apple threefold history.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phone tax / retail addition.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margin from basket gaps.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or oil causal shares.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at the measurement boundary is part of a good audit.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responsibly and make it reproducible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3444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most direct permitted source and method.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terms / robots, identify the client, pace and cache.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429 / 403 and access controls.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allowed metadata, snapshots, provenance and checksums.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copyrighted news articles, credentials or access-control bypasses.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demo: acquire, then audit the catalogue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88820" cy="1005840"/>
          </a:xfrm>
          <a:prstGeom prst="rect">
            <a:avLst/>
          </a:prstGeom>
          <a:solidFill>
            <a:srgbClr val="DDF1EC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188720"/>
            <a:ext cx="18973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fields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0030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37460" y="1188720"/>
            <a:ext cx="1988820" cy="10058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3180" y="1188720"/>
            <a:ext cx="18973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keys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1988820" cy="1005840"/>
          </a:xfrm>
          <a:prstGeom prst="rect">
            <a:avLst/>
          </a:prstGeom>
          <a:solidFill>
            <a:srgbClr val="DDF1EC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88720"/>
            <a:ext cx="18973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snapshot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60820" y="1463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97980" y="1188720"/>
            <a:ext cx="1988820" cy="100584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43700" y="1188720"/>
            <a:ext cx="18973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claims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974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demo_browser.py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replay: demo_output/books_catalogue.csv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report + provenance + screenshot evidence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encoding, duplicate URLs, missing expected rows, price strings and constant fields.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1: a defensible acquisition audit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0175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report: at most 5 pages.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 checks across all six dimensions.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missing rows, not only nulls.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annex runs offline.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617720" y="1143000"/>
            <a:ext cx="4069080" cy="30175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0060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decision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673352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snapshot + provenance + SHA-256.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/ Fit with caveats / Not fit.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refused claim.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option is source quality.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specification and the starter kit are published with this lecture.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claims require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evidence.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60604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come from? Is it current?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measure the thing we mean?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reproduce it?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allowed to conclude?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material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the discussion needs it.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investigation is complete.</a:t>
            </a: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inputs and computed floor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1645920"/>
                <a:gridCol w="19202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storage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PKR/USD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PKR floor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 iPhone 11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156.0798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171,532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iPhone 13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169.0810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185,820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iPhone 15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291.7629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349,824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iPhone 18 Pro 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277.2522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360,151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pre-tax benchmark, not Pakistan retail or verified current PTA/FBR tax. Entry storage changes; no constant-quality interpretation.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vintage and partial periods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23160"/>
                <a:gridCol w="25146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/ period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comparison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report: FY26 Q4 above 10%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 mean YoY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overlaps Apr–Jun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projection 8.4%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 Jul–Aug mean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two months; full year unknown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monthly YoY rates is not the same calculation as fiscal-year average-index inflation.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locally assembled car: a question for another audit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Domestic assembly does not identify input origin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exchange-rate exposure, acquire component sourcing, freight, energy and duties evidence for the same model and period.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optional comparison, not a measured automotive finding or another main case study.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only. No unsourced imported-component share is asserted.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Data acquisition and data quality</dc:title>
  <dc:subject>PptxGenJS Presentation</dc:subject>
  <dc:creator>CS-808 Tools and Technologies in Data Science</dc:creator>
  <cp:lastModifiedBy>CS-808 Tools and Technologies in Data Science</cp:lastModifiedBy>
  <cp:revision>1</cp:revision>
  <dcterms:created xsi:type="dcterms:W3CDTF">2026-10-01T15:01:45Z</dcterms:created>
  <dcterms:modified xsi:type="dcterms:W3CDTF">2026-10-01T15:01:45Z</dcterms:modified>
</cp:coreProperties>
</file>