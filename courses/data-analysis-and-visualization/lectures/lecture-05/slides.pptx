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slide14.xml" ContentType="application/vnd.openxmlformats-officedocument.presentationml.slide+xml"/>
  <Override PartName="/ppt/slides/charts/chart4.xml" ContentType="application/vnd.openxmlformats-officedocument.drawingml.char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charts/chart5.xml" ContentType="application/vnd.openxmlformats-officedocument.drawingml.chart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charts/chart6.xml" ContentType="application/vnd.openxmlformats-officedocument.drawingml.chart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charts/chart9.xml" ContentType="application/vnd.openxmlformats-officedocument.drawingml.chart+xml"/>
  <Override PartName="/ppt/slides/slide26.xml" ContentType="application/vnd.openxmlformats-officedocument.presentationml.slide+xml"/>
  <Override PartName="/ppt/slides/charts/chart10.xml" ContentType="application/vnd.openxmlformats-officedocument.drawingml.chart+xml"/>
  <Override PartName="/ppt/slides/slide2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ae98bca45744ba" /><Relationship Type="http://schemas.openxmlformats.org/officeDocument/2006/relationships/extended-properties" Target="/docProps/app.xml" Id="R35a4b817563e415f" /><Relationship Type="http://schemas.openxmlformats.org/officeDocument/2006/relationships/officeDocument" Target="/ppt/presentation.xml" Id="Rc214c1089f3a4a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468f1cb7d54641"/>
  </p:sldMasterIdLst>
  <p:sldIdLst>
    <p:sldId xmlns:r="http://schemas.openxmlformats.org/officeDocument/2006/relationships" id="256" r:id="R1b78522ef83c434a"/>
    <p:sldId xmlns:r="http://schemas.openxmlformats.org/officeDocument/2006/relationships" id="257" r:id="R8bcb5a8eb8fb450d"/>
    <p:sldId xmlns:r="http://schemas.openxmlformats.org/officeDocument/2006/relationships" id="258" r:id="R121db07dceea4de6"/>
    <p:sldId xmlns:r="http://schemas.openxmlformats.org/officeDocument/2006/relationships" id="259" r:id="Rbf7a0f235a3a4057"/>
    <p:sldId xmlns:r="http://schemas.openxmlformats.org/officeDocument/2006/relationships" id="260" r:id="Rf595aa4443a9441c"/>
    <p:sldId xmlns:r="http://schemas.openxmlformats.org/officeDocument/2006/relationships" id="261" r:id="R23263519fe1147cc"/>
    <p:sldId xmlns:r="http://schemas.openxmlformats.org/officeDocument/2006/relationships" id="262" r:id="R354eb40c68f0468f"/>
    <p:sldId xmlns:r="http://schemas.openxmlformats.org/officeDocument/2006/relationships" id="263" r:id="R9bcf8060173c406d"/>
    <p:sldId xmlns:r="http://schemas.openxmlformats.org/officeDocument/2006/relationships" id="264" r:id="R1600dbf2e0084eed"/>
    <p:sldId xmlns:r="http://schemas.openxmlformats.org/officeDocument/2006/relationships" id="265" r:id="R2b26522ec70a4356"/>
    <p:sldId xmlns:r="http://schemas.openxmlformats.org/officeDocument/2006/relationships" id="266" r:id="R72c1bf93ed284dff"/>
    <p:sldId xmlns:r="http://schemas.openxmlformats.org/officeDocument/2006/relationships" id="267" r:id="R686b264a1c064a46"/>
    <p:sldId xmlns:r="http://schemas.openxmlformats.org/officeDocument/2006/relationships" id="268" r:id="R1a256516b7de4e00"/>
    <p:sldId xmlns:r="http://schemas.openxmlformats.org/officeDocument/2006/relationships" id="269" r:id="R5618ccec536347c1"/>
    <p:sldId xmlns:r="http://schemas.openxmlformats.org/officeDocument/2006/relationships" id="270" r:id="R50cff66d484b436e"/>
    <p:sldId xmlns:r="http://schemas.openxmlformats.org/officeDocument/2006/relationships" id="271" r:id="R72a4d3e4f49d4b9c"/>
    <p:sldId xmlns:r="http://schemas.openxmlformats.org/officeDocument/2006/relationships" id="272" r:id="R019409ebba004843"/>
    <p:sldId xmlns:r="http://schemas.openxmlformats.org/officeDocument/2006/relationships" id="273" r:id="Rb1d4dc39b5ba4a3b"/>
    <p:sldId xmlns:r="http://schemas.openxmlformats.org/officeDocument/2006/relationships" id="274" r:id="Rb85720f3abcc453a"/>
    <p:sldId xmlns:r="http://schemas.openxmlformats.org/officeDocument/2006/relationships" id="275" r:id="R3eabcfd94a6d48a2"/>
    <p:sldId xmlns:r="http://schemas.openxmlformats.org/officeDocument/2006/relationships" id="276" r:id="Rafd5d17548de43d2"/>
    <p:sldId xmlns:r="http://schemas.openxmlformats.org/officeDocument/2006/relationships" id="277" r:id="R43f2eccdf2d740e2"/>
    <p:sldId xmlns:r="http://schemas.openxmlformats.org/officeDocument/2006/relationships" id="278" r:id="R88c200e536dd4290"/>
    <p:sldId xmlns:r="http://schemas.openxmlformats.org/officeDocument/2006/relationships" id="279" r:id="R996e07f3240344d4"/>
    <p:sldId xmlns:r="http://schemas.openxmlformats.org/officeDocument/2006/relationships" id="280" r:id="R6bc56a8653f64125"/>
    <p:sldId xmlns:r="http://schemas.openxmlformats.org/officeDocument/2006/relationships" id="281" r:id="R4c765200380a4da8"/>
    <p:sldId xmlns:r="http://schemas.openxmlformats.org/officeDocument/2006/relationships" id="282" r:id="Ref471424d57a4f52"/>
    <p:sldId xmlns:r="http://schemas.openxmlformats.org/officeDocument/2006/relationships" id="283" r:id="R2d67999bdb754c82"/>
    <p:sldId xmlns:r="http://schemas.openxmlformats.org/officeDocument/2006/relationships" id="284" r:id="R55a27d2169d24065"/>
    <p:sldId xmlns:r="http://schemas.openxmlformats.org/officeDocument/2006/relationships" id="285" r:id="R5e3633e99d3a4b83"/>
    <p:sldId xmlns:r="http://schemas.openxmlformats.org/officeDocument/2006/relationships" id="286" r:id="R42c466c440b54d0f"/>
    <p:sldId xmlns:r="http://schemas.openxmlformats.org/officeDocument/2006/relationships" id="287" r:id="R1f828e5a56be46a3"/>
    <p:sldId xmlns:r="http://schemas.openxmlformats.org/officeDocument/2006/relationships" id="288" r:id="R986f528ed3ff4471"/>
    <p:sldId xmlns:r="http://schemas.openxmlformats.org/officeDocument/2006/relationships" id="289" r:id="R6e2022b6093c43aa"/>
    <p:sldId xmlns:r="http://schemas.openxmlformats.org/officeDocument/2006/relationships" id="290" r:id="Ra655519f879249a9"/>
    <p:sldId xmlns:r="http://schemas.openxmlformats.org/officeDocument/2006/relationships" id="291" r:id="Rc45b8f1852d943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e7c9692e0e164cdc"/><Relationship Type="http://schemas.openxmlformats.org/officeDocument/2006/relationships/slideMaster" Target="/ppt/slideMasters/slideMaster1.xml" Id="R48468f1cb7d54641"/><Relationship Type="http://schemas.openxmlformats.org/officeDocument/2006/relationships/presProps" Target="/ppt/presProps.xml" Id="Rf88dbc2cbc094aab"/><Relationship Type="http://schemas.openxmlformats.org/officeDocument/2006/relationships/tableStyles" Target="/ppt/tableStyles.xml" Id="Rcaefdb5f98274d12"/><Relationship Type="http://schemas.openxmlformats.org/officeDocument/2006/relationships/slide" Target="/ppt/slides/slide1.xml" Id="R1b78522ef83c434a"/><Relationship Type="http://schemas.openxmlformats.org/officeDocument/2006/relationships/slide" Target="/ppt/slides/slide2.xml" Id="R8bcb5a8eb8fb450d"/><Relationship Type="http://schemas.openxmlformats.org/officeDocument/2006/relationships/slide" Target="/ppt/slides/slide3.xml" Id="R121db07dceea4de6"/><Relationship Type="http://schemas.openxmlformats.org/officeDocument/2006/relationships/slide" Target="/ppt/slides/slide4.xml" Id="Rbf7a0f235a3a4057"/><Relationship Type="http://schemas.openxmlformats.org/officeDocument/2006/relationships/slide" Target="/ppt/slides/slide5.xml" Id="Rf595aa4443a9441c"/><Relationship Type="http://schemas.openxmlformats.org/officeDocument/2006/relationships/slide" Target="/ppt/slides/slide6.xml" Id="R23263519fe1147cc"/><Relationship Type="http://schemas.openxmlformats.org/officeDocument/2006/relationships/slide" Target="/ppt/slides/slide7.xml" Id="R354eb40c68f0468f"/><Relationship Type="http://schemas.openxmlformats.org/officeDocument/2006/relationships/slide" Target="/ppt/slides/slide8.xml" Id="R9bcf8060173c406d"/><Relationship Type="http://schemas.openxmlformats.org/officeDocument/2006/relationships/slide" Target="/ppt/slides/slide9.xml" Id="R1600dbf2e0084eed"/><Relationship Type="http://schemas.openxmlformats.org/officeDocument/2006/relationships/slide" Target="/ppt/slides/slide10.xml" Id="R2b26522ec70a4356"/><Relationship Type="http://schemas.openxmlformats.org/officeDocument/2006/relationships/slide" Target="/ppt/slides/slide11.xml" Id="R72c1bf93ed284dff"/><Relationship Type="http://schemas.openxmlformats.org/officeDocument/2006/relationships/slide" Target="/ppt/slides/slide12.xml" Id="R686b264a1c064a46"/><Relationship Type="http://schemas.openxmlformats.org/officeDocument/2006/relationships/slide" Target="/ppt/slides/slide13.xml" Id="R1a256516b7de4e00"/><Relationship Type="http://schemas.openxmlformats.org/officeDocument/2006/relationships/slide" Target="/ppt/slides/slide14.xml" Id="R5618ccec536347c1"/><Relationship Type="http://schemas.openxmlformats.org/officeDocument/2006/relationships/slide" Target="/ppt/slides/slide15.xml" Id="R50cff66d484b436e"/><Relationship Type="http://schemas.openxmlformats.org/officeDocument/2006/relationships/slide" Target="/ppt/slides/slide16.xml" Id="R72a4d3e4f49d4b9c"/><Relationship Type="http://schemas.openxmlformats.org/officeDocument/2006/relationships/slide" Target="/ppt/slides/slide17.xml" Id="R019409ebba004843"/><Relationship Type="http://schemas.openxmlformats.org/officeDocument/2006/relationships/slide" Target="/ppt/slides/slide18.xml" Id="Rb1d4dc39b5ba4a3b"/><Relationship Type="http://schemas.openxmlformats.org/officeDocument/2006/relationships/slide" Target="/ppt/slides/slide19.xml" Id="Rb85720f3abcc453a"/><Relationship Type="http://schemas.openxmlformats.org/officeDocument/2006/relationships/slide" Target="/ppt/slides/slide20.xml" Id="R3eabcfd94a6d48a2"/><Relationship Type="http://schemas.openxmlformats.org/officeDocument/2006/relationships/slide" Target="/ppt/slides/slide21.xml" Id="Rafd5d17548de43d2"/><Relationship Type="http://schemas.openxmlformats.org/officeDocument/2006/relationships/slide" Target="/ppt/slides/slide22.xml" Id="R43f2eccdf2d740e2"/><Relationship Type="http://schemas.openxmlformats.org/officeDocument/2006/relationships/slide" Target="/ppt/slides/slide23.xml" Id="R88c200e536dd4290"/><Relationship Type="http://schemas.openxmlformats.org/officeDocument/2006/relationships/slide" Target="/ppt/slides/slide24.xml" Id="R996e07f3240344d4"/><Relationship Type="http://schemas.openxmlformats.org/officeDocument/2006/relationships/slide" Target="/ppt/slides/slide25.xml" Id="R6bc56a8653f64125"/><Relationship Type="http://schemas.openxmlformats.org/officeDocument/2006/relationships/slide" Target="/ppt/slides/slide26.xml" Id="R4c765200380a4da8"/><Relationship Type="http://schemas.openxmlformats.org/officeDocument/2006/relationships/slide" Target="/ppt/slides/slide27.xml" Id="Ref471424d57a4f52"/><Relationship Type="http://schemas.openxmlformats.org/officeDocument/2006/relationships/slide" Target="/ppt/slides/slide28.xml" Id="R2d67999bdb754c82"/><Relationship Type="http://schemas.openxmlformats.org/officeDocument/2006/relationships/slide" Target="/ppt/slides/slide29.xml" Id="R55a27d2169d24065"/><Relationship Type="http://schemas.openxmlformats.org/officeDocument/2006/relationships/slide" Target="/ppt/slides/slide30.xml" Id="R5e3633e99d3a4b83"/><Relationship Type="http://schemas.openxmlformats.org/officeDocument/2006/relationships/slide" Target="/ppt/slides/slide31.xml" Id="R42c466c440b54d0f"/><Relationship Type="http://schemas.openxmlformats.org/officeDocument/2006/relationships/slide" Target="/ppt/slides/slide32.xml" Id="R1f828e5a56be46a3"/><Relationship Type="http://schemas.openxmlformats.org/officeDocument/2006/relationships/slide" Target="/ppt/slides/slide33.xml" Id="R986f528ed3ff4471"/><Relationship Type="http://schemas.openxmlformats.org/officeDocument/2006/relationships/slide" Target="/ppt/slides/slide34.xml" Id="R6e2022b6093c43aa"/><Relationship Type="http://schemas.openxmlformats.org/officeDocument/2006/relationships/slide" Target="/ppt/slides/slide35.xml" Id="Ra655519f879249a9"/><Relationship Type="http://schemas.openxmlformats.org/officeDocument/2006/relationships/slide" Target="/ppt/slides/slide36.xml" Id="Rc45b8f1852d9431a"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a525255d4f46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c8a3dfff234031" /><Relationship Type="http://schemas.openxmlformats.org/officeDocument/2006/relationships/slideLayout" Target="/ppt/slideLayouts/slideLayout1.xml" Id="Rf73a04f1e32346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3a04f1e32346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52d2d6214d84164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7da076c0236488d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f8770ae22334000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0c2e906d1cf4b4d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a698e3b8970475e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b25d2023dcc4470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d14142427f047d1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8cec063f8df4b4c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31d3db7b0274cbd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2a87af79d3b4707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40882b1c6644a8c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6f3a586d152414b"/><Relationship Type="http://schemas.openxmlformats.org/officeDocument/2006/relationships/chart" Target="/ppt/slides/charts/chart1.xml" Id="R1f86c91c48fe4865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a77fa59363e4ce8"/><Relationship Type="http://schemas.openxmlformats.org/officeDocument/2006/relationships/chart" Target="/ppt/slides/charts/chart2.xml" Id="R2cdcd603678145c6"/><Relationship Type="http://schemas.openxmlformats.org/officeDocument/2006/relationships/chart" Target="/ppt/slides/charts/chart3.xml" Id="R81ddcf2109b745df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c2760f195424ea5"/><Relationship Type="http://schemas.openxmlformats.org/officeDocument/2006/relationships/chart" Target="/ppt/slides/charts/chart4.xml" Id="R9d32f7c4063643ff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1d13765aef24612"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7ee2a5842cf416a"/><Relationship Type="http://schemas.openxmlformats.org/officeDocument/2006/relationships/chart" Target="/ppt/slides/charts/chart5.xml" Id="Rf104ba74123f4709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c68b3c778254b33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c43f72f425d4207"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8b14842b80c4ec4"/><Relationship Type="http://schemas.openxmlformats.org/officeDocument/2006/relationships/chart" Target="/ppt/slides/charts/chart6.xml" Id="R6ddc1065df5247d8"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b33457ba61742e9"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8dc99610c1b40b6"/><Relationship Type="http://schemas.openxmlformats.org/officeDocument/2006/relationships/chart" Target="/ppt/slides/charts/chart7.xml" Id="R3c362e7c9da2421d"/><Relationship Type="http://schemas.openxmlformats.org/officeDocument/2006/relationships/chart" Target="/ppt/slides/charts/chart8.xml" Id="R6d04090d07294da7"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eb28841b71641fa"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8f4a1555e8b44f7"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5fb29be25a44b93"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80df9d0a7634dd0"/><Relationship Type="http://schemas.openxmlformats.org/officeDocument/2006/relationships/chart" Target="/ppt/slides/charts/chart9.xml" Id="Ra211a8e04ab143dd"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a9740dc906c4df9"/><Relationship Type="http://schemas.openxmlformats.org/officeDocument/2006/relationships/chart" Target="/ppt/slides/charts/chart10.xml" Id="Rd0d060e5dba14f1d"/></Relationships>
</file>

<file path=ppt/slides/_rels/slide2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0ce27b338de4ca2"/><Relationship Type="http://schemas.openxmlformats.org/officeDocument/2006/relationships/chart" Target="/ppt/slides/charts/chart11.xml" Id="Rb88738372a2a4d43"/><Relationship Type="http://schemas.openxmlformats.org/officeDocument/2006/relationships/chart" Target="/ppt/slides/charts/chart12.xml" Id="R1cab9ac36a6f4baa"/></Relationships>
</file>

<file path=ppt/slides/_rels/slide2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eaff9a4bd2b4c7b"/></Relationships>
</file>

<file path=ppt/slides/_rels/slide2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fd78989a5fc453d"/></Relationships>
</file>

<file path=ppt/slides/_rels/slide3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aa7c121d8334b85"/></Relationships>
</file>

<file path=ppt/slides/_rels/slide3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8d7daa6bc8c4750"/></Relationships>
</file>

<file path=ppt/slides/_rels/slide3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16e926763904ce8"/></Relationships>
</file>

<file path=ppt/slides/_rels/slide3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07419f406234917"/><Relationship Type="http://schemas.openxmlformats.org/officeDocument/2006/relationships/chart" Target="/ppt/slides/charts/chart13.xml" Id="R1ebb40a35fae4be2"/><Relationship Type="http://schemas.openxmlformats.org/officeDocument/2006/relationships/chart" Target="/ppt/slides/charts/chart14.xml" Id="R7b71ef09152f4bd2"/><Relationship Type="http://schemas.openxmlformats.org/officeDocument/2006/relationships/chart" Target="/ppt/slides/charts/chart15.xml" Id="R80e25d0243d4404c"/></Relationships>
</file>

<file path=ppt/slides/_rels/slide3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d27d74c2f7c4483"/></Relationships>
</file>

<file path=ppt/slides/_rels/slide3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89cd1208c9c44a6"/></Relationships>
</file>

<file path=ppt/slides/_rels/slide3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69606cff5ec4389"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_rels/chart11.xml.rels><Relationships xmlns="http://schemas.openxmlformats.org/package/2006/relationships"><Relationship Id="rIdChartSnapshot1" Type="http://schemas.openxmlformats.org/officeDocument/2006/relationships/package" Target="../../embeddings/chart-data-snapshot-011.xlsx"/></Relationships>
</file>

<file path=ppt/slides/charts/_rels/chart12.xml.rels><Relationships xmlns="http://schemas.openxmlformats.org/package/2006/relationships"><Relationship Id="rIdChartSnapshot1" Type="http://schemas.openxmlformats.org/officeDocument/2006/relationships/package" Target="../../embeddings/chart-data-snapshot-012.xlsx"/></Relationships>
</file>

<file path=ppt/slides/charts/_rels/chart13.xml.rels><Relationships xmlns="http://schemas.openxmlformats.org/package/2006/relationships"><Relationship Id="rIdChartSnapshot1" Type="http://schemas.openxmlformats.org/officeDocument/2006/relationships/package" Target="../../embeddings/chart-data-snapshot-013.xlsx"/></Relationships>
</file>

<file path=ppt/slides/charts/_rels/chart14.xml.rels><Relationships xmlns="http://schemas.openxmlformats.org/package/2006/relationships"><Relationship Id="rIdChartSnapshot1" Type="http://schemas.openxmlformats.org/officeDocument/2006/relationships/package" Target="../../embeddings/chart-data-snapshot-014.xlsx"/></Relationships>
</file>

<file path=ppt/slides/charts/_rels/chart15.xml.rels><Relationships xmlns="http://schemas.openxmlformats.org/package/2006/relationships"><Relationship Id="rIdChartSnapshot1" Type="http://schemas.openxmlformats.org/officeDocument/2006/relationships/package" Target="../../embeddings/chart-data-snapshot-015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Deliberately incomplete: baseline 15%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Participants with event (%)</c:v>
          </c:tx>
          <c:spPr>
            <a:solidFill xmlns:a="http://schemas.openxmlformats.org/drawingml/2006/main">
              <a:srgbClr val="167D9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67D9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D46A37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Simvastatin</c:v>
                </c:pt>
                <c:pt idx="1">
                  <c:v>Placebo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19.7974486318</c:v>
                </c:pt>
                <c:pt idx="1">
                  <c:v>25.177753969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 b="1">
                  <a:solidFill>
                    <a:srgbClr val="344A59"/>
                  </a:solidFill>
                  <a:latin typeface="Liberation Sans"/>
                  <a:ea typeface="Liberation Sans"/>
                  <a:cs typeface="Liberation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</c:catAx>
      <c:valAx>
        <c:axId val="48672768"/>
        <c:scaling>
          <c:orientation val="minMax"/>
          <c:max val="28"/>
          <c:min val="1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Participants with event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Zero-baseline bars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Event risk (%)</c:v>
          </c:tx>
          <c:spPr>
            <a:solidFill xmlns:a="http://schemas.openxmlformats.org/drawingml/2006/main">
              <a:srgbClr val="167D9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67D9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D46A37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Simvastatin</c:v>
                </c:pt>
                <c:pt idx="1">
                  <c:v>Placebo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19.7974486318</c:v>
                </c:pt>
                <c:pt idx="1">
                  <c:v>25.177753969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 b="1">
                  <a:solidFill>
                    <a:srgbClr val="344A59"/>
                  </a:solidFill>
                  <a:latin typeface="Liberation Sans"/>
                  <a:ea typeface="Liberation Sans"/>
                  <a:cs typeface="Liberation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Event risk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Restricted-axis dots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Simvastatin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19.7974486318</c:v>
                </c:pt>
                <c:pt idx="1">
                  <c:v>19.7974486318</c:v>
                </c:pt>
              </c:numCache>
            </c:numRef>
          </c:xVal>
          <c:yVal>
            <c:numRef>
              <c:f>'Chart Data'!$B$2:$B$3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Placebo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D46A37"/>
              </a:solidFill>
              <a:ln xmlns:a="http://schemas.openxmlformats.org/drawingml/2006/main" w="19050">
                <a:solidFill>
                  <a:srgbClr val="D46A37"/>
                </a:solidFill>
              </a:ln>
            </c:spPr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25.177753969</c:v>
                </c:pt>
                <c:pt idx="1">
                  <c:v>25.177753969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.5"/>
          <c:min val="-0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1 simvastatin, 0 placebo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27"/>
          <c:min val="18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Event risk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  <c:majorUnit val="3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HPS absolute benefit with approximate 95% CI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Null difference = 0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19050">
              <a:solidFill>
                <a:srgbClr val="637482"/>
              </a:solidFill>
              <a:prstDash val="dash"/>
            </a:ln>
          </c:spPr>
          <c:marker>
            <c:symbol val="none"/>
            <c:size val="8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xVal>
          <c:yVal>
            <c:numRef>
              <c:f>'Chart Data'!$B$2:$B$3</c:f>
              <c:numCache>
                <c:formatCode>0.##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yVal>
        </c:ser>
        <c:ser>
          <c:idx val="1"/>
          <c:order val="1"/>
          <c:tx>
            <c:v>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42.4062340248</c:v>
                </c:pt>
                <c:pt idx="1">
                  <c:v>65.1998727197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2"/>
          <c:order val="2"/>
          <c:tx>
            <c:v>ARR per 1,000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53.8030533722</c:v>
                </c:pt>
                <c:pt idx="1">
                  <c:v>53.8030533722</c:v>
                </c:pt>
              </c:numCache>
            </c:numRef>
          </c:xVal>
          <c:yVal>
            <c:numRef>
              <c:f>'Chart Data'!$F$2:$F$3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75"/>
          <c:min val="-5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Fewer affected per 1,000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Niacin arm only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Median HDL-C (mg/dL)</c:v>
          </c:tx>
          <c:spPr>
            <a:solidFill xmlns:a="http://schemas.openxmlformats.org/drawingml/2006/main">
              <a:srgbClr val="167D9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67D9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D46A37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Baseline</c:v>
                </c:pt>
                <c:pt idx="1">
                  <c:v>Two years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35</c:v>
                </c:pt>
                <c:pt idx="1">
                  <c:v>42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 b="1">
                  <a:solidFill>
                    <a:srgbClr val="344A59"/>
                  </a:solidFill>
                  <a:latin typeface="Liberation Sans"/>
                  <a:ea typeface="Liberation Sans"/>
                  <a:cs typeface="Liberation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</c:catAx>
      <c:valAx>
        <c:axId val="48672768"/>
        <c:scaling>
          <c:orientation val="minMax"/>
          <c:max val="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Median HDL-C (mg/dL)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Count RR at row 2, reported HR at row 1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Null ratio = 1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19050">
              <a:solidFill>
                <a:srgbClr val="637482"/>
              </a:solidFill>
              <a:prstDash val="dash"/>
            </a:ln>
          </c:spPr>
          <c:marker>
            <c:symbol val="none"/>
            <c:size val="8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0.##</c:formatCode>
                <c:ptCount val="2"/>
                <c:pt idx="0">
                  <c:v>0</c:v>
                </c:pt>
                <c:pt idx="1">
                  <c:v>3</c:v>
                </c:pt>
              </c:numCache>
            </c:numRef>
          </c:yVal>
        </c:ser>
        <c:ser>
          <c:idx val="1"/>
          <c:order val="1"/>
          <c:tx>
            <c:v>Count RR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0.872638318246</c:v>
                </c:pt>
                <c:pt idx="1">
                  <c:v>1.18295490283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</c:ser>
        <c:ser>
          <c:idx val="2"/>
          <c:order val="2"/>
          <c:tx>
            <c:v>Count-based RR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1.01601760662</c:v>
                </c:pt>
                <c:pt idx="1">
                  <c:v>1.01601760662</c:v>
                </c:pt>
              </c:numCache>
            </c:numRef>
          </c:xVal>
          <c:yVal>
            <c:numRef>
              <c:f>'Chart Data'!$F$2:$F$3</c:f>
              <c:numCache>
                <c:formatCode>0.##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</c:ser>
        <c:ser>
          <c:idx val="3"/>
          <c:order val="3"/>
          <c:tx>
            <c:v>Reported HR 95% limits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19050">
              <a:solidFill>
                <a:srgbClr val="D46A37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0.87</c:v>
                </c:pt>
                <c:pt idx="1">
                  <c:v>1.21</c:v>
                </c:pt>
              </c:numCache>
            </c:numRef>
          </c:xVal>
          <c:yVal>
            <c:numRef>
              <c:f>'Chart Data'!$H$2:$H$3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4"/>
          <c:order val="4"/>
          <c:tx>
            <c:v>Reported HR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D46A37"/>
              </a:solidFill>
              <a:ln xmlns:a="http://schemas.openxmlformats.org/drawingml/2006/main" w="19050">
                <a:solidFill>
                  <a:srgbClr val="D46A37"/>
                </a:solidFill>
              </a:ln>
            </c:spPr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1.02</c:v>
                </c:pt>
                <c:pt idx="1">
                  <c:v>1.02</c:v>
                </c:pt>
              </c:numCache>
            </c:numRef>
          </c:xVal>
          <c:yVal>
            <c:numRef>
              <c:f>'Chart Data'!$J$2:$J$3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1.3"/>
          <c:min val="0.8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Niacin / placebo outcome ratio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  <c:majorUnit val="0.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Linear ratio axis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Half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xVal>
          <c:yVal>
            <c:numRef>
              <c:f>'Chart Data'!$B$2:$B$3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Reference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637482"/>
              </a:solidFill>
              <a:ln xmlns:a="http://schemas.openxmlformats.org/drawingml/2006/main" w="19050">
                <a:solidFill>
                  <a:srgbClr val="637482"/>
                </a:solidFill>
              </a:ln>
            </c:spPr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2"/>
          <c:order val="2"/>
          <c:tx>
            <c:v>Double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D46A37"/>
              </a:solidFill>
              <a:ln xmlns:a="http://schemas.openxmlformats.org/drawingml/2006/main" w="19050">
                <a:solidFill>
                  <a:srgbClr val="D46A37"/>
                </a:solidFill>
              </a:ln>
            </c:spPr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xVal>
          <c:yVal>
            <c:numRef>
              <c:f>'Chart Data'!$F$2:$F$3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3"/>
          <c:order val="3"/>
          <c:tx>
            <c:v>Reference ratio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19050">
              <a:solidFill>
                <a:srgbClr val="637482"/>
              </a:solidFill>
              <a:prstDash val="dash"/>
            </a:ln>
          </c:spPr>
          <c:marker>
            <c:symbol val="none"/>
            <c:size val="8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xVal>
          <c:yVal>
            <c:numRef>
              <c:f>'Chart Data'!$H$2:$H$3</c:f>
              <c:numCache>
                <c:formatCode>0.##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2.5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Ratio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  <c:majorUnit val="0.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Log ratio axis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Half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xVal>
          <c:yVal>
            <c:numRef>
              <c:f>'Chart Data'!$B$2:$B$3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Reference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637482"/>
              </a:solidFill>
              <a:ln xmlns:a="http://schemas.openxmlformats.org/drawingml/2006/main" w="19050">
                <a:solidFill>
                  <a:srgbClr val="637482"/>
                </a:solidFill>
              </a:ln>
            </c:spPr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2"/>
          <c:order val="2"/>
          <c:tx>
            <c:v>Double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D46A37"/>
              </a:solidFill>
              <a:ln xmlns:a="http://schemas.openxmlformats.org/drawingml/2006/main" w="19050">
                <a:solidFill>
                  <a:srgbClr val="D46A37"/>
                </a:solidFill>
              </a:ln>
            </c:spPr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xVal>
          <c:yVal>
            <c:numRef>
              <c:f>'Chart Data'!$F$2:$F$3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3"/>
          <c:order val="3"/>
          <c:tx>
            <c:v>Reference ratio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19050">
              <a:solidFill>
                <a:srgbClr val="637482"/>
              </a:solidFill>
              <a:prstDash val="dash"/>
            </a:ln>
          </c:spPr>
          <c:marker>
            <c:symbol val="none"/>
            <c:size val="8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xVal>
          <c:yVal>
            <c:numRef>
              <c:f>'Chart Data'!$H$2:$H$3</c:f>
              <c:numCache>
                <c:formatCode>0.##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majorUnit val="1"/>
      </c:valAx>
      <c:valAx>
        <c:axId val="48650112"/>
        <c:scaling>
          <c:logBase val="2"/>
          <c:orientation val="minMax"/>
          <c:max val="4"/>
          <c:min val="0.25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Ratio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Selected groups, intervals omitted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Full-adjustment HR</c:v>
          </c:tx>
          <c:spPr>
            <a:solidFill xmlns:a="http://schemas.openxmlformats.org/drawingml/2006/main">
              <a:srgbClr val="167D9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67D9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D46A37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Q1</c:v>
                </c:pt>
                <c:pt idx="1">
                  <c:v>Q5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1</c:v>
                </c:pt>
                <c:pt idx="1">
                  <c:v>2.03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 b="1">
                  <a:solidFill>
                    <a:srgbClr val="344A59"/>
                  </a:solidFill>
                  <a:latin typeface="Liberation Sans"/>
                  <a:ea typeface="Liberation Sans"/>
                  <a:cs typeface="Liberation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</c:catAx>
      <c:valAx>
        <c:axId val="48672768"/>
        <c:scaling>
          <c:orientation val="minMax"/>
          <c:max val="3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Full-adjustment HR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Full adjustment, Q1 reference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Null HR = 1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19050">
              <a:solidFill>
                <a:srgbClr val="637482"/>
              </a:solidFill>
              <a:prstDash val="dash"/>
            </a:ln>
          </c:spPr>
          <c:marker>
            <c:symbol val="none"/>
            <c:size val="8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5</c:v>
                </c:pt>
                <c:pt idx="1">
                  <c:v>28</c:v>
                </c:pt>
              </c:numCache>
            </c:numRef>
          </c:xVal>
          <c:yVal>
            <c:numRef>
              <c:f>'Chart Data'!$B$2:$B$3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Q1 reference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diamond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7.4</c:v>
                </c:pt>
                <c:pt idx="1">
                  <c:v>7.4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2"/>
          <c:order val="2"/>
          <c:tx>
            <c:v>Q2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11.4</c:v>
                </c:pt>
                <c:pt idx="1">
                  <c:v>11.4</c:v>
                </c:pt>
              </c:numCache>
            </c:numRef>
          </c:xVal>
          <c:yVal>
            <c:numRef>
              <c:f>'Chart Data'!$F$2:$F$3</c:f>
              <c:numCache>
                <c:formatCode>0.##</c:formatCode>
                <c:ptCount val="2"/>
                <c:pt idx="0">
                  <c:v>1.02</c:v>
                </c:pt>
                <c:pt idx="1">
                  <c:v>1.12</c:v>
                </c:pt>
              </c:numCache>
            </c:numRef>
          </c:yVal>
        </c:ser>
        <c:ser>
          <c:idx val="3"/>
          <c:order val="3"/>
          <c:tx>
            <c:v>Q2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11.4</c:v>
                </c:pt>
                <c:pt idx="1">
                  <c:v>11.4</c:v>
                </c:pt>
              </c:numCache>
            </c:numRef>
          </c:xVal>
          <c:yVal>
            <c:numRef>
              <c:f>'Chart Data'!$H$2:$H$3</c:f>
              <c:numCache>
                <c:formatCode>0.##</c:formatCode>
                <c:ptCount val="2"/>
                <c:pt idx="0">
                  <c:v>1.07</c:v>
                </c:pt>
                <c:pt idx="1">
                  <c:v>1.07</c:v>
                </c:pt>
              </c:numCache>
            </c:numRef>
          </c:yVal>
        </c:ser>
        <c:ser>
          <c:idx val="4"/>
          <c:order val="4"/>
          <c:tx>
            <c:v>Q3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14.8</c:v>
                </c:pt>
                <c:pt idx="1">
                  <c:v>14.8</c:v>
                </c:pt>
              </c:numCache>
            </c:numRef>
          </c:xVal>
          <c:yVal>
            <c:numRef>
              <c:f>'Chart Data'!$J$2:$J$3</c:f>
              <c:numCache>
                <c:formatCode>0.##</c:formatCode>
                <c:ptCount val="2"/>
                <c:pt idx="0">
                  <c:v>1.06</c:v>
                </c:pt>
                <c:pt idx="1">
                  <c:v>1.31</c:v>
                </c:pt>
              </c:numCache>
            </c:numRef>
          </c:yVal>
        </c:ser>
        <c:ser>
          <c:idx val="5"/>
          <c:order val="5"/>
          <c:tx>
            <c:v>Q3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14.8</c:v>
                </c:pt>
                <c:pt idx="1">
                  <c:v>14.8</c:v>
                </c:pt>
              </c:numCache>
            </c:numRef>
          </c:xVal>
          <c:yVal>
            <c:numRef>
              <c:f>'Chart Data'!$L$2:$L$3</c:f>
              <c:numCache>
                <c:formatCode>0.##</c:formatCode>
                <c:ptCount val="2"/>
                <c:pt idx="0">
                  <c:v>1.18</c:v>
                </c:pt>
                <c:pt idx="1">
                  <c:v>1.18</c:v>
                </c:pt>
              </c:numCache>
            </c:numRef>
          </c:yVal>
        </c:ser>
        <c:ser>
          <c:idx val="6"/>
          <c:order val="6"/>
          <c:tx>
            <c:v>Q4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18.7</c:v>
                </c:pt>
                <c:pt idx="1">
                  <c:v>18.7</c:v>
                </c:pt>
              </c:numCache>
            </c:numRef>
          </c:xVal>
          <c:yVal>
            <c:numRef>
              <c:f>'Chart Data'!$N$2:$N$3</c:f>
              <c:numCache>
                <c:formatCode>0.##</c:formatCode>
                <c:ptCount val="2"/>
                <c:pt idx="0">
                  <c:v>1.11</c:v>
                </c:pt>
                <c:pt idx="1">
                  <c:v>1.7</c:v>
                </c:pt>
              </c:numCache>
            </c:numRef>
          </c:yVal>
        </c:ser>
        <c:ser>
          <c:idx val="7"/>
          <c:order val="7"/>
          <c:tx>
            <c:v>Q4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18.7</c:v>
                </c:pt>
                <c:pt idx="1">
                  <c:v>18.7</c:v>
                </c:pt>
              </c:numCache>
            </c:numRef>
          </c:xVal>
          <c:yVal>
            <c:numRef>
              <c:f>'Chart Data'!$P$2:$P$3</c:f>
              <c:numCache>
                <c:formatCode>0.##</c:formatCode>
                <c:ptCount val="2"/>
                <c:pt idx="0">
                  <c:v>1.38</c:v>
                </c:pt>
                <c:pt idx="1">
                  <c:v>1.38</c:v>
                </c:pt>
              </c:numCache>
            </c:numRef>
          </c:yVal>
        </c:ser>
        <c:ser>
          <c:idx val="8"/>
          <c:order val="8"/>
          <c:tx>
            <c:v>Q5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Data'!$Q$2:$Q$3</c:f>
              <c:numCache>
                <c:formatCode>General</c:formatCode>
                <c:ptCount val="2"/>
                <c:pt idx="0">
                  <c:v>25.2</c:v>
                </c:pt>
                <c:pt idx="1">
                  <c:v>25.2</c:v>
                </c:pt>
              </c:numCache>
            </c:numRef>
          </c:xVal>
          <c:yVal>
            <c:numRef>
              <c:f>'Chart Data'!$R$2:$R$3</c:f>
              <c:numCache>
                <c:formatCode>0.##</c:formatCode>
                <c:ptCount val="2"/>
                <c:pt idx="0">
                  <c:v>1.26</c:v>
                </c:pt>
                <c:pt idx="1">
                  <c:v>3.27</c:v>
                </c:pt>
              </c:numCache>
            </c:numRef>
          </c:yVal>
        </c:ser>
        <c:ser>
          <c:idx val="9"/>
          <c:order val="9"/>
          <c:tx>
            <c:v>Q5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Data'!$S$2:$S$3</c:f>
              <c:numCache>
                <c:formatCode>General</c:formatCode>
                <c:ptCount val="2"/>
                <c:pt idx="0">
                  <c:v>25.2</c:v>
                </c:pt>
                <c:pt idx="1">
                  <c:v>25.2</c:v>
                </c:pt>
              </c:numCache>
            </c:numRef>
          </c:xVal>
          <c:yVal>
            <c:numRef>
              <c:f>'Chart Data'!$T$2:$T$3</c:f>
              <c:numCache>
                <c:formatCode>0.##</c:formatCode>
                <c:ptCount val="2"/>
                <c:pt idx="0">
                  <c:v>2.03</c:v>
                </c:pt>
                <c:pt idx="1">
                  <c:v>2.03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logBase val="2"/>
          <c:orientation val="minMax"/>
          <c:max val="4"/>
          <c:min val="0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Reported CVD mortality HR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majorUnit val="2"/>
      </c:valAx>
      <c:valAx>
        <c:axId val="48650112"/>
        <c:scaling>
          <c:orientation val="minMax"/>
          <c:max val="28"/>
          <c:min val="5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Usual added sugar (% of energy), midvalue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Demographic adjustment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Null HR = 1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19050">
              <a:solidFill>
                <a:srgbClr val="637482"/>
              </a:solidFill>
              <a:prstDash val="dash"/>
            </a:ln>
          </c:spPr>
          <c:marker>
            <c:symbol val="none"/>
            <c:size val="8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5</c:v>
                </c:pt>
                <c:pt idx="1">
                  <c:v>28</c:v>
                </c:pt>
              </c:numCache>
            </c:numRef>
          </c:xVal>
          <c:yVal>
            <c:numRef>
              <c:f>'Chart Data'!$B$2:$B$3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Q1 reference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0">
              <a:noFill/>
            </a:ln>
          </c:spPr>
          <c:marker>
            <c:symbol val="diamond"/>
            <c:size val="9"/>
            <c:spPr>
              <a:solidFill xmlns:a="http://schemas.openxmlformats.org/drawingml/2006/main">
                <a:srgbClr val="D46A37"/>
              </a:solidFill>
              <a:ln xmlns:a="http://schemas.openxmlformats.org/drawingml/2006/main" w="19050">
                <a:solidFill>
                  <a:srgbClr val="D46A37"/>
                </a:solidFill>
              </a:ln>
            </c:spPr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7.4</c:v>
                </c:pt>
                <c:pt idx="1">
                  <c:v>7.4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2"/>
          <c:order val="2"/>
          <c:tx>
            <c:v>Q2 published 95% limits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19050">
              <a:solidFill>
                <a:srgbClr val="D46A37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11.4</c:v>
                </c:pt>
                <c:pt idx="1">
                  <c:v>11.4</c:v>
                </c:pt>
              </c:numCache>
            </c:numRef>
          </c:xVal>
          <c:yVal>
            <c:numRef>
              <c:f>'Chart Data'!$F$2:$F$3</c:f>
              <c:numCache>
                <c:formatCode>0.##</c:formatCode>
                <c:ptCount val="2"/>
                <c:pt idx="0">
                  <c:v>1.05</c:v>
                </c:pt>
                <c:pt idx="1">
                  <c:v>1.13</c:v>
                </c:pt>
              </c:numCache>
            </c:numRef>
          </c:yVal>
        </c:ser>
        <c:ser>
          <c:idx val="3"/>
          <c:order val="3"/>
          <c:tx>
            <c:v>Q2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D46A37"/>
              </a:solidFill>
              <a:ln xmlns:a="http://schemas.openxmlformats.org/drawingml/2006/main" w="19050">
                <a:solidFill>
                  <a:srgbClr val="D46A37"/>
                </a:solidFill>
              </a:ln>
            </c:spPr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11.4</c:v>
                </c:pt>
                <c:pt idx="1">
                  <c:v>11.4</c:v>
                </c:pt>
              </c:numCache>
            </c:numRef>
          </c:xVal>
          <c:yVal>
            <c:numRef>
              <c:f>'Chart Data'!$H$2:$H$3</c:f>
              <c:numCache>
                <c:formatCode>0.##</c:formatCode>
                <c:ptCount val="2"/>
                <c:pt idx="0">
                  <c:v>1.09</c:v>
                </c:pt>
                <c:pt idx="1">
                  <c:v>1.09</c:v>
                </c:pt>
              </c:numCache>
            </c:numRef>
          </c:yVal>
        </c:ser>
        <c:ser>
          <c:idx val="4"/>
          <c:order val="4"/>
          <c:tx>
            <c:v>Q3 published 95% limits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19050">
              <a:solidFill>
                <a:srgbClr val="D46A37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14.8</c:v>
                </c:pt>
                <c:pt idx="1">
                  <c:v>14.8</c:v>
                </c:pt>
              </c:numCache>
            </c:numRef>
          </c:xVal>
          <c:yVal>
            <c:numRef>
              <c:f>'Chart Data'!$J$2:$J$3</c:f>
              <c:numCache>
                <c:formatCode>0.##</c:formatCode>
                <c:ptCount val="2"/>
                <c:pt idx="0">
                  <c:v>1.12</c:v>
                </c:pt>
                <c:pt idx="1">
                  <c:v>1.34</c:v>
                </c:pt>
              </c:numCache>
            </c:numRef>
          </c:yVal>
        </c:ser>
        <c:ser>
          <c:idx val="5"/>
          <c:order val="5"/>
          <c:tx>
            <c:v>Q3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D46A37"/>
              </a:solidFill>
              <a:ln xmlns:a="http://schemas.openxmlformats.org/drawingml/2006/main" w="19050">
                <a:solidFill>
                  <a:srgbClr val="D46A37"/>
                </a:solidFill>
              </a:ln>
            </c:spPr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14.8</c:v>
                </c:pt>
                <c:pt idx="1">
                  <c:v>14.8</c:v>
                </c:pt>
              </c:numCache>
            </c:numRef>
          </c:xVal>
          <c:yVal>
            <c:numRef>
              <c:f>'Chart Data'!$L$2:$L$3</c:f>
              <c:numCache>
                <c:formatCode>0.##</c:formatCode>
                <c:ptCount val="2"/>
                <c:pt idx="0">
                  <c:v>1.23</c:v>
                </c:pt>
                <c:pt idx="1">
                  <c:v>1.23</c:v>
                </c:pt>
              </c:numCache>
            </c:numRef>
          </c:yVal>
        </c:ser>
        <c:ser>
          <c:idx val="6"/>
          <c:order val="6"/>
          <c:tx>
            <c:v>Q4 published 95% limits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19050">
              <a:solidFill>
                <a:srgbClr val="D46A37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18.7</c:v>
                </c:pt>
                <c:pt idx="1">
                  <c:v>18.7</c:v>
                </c:pt>
              </c:numCache>
            </c:numRef>
          </c:xVal>
          <c:yVal>
            <c:numRef>
              <c:f>'Chart Data'!$N$2:$N$3</c:f>
              <c:numCache>
                <c:formatCode>0.##</c:formatCode>
                <c:ptCount val="2"/>
                <c:pt idx="0">
                  <c:v>1.24</c:v>
                </c:pt>
                <c:pt idx="1">
                  <c:v>1.78</c:v>
                </c:pt>
              </c:numCache>
            </c:numRef>
          </c:yVal>
        </c:ser>
        <c:ser>
          <c:idx val="7"/>
          <c:order val="7"/>
          <c:tx>
            <c:v>Q4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D46A37"/>
              </a:solidFill>
              <a:ln xmlns:a="http://schemas.openxmlformats.org/drawingml/2006/main" w="19050">
                <a:solidFill>
                  <a:srgbClr val="D46A37"/>
                </a:solidFill>
              </a:ln>
            </c:spPr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18.7</c:v>
                </c:pt>
                <c:pt idx="1">
                  <c:v>18.7</c:v>
                </c:pt>
              </c:numCache>
            </c:numRef>
          </c:xVal>
          <c:yVal>
            <c:numRef>
              <c:f>'Chart Data'!$P$2:$P$3</c:f>
              <c:numCache>
                <c:formatCode>0.##</c:formatCode>
                <c:ptCount val="2"/>
                <c:pt idx="0">
                  <c:v>1.49</c:v>
                </c:pt>
                <c:pt idx="1">
                  <c:v>1.49</c:v>
                </c:pt>
              </c:numCache>
            </c:numRef>
          </c:yVal>
        </c:ser>
        <c:ser>
          <c:idx val="8"/>
          <c:order val="8"/>
          <c:tx>
            <c:v>Q5 published 95% limits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19050">
              <a:solidFill>
                <a:srgbClr val="D46A37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Data'!$Q$2:$Q$3</c:f>
              <c:numCache>
                <c:formatCode>General</c:formatCode>
                <c:ptCount val="2"/>
                <c:pt idx="0">
                  <c:v>25.2</c:v>
                </c:pt>
                <c:pt idx="1">
                  <c:v>25.2</c:v>
                </c:pt>
              </c:numCache>
            </c:numRef>
          </c:xVal>
          <c:yVal>
            <c:numRef>
              <c:f>'Chart Data'!$R$2:$R$3</c:f>
              <c:numCache>
                <c:formatCode>0.##</c:formatCode>
                <c:ptCount val="2"/>
                <c:pt idx="0">
                  <c:v>1.63</c:v>
                </c:pt>
                <c:pt idx="1">
                  <c:v>3.62</c:v>
                </c:pt>
              </c:numCache>
            </c:numRef>
          </c:yVal>
        </c:ser>
        <c:ser>
          <c:idx val="9"/>
          <c:order val="9"/>
          <c:tx>
            <c:v>Q5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D46A37"/>
              </a:solidFill>
              <a:ln xmlns:a="http://schemas.openxmlformats.org/drawingml/2006/main" w="19050">
                <a:solidFill>
                  <a:srgbClr val="D46A37"/>
                </a:solidFill>
              </a:ln>
            </c:spPr>
          </c:marker>
          <c:xVal>
            <c:numRef>
              <c:f>'Chart Data'!$S$2:$S$3</c:f>
              <c:numCache>
                <c:formatCode>General</c:formatCode>
                <c:ptCount val="2"/>
                <c:pt idx="0">
                  <c:v>25.2</c:v>
                </c:pt>
                <c:pt idx="1">
                  <c:v>25.2</c:v>
                </c:pt>
              </c:numCache>
            </c:numRef>
          </c:xVal>
          <c:yVal>
            <c:numRef>
              <c:f>'Chart Data'!$T$2:$T$3</c:f>
              <c:numCache>
                <c:formatCode>0.##</c:formatCode>
                <c:ptCount val="2"/>
                <c:pt idx="0">
                  <c:v>2.43</c:v>
                </c:pt>
                <c:pt idx="1">
                  <c:v>2.43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logBase val="2"/>
          <c:orientation val="minMax"/>
          <c:max val="4"/>
          <c:min val="0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Reported CVD mortality HR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majorUnit val="2"/>
      </c:valAx>
      <c:valAx>
        <c:axId val="48650112"/>
        <c:scaling>
          <c:orientation val="minMax"/>
          <c:max val="28"/>
          <c:min val="5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Added sugar (% energy)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Full adjustment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Null HR = 1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19050">
              <a:solidFill>
                <a:srgbClr val="637482"/>
              </a:solidFill>
              <a:prstDash val="dash"/>
            </a:ln>
          </c:spPr>
          <c:marker>
            <c:symbol val="none"/>
            <c:size val="8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5</c:v>
                </c:pt>
                <c:pt idx="1">
                  <c:v>28</c:v>
                </c:pt>
              </c:numCache>
            </c:numRef>
          </c:xVal>
          <c:yVal>
            <c:numRef>
              <c:f>'Chart Data'!$B$2:$B$3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Q1 reference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diamond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7.4</c:v>
                </c:pt>
                <c:pt idx="1">
                  <c:v>7.4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2"/>
          <c:order val="2"/>
          <c:tx>
            <c:v>Q2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11.4</c:v>
                </c:pt>
                <c:pt idx="1">
                  <c:v>11.4</c:v>
                </c:pt>
              </c:numCache>
            </c:numRef>
          </c:xVal>
          <c:yVal>
            <c:numRef>
              <c:f>'Chart Data'!$F$2:$F$3</c:f>
              <c:numCache>
                <c:formatCode>0.##</c:formatCode>
                <c:ptCount val="2"/>
                <c:pt idx="0">
                  <c:v>1.02</c:v>
                </c:pt>
                <c:pt idx="1">
                  <c:v>1.12</c:v>
                </c:pt>
              </c:numCache>
            </c:numRef>
          </c:yVal>
        </c:ser>
        <c:ser>
          <c:idx val="3"/>
          <c:order val="3"/>
          <c:tx>
            <c:v>Q2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11.4</c:v>
                </c:pt>
                <c:pt idx="1">
                  <c:v>11.4</c:v>
                </c:pt>
              </c:numCache>
            </c:numRef>
          </c:xVal>
          <c:yVal>
            <c:numRef>
              <c:f>'Chart Data'!$H$2:$H$3</c:f>
              <c:numCache>
                <c:formatCode>0.##</c:formatCode>
                <c:ptCount val="2"/>
                <c:pt idx="0">
                  <c:v>1.07</c:v>
                </c:pt>
                <c:pt idx="1">
                  <c:v>1.07</c:v>
                </c:pt>
              </c:numCache>
            </c:numRef>
          </c:yVal>
        </c:ser>
        <c:ser>
          <c:idx val="4"/>
          <c:order val="4"/>
          <c:tx>
            <c:v>Q3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14.8</c:v>
                </c:pt>
                <c:pt idx="1">
                  <c:v>14.8</c:v>
                </c:pt>
              </c:numCache>
            </c:numRef>
          </c:xVal>
          <c:yVal>
            <c:numRef>
              <c:f>'Chart Data'!$J$2:$J$3</c:f>
              <c:numCache>
                <c:formatCode>0.##</c:formatCode>
                <c:ptCount val="2"/>
                <c:pt idx="0">
                  <c:v>1.06</c:v>
                </c:pt>
                <c:pt idx="1">
                  <c:v>1.31</c:v>
                </c:pt>
              </c:numCache>
            </c:numRef>
          </c:yVal>
        </c:ser>
        <c:ser>
          <c:idx val="5"/>
          <c:order val="5"/>
          <c:tx>
            <c:v>Q3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14.8</c:v>
                </c:pt>
                <c:pt idx="1">
                  <c:v>14.8</c:v>
                </c:pt>
              </c:numCache>
            </c:numRef>
          </c:xVal>
          <c:yVal>
            <c:numRef>
              <c:f>'Chart Data'!$L$2:$L$3</c:f>
              <c:numCache>
                <c:formatCode>0.##</c:formatCode>
                <c:ptCount val="2"/>
                <c:pt idx="0">
                  <c:v>1.18</c:v>
                </c:pt>
                <c:pt idx="1">
                  <c:v>1.18</c:v>
                </c:pt>
              </c:numCache>
            </c:numRef>
          </c:yVal>
        </c:ser>
        <c:ser>
          <c:idx val="6"/>
          <c:order val="6"/>
          <c:tx>
            <c:v>Q4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18.7</c:v>
                </c:pt>
                <c:pt idx="1">
                  <c:v>18.7</c:v>
                </c:pt>
              </c:numCache>
            </c:numRef>
          </c:xVal>
          <c:yVal>
            <c:numRef>
              <c:f>'Chart Data'!$N$2:$N$3</c:f>
              <c:numCache>
                <c:formatCode>0.##</c:formatCode>
                <c:ptCount val="2"/>
                <c:pt idx="0">
                  <c:v>1.11</c:v>
                </c:pt>
                <c:pt idx="1">
                  <c:v>1.7</c:v>
                </c:pt>
              </c:numCache>
            </c:numRef>
          </c:yVal>
        </c:ser>
        <c:ser>
          <c:idx val="7"/>
          <c:order val="7"/>
          <c:tx>
            <c:v>Q4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18.7</c:v>
                </c:pt>
                <c:pt idx="1">
                  <c:v>18.7</c:v>
                </c:pt>
              </c:numCache>
            </c:numRef>
          </c:xVal>
          <c:yVal>
            <c:numRef>
              <c:f>'Chart Data'!$P$2:$P$3</c:f>
              <c:numCache>
                <c:formatCode>0.##</c:formatCode>
                <c:ptCount val="2"/>
                <c:pt idx="0">
                  <c:v>1.38</c:v>
                </c:pt>
                <c:pt idx="1">
                  <c:v>1.38</c:v>
                </c:pt>
              </c:numCache>
            </c:numRef>
          </c:yVal>
        </c:ser>
        <c:ser>
          <c:idx val="8"/>
          <c:order val="8"/>
          <c:tx>
            <c:v>Q5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Data'!$Q$2:$Q$3</c:f>
              <c:numCache>
                <c:formatCode>General</c:formatCode>
                <c:ptCount val="2"/>
                <c:pt idx="0">
                  <c:v>25.2</c:v>
                </c:pt>
                <c:pt idx="1">
                  <c:v>25.2</c:v>
                </c:pt>
              </c:numCache>
            </c:numRef>
          </c:xVal>
          <c:yVal>
            <c:numRef>
              <c:f>'Chart Data'!$R$2:$R$3</c:f>
              <c:numCache>
                <c:formatCode>0.##</c:formatCode>
                <c:ptCount val="2"/>
                <c:pt idx="0">
                  <c:v>1.26</c:v>
                </c:pt>
                <c:pt idx="1">
                  <c:v>3.27</c:v>
                </c:pt>
              </c:numCache>
            </c:numRef>
          </c:yVal>
        </c:ser>
        <c:ser>
          <c:idx val="9"/>
          <c:order val="9"/>
          <c:tx>
            <c:v>Q5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Data'!$S$2:$S$3</c:f>
              <c:numCache>
                <c:formatCode>General</c:formatCode>
                <c:ptCount val="2"/>
                <c:pt idx="0">
                  <c:v>25.2</c:v>
                </c:pt>
                <c:pt idx="1">
                  <c:v>25.2</c:v>
                </c:pt>
              </c:numCache>
            </c:numRef>
          </c:xVal>
          <c:yVal>
            <c:numRef>
              <c:f>'Chart Data'!$T$2:$T$3</c:f>
              <c:numCache>
                <c:formatCode>0.##</c:formatCode>
                <c:ptCount val="2"/>
                <c:pt idx="0">
                  <c:v>2.03</c:v>
                </c:pt>
                <c:pt idx="1">
                  <c:v>2.03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logBase val="2"/>
          <c:orientation val="minMax"/>
          <c:max val="4"/>
          <c:min val="0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Reported CVD mortality HR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majorUnit val="2"/>
      </c:valAx>
      <c:valAx>
        <c:axId val="48650112"/>
        <c:scaling>
          <c:orientation val="minMax"/>
          <c:max val="28"/>
          <c:min val="5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Added sugar (% energy)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HPS: randomized treatment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Null difference = 0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19050">
              <a:solidFill>
                <a:srgbClr val="637482"/>
              </a:solidFill>
              <a:prstDash val="dash"/>
            </a:ln>
          </c:spPr>
          <c:marker>
            <c:symbol val="none"/>
            <c:size val="8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xVal>
          <c:yVal>
            <c:numRef>
              <c:f>'Chart Data'!$B$2:$B$3</c:f>
              <c:numCache>
                <c:formatCode>0.##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yVal>
        </c:ser>
        <c:ser>
          <c:idx val="1"/>
          <c:order val="1"/>
          <c:tx>
            <c:v>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42.4062340248</c:v>
                </c:pt>
                <c:pt idx="1">
                  <c:v>65.1998727197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2"/>
          <c:order val="2"/>
          <c:tx>
            <c:v>ARR per 1,000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53.8030533722</c:v>
                </c:pt>
                <c:pt idx="1">
                  <c:v>53.8030533722</c:v>
                </c:pt>
              </c:numCache>
            </c:numRef>
          </c:xVal>
          <c:yVal>
            <c:numRef>
              <c:f>'Chart Data'!$F$2:$F$3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75"/>
          <c:min val="-5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Fewer affected per 1,000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AIM-HIGH: randomized add-on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Null ratio = 1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19050">
              <a:solidFill>
                <a:srgbClr val="637482"/>
              </a:solidFill>
              <a:prstDash val="dash"/>
            </a:ln>
          </c:spPr>
          <c:marker>
            <c:symbol val="none"/>
            <c:size val="8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0.##</c:formatCode>
                <c:ptCount val="2"/>
                <c:pt idx="0">
                  <c:v>0</c:v>
                </c:pt>
                <c:pt idx="1">
                  <c:v>3</c:v>
                </c:pt>
              </c:numCache>
            </c:numRef>
          </c:yVal>
        </c:ser>
        <c:ser>
          <c:idx val="1"/>
          <c:order val="1"/>
          <c:tx>
            <c:v>Reported HR 95% limits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19050">
              <a:solidFill>
                <a:srgbClr val="D46A37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0.87</c:v>
                </c:pt>
                <c:pt idx="1">
                  <c:v>1.21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2"/>
          <c:order val="2"/>
          <c:tx>
            <c:v>Reported HR</c:v>
          </c:tx>
          <c:spPr>
            <a:solidFill xmlns:a="http://schemas.openxmlformats.org/drawingml/2006/main">
              <a:srgbClr val="D46A37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D46A37"/>
              </a:solidFill>
              <a:ln xmlns:a="http://schemas.openxmlformats.org/drawingml/2006/main" w="19050">
                <a:solidFill>
                  <a:srgbClr val="D46A37"/>
                </a:solidFill>
              </a:ln>
            </c:spPr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1.02</c:v>
                </c:pt>
                <c:pt idx="1">
                  <c:v>1.02</c:v>
                </c:pt>
              </c:numCache>
            </c:numRef>
          </c:xVal>
          <c:yVal>
            <c:numRef>
              <c:f>'Chart Data'!$F$2:$F$3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1.3"/>
          <c:min val="0.8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Niacin / placebo outcome ratio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  <c:majorUnit val="0.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24566F"/>
                </a:solidFill>
                <a:latin typeface="Liberation Sans"/>
                <a:ea typeface="Liberation Sans"/>
                <a:cs typeface="Liberation Sans"/>
              </a:rPr>
              <a:t>NHANES: cohort association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4566F"/>
              </a:solidFill>
              <a:latin typeface="Liberation Sans"/>
              <a:ea typeface="Liberation Sans"/>
              <a:cs typeface="Liberation Sans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Null HR = 1</c:v>
          </c:tx>
          <c:spPr>
            <a:solidFill xmlns:a="http://schemas.openxmlformats.org/drawingml/2006/main">
              <a:srgbClr val="637482"/>
            </a:solidFill>
            <a:ln xmlns:a="http://schemas.openxmlformats.org/drawingml/2006/main" w="19050">
              <a:solidFill>
                <a:srgbClr val="637482"/>
              </a:solidFill>
              <a:prstDash val="dash"/>
            </a:ln>
          </c:spPr>
          <c:marker>
            <c:symbol val="none"/>
            <c:size val="8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5</c:v>
                </c:pt>
                <c:pt idx="1">
                  <c:v>28</c:v>
                </c:pt>
              </c:numCache>
            </c:numRef>
          </c:xVal>
          <c:yVal>
            <c:numRef>
              <c:f>'Chart Data'!$B$2:$B$3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Q1 reference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diamond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7.4</c:v>
                </c:pt>
                <c:pt idx="1">
                  <c:v>7.4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2"/>
          <c:order val="2"/>
          <c:tx>
            <c:v>Q2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11.4</c:v>
                </c:pt>
                <c:pt idx="1">
                  <c:v>11.4</c:v>
                </c:pt>
              </c:numCache>
            </c:numRef>
          </c:xVal>
          <c:yVal>
            <c:numRef>
              <c:f>'Chart Data'!$F$2:$F$3</c:f>
              <c:numCache>
                <c:formatCode>0.##</c:formatCode>
                <c:ptCount val="2"/>
                <c:pt idx="0">
                  <c:v>1.02</c:v>
                </c:pt>
                <c:pt idx="1">
                  <c:v>1.12</c:v>
                </c:pt>
              </c:numCache>
            </c:numRef>
          </c:yVal>
        </c:ser>
        <c:ser>
          <c:idx val="3"/>
          <c:order val="3"/>
          <c:tx>
            <c:v>Q2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11.4</c:v>
                </c:pt>
                <c:pt idx="1">
                  <c:v>11.4</c:v>
                </c:pt>
              </c:numCache>
            </c:numRef>
          </c:xVal>
          <c:yVal>
            <c:numRef>
              <c:f>'Chart Data'!$H$2:$H$3</c:f>
              <c:numCache>
                <c:formatCode>0.##</c:formatCode>
                <c:ptCount val="2"/>
                <c:pt idx="0">
                  <c:v>1.07</c:v>
                </c:pt>
                <c:pt idx="1">
                  <c:v>1.07</c:v>
                </c:pt>
              </c:numCache>
            </c:numRef>
          </c:yVal>
        </c:ser>
        <c:ser>
          <c:idx val="4"/>
          <c:order val="4"/>
          <c:tx>
            <c:v>Q3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14.8</c:v>
                </c:pt>
                <c:pt idx="1">
                  <c:v>14.8</c:v>
                </c:pt>
              </c:numCache>
            </c:numRef>
          </c:xVal>
          <c:yVal>
            <c:numRef>
              <c:f>'Chart Data'!$J$2:$J$3</c:f>
              <c:numCache>
                <c:formatCode>0.##</c:formatCode>
                <c:ptCount val="2"/>
                <c:pt idx="0">
                  <c:v>1.06</c:v>
                </c:pt>
                <c:pt idx="1">
                  <c:v>1.31</c:v>
                </c:pt>
              </c:numCache>
            </c:numRef>
          </c:yVal>
        </c:ser>
        <c:ser>
          <c:idx val="5"/>
          <c:order val="5"/>
          <c:tx>
            <c:v>Q3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14.8</c:v>
                </c:pt>
                <c:pt idx="1">
                  <c:v>14.8</c:v>
                </c:pt>
              </c:numCache>
            </c:numRef>
          </c:xVal>
          <c:yVal>
            <c:numRef>
              <c:f>'Chart Data'!$L$2:$L$3</c:f>
              <c:numCache>
                <c:formatCode>0.##</c:formatCode>
                <c:ptCount val="2"/>
                <c:pt idx="0">
                  <c:v>1.18</c:v>
                </c:pt>
                <c:pt idx="1">
                  <c:v>1.18</c:v>
                </c:pt>
              </c:numCache>
            </c:numRef>
          </c:yVal>
        </c:ser>
        <c:ser>
          <c:idx val="6"/>
          <c:order val="6"/>
          <c:tx>
            <c:v>Q4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18.7</c:v>
                </c:pt>
                <c:pt idx="1">
                  <c:v>18.7</c:v>
                </c:pt>
              </c:numCache>
            </c:numRef>
          </c:xVal>
          <c:yVal>
            <c:numRef>
              <c:f>'Chart Data'!$N$2:$N$3</c:f>
              <c:numCache>
                <c:formatCode>0.##</c:formatCode>
                <c:ptCount val="2"/>
                <c:pt idx="0">
                  <c:v>1.11</c:v>
                </c:pt>
                <c:pt idx="1">
                  <c:v>1.7</c:v>
                </c:pt>
              </c:numCache>
            </c:numRef>
          </c:yVal>
        </c:ser>
        <c:ser>
          <c:idx val="7"/>
          <c:order val="7"/>
          <c:tx>
            <c:v>Q4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18.7</c:v>
                </c:pt>
                <c:pt idx="1">
                  <c:v>18.7</c:v>
                </c:pt>
              </c:numCache>
            </c:numRef>
          </c:xVal>
          <c:yVal>
            <c:numRef>
              <c:f>'Chart Data'!$P$2:$P$3</c:f>
              <c:numCache>
                <c:formatCode>0.##</c:formatCode>
                <c:ptCount val="2"/>
                <c:pt idx="0">
                  <c:v>1.38</c:v>
                </c:pt>
                <c:pt idx="1">
                  <c:v>1.38</c:v>
                </c:pt>
              </c:numCache>
            </c:numRef>
          </c:yVal>
        </c:ser>
        <c:ser>
          <c:idx val="8"/>
          <c:order val="8"/>
          <c:tx>
            <c:v>Q5 published 95% limits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19050">
              <a:solidFill>
                <a:srgbClr val="167D9A"/>
              </a:solidFill>
              <a:prstDash val="solid"/>
            </a:ln>
          </c:spPr>
          <c:marker>
            <c:symbol val="none"/>
            <c:size val="8"/>
          </c:marker>
          <c:xVal>
            <c:numRef>
              <c:f>'Chart Data'!$Q$2:$Q$3</c:f>
              <c:numCache>
                <c:formatCode>General</c:formatCode>
                <c:ptCount val="2"/>
                <c:pt idx="0">
                  <c:v>25.2</c:v>
                </c:pt>
                <c:pt idx="1">
                  <c:v>25.2</c:v>
                </c:pt>
              </c:numCache>
            </c:numRef>
          </c:xVal>
          <c:yVal>
            <c:numRef>
              <c:f>'Chart Data'!$R$2:$R$3</c:f>
              <c:numCache>
                <c:formatCode>0.##</c:formatCode>
                <c:ptCount val="2"/>
                <c:pt idx="0">
                  <c:v>1.26</c:v>
                </c:pt>
                <c:pt idx="1">
                  <c:v>3.27</c:v>
                </c:pt>
              </c:numCache>
            </c:numRef>
          </c:yVal>
        </c:ser>
        <c:ser>
          <c:idx val="9"/>
          <c:order val="9"/>
          <c:tx>
            <c:v>Q5</c:v>
          </c:tx>
          <c:spPr>
            <a:solidFill xmlns:a="http://schemas.openxmlformats.org/drawingml/2006/main">
              <a:srgbClr val="167D9A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solidFill xmlns:a="http://schemas.openxmlformats.org/drawingml/2006/main">
                <a:srgbClr val="167D9A"/>
              </a:solidFill>
              <a:ln xmlns:a="http://schemas.openxmlformats.org/drawingml/2006/main" w="19050">
                <a:solidFill>
                  <a:srgbClr val="167D9A"/>
                </a:solidFill>
              </a:ln>
            </c:spPr>
          </c:marker>
          <c:xVal>
            <c:numRef>
              <c:f>'Chart Data'!$S$2:$S$3</c:f>
              <c:numCache>
                <c:formatCode>General</c:formatCode>
                <c:ptCount val="2"/>
                <c:pt idx="0">
                  <c:v>25.2</c:v>
                </c:pt>
                <c:pt idx="1">
                  <c:v>25.2</c:v>
                </c:pt>
              </c:numCache>
            </c:numRef>
          </c:xVal>
          <c:yVal>
            <c:numRef>
              <c:f>'Chart Data'!$T$2:$T$3</c:f>
              <c:numCache>
                <c:formatCode>0.##</c:formatCode>
                <c:ptCount val="2"/>
                <c:pt idx="0">
                  <c:v>2.03</c:v>
                </c:pt>
                <c:pt idx="1">
                  <c:v>2.03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logBase val="2"/>
          <c:orientation val="minMax"/>
          <c:max val="4"/>
          <c:min val="0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Reported CVD mortality HR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majorUnit val="2"/>
      </c:valAx>
      <c:valAx>
        <c:axId val="48650112"/>
        <c:scaling>
          <c:orientation val="minMax"/>
          <c:max val="28"/>
          <c:min val="5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iberation Sans"/>
                    <a:ea typeface="Liberation Sans"/>
                    <a:cs typeface="Liberation Sans"/>
                  </a:rPr>
                  <a:t>Added sugar (% energy)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</c:title>
        <c:numFmt formatCode="0.##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03156-FDF8-4D53-B856-B25047D8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050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Can a correct visualization still mislead?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21015-01E9-4925-BE12-5A94CE71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1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C2A75-D359-462B-859B-DDBCE036C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67D9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167D9A"/>
                </a:solidFill>
                <a:latin typeface="Liberation Sans"/>
                <a:ea typeface="Liberation Sans"/>
                <a:cs typeface="Liberation Sans"/>
              </a:rPr>
              <a:t>Medical evidence: the mathematics behind the chart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415948-AB55-4347-A5EE-206F8F98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480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rPr>
              <a:t>AI-854 · Lecture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57153D-F244-4DC2-8D7A-4CFD5B20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344A59"/>
                </a:solidFill>
                <a:latin typeface="Liberation Sans"/>
                <a:ea typeface="Liberation Sans"/>
                <a:cs typeface="Liberation Sans"/>
              </a:rPr>
              <a:t>Cholesterol, HDL and added sugar</a:t>
            </a:r>
          </a:p>
        </p:txBody>
      </p:sp>
    </p:spTree>
    <p:extLst>
      <p:ext uri="{BB962C8B-B14F-4D97-AF65-F5344CB8AC3E}">
        <p14:creationId xmlns:p14="http://schemas.microsoft.com/office/powerpoint/2010/main" val="7606149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12F518-4CBF-4B97-90A3-FA6F5A3C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Three pitches for a health editor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F863AB-788B-42E9-A8CE-2DDAD528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2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D2E86-8652-4D2B-96A7-DC6C5E81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A: “Cholesterol is dangerous.”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B: “Raising HDL protects the heart.”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C: “Sugar is the culprit, so cholesterol was wrongly blamed.”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For each pitch: initial verdict, missing evidence, and a figure you would need.</a:t>
            </a:r>
          </a:p>
        </p:txBody>
      </p:sp>
    </p:spTree>
    <p:extLst>
      <p:ext uri="{BB962C8B-B14F-4D97-AF65-F5344CB8AC3E}">
        <p14:creationId xmlns:p14="http://schemas.microsoft.com/office/powerpoint/2010/main" val="13900462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005017-72D5-47DF-A499-8A84D468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Funding and selected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7392E6-5A8E-4098-980B-892E7578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3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232EE-AA40-47A5-8B01-17A52471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 historical analysis documents an industry-funded review that emphasized fat and cholesterol and downplayed sucrose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The sponsor helped shape the review and received drafts. The review omitted its funding disclosure.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This motivates an evidence audit. The medical claims still need testing.</a:t>
            </a:r>
          </a:p>
        </p:txBody>
      </p:sp>
    </p:spTree>
    <p:extLst>
      <p:ext uri="{BB962C8B-B14F-4D97-AF65-F5344CB8AC3E}">
        <p14:creationId xmlns:p14="http://schemas.microsoft.com/office/powerpoint/2010/main" val="3558880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F800B5-FB06-4FD9-A5F8-0F2773D9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The measurements in the 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F7442-A8C6-4841-ABAD-AD0E8C19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4 / 36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657225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86125"/>
                <a:gridCol w="3286125"/>
              </a:tblGrid>
              <a:tr h="6477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Quantity</a:t>
                      </a:r>
                    </a:p>
                  </a:txBody>
                  <a:tcPr marL="91440" marR="91440" marT="45720" marB="45720">
                    <a:solidFill>
                      <a:srgbClr val="E9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Unit or encoding</a:t>
                      </a:r>
                    </a:p>
                  </a:txBody>
                  <a:tcPr marL="91440" marR="91440" marT="45720" marB="45720">
                    <a:solidFill>
                      <a:srgbClr val="E9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LDL-C / HDL-C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mg/dL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Cardiovascular endpoint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0 or 1 per participant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Added sugar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% of total energy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Published HR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Dimensionless ratio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C3E05-0D95-4E92-948D-3008A473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09750"/>
            <a:ext cx="3905250" cy="438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LDL-C and HDL-C measure cholesterol carried in different lipoprotein fractions.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Total serum cholesterol and blood glucose are distinct laboratory measurements.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Added sugar is a dietary exposure, expressed here as a percentage of energy.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 biomarker change and a patient outcome answer different questions.</a:t>
            </a:r>
          </a:p>
        </p:txBody>
      </p:sp>
    </p:spTree>
    <p:extLst>
      <p:ext uri="{BB962C8B-B14F-4D97-AF65-F5344CB8AC3E}">
        <p14:creationId xmlns:p14="http://schemas.microsoft.com/office/powerpoint/2010/main" val="5675145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4DECD-7BE9-461F-8D09-23919E4D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Study design sets the claim’s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71D2E-D271-4CB1-9A0A-C34F56C02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5 / 36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590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477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E9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Design</a:t>
                      </a:r>
                    </a:p>
                  </a:txBody>
                  <a:tcPr marL="91440" marR="91440" marT="45720" marB="45720">
                    <a:solidFill>
                      <a:srgbClr val="E9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Classroom quantity</a:t>
                      </a:r>
                    </a:p>
                  </a:txBody>
                  <a:tcPr marL="91440" marR="91440" marT="45720" marB="45720">
                    <a:solidFill>
                      <a:srgbClr val="E9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HPS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Randomized trial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Risk difference and RR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AIM-HIGH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Randomized add-on trial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RR and published HR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NHANES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Observational cohort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Published adjusted HRs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BA54B-4D21-4DE2-AB7F-19DFB656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10820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Randomization supports a comparison of assigned treatments.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 cohort model reports an association under its adjustment assumptions.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Endpoint, population and follow-up must accompany the estimate.</a:t>
            </a:r>
          </a:p>
        </p:txBody>
      </p:sp>
    </p:spTree>
    <p:extLst>
      <p:ext uri="{BB962C8B-B14F-4D97-AF65-F5344CB8AC3E}">
        <p14:creationId xmlns:p14="http://schemas.microsoft.com/office/powerpoint/2010/main" val="10878054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2FF1D9-F82F-4AE1-92F1-B287E4CD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HPS: participants and first events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2F362F-C4C8-4A8B-B2CD-88C1D709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6 / 36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1943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477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Assigned arm</a:t>
                      </a:r>
                    </a:p>
                  </a:txBody>
                  <a:tcPr marL="91440" marR="91440" marT="45720" marB="45720">
                    <a:solidFill>
                      <a:srgbClr val="E9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Participants n</a:t>
                      </a:r>
                    </a:p>
                  </a:txBody>
                  <a:tcPr marL="91440" marR="91440" marT="45720" marB="45720">
                    <a:solidFill>
                      <a:srgbClr val="E9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With major vascular event e</a:t>
                      </a:r>
                    </a:p>
                  </a:txBody>
                  <a:tcPr marL="91440" marR="91440" marT="45720" marB="45720">
                    <a:solidFill>
                      <a:srgbClr val="E9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Simvastatin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10,269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2,033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Placebo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10,267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2,585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2A1F9F-B428-4231-9A83-0A7B2B36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2040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Composite outcome: major coronary event, stroke or revascularization.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Each affected participant contributes once to this composite. Component counts can overlap.</a:t>
            </a:r>
          </a:p>
        </p:txBody>
      </p:sp>
    </p:spTree>
    <p:extLst>
      <p:ext uri="{BB962C8B-B14F-4D97-AF65-F5344CB8AC3E}">
        <p14:creationId xmlns:p14="http://schemas.microsoft.com/office/powerpoint/2010/main" val="8647842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CCE066-1E0C-487B-8EBD-FA947D41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Binary outcomes estimate event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8E11A-9173-4181-BDB5-1AB82FEF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7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9D01E5-6247-41A2-85E9-8A17643C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Yᵢ = 1 if participant i experiences the selected event, otherwise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p̂ = (1/n) Σᵢ Yᵢ = e/n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E(Yᵢ) = p     Var(Yᵢ) = p(1 − p)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E(p̂) = p</a:t>
            </a:r>
          </a:p>
        </p:txBody>
      </p:sp>
    </p:spTree>
    <p:extLst>
      <p:ext uri="{BB962C8B-B14F-4D97-AF65-F5344CB8AC3E}">
        <p14:creationId xmlns:p14="http://schemas.microsoft.com/office/powerpoint/2010/main" val="14025045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2AFA58-0541-4717-982E-8BD6DAB5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Variance of an estimated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42E65-0F9C-4DD0-9574-CCD837BC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8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ED2B7-4BEB-4767-A8A9-7B3C7AAF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Var(p̂) = Var(ΣᵢYᵢ)/n²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Independence removes the covariance terms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Var(p̂) = np(1 − p)/n² = p(1 − p)/n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Estimated SE(p̂) = √[p̂(1 − p̂)/n]</a:t>
            </a:r>
          </a:p>
        </p:txBody>
      </p:sp>
    </p:spTree>
    <p:extLst>
      <p:ext uri="{BB962C8B-B14F-4D97-AF65-F5344CB8AC3E}">
        <p14:creationId xmlns:p14="http://schemas.microsoft.com/office/powerpoint/2010/main" val="7343671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039616-27A0-4B84-A9D5-8CA5C9B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Absolute and relative effects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36A3BE-39A7-4F90-A5AB-B19324D8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9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81244C-5944-4AAB-94F8-3523F742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ARR = p̂C − p̂T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RR = p̂T / p̂C     RRR = 1 − RR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1000 × ARR estimates fewer affected people per 1,000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ARR has probability units. RR and RRR are ratios.</a:t>
            </a:r>
          </a:p>
        </p:txBody>
      </p:sp>
    </p:spTree>
    <p:extLst>
      <p:ext uri="{BB962C8B-B14F-4D97-AF65-F5344CB8AC3E}">
        <p14:creationId xmlns:p14="http://schemas.microsoft.com/office/powerpoint/2010/main" val="19089106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AC2C3F-30F6-4DD1-88B2-9A7A8A87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HPS: the hand calculation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B75201-E828-4E96-B458-EA4783BF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10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139440-39DA-4138-A124-39CF4BA2A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Simvastatin: 2,033 / 10,269 = 19.80%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Placebo: 2,585 / 10,267 = 25.18%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ARR = 5.38 percentage points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RR = 0.786     RRR = 21.4%</a:t>
            </a:r>
          </a:p>
        </p:txBody>
      </p:sp>
    </p:spTree>
    <p:extLst>
      <p:ext uri="{BB962C8B-B14F-4D97-AF65-F5344CB8AC3E}">
        <p14:creationId xmlns:p14="http://schemas.microsoft.com/office/powerpoint/2010/main" val="130479313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A09597-96CD-4189-859A-66526901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An interval for absolute benefit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9EDE56-EB96-4DF0-BC27-EC911784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11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73E854-989F-4004-9400-F83C04FA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SE(ARR) = √[p̂C(1 − p̂C)/nC + p̂T(1 − p̂T)/nT]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Approximate 95% CI = ARR ± 1.96 × SE(ARR)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HPS: 4.24 to 6.52 percentage points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About 54 fewer affected people per 1,000 (interval 42–65)</a:t>
            </a:r>
          </a:p>
        </p:txBody>
      </p:sp>
    </p:spTree>
    <p:extLst>
      <p:ext uri="{BB962C8B-B14F-4D97-AF65-F5344CB8AC3E}">
        <p14:creationId xmlns:p14="http://schemas.microsoft.com/office/powerpoint/2010/main" val="14966440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899810-6BBC-4D3B-A1A9-ACCE4847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A shortened baseline exaggerates length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8D8FB0-A5FA-4725-AE95-E6247216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12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851C1-6198-48D9-B7BC-542F21F8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38325"/>
            <a:ext cx="3333750" cy="423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At a 15% baseline, visible heights have ratio 2.12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The actual control/treatment risk ratio is 1.27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Apparent ratio = (p̂C − b) / (p̂T − b)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476250" y="1714500"/>
          <a:ext xmlns:a="http://schemas.openxmlformats.org/drawingml/2006/main" cx="7381875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86c91c48fe4865"/>
          </a:graphicData>
        </a:graphic>
      </p:graphicFrame>
    </p:spTree>
    <p:extLst>
      <p:ext uri="{BB962C8B-B14F-4D97-AF65-F5344CB8AC3E}">
        <p14:creationId xmlns:p14="http://schemas.microsoft.com/office/powerpoint/2010/main" val="1256799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1FFAEF-608A-43F3-B955-D3AEF666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A repair follows the encoding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BBA4B-F19F-4C55-80AE-43FB3EE8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13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76271-4B06-450A-B1A4-5E536314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38325"/>
            <a:ext cx="3333750" cy="423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Zero-baseline bars preserve magnitude through length.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Restricted-axis dots can expose a small difference through position.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Axis labels and the comparison’s units stay visible.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476250" y="1714500"/>
          <a:ext xmlns:a="http://schemas.openxmlformats.org/drawingml/2006/main" cx="3667125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dcd603678145c6"/>
          </a:graphicData>
        </a:graphic>
      </p:graphicFrame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4267200" y="1714500"/>
          <a:ext xmlns:a="http://schemas.openxmlformats.org/drawingml/2006/main" cx="3667125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ddcf2109b745df"/>
          </a:graphicData>
        </a:graphic>
      </p:graphicFrame>
    </p:spTree>
    <p:extLst>
      <p:ext uri="{BB962C8B-B14F-4D97-AF65-F5344CB8AC3E}">
        <p14:creationId xmlns:p14="http://schemas.microsoft.com/office/powerpoint/2010/main" val="2684143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BCACD9-FA16-4205-9E14-68BE922F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Absolute benefit on a common denominator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A9186-7D42-4177-BC04-2B2E08D0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14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BC16B-DF95-477B-A8A3-85D5354B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38325"/>
            <a:ext cx="3333750" cy="423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Approximately 198 versus 252 affected participants per 1,000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Estimated benefit: 53.8 per 1,000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The display scales the observed risks to equal denominators.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476250" y="1714500"/>
          <a:ext xmlns:a="http://schemas.openxmlformats.org/drawingml/2006/main" cx="7381875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32f7c4063643ff"/>
          </a:graphicData>
        </a:graphic>
      </p:graphicFrame>
    </p:spTree>
    <p:extLst>
      <p:ext uri="{BB962C8B-B14F-4D97-AF65-F5344CB8AC3E}">
        <p14:creationId xmlns:p14="http://schemas.microsoft.com/office/powerpoint/2010/main" val="373094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363EC6-4D82-46AB-A69F-18BEFBCD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The HPS caption and causal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7D2725-28ED-466D-A4B0-DDD2AC05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15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E61A9-058F-4CED-A69C-661A10D3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Assignment to simvastatin reduced major vascular events by 5.38 percentage points during approximately five years.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The count-based estimate uses affected participants and assigned-arm denominators.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Wider evidence supports LDL as a causal contributor to atherosclerotic disease.</a:t>
            </a:r>
          </a:p>
        </p:txBody>
      </p:sp>
    </p:spTree>
    <p:extLst>
      <p:ext uri="{BB962C8B-B14F-4D97-AF65-F5344CB8AC3E}">
        <p14:creationId xmlns:p14="http://schemas.microsoft.com/office/powerpoint/2010/main" val="11694210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FBD38A-837D-461F-9A5A-B0B991C8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HDL: a biomarker pitch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594352-1DA4-4D59-97B6-37FC150E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16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89877-AD78-4EE1-9F54-3A607B7F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38325"/>
            <a:ext cx="3333750" cy="423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Median HDL-C in the niacin arm rose from 35 to 42 mg/dL at two years.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(42 − 35) / 35 = 20%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What evidence would connect this rise to protection?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476250" y="1714500"/>
          <a:ext xmlns:a="http://schemas.openxmlformats.org/drawingml/2006/main" cx="7381875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04ba74123f4709"/>
          </a:graphicData>
        </a:graphic>
      </p:graphicFrame>
    </p:spTree>
    <p:extLst>
      <p:ext uri="{BB962C8B-B14F-4D97-AF65-F5344CB8AC3E}">
        <p14:creationId xmlns:p14="http://schemas.microsoft.com/office/powerpoint/2010/main" val="43225861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F78CE-6F02-4AA4-9509-A92C3A9F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AIM-HIGH: the clinical outcome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D8EBF-D356-4D6E-BFB5-33CEBAE6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17 / 36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1943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477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Assigned add-on</a:t>
                      </a:r>
                    </a:p>
                  </a:txBody>
                  <a:tcPr marL="91440" marR="91440" marT="45720" marB="45720">
                    <a:solidFill>
                      <a:srgbClr val="E9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Participants n</a:t>
                      </a:r>
                    </a:p>
                  </a:txBody>
                  <a:tcPr marL="91440" marR="91440" marT="45720" marB="45720">
                    <a:solidFill>
                      <a:srgbClr val="E9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With primary endpoint e</a:t>
                      </a:r>
                    </a:p>
                  </a:txBody>
                  <a:tcPr marL="91440" marR="91440" marT="45720" marB="45720">
                    <a:solidFill>
                      <a:srgbClr val="E9F0F4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Niacin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1,718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282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Placebo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1,696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333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274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5CD6E2-8C68-48EC-9069-B0A1E499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82040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Niacin arm risk = 16.41%     Placebo arm risk = 16.16%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Both groups received intensive statin treatment.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The primary endpoint is a composite cardiovascular outcome.</a:t>
            </a:r>
          </a:p>
        </p:txBody>
      </p:sp>
    </p:spTree>
    <p:extLst>
      <p:ext uri="{BB962C8B-B14F-4D97-AF65-F5344CB8AC3E}">
        <p14:creationId xmlns:p14="http://schemas.microsoft.com/office/powerpoint/2010/main" val="16883421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A0664-EA15-4850-80B8-E2CE1F28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The delta method for log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7A0E3A-CEA4-476C-84E8-21664982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18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3F349E-96E9-4633-9A66-C0F28F82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log(p̂) ≈ log(p) + (p̂ − p)/p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Var(log p̂) ≈ Var(p̂)/p² = (1 − p)/(np)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Substitute p̂ = e/n: estimated variance = 1/e − 1/n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Independent arms: variances add for log(RR)</a:t>
            </a:r>
          </a:p>
        </p:txBody>
      </p:sp>
    </p:spTree>
    <p:extLst>
      <p:ext uri="{BB962C8B-B14F-4D97-AF65-F5344CB8AC3E}">
        <p14:creationId xmlns:p14="http://schemas.microsoft.com/office/powerpoint/2010/main" val="144342024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1EA60-6FB1-425B-996D-4784EE13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A confidence interval for a risk ratio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1D302-79B6-4885-B57E-B9496EF0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19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3B3E44-915E-4506-AF43-5E1325CB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38325"/>
            <a:ext cx="3333750" cy="423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SE(log RR) = √[1/eT − 1/nT + 1/eC − 1/nC]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Log interval: log(RR) ± 1.96 × SE(log RR)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Exponentiating both limits returns the ratio scale.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AIM-HIGH count-based RR: 1.016 (0.873–1.183)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476250" y="1714500"/>
          <a:ext xmlns:a="http://schemas.openxmlformats.org/drawingml/2006/main" cx="7381875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dc1065df5247d8"/>
          </a:graphicData>
        </a:graphic>
      </p:graphicFrame>
    </p:spTree>
    <p:extLst>
      <p:ext uri="{BB962C8B-B14F-4D97-AF65-F5344CB8AC3E}">
        <p14:creationId xmlns:p14="http://schemas.microsoft.com/office/powerpoint/2010/main" val="561191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0ED43-1A61-47C9-960B-F99031A9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An interval crossing 1 leaves uncertainty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48DDD3-2A60-4CC0-A8DD-D6A097EB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20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9E9C8-8C59-4ADD-9AB5-8EA5E4EE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The trial did not demonstrate additional clinical benefit from the niacin add-on.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Its reported HR interval spans 0.87–1.21.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Compatible effects include some benefit and some harm.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An equivalence claim requires a defined margin and suitable analysis.</a:t>
            </a:r>
          </a:p>
        </p:txBody>
      </p:sp>
    </p:spTree>
    <p:extLst>
      <p:ext uri="{BB962C8B-B14F-4D97-AF65-F5344CB8AC3E}">
        <p14:creationId xmlns:p14="http://schemas.microsoft.com/office/powerpoint/2010/main" val="10952029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EDE38-E680-43C1-AA1C-9E57B5ED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Logarithmic ratio geometry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2E2AE2-4EE8-43F4-8A3E-AB0DAD2F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21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C0650C-CE82-43C9-AC3C-BFF31363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38325"/>
            <a:ext cx="3333750" cy="423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u(r) = log(r)     u(1) =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u(2) = −u(1/2)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u(r₂) − u(r₁) = log(r₂/r₁)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Ratio plots use reference 1. Difference plots use reference 0.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476250" y="1857375"/>
          <a:ext xmlns:a="http://schemas.openxmlformats.org/drawingml/2006/main" cx="3667125" cy="3762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362e7c9da2421d"/>
          </a:graphicData>
        </a:graphic>
      </p:graphicFrame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4238625" y="1857375"/>
          <a:ext xmlns:a="http://schemas.openxmlformats.org/drawingml/2006/main" cx="3667125" cy="3762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04090d07294da7"/>
          </a:graphicData>
        </a:graphic>
      </p:graphicFrame>
    </p:spTree>
    <p:extLst>
      <p:ext uri="{BB962C8B-B14F-4D97-AF65-F5344CB8AC3E}">
        <p14:creationId xmlns:p14="http://schemas.microsoft.com/office/powerpoint/2010/main" val="168733049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FAEA0-1CDB-40DE-874E-F07C63D1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Checkpoint and 15-minute break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9DAE6-8487-484A-A76A-103B3C71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22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6BC630-ECF7-48D1-81C6-64869155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1. Why do bars and restricted-axis dots require different baseline decisions?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2. Why does the HDL rise fail to establish a treatment benefit?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3. Place 0.5, 1 and 2 on a log-ratio axis.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Break: minutes 105–120</a:t>
            </a:r>
          </a:p>
        </p:txBody>
      </p:sp>
    </p:spTree>
    <p:extLst>
      <p:ext uri="{BB962C8B-B14F-4D97-AF65-F5344CB8AC3E}">
        <p14:creationId xmlns:p14="http://schemas.microsoft.com/office/powerpoint/2010/main" val="11039815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8304AE-5603-4B17-AD36-63DCEEB0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Added sugar as a share of energy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1A3536-E6E0-4809-9106-AE4E38EF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23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3CB18-61F1-41CB-B6AB-297862D2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S% = 100 × (4 × grams of added sugar) / total kcal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50 g at 2,000 kcal = 10%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100 g at 4,000 kcal = 10%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These two diets are invented arithmetic examples.</a:t>
            </a:r>
          </a:p>
        </p:txBody>
      </p:sp>
    </p:spTree>
    <p:extLst>
      <p:ext uri="{BB962C8B-B14F-4D97-AF65-F5344CB8AC3E}">
        <p14:creationId xmlns:p14="http://schemas.microsoft.com/office/powerpoint/2010/main" val="114515975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127A4-122A-497A-9354-8BC7D363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Cumulative risk and hazard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CDCE89-CC06-4220-9495-4624792A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24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59366-06F6-42EA-938F-3F94FE39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Risk by time t: P(T ≤ 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Hazard: event rate at t conditional on survival to 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h(t) = limΔt→0 P(t ≤ T &lt; t + Δt | T ≥ t) / Δt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HR(t) = hE(t) / hR(t)</a:t>
            </a:r>
          </a:p>
        </p:txBody>
      </p:sp>
    </p:spTree>
    <p:extLst>
      <p:ext uri="{BB962C8B-B14F-4D97-AF65-F5344CB8AC3E}">
        <p14:creationId xmlns:p14="http://schemas.microsoft.com/office/powerpoint/2010/main" val="2059712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FA678B-3324-4BBE-958E-1424AE54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Two selected points make an incomplete pitch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60CB27-03CE-480A-9C43-689CAEDF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25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40E999-5526-4421-AA0F-B5751843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38325"/>
            <a:ext cx="3333750" cy="423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Q5 versus Q1: reported full-adjustment HR = 2.03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The pitch hides intermediate exposure summaries and interval width.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Which visual omissions could turn this association into advice?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476250" y="1714500"/>
          <a:ext xmlns:a="http://schemas.openxmlformats.org/drawingml/2006/main" cx="7381875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11a8e04ab143dd"/>
          </a:graphicData>
        </a:graphic>
      </p:graphicFrame>
    </p:spTree>
    <p:extLst>
      <p:ext uri="{BB962C8B-B14F-4D97-AF65-F5344CB8AC3E}">
        <p14:creationId xmlns:p14="http://schemas.microsoft.com/office/powerpoint/2010/main" val="55549767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8BFC3-C986-42C8-BF79-F3E3D35C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The full sugar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D7DFB-87A4-4D51-A121-1B5268F1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26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807B4-B826-4815-AF1E-F415955B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38325"/>
            <a:ext cx="3333750" cy="423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Numeric exposure positions preserve unequal spacing.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Intervals show precision at each reported midvalue.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Q1 is the reference. Its marker has no fabricated interval.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Q5’s 25.2% is a midvalue. Its category starts at 21.3%.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476250" y="1714500"/>
          <a:ext xmlns:a="http://schemas.openxmlformats.org/drawingml/2006/main" cx="7381875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0d060e5dba14f1d"/>
          </a:graphicData>
        </a:graphic>
      </p:graphicFrame>
    </p:spTree>
    <p:extLst>
      <p:ext uri="{BB962C8B-B14F-4D97-AF65-F5344CB8AC3E}">
        <p14:creationId xmlns:p14="http://schemas.microsoft.com/office/powerpoint/2010/main" val="177371611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D0D23D-A0CC-42DB-B847-008CCA25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Both published adjustment models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771A37-A894-4720-BA12-8F3AFAFA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27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383557-9FD2-42FB-AD82-67A1CC2A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38325"/>
            <a:ext cx="3333750" cy="423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The first model adjusts for age, sex and race/ethnicity.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The full model adds behavioral, clinical and dietary covariates.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Full adjustment includes total serum cholesterol.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 changed estimate alone cannot identify which covariate caused it.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476250" y="1762125"/>
          <a:ext xmlns:a="http://schemas.openxmlformats.org/drawingml/2006/main" cx="3667125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8738372a2a4d43"/>
          </a:graphicData>
        </a:graphic>
      </p:graphicFrame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4286250" y="1762125"/>
          <a:ext xmlns:a="http://schemas.openxmlformats.org/drawingml/2006/main" cx="3667125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ab9ac36a6f4baa"/>
          </a:graphicData>
        </a:graphic>
      </p:graphicFrame>
    </p:spTree>
    <p:extLst>
      <p:ext uri="{BB962C8B-B14F-4D97-AF65-F5344CB8AC3E}">
        <p14:creationId xmlns:p14="http://schemas.microsoft.com/office/powerpoint/2010/main" val="71582176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D01557-0F2F-4C8F-981C-825AEB95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The sugar finding’s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694E4F-7E50-40A8-BB90-88EC5B73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28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EE5145-2FBD-40FA-92BD-C98FDF58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Higher modeled usual added-sugar intake remained associated with higher CVD mortality after full adjustment.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Residual confounding and changing intake limit causal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Total serum cholesterol adjustment does not equal adjustment for LDL-C and HDL-C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This association does not erase the randomized treatment evidence.</a:t>
            </a:r>
          </a:p>
        </p:txBody>
      </p:sp>
    </p:spTree>
    <p:extLst>
      <p:ext uri="{BB962C8B-B14F-4D97-AF65-F5344CB8AC3E}">
        <p14:creationId xmlns:p14="http://schemas.microsoft.com/office/powerpoint/2010/main" val="45523601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5B886-6754-4F0B-9C79-772C1CA8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A visualization specification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A572F3-00B0-4A6D-A1AC-C4A2ACDF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29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9D8CF-B05D-4810-852D-2D991360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Question: what comparison should the reader make?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Quantity and encoding: risk difference, ratio, concentration or exposure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Scale and reference: zero for differences, one for ratios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Uncertainty and caption: study design, endpoint, comparison and period</a:t>
            </a:r>
          </a:p>
        </p:txBody>
      </p:sp>
    </p:spTree>
    <p:extLst>
      <p:ext uri="{BB962C8B-B14F-4D97-AF65-F5344CB8AC3E}">
        <p14:creationId xmlns:p14="http://schemas.microsoft.com/office/powerpoint/2010/main" val="194291750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D70BC1-5158-459B-B7C6-26512B61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Color, units and captions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A7489D-5D67-42AA-9444-36ED8738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30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F7B955-2F38-477C-BD15-58287C5A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Direct labels preserve meaning when color disappears.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HDL concentration and event risk need separate axes and panels.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An interval belongs beside its estimate and null reference.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 caption states the finding and the evidence that supports its scope.</a:t>
            </a:r>
          </a:p>
        </p:txBody>
      </p:sp>
    </p:spTree>
    <p:extLst>
      <p:ext uri="{BB962C8B-B14F-4D97-AF65-F5344CB8AC3E}">
        <p14:creationId xmlns:p14="http://schemas.microsoft.com/office/powerpoint/2010/main" val="95617526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C891D-C672-4A31-88E7-CFA0E71F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Evidence workshop: one pitch to repair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A18F0F-2429-4B6F-9ECF-716F1967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31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BCF6B-7B30-4C72-B749-51BA7332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5 min: calculate an effect and identify the omission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7 min: sketch a repaired figure with labeled units and reference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5 min: write the finding, numerical evidence and study scope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3 min: defend the repair against a reviewer challenge</a:t>
            </a:r>
          </a:p>
        </p:txBody>
      </p:sp>
    </p:spTree>
    <p:extLst>
      <p:ext uri="{BB962C8B-B14F-4D97-AF65-F5344CB8AC3E}">
        <p14:creationId xmlns:p14="http://schemas.microsoft.com/office/powerpoint/2010/main" val="38550853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D5206-9560-4503-94DB-8BE7D9D9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Reviewer challenges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13CC75-95B8-4BDC-8727-81228CDC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32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45BB02-9F25-41AE-99CA-3D4BA6B83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“Your figure shows a biomarker change. Where are the clinical outcomes?”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“Your interval crosses the null. Why does the caption claim equality?”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“Your sugar plot shows only Q1 and Q5. What did you omit?”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“Your axes show different quantities. Why are you ranking them?”</a:t>
            </a:r>
          </a:p>
        </p:txBody>
      </p:sp>
    </p:spTree>
    <p:extLst>
      <p:ext uri="{BB962C8B-B14F-4D97-AF65-F5344CB8AC3E}">
        <p14:creationId xmlns:p14="http://schemas.microsoft.com/office/powerpoint/2010/main" val="4017048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5C750-FE08-4724-A387-FFCE555C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Three findings with separate scopes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5D4A8-DE22-4ADF-86BE-6FD47C54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33 / 36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285750" y="1733550"/>
          <a:ext xmlns:a="http://schemas.openxmlformats.org/drawingml/2006/main" cx="3714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bb40a35fae4be2"/>
          </a:graphicData>
        </a:graphic>
      </p:graphicFrame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4143375" y="1733550"/>
          <a:ext xmlns:a="http://schemas.openxmlformats.org/drawingml/2006/main" cx="3714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71ef09152f4bd2"/>
          </a:graphicData>
        </a:graphic>
      </p:graphicFrame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8020050" y="1733550"/>
          <a:ext xmlns:a="http://schemas.openxmlformats.org/drawingml/2006/main" cx="3857625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e25d0243d4404c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17D39A-126F-4DE0-B406-AFD99417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102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Major vascular event</a:t>
            </a:r>
          </a:p>
          <a:p xmlns:a="http://schemas.openxmlformats.org/drawingml/2006/main">
            <a:pPr>
              <a:def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Approximately 5 years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F3B6C7-6E66-45B1-A6CD-3DBA065B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4102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Primary composite outcome</a:t>
            </a:r>
          </a:p>
          <a:p xmlns:a="http://schemas.openxmlformats.org/drawingml/2006/main">
            <a:pPr>
              <a:def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Mean 3 years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C82F9-F3F4-4457-AD3F-78063B0C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4102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CVD mortality</a:t>
            </a:r>
          </a:p>
          <a:p xmlns:a="http://schemas.openxmlformats.org/drawingml/2006/main">
            <a:pPr>
              <a:def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Full published adjustment</a:t>
            </a:r>
          </a:p>
        </p:txBody>
      </p:sp>
    </p:spTree>
    <p:extLst>
      <p:ext uri="{BB962C8B-B14F-4D97-AF65-F5344CB8AC3E}">
        <p14:creationId xmlns:p14="http://schemas.microsoft.com/office/powerpoint/2010/main" val="186645858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0897B-5803-4EAD-A8C7-F1A0AB4B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The editor’s publication brief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A8A85-0490-4A9B-A029-16CD74DA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34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F1C93C-1427-47C5-AA64-51BC657F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HPS: about 54 fewer affected people per 1,000 during approximately five years.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AIM-HIGH: the niacin add-on did not demonstrate additional clinical benefit in the studied setting.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NHANES: the positive sugar association remained after full adjustment.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Publish the specific results and replace the single-culprit headline.</a:t>
            </a:r>
          </a:p>
        </p:txBody>
      </p:sp>
    </p:spTree>
    <p:extLst>
      <p:ext uri="{BB962C8B-B14F-4D97-AF65-F5344CB8AC3E}">
        <p14:creationId xmlns:p14="http://schemas.microsoft.com/office/powerpoint/2010/main" val="156371130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D805DA-0B09-4000-A1FF-929A85E1F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Exit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412E66-4DCF-4E68-AD32-39D87F3E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35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1BC8BB-D86E-43CF-8BE2-82E71F4D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1. Translate the HPS absolute benefit into affected people per 1,000.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2. Explain why improved HDL does not establish protection.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3. Explain why the sugar association does not acquit LDL.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4. Give the null reference for a difference and for a ratio.</a:t>
            </a:r>
          </a:p>
        </p:txBody>
      </p:sp>
    </p:spTree>
    <p:extLst>
      <p:ext uri="{BB962C8B-B14F-4D97-AF65-F5344CB8AC3E}">
        <p14:creationId xmlns:p14="http://schemas.microsoft.com/office/powerpoint/2010/main" val="58574825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0E1440-653E-49D3-8220-7FEE374A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43E59"/>
                </a:solidFill>
                <a:latin typeface="Liberation Sans"/>
                <a:ea typeface="Liberation Sans"/>
                <a:cs typeface="Liberation Sans"/>
              </a:rPr>
              <a:t>Sources and further reading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DD4EB-0817-47FE-A8D6-2E787FA4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293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786"/>
                </a:solidFill>
                <a:latin typeface="Liberation Sans"/>
                <a:ea typeface="Liberation Sans"/>
                <a:cs typeface="Liberation Sans"/>
              </a:rPr>
              <a:t>36 /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F9FA40-3456-46F5-B4FC-45039C3E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820400" cy="452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HPS Collaborative Group (2002), Lancet 360:7–22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AIM-HIGH Investigators (2011), NEJM 365:2255–2267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Yang et al. (2014), JAMA Internal Medicine 174:516–524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Ference et al. (2017), European Heart Journal 38:2459–2472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72333"/>
                </a:solidFill>
                <a:latin typeface="Liberation Sans"/>
                <a:ea typeface="Liberation Sans"/>
                <a:cs typeface="Liberation Sans"/>
              </a:rPr>
              <a:t>Kearns et al. (2016), JAMA Internal Medicine 176:1680–1685</a:t>
            </a:r>
          </a:p>
        </p:txBody>
      </p:sp>
    </p:spTree>
    <p:extLst>
      <p:ext uri="{BB962C8B-B14F-4D97-AF65-F5344CB8AC3E}">
        <p14:creationId xmlns:p14="http://schemas.microsoft.com/office/powerpoint/2010/main" val="15924634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Teaching</dc:creator>
  <lastModifiedBy>Teaching</lastModifiedBy>
  <dc:title>Presentation</dc:title>
  <dcterms:created xsi:type="dcterms:W3CDTF">2026-10-07T09:51:36.9840000Z</dcterms:created>
  <dcterms:modified xsi:type="dcterms:W3CDTF">2026-10-07T09:51:36.9840000Z</dcterms:modified>
</coreProperties>
</file>