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6"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7"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1305F80-9A30-4C0C-9DD8-C5AC366B901E}"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685800" y="1143000"/>
            <a:ext cx="5486040" cy="3085920"/>
          </a:xfrm>
          <a:prstGeom prst="rect">
            <a:avLst/>
          </a:prstGeom>
          <a:ln w="0">
            <a:noFill/>
          </a:ln>
        </p:spPr>
      </p:sp>
      <p:sp>
        <p:nvSpPr>
          <p:cNvPr id="7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27"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871593-ECF7-4003-93C2-B0B3C801B06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Img"/>
          </p:nvPr>
        </p:nvSpPr>
        <p:spPr>
          <a:xfrm>
            <a:off x="685800" y="1143000"/>
            <a:ext cx="5486040" cy="3085920"/>
          </a:xfrm>
          <a:prstGeom prst="rect">
            <a:avLst/>
          </a:prstGeom>
          <a:ln w="0">
            <a:noFill/>
          </a:ln>
        </p:spPr>
      </p:sp>
      <p:sp>
        <p:nvSpPr>
          <p:cNvPr id="7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30"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DDB285E-529F-490B-8158-87FC5ACF357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sldImg"/>
          </p:nvPr>
        </p:nvSpPr>
        <p:spPr>
          <a:xfrm>
            <a:off x="685800" y="1143000"/>
            <a:ext cx="5486040" cy="3085920"/>
          </a:xfrm>
          <a:prstGeom prst="rect">
            <a:avLst/>
          </a:prstGeom>
          <a:ln w="0">
            <a:noFill/>
          </a:ln>
        </p:spPr>
      </p:sp>
      <p:sp>
        <p:nvSpPr>
          <p:cNvPr id="7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33"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BB70D74-3990-45F8-95F7-D2067777900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sldImg"/>
          </p:nvPr>
        </p:nvSpPr>
        <p:spPr>
          <a:xfrm>
            <a:off x="685800" y="1143000"/>
            <a:ext cx="5486040" cy="3085920"/>
          </a:xfrm>
          <a:prstGeom prst="rect">
            <a:avLst/>
          </a:prstGeom>
          <a:ln w="0">
            <a:noFill/>
          </a:ln>
        </p:spPr>
      </p:sp>
      <p:sp>
        <p:nvSpPr>
          <p:cNvPr id="7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36"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5AF92D-60A6-4809-A0CD-E817D5C4697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sldImg"/>
          </p:nvPr>
        </p:nvSpPr>
        <p:spPr>
          <a:xfrm>
            <a:off x="685800" y="1143000"/>
            <a:ext cx="5486040" cy="3085920"/>
          </a:xfrm>
          <a:prstGeom prst="rect">
            <a:avLst/>
          </a:prstGeom>
          <a:ln w="0">
            <a:noFill/>
          </a:ln>
        </p:spPr>
      </p:sp>
      <p:sp>
        <p:nvSpPr>
          <p:cNvPr id="7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39"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F4DACC-D0C3-4A30-AE05-96CFFC3897E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sldImg"/>
          </p:nvPr>
        </p:nvSpPr>
        <p:spPr>
          <a:xfrm>
            <a:off x="685800" y="1143000"/>
            <a:ext cx="5486040" cy="3085920"/>
          </a:xfrm>
          <a:prstGeom prst="rect">
            <a:avLst/>
          </a:prstGeom>
          <a:ln w="0">
            <a:noFill/>
          </a:ln>
        </p:spPr>
      </p:sp>
      <p:sp>
        <p:nvSpPr>
          <p:cNvPr id="7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42"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A51A869-C794-4D56-8EB9-614CD06A3E5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sldImg"/>
          </p:nvPr>
        </p:nvSpPr>
        <p:spPr>
          <a:xfrm>
            <a:off x="685800" y="1143000"/>
            <a:ext cx="5486040" cy="3085920"/>
          </a:xfrm>
          <a:prstGeom prst="rect">
            <a:avLst/>
          </a:prstGeom>
          <a:ln w="0">
            <a:noFill/>
          </a:ln>
        </p:spPr>
      </p:sp>
      <p:sp>
        <p:nvSpPr>
          <p:cNvPr id="7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45" name="PlaceHolder 3"/>
          <p:cNvSpPr>
            <a:spLocks noGrp="1"/>
          </p:cNvSpPr>
          <p:nvPr>
            <p:ph type="sldNum" idx="7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608986-9D20-4343-A448-9444090F3CD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sldImg"/>
          </p:nvPr>
        </p:nvSpPr>
        <p:spPr>
          <a:xfrm>
            <a:off x="685800" y="1143000"/>
            <a:ext cx="5486040" cy="3085920"/>
          </a:xfrm>
          <a:prstGeom prst="rect">
            <a:avLst/>
          </a:prstGeom>
          <a:ln w="0">
            <a:noFill/>
          </a:ln>
        </p:spPr>
      </p:sp>
      <p:sp>
        <p:nvSpPr>
          <p:cNvPr id="7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48"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8DE0E0-0096-488F-B4B6-5AD8EC7A28E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sldImg"/>
          </p:nvPr>
        </p:nvSpPr>
        <p:spPr>
          <a:xfrm>
            <a:off x="685800" y="1143000"/>
            <a:ext cx="5486040" cy="3085920"/>
          </a:xfrm>
          <a:prstGeom prst="rect">
            <a:avLst/>
          </a:prstGeom>
          <a:ln w="0">
            <a:noFill/>
          </a:ln>
        </p:spPr>
      </p:sp>
      <p:sp>
        <p:nvSpPr>
          <p:cNvPr id="7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51"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F8D281E-B128-4EB5-AF62-1EA2A97004B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Img"/>
          </p:nvPr>
        </p:nvSpPr>
        <p:spPr>
          <a:xfrm>
            <a:off x="685800" y="1143000"/>
            <a:ext cx="5486040" cy="3085920"/>
          </a:xfrm>
          <a:prstGeom prst="rect">
            <a:avLst/>
          </a:prstGeom>
          <a:ln w="0">
            <a:noFill/>
          </a:ln>
        </p:spPr>
      </p:sp>
      <p:sp>
        <p:nvSpPr>
          <p:cNvPr id="7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54"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E40129-4404-4D3B-98BE-21448753101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sldImg"/>
          </p:nvPr>
        </p:nvSpPr>
        <p:spPr>
          <a:xfrm>
            <a:off x="685800" y="1143000"/>
            <a:ext cx="5486040" cy="3085920"/>
          </a:xfrm>
          <a:prstGeom prst="rect">
            <a:avLst/>
          </a:prstGeom>
          <a:ln w="0">
            <a:noFill/>
          </a:ln>
        </p:spPr>
      </p:sp>
      <p:sp>
        <p:nvSpPr>
          <p:cNvPr id="7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57"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01BDE22-A552-4417-91BF-42B8F47FF2B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sldImg"/>
          </p:nvPr>
        </p:nvSpPr>
        <p:spPr>
          <a:xfrm>
            <a:off x="685800" y="1143000"/>
            <a:ext cx="5486040" cy="3085920"/>
          </a:xfrm>
          <a:prstGeom prst="rect">
            <a:avLst/>
          </a:prstGeom>
          <a:ln w="0">
            <a:noFill/>
          </a:ln>
        </p:spPr>
      </p:sp>
      <p:sp>
        <p:nvSpPr>
          <p:cNvPr id="7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60"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D5CDA0-B5A0-43EC-B023-DA932E5F778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sldImg"/>
          </p:nvPr>
        </p:nvSpPr>
        <p:spPr>
          <a:xfrm>
            <a:off x="685800" y="1143000"/>
            <a:ext cx="5486040" cy="3085920"/>
          </a:xfrm>
          <a:prstGeom prst="rect">
            <a:avLst/>
          </a:prstGeom>
          <a:ln w="0">
            <a:noFill/>
          </a:ln>
        </p:spPr>
      </p:sp>
      <p:sp>
        <p:nvSpPr>
          <p:cNvPr id="7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63" name="PlaceHolder 3"/>
          <p:cNvSpPr>
            <a:spLocks noGrp="1"/>
          </p:cNvSpPr>
          <p:nvPr>
            <p:ph type="sldNum" idx="7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6E57B97-A0AC-43D6-8DD1-383E7C2272C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type="sldImg"/>
          </p:nvPr>
        </p:nvSpPr>
        <p:spPr>
          <a:xfrm>
            <a:off x="685800" y="1143000"/>
            <a:ext cx="5486040" cy="3085920"/>
          </a:xfrm>
          <a:prstGeom prst="rect">
            <a:avLst/>
          </a:prstGeom>
          <a:ln w="0">
            <a:noFill/>
          </a:ln>
        </p:spPr>
      </p:sp>
      <p:sp>
        <p:nvSpPr>
          <p:cNvPr id="7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66" name="PlaceHolder 3"/>
          <p:cNvSpPr>
            <a:spLocks noGrp="1"/>
          </p:cNvSpPr>
          <p:nvPr>
            <p:ph type="sldNum" idx="8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3E077E7-89C9-46FB-8F5E-35231447B39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PlaceHolder 1"/>
          <p:cNvSpPr>
            <a:spLocks noGrp="1"/>
          </p:cNvSpPr>
          <p:nvPr>
            <p:ph type="sldImg"/>
          </p:nvPr>
        </p:nvSpPr>
        <p:spPr>
          <a:xfrm>
            <a:off x="685800" y="1143000"/>
            <a:ext cx="5486040" cy="3085920"/>
          </a:xfrm>
          <a:prstGeom prst="rect">
            <a:avLst/>
          </a:prstGeom>
          <a:ln w="0">
            <a:noFill/>
          </a:ln>
        </p:spPr>
      </p:sp>
      <p:sp>
        <p:nvSpPr>
          <p:cNvPr id="7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69" name="PlaceHolder 3"/>
          <p:cNvSpPr>
            <a:spLocks noGrp="1"/>
          </p:cNvSpPr>
          <p:nvPr>
            <p:ph type="sldNum" idx="8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21A0346-9704-4949-97FC-DF696D3A048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sldImg"/>
          </p:nvPr>
        </p:nvSpPr>
        <p:spPr>
          <a:xfrm>
            <a:off x="685800" y="1143000"/>
            <a:ext cx="5486040" cy="3085920"/>
          </a:xfrm>
          <a:prstGeom prst="rect">
            <a:avLst/>
          </a:prstGeom>
          <a:ln w="0">
            <a:noFill/>
          </a:ln>
        </p:spPr>
      </p:sp>
      <p:sp>
        <p:nvSpPr>
          <p:cNvPr id="7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72" name="PlaceHolder 3"/>
          <p:cNvSpPr>
            <a:spLocks noGrp="1"/>
          </p:cNvSpPr>
          <p:nvPr>
            <p:ph type="sldNum" idx="8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D52F3D-B3C0-49EB-B12D-234A2F7009F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sldImg"/>
          </p:nvPr>
        </p:nvSpPr>
        <p:spPr>
          <a:xfrm>
            <a:off x="685800" y="1143000"/>
            <a:ext cx="5486040" cy="3085920"/>
          </a:xfrm>
          <a:prstGeom prst="rect">
            <a:avLst/>
          </a:prstGeom>
          <a:ln w="0">
            <a:noFill/>
          </a:ln>
        </p:spPr>
      </p:sp>
      <p:sp>
        <p:nvSpPr>
          <p:cNvPr id="7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75" name="PlaceHolder 3"/>
          <p:cNvSpPr>
            <a:spLocks noGrp="1"/>
          </p:cNvSpPr>
          <p:nvPr>
            <p:ph type="sldNum" idx="8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8CD71B-A763-4882-B4CE-8968B671D10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sldImg"/>
          </p:nvPr>
        </p:nvSpPr>
        <p:spPr>
          <a:xfrm>
            <a:off x="685800" y="1143000"/>
            <a:ext cx="5486040" cy="3085920"/>
          </a:xfrm>
          <a:prstGeom prst="rect">
            <a:avLst/>
          </a:prstGeom>
          <a:ln w="0">
            <a:noFill/>
          </a:ln>
        </p:spPr>
      </p:sp>
      <p:sp>
        <p:nvSpPr>
          <p:cNvPr id="7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78" name="PlaceHolder 3"/>
          <p:cNvSpPr>
            <a:spLocks noGrp="1"/>
          </p:cNvSpPr>
          <p:nvPr>
            <p:ph type="sldNum" idx="8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D3077A-6DEC-42B4-B1AC-2F7E5264B1D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9" name="PlaceHolder 1"/>
          <p:cNvSpPr>
            <a:spLocks noGrp="1"/>
          </p:cNvSpPr>
          <p:nvPr>
            <p:ph type="sldImg"/>
          </p:nvPr>
        </p:nvSpPr>
        <p:spPr>
          <a:xfrm>
            <a:off x="685800" y="1143000"/>
            <a:ext cx="5486040" cy="3085920"/>
          </a:xfrm>
          <a:prstGeom prst="rect">
            <a:avLst/>
          </a:prstGeom>
          <a:ln w="0">
            <a:noFill/>
          </a:ln>
        </p:spPr>
      </p:sp>
      <p:sp>
        <p:nvSpPr>
          <p:cNvPr id="7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81" name="PlaceHolder 3"/>
          <p:cNvSpPr>
            <a:spLocks noGrp="1"/>
          </p:cNvSpPr>
          <p:nvPr>
            <p:ph type="sldNum" idx="8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18F0CD-8996-4D94-B49B-635E2A305D5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PlaceHolder 1"/>
          <p:cNvSpPr>
            <a:spLocks noGrp="1"/>
          </p:cNvSpPr>
          <p:nvPr>
            <p:ph type="sldImg"/>
          </p:nvPr>
        </p:nvSpPr>
        <p:spPr>
          <a:xfrm>
            <a:off x="685800" y="1143000"/>
            <a:ext cx="5486040" cy="3085920"/>
          </a:xfrm>
          <a:prstGeom prst="rect">
            <a:avLst/>
          </a:prstGeom>
          <a:ln w="0">
            <a:noFill/>
          </a:ln>
        </p:spPr>
      </p:sp>
      <p:sp>
        <p:nvSpPr>
          <p:cNvPr id="7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84" name="PlaceHolder 3"/>
          <p:cNvSpPr>
            <a:spLocks noGrp="1"/>
          </p:cNvSpPr>
          <p:nvPr>
            <p:ph type="sldNum" idx="8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1EC90E-817E-4C02-A609-D9392F1DBEB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sldImg"/>
          </p:nvPr>
        </p:nvSpPr>
        <p:spPr>
          <a:xfrm>
            <a:off x="685800" y="1143000"/>
            <a:ext cx="5486040" cy="3085920"/>
          </a:xfrm>
          <a:prstGeom prst="rect">
            <a:avLst/>
          </a:prstGeom>
          <a:ln w="0">
            <a:noFill/>
          </a:ln>
        </p:spPr>
      </p:sp>
      <p:sp>
        <p:nvSpPr>
          <p:cNvPr id="7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87" name="PlaceHolder 3"/>
          <p:cNvSpPr>
            <a:spLocks noGrp="1"/>
          </p:cNvSpPr>
          <p:nvPr>
            <p:ph type="sldNum" idx="8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DBB5501-501F-44C3-9A70-E4EDECBA1F7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sldImg"/>
          </p:nvPr>
        </p:nvSpPr>
        <p:spPr>
          <a:xfrm>
            <a:off x="685800" y="1143000"/>
            <a:ext cx="5486040" cy="3085920"/>
          </a:xfrm>
          <a:prstGeom prst="rect">
            <a:avLst/>
          </a:prstGeom>
          <a:ln w="0">
            <a:noFill/>
          </a:ln>
        </p:spPr>
      </p:sp>
      <p:sp>
        <p:nvSpPr>
          <p:cNvPr id="7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90" name="PlaceHolder 3"/>
          <p:cNvSpPr>
            <a:spLocks noGrp="1"/>
          </p:cNvSpPr>
          <p:nvPr>
            <p:ph type="sldNum" idx="8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93639A-CBE1-466A-B184-DB354156CA7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PlaceHolder 1"/>
          <p:cNvSpPr>
            <a:spLocks noGrp="1"/>
          </p:cNvSpPr>
          <p:nvPr>
            <p:ph type="sldImg"/>
          </p:nvPr>
        </p:nvSpPr>
        <p:spPr>
          <a:xfrm>
            <a:off x="685800" y="1143000"/>
            <a:ext cx="5486040" cy="3085920"/>
          </a:xfrm>
          <a:prstGeom prst="rect">
            <a:avLst/>
          </a:prstGeom>
          <a:ln w="0">
            <a:noFill/>
          </a:ln>
        </p:spPr>
      </p:sp>
      <p:sp>
        <p:nvSpPr>
          <p:cNvPr id="7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93" name="PlaceHolder 3"/>
          <p:cNvSpPr>
            <a:spLocks noGrp="1"/>
          </p:cNvSpPr>
          <p:nvPr>
            <p:ph type="sldNum" idx="8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449AE9-BD78-4137-A38C-46C2485320B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4" name="PlaceHolder 1"/>
          <p:cNvSpPr>
            <a:spLocks noGrp="1"/>
          </p:cNvSpPr>
          <p:nvPr>
            <p:ph type="sldImg"/>
          </p:nvPr>
        </p:nvSpPr>
        <p:spPr>
          <a:xfrm>
            <a:off x="685800" y="1143000"/>
            <a:ext cx="5486040" cy="3085920"/>
          </a:xfrm>
          <a:prstGeom prst="rect">
            <a:avLst/>
          </a:prstGeom>
          <a:ln w="0">
            <a:noFill/>
          </a:ln>
        </p:spPr>
      </p:sp>
      <p:sp>
        <p:nvSpPr>
          <p:cNvPr id="7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96" name="PlaceHolder 3"/>
          <p:cNvSpPr>
            <a:spLocks noGrp="1"/>
          </p:cNvSpPr>
          <p:nvPr>
            <p:ph type="sldNum" idx="9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B2A4964-4ADD-4C7D-BF13-83F73240F61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 name="PlaceHolder 1"/>
          <p:cNvSpPr>
            <a:spLocks noGrp="1"/>
          </p:cNvSpPr>
          <p:nvPr>
            <p:ph type="sldImg"/>
          </p:nvPr>
        </p:nvSpPr>
        <p:spPr>
          <a:xfrm>
            <a:off x="685800" y="1143000"/>
            <a:ext cx="5486040" cy="3085920"/>
          </a:xfrm>
          <a:prstGeom prst="rect">
            <a:avLst/>
          </a:prstGeom>
          <a:ln w="0">
            <a:noFill/>
          </a:ln>
        </p:spPr>
      </p:sp>
      <p:sp>
        <p:nvSpPr>
          <p:cNvPr id="7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799" name="PlaceHolder 3"/>
          <p:cNvSpPr>
            <a:spLocks noGrp="1"/>
          </p:cNvSpPr>
          <p:nvPr>
            <p:ph type="sldNum" idx="9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210742-9451-4CE2-9931-3B6246A7949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0" name="PlaceHolder 1"/>
          <p:cNvSpPr>
            <a:spLocks noGrp="1"/>
          </p:cNvSpPr>
          <p:nvPr>
            <p:ph type="sldImg"/>
          </p:nvPr>
        </p:nvSpPr>
        <p:spPr>
          <a:xfrm>
            <a:off x="685800" y="1143000"/>
            <a:ext cx="5486040" cy="3085920"/>
          </a:xfrm>
          <a:prstGeom prst="rect">
            <a:avLst/>
          </a:prstGeom>
          <a:ln w="0">
            <a:noFill/>
          </a:ln>
        </p:spPr>
      </p:sp>
      <p:sp>
        <p:nvSpPr>
          <p:cNvPr id="8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02" name="PlaceHolder 3"/>
          <p:cNvSpPr>
            <a:spLocks noGrp="1"/>
          </p:cNvSpPr>
          <p:nvPr>
            <p:ph type="sldNum" idx="9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3D4EEB0-E12D-4DF0-B8EC-BA0B6B18921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PlaceHolder 1"/>
          <p:cNvSpPr>
            <a:spLocks noGrp="1"/>
          </p:cNvSpPr>
          <p:nvPr>
            <p:ph type="sldImg"/>
          </p:nvPr>
        </p:nvSpPr>
        <p:spPr>
          <a:xfrm>
            <a:off x="685800" y="1143000"/>
            <a:ext cx="5486040" cy="3085920"/>
          </a:xfrm>
          <a:prstGeom prst="rect">
            <a:avLst/>
          </a:prstGeom>
          <a:ln w="0">
            <a:noFill/>
          </a:ln>
        </p:spPr>
      </p:sp>
      <p:sp>
        <p:nvSpPr>
          <p:cNvPr id="8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05" name="PlaceHolder 3"/>
          <p:cNvSpPr>
            <a:spLocks noGrp="1"/>
          </p:cNvSpPr>
          <p:nvPr>
            <p:ph type="sldNum" idx="9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4EAE546-5917-4598-8F0C-F28E4BC9ECF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PlaceHolder 1"/>
          <p:cNvSpPr>
            <a:spLocks noGrp="1"/>
          </p:cNvSpPr>
          <p:nvPr>
            <p:ph type="sldImg"/>
          </p:nvPr>
        </p:nvSpPr>
        <p:spPr>
          <a:xfrm>
            <a:off x="685800" y="1143000"/>
            <a:ext cx="5486040" cy="3085920"/>
          </a:xfrm>
          <a:prstGeom prst="rect">
            <a:avLst/>
          </a:prstGeom>
          <a:ln w="0">
            <a:noFill/>
          </a:ln>
        </p:spPr>
      </p:sp>
      <p:sp>
        <p:nvSpPr>
          <p:cNvPr id="8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08" name="PlaceHolder 3"/>
          <p:cNvSpPr>
            <a:spLocks noGrp="1"/>
          </p:cNvSpPr>
          <p:nvPr>
            <p:ph type="sldNum" idx="9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C79E6B7-72DC-42DE-BD18-CF41CCC3086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sldImg"/>
          </p:nvPr>
        </p:nvSpPr>
        <p:spPr>
          <a:xfrm>
            <a:off x="685800" y="1143000"/>
            <a:ext cx="5486040" cy="3085920"/>
          </a:xfrm>
          <a:prstGeom prst="rect">
            <a:avLst/>
          </a:prstGeom>
          <a:ln w="0">
            <a:noFill/>
          </a:ln>
        </p:spPr>
      </p:sp>
      <p:sp>
        <p:nvSpPr>
          <p:cNvPr id="8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11" name="PlaceHolder 3"/>
          <p:cNvSpPr>
            <a:spLocks noGrp="1"/>
          </p:cNvSpPr>
          <p:nvPr>
            <p:ph type="sldNum" idx="9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11693BB-BD87-4299-89F9-027891AAEB0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PlaceHolder 1"/>
          <p:cNvSpPr>
            <a:spLocks noGrp="1"/>
          </p:cNvSpPr>
          <p:nvPr>
            <p:ph type="sldImg"/>
          </p:nvPr>
        </p:nvSpPr>
        <p:spPr>
          <a:xfrm>
            <a:off x="685800" y="1143000"/>
            <a:ext cx="5486040" cy="3085920"/>
          </a:xfrm>
          <a:prstGeom prst="rect">
            <a:avLst/>
          </a:prstGeom>
          <a:ln w="0">
            <a:noFill/>
          </a:ln>
        </p:spPr>
      </p:sp>
      <p:sp>
        <p:nvSpPr>
          <p:cNvPr id="8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14" name="PlaceHolder 3"/>
          <p:cNvSpPr>
            <a:spLocks noGrp="1"/>
          </p:cNvSpPr>
          <p:nvPr>
            <p:ph type="sldNum" idx="9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BA7E70-3B44-49FD-9A20-50A67BD07D2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5" name="PlaceHolder 1"/>
          <p:cNvSpPr>
            <a:spLocks noGrp="1"/>
          </p:cNvSpPr>
          <p:nvPr>
            <p:ph type="sldImg"/>
          </p:nvPr>
        </p:nvSpPr>
        <p:spPr>
          <a:xfrm>
            <a:off x="685800" y="1143000"/>
            <a:ext cx="5486040" cy="3085920"/>
          </a:xfrm>
          <a:prstGeom prst="rect">
            <a:avLst/>
          </a:prstGeom>
          <a:ln w="0">
            <a:noFill/>
          </a:ln>
        </p:spPr>
      </p:sp>
      <p:sp>
        <p:nvSpPr>
          <p:cNvPr id="8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17" name="PlaceHolder 3"/>
          <p:cNvSpPr>
            <a:spLocks noGrp="1"/>
          </p:cNvSpPr>
          <p:nvPr>
            <p:ph type="sldNum" idx="9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C9619B-D67C-46DA-8C88-A25F33AE126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8" name="PlaceHolder 1"/>
          <p:cNvSpPr>
            <a:spLocks noGrp="1"/>
          </p:cNvSpPr>
          <p:nvPr>
            <p:ph type="sldImg"/>
          </p:nvPr>
        </p:nvSpPr>
        <p:spPr>
          <a:xfrm>
            <a:off x="685800" y="1143000"/>
            <a:ext cx="5486040" cy="3085920"/>
          </a:xfrm>
          <a:prstGeom prst="rect">
            <a:avLst/>
          </a:prstGeom>
          <a:ln w="0">
            <a:noFill/>
          </a:ln>
        </p:spPr>
      </p:sp>
      <p:sp>
        <p:nvSpPr>
          <p:cNvPr id="8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20" name="PlaceHolder 3"/>
          <p:cNvSpPr>
            <a:spLocks noGrp="1"/>
          </p:cNvSpPr>
          <p:nvPr>
            <p:ph type="sldNum" idx="9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074148-AA9A-49F9-8E54-448A03B01A5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1" name="PlaceHolder 1"/>
          <p:cNvSpPr>
            <a:spLocks noGrp="1"/>
          </p:cNvSpPr>
          <p:nvPr>
            <p:ph type="sldImg"/>
          </p:nvPr>
        </p:nvSpPr>
        <p:spPr>
          <a:xfrm>
            <a:off x="685800" y="1143000"/>
            <a:ext cx="5486040" cy="3085920"/>
          </a:xfrm>
          <a:prstGeom prst="rect">
            <a:avLst/>
          </a:prstGeom>
          <a:ln w="0">
            <a:noFill/>
          </a:ln>
        </p:spPr>
      </p:sp>
      <p:sp>
        <p:nvSpPr>
          <p:cNvPr id="8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23" name="PlaceHolder 3"/>
          <p:cNvSpPr>
            <a:spLocks noGrp="1"/>
          </p:cNvSpPr>
          <p:nvPr>
            <p:ph type="sldNum" idx="9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BBB142-BC10-4710-88F6-AB73090A580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4" name="PlaceHolder 1"/>
          <p:cNvSpPr>
            <a:spLocks noGrp="1"/>
          </p:cNvSpPr>
          <p:nvPr>
            <p:ph type="sldImg"/>
          </p:nvPr>
        </p:nvSpPr>
        <p:spPr>
          <a:xfrm>
            <a:off x="685800" y="1143000"/>
            <a:ext cx="5486040" cy="3085920"/>
          </a:xfrm>
          <a:prstGeom prst="rect">
            <a:avLst/>
          </a:prstGeom>
          <a:ln w="0">
            <a:noFill/>
          </a:ln>
        </p:spPr>
      </p:sp>
      <p:sp>
        <p:nvSpPr>
          <p:cNvPr id="8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26" name="PlaceHolder 3"/>
          <p:cNvSpPr>
            <a:spLocks noGrp="1"/>
          </p:cNvSpPr>
          <p:nvPr>
            <p:ph type="sldNum" idx="10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F91D1F-50E3-4717-B6D6-A0B303D7A9C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type="sldImg"/>
          </p:nvPr>
        </p:nvSpPr>
        <p:spPr>
          <a:xfrm>
            <a:off x="685800" y="1143000"/>
            <a:ext cx="5486040" cy="3085920"/>
          </a:xfrm>
          <a:prstGeom prst="rect">
            <a:avLst/>
          </a:prstGeom>
          <a:ln w="0">
            <a:noFill/>
          </a:ln>
        </p:spPr>
      </p:sp>
      <p:sp>
        <p:nvSpPr>
          <p:cNvPr id="8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29" name="PlaceHolder 3"/>
          <p:cNvSpPr>
            <a:spLocks noGrp="1"/>
          </p:cNvSpPr>
          <p:nvPr>
            <p:ph type="sldNum" idx="10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65C139-0612-4BAB-AF83-BFDDCECF1D8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0" name="PlaceHolder 1"/>
          <p:cNvSpPr>
            <a:spLocks noGrp="1"/>
          </p:cNvSpPr>
          <p:nvPr>
            <p:ph type="sldImg"/>
          </p:nvPr>
        </p:nvSpPr>
        <p:spPr>
          <a:xfrm>
            <a:off x="685800" y="1143000"/>
            <a:ext cx="5486040" cy="3085920"/>
          </a:xfrm>
          <a:prstGeom prst="rect">
            <a:avLst/>
          </a:prstGeom>
          <a:ln w="0">
            <a:noFill/>
          </a:ln>
        </p:spPr>
      </p:sp>
      <p:sp>
        <p:nvSpPr>
          <p:cNvPr id="8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32" name="PlaceHolder 3"/>
          <p:cNvSpPr>
            <a:spLocks noGrp="1"/>
          </p:cNvSpPr>
          <p:nvPr>
            <p:ph type="sldNum" idx="10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F2451A-DBF8-4F9B-9491-B1350C50CB4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3" name="PlaceHolder 1"/>
          <p:cNvSpPr>
            <a:spLocks noGrp="1"/>
          </p:cNvSpPr>
          <p:nvPr>
            <p:ph type="sldImg"/>
          </p:nvPr>
        </p:nvSpPr>
        <p:spPr>
          <a:xfrm>
            <a:off x="685800" y="1143000"/>
            <a:ext cx="5486040" cy="3085920"/>
          </a:xfrm>
          <a:prstGeom prst="rect">
            <a:avLst/>
          </a:prstGeom>
          <a:ln w="0">
            <a:noFill/>
          </a:ln>
        </p:spPr>
      </p:sp>
      <p:sp>
        <p:nvSpPr>
          <p:cNvPr id="8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35" name="PlaceHolder 3"/>
          <p:cNvSpPr>
            <a:spLocks noGrp="1"/>
          </p:cNvSpPr>
          <p:nvPr>
            <p:ph type="sldNum" idx="10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E92DBAC-2D6B-4EF1-8EC6-50E2DDA736C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6" name="PlaceHolder 1"/>
          <p:cNvSpPr>
            <a:spLocks noGrp="1"/>
          </p:cNvSpPr>
          <p:nvPr>
            <p:ph type="sldImg"/>
          </p:nvPr>
        </p:nvSpPr>
        <p:spPr>
          <a:xfrm>
            <a:off x="685800" y="1143000"/>
            <a:ext cx="5486040" cy="3085920"/>
          </a:xfrm>
          <a:prstGeom prst="rect">
            <a:avLst/>
          </a:prstGeom>
          <a:ln w="0">
            <a:noFill/>
          </a:ln>
        </p:spPr>
      </p:sp>
      <p:sp>
        <p:nvSpPr>
          <p:cNvPr id="8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38" name="PlaceHolder 3"/>
          <p:cNvSpPr>
            <a:spLocks noGrp="1"/>
          </p:cNvSpPr>
          <p:nvPr>
            <p:ph type="sldNum" idx="10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403568-846B-4795-8EF0-4D3557D0842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PlaceHolder 1"/>
          <p:cNvSpPr>
            <a:spLocks noGrp="1"/>
          </p:cNvSpPr>
          <p:nvPr>
            <p:ph type="sldImg"/>
          </p:nvPr>
        </p:nvSpPr>
        <p:spPr>
          <a:xfrm>
            <a:off x="685800" y="1143000"/>
            <a:ext cx="5486040" cy="3085920"/>
          </a:xfrm>
          <a:prstGeom prst="rect">
            <a:avLst/>
          </a:prstGeom>
          <a:ln w="0">
            <a:noFill/>
          </a:ln>
        </p:spPr>
      </p:sp>
      <p:sp>
        <p:nvSpPr>
          <p:cNvPr id="8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41" name="PlaceHolder 3"/>
          <p:cNvSpPr>
            <a:spLocks noGrp="1"/>
          </p:cNvSpPr>
          <p:nvPr>
            <p:ph type="sldNum" idx="10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17C689A-9D2E-4609-B7B2-88198D1CEB1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2" name="PlaceHolder 1"/>
          <p:cNvSpPr>
            <a:spLocks noGrp="1"/>
          </p:cNvSpPr>
          <p:nvPr>
            <p:ph type="sldImg"/>
          </p:nvPr>
        </p:nvSpPr>
        <p:spPr>
          <a:xfrm>
            <a:off x="685800" y="1143000"/>
            <a:ext cx="5486040" cy="3085920"/>
          </a:xfrm>
          <a:prstGeom prst="rect">
            <a:avLst/>
          </a:prstGeom>
          <a:ln w="0">
            <a:noFill/>
          </a:ln>
        </p:spPr>
      </p:sp>
      <p:sp>
        <p:nvSpPr>
          <p:cNvPr id="8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44" name="PlaceHolder 3"/>
          <p:cNvSpPr>
            <a:spLocks noGrp="1"/>
          </p:cNvSpPr>
          <p:nvPr>
            <p:ph type="sldNum" idx="10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C4614F-4E68-4FD1-8BD9-4E80DB53746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5" name="PlaceHolder 1"/>
          <p:cNvSpPr>
            <a:spLocks noGrp="1"/>
          </p:cNvSpPr>
          <p:nvPr>
            <p:ph type="sldImg"/>
          </p:nvPr>
        </p:nvSpPr>
        <p:spPr>
          <a:xfrm>
            <a:off x="685800" y="1143000"/>
            <a:ext cx="5486040" cy="3085920"/>
          </a:xfrm>
          <a:prstGeom prst="rect">
            <a:avLst/>
          </a:prstGeom>
          <a:ln w="0">
            <a:noFill/>
          </a:ln>
        </p:spPr>
      </p:sp>
      <p:sp>
        <p:nvSpPr>
          <p:cNvPr id="8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47" name="PlaceHolder 3"/>
          <p:cNvSpPr>
            <a:spLocks noGrp="1"/>
          </p:cNvSpPr>
          <p:nvPr>
            <p:ph type="sldNum" idx="10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95381F-1575-453E-BA29-2A5BB968816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8" name="PlaceHolder 1"/>
          <p:cNvSpPr>
            <a:spLocks noGrp="1"/>
          </p:cNvSpPr>
          <p:nvPr>
            <p:ph type="sldImg"/>
          </p:nvPr>
        </p:nvSpPr>
        <p:spPr>
          <a:xfrm>
            <a:off x="685800" y="1143000"/>
            <a:ext cx="5486040" cy="3085920"/>
          </a:xfrm>
          <a:prstGeom prst="rect">
            <a:avLst/>
          </a:prstGeom>
          <a:ln w="0">
            <a:noFill/>
          </a:ln>
        </p:spPr>
      </p:sp>
      <p:sp>
        <p:nvSpPr>
          <p:cNvPr id="8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50" name="PlaceHolder 3"/>
          <p:cNvSpPr>
            <a:spLocks noGrp="1"/>
          </p:cNvSpPr>
          <p:nvPr>
            <p:ph type="sldNum" idx="10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F43880-CCC0-4F7A-B86A-4BB64E211F1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1" name="PlaceHolder 1"/>
          <p:cNvSpPr>
            <a:spLocks noGrp="1"/>
          </p:cNvSpPr>
          <p:nvPr>
            <p:ph type="sldImg"/>
          </p:nvPr>
        </p:nvSpPr>
        <p:spPr>
          <a:xfrm>
            <a:off x="685800" y="1143000"/>
            <a:ext cx="5486040" cy="3085920"/>
          </a:xfrm>
          <a:prstGeom prst="rect">
            <a:avLst/>
          </a:prstGeom>
          <a:ln w="0">
            <a:noFill/>
          </a:ln>
        </p:spPr>
      </p:sp>
      <p:sp>
        <p:nvSpPr>
          <p:cNvPr id="8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53" name="PlaceHolder 3"/>
          <p:cNvSpPr>
            <a:spLocks noGrp="1"/>
          </p:cNvSpPr>
          <p:nvPr>
            <p:ph type="sldNum" idx="10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4B139E-083C-47AF-B9C6-9EB0C983D35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4" name="PlaceHolder 1"/>
          <p:cNvSpPr>
            <a:spLocks noGrp="1"/>
          </p:cNvSpPr>
          <p:nvPr>
            <p:ph type="sldImg"/>
          </p:nvPr>
        </p:nvSpPr>
        <p:spPr>
          <a:xfrm>
            <a:off x="685800" y="1143000"/>
            <a:ext cx="5486040" cy="3085920"/>
          </a:xfrm>
          <a:prstGeom prst="rect">
            <a:avLst/>
          </a:prstGeom>
          <a:ln w="0">
            <a:noFill/>
          </a:ln>
        </p:spPr>
      </p:sp>
      <p:sp>
        <p:nvSpPr>
          <p:cNvPr id="8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56" name="PlaceHolder 3"/>
          <p:cNvSpPr>
            <a:spLocks noGrp="1"/>
          </p:cNvSpPr>
          <p:nvPr>
            <p:ph type="sldNum" idx="1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5FF5A4-D482-47E3-9730-1EA0F9E5DE1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7" name="PlaceHolder 1"/>
          <p:cNvSpPr>
            <a:spLocks noGrp="1"/>
          </p:cNvSpPr>
          <p:nvPr>
            <p:ph type="sldImg"/>
          </p:nvPr>
        </p:nvSpPr>
        <p:spPr>
          <a:xfrm>
            <a:off x="685800" y="1143000"/>
            <a:ext cx="5486040" cy="3085920"/>
          </a:xfrm>
          <a:prstGeom prst="rect">
            <a:avLst/>
          </a:prstGeom>
          <a:ln w="0">
            <a:noFill/>
          </a:ln>
        </p:spPr>
      </p:sp>
      <p:sp>
        <p:nvSpPr>
          <p:cNvPr id="8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59" name="PlaceHolder 3"/>
          <p:cNvSpPr>
            <a:spLocks noGrp="1"/>
          </p:cNvSpPr>
          <p:nvPr>
            <p:ph type="sldNum" idx="1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B50D1BF-7AEC-4FBB-8282-38A9E4C091E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0" name="PlaceHolder 1"/>
          <p:cNvSpPr>
            <a:spLocks noGrp="1"/>
          </p:cNvSpPr>
          <p:nvPr>
            <p:ph type="sldImg"/>
          </p:nvPr>
        </p:nvSpPr>
        <p:spPr>
          <a:xfrm>
            <a:off x="685800" y="1143000"/>
            <a:ext cx="5486040" cy="3085920"/>
          </a:xfrm>
          <a:prstGeom prst="rect">
            <a:avLst/>
          </a:prstGeom>
          <a:ln w="0">
            <a:noFill/>
          </a:ln>
        </p:spPr>
      </p:sp>
      <p:sp>
        <p:nvSpPr>
          <p:cNvPr id="8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62" name="PlaceHolder 3"/>
          <p:cNvSpPr>
            <a:spLocks noGrp="1"/>
          </p:cNvSpPr>
          <p:nvPr>
            <p:ph type="sldNum" idx="1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9A5FCA-8B20-4505-B4BF-08FDCF19670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3" name="PlaceHolder 1"/>
          <p:cNvSpPr>
            <a:spLocks noGrp="1"/>
          </p:cNvSpPr>
          <p:nvPr>
            <p:ph type="sldImg"/>
          </p:nvPr>
        </p:nvSpPr>
        <p:spPr>
          <a:xfrm>
            <a:off x="685800" y="1143000"/>
            <a:ext cx="5486040" cy="3085920"/>
          </a:xfrm>
          <a:prstGeom prst="rect">
            <a:avLst/>
          </a:prstGeom>
          <a:ln w="0">
            <a:noFill/>
          </a:ln>
        </p:spPr>
      </p:sp>
      <p:sp>
        <p:nvSpPr>
          <p:cNvPr id="8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65" name="PlaceHolder 3"/>
          <p:cNvSpPr>
            <a:spLocks noGrp="1"/>
          </p:cNvSpPr>
          <p:nvPr>
            <p:ph type="sldNum" idx="1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0FD1EB-1A00-495F-AE90-47912A10924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type="sldImg"/>
          </p:nvPr>
        </p:nvSpPr>
        <p:spPr>
          <a:xfrm>
            <a:off x="685800" y="1143000"/>
            <a:ext cx="5486040" cy="3085920"/>
          </a:xfrm>
          <a:prstGeom prst="rect">
            <a:avLst/>
          </a:prstGeom>
          <a:ln w="0">
            <a:noFill/>
          </a:ln>
        </p:spPr>
      </p:sp>
      <p:sp>
        <p:nvSpPr>
          <p:cNvPr id="8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68" name="PlaceHolder 3"/>
          <p:cNvSpPr>
            <a:spLocks noGrp="1"/>
          </p:cNvSpPr>
          <p:nvPr>
            <p:ph type="sldNum" idx="1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ABE7419-5EA2-4152-BDE0-E16A1F79266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9" name="PlaceHolder 1"/>
          <p:cNvSpPr>
            <a:spLocks noGrp="1"/>
          </p:cNvSpPr>
          <p:nvPr>
            <p:ph type="sldImg"/>
          </p:nvPr>
        </p:nvSpPr>
        <p:spPr>
          <a:xfrm>
            <a:off x="685800" y="1143000"/>
            <a:ext cx="5486040" cy="3085920"/>
          </a:xfrm>
          <a:prstGeom prst="rect">
            <a:avLst/>
          </a:prstGeom>
          <a:ln w="0">
            <a:noFill/>
          </a:ln>
        </p:spPr>
      </p:sp>
      <p:sp>
        <p:nvSpPr>
          <p:cNvPr id="8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71" name="PlaceHolder 3"/>
          <p:cNvSpPr>
            <a:spLocks noGrp="1"/>
          </p:cNvSpPr>
          <p:nvPr>
            <p:ph type="sldNum" idx="1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93CF07-B46B-4EA3-86AE-68BE4F4E11D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sldImg"/>
          </p:nvPr>
        </p:nvSpPr>
        <p:spPr>
          <a:xfrm>
            <a:off x="685800" y="1143000"/>
            <a:ext cx="5486040" cy="3085920"/>
          </a:xfrm>
          <a:prstGeom prst="rect">
            <a:avLst/>
          </a:prstGeom>
          <a:ln w="0">
            <a:noFill/>
          </a:ln>
        </p:spPr>
      </p:sp>
      <p:sp>
        <p:nvSpPr>
          <p:cNvPr id="8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74" name="PlaceHolder 3"/>
          <p:cNvSpPr>
            <a:spLocks noGrp="1"/>
          </p:cNvSpPr>
          <p:nvPr>
            <p:ph type="sldNum" idx="1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1DC302-080D-4968-9171-1AFE612C044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PlaceHolder 1"/>
          <p:cNvSpPr>
            <a:spLocks noGrp="1"/>
          </p:cNvSpPr>
          <p:nvPr>
            <p:ph type="sldImg"/>
          </p:nvPr>
        </p:nvSpPr>
        <p:spPr>
          <a:xfrm>
            <a:off x="685800" y="1143000"/>
            <a:ext cx="5486040" cy="3085920"/>
          </a:xfrm>
          <a:prstGeom prst="rect">
            <a:avLst/>
          </a:prstGeom>
          <a:ln w="0">
            <a:noFill/>
          </a:ln>
        </p:spPr>
      </p:sp>
      <p:sp>
        <p:nvSpPr>
          <p:cNvPr id="8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77" name="PlaceHolder 3"/>
          <p:cNvSpPr>
            <a:spLocks noGrp="1"/>
          </p:cNvSpPr>
          <p:nvPr>
            <p:ph type="sldNum" idx="1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67B849-56F7-4F17-8418-71123E4C578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8" name="PlaceHolder 1"/>
          <p:cNvSpPr>
            <a:spLocks noGrp="1"/>
          </p:cNvSpPr>
          <p:nvPr>
            <p:ph type="sldImg"/>
          </p:nvPr>
        </p:nvSpPr>
        <p:spPr>
          <a:xfrm>
            <a:off x="685800" y="1143000"/>
            <a:ext cx="5486040" cy="3085920"/>
          </a:xfrm>
          <a:prstGeom prst="rect">
            <a:avLst/>
          </a:prstGeom>
          <a:ln w="0">
            <a:noFill/>
          </a:ln>
        </p:spPr>
      </p:sp>
      <p:sp>
        <p:nvSpPr>
          <p:cNvPr id="8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80" name="PlaceHolder 3"/>
          <p:cNvSpPr>
            <a:spLocks noGrp="1"/>
          </p:cNvSpPr>
          <p:nvPr>
            <p:ph type="sldNum" idx="1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DF4A8D-ECF8-4F92-820B-979F52CDEE5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1" name="PlaceHolder 1"/>
          <p:cNvSpPr>
            <a:spLocks noGrp="1"/>
          </p:cNvSpPr>
          <p:nvPr>
            <p:ph type="sldImg"/>
          </p:nvPr>
        </p:nvSpPr>
        <p:spPr>
          <a:xfrm>
            <a:off x="685800" y="1143000"/>
            <a:ext cx="5486040" cy="3085920"/>
          </a:xfrm>
          <a:prstGeom prst="rect">
            <a:avLst/>
          </a:prstGeom>
          <a:ln w="0">
            <a:noFill/>
          </a:ln>
        </p:spPr>
      </p:sp>
      <p:sp>
        <p:nvSpPr>
          <p:cNvPr id="8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83" name="PlaceHolder 3"/>
          <p:cNvSpPr>
            <a:spLocks noGrp="1"/>
          </p:cNvSpPr>
          <p:nvPr>
            <p:ph type="sldNum" idx="1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296E9B-3660-4418-BA35-9D5731170CE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4" name="PlaceHolder 1"/>
          <p:cNvSpPr>
            <a:spLocks noGrp="1"/>
          </p:cNvSpPr>
          <p:nvPr>
            <p:ph type="sldImg"/>
          </p:nvPr>
        </p:nvSpPr>
        <p:spPr>
          <a:xfrm>
            <a:off x="685800" y="1143000"/>
            <a:ext cx="5486040" cy="3085920"/>
          </a:xfrm>
          <a:prstGeom prst="rect">
            <a:avLst/>
          </a:prstGeom>
          <a:ln w="0">
            <a:noFill/>
          </a:ln>
        </p:spPr>
      </p:sp>
      <p:sp>
        <p:nvSpPr>
          <p:cNvPr id="8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86" name="PlaceHolder 3"/>
          <p:cNvSpPr>
            <a:spLocks noGrp="1"/>
          </p:cNvSpPr>
          <p:nvPr>
            <p:ph type="sldNum" idx="1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E23DB0-C705-4FD8-B25C-0B08EBFC711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PlaceHolder 1"/>
          <p:cNvSpPr>
            <a:spLocks noGrp="1"/>
          </p:cNvSpPr>
          <p:nvPr>
            <p:ph type="sldImg"/>
          </p:nvPr>
        </p:nvSpPr>
        <p:spPr>
          <a:xfrm>
            <a:off x="685800" y="1143000"/>
            <a:ext cx="5486040" cy="3085920"/>
          </a:xfrm>
          <a:prstGeom prst="rect">
            <a:avLst/>
          </a:prstGeom>
          <a:ln w="0">
            <a:noFill/>
          </a:ln>
        </p:spPr>
      </p:sp>
      <p:sp>
        <p:nvSpPr>
          <p:cNvPr id="8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89" name="PlaceHolder 3"/>
          <p:cNvSpPr>
            <a:spLocks noGrp="1"/>
          </p:cNvSpPr>
          <p:nvPr>
            <p:ph type="sldNum" idx="1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19BA05D-FD14-4EF9-A718-7E3A374CA13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0" name="PlaceHolder 1"/>
          <p:cNvSpPr>
            <a:spLocks noGrp="1"/>
          </p:cNvSpPr>
          <p:nvPr>
            <p:ph type="sldImg"/>
          </p:nvPr>
        </p:nvSpPr>
        <p:spPr>
          <a:xfrm>
            <a:off x="685800" y="1143000"/>
            <a:ext cx="5486040" cy="3085920"/>
          </a:xfrm>
          <a:prstGeom prst="rect">
            <a:avLst/>
          </a:prstGeom>
          <a:ln w="0">
            <a:noFill/>
          </a:ln>
        </p:spPr>
      </p:sp>
      <p:sp>
        <p:nvSpPr>
          <p:cNvPr id="8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92" name="PlaceHolder 3"/>
          <p:cNvSpPr>
            <a:spLocks noGrp="1"/>
          </p:cNvSpPr>
          <p:nvPr>
            <p:ph type="sldNum" idx="1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DF58E2-987B-4A52-88C2-3D0A5C24403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3" name="PlaceHolder 1"/>
          <p:cNvSpPr>
            <a:spLocks noGrp="1"/>
          </p:cNvSpPr>
          <p:nvPr>
            <p:ph type="sldImg"/>
          </p:nvPr>
        </p:nvSpPr>
        <p:spPr>
          <a:xfrm>
            <a:off x="685800" y="1143000"/>
            <a:ext cx="5486040" cy="3085920"/>
          </a:xfrm>
          <a:prstGeom prst="rect">
            <a:avLst/>
          </a:prstGeom>
          <a:ln w="0">
            <a:noFill/>
          </a:ln>
        </p:spPr>
      </p:sp>
      <p:sp>
        <p:nvSpPr>
          <p:cNvPr id="8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95" name="PlaceHolder 3"/>
          <p:cNvSpPr>
            <a:spLocks noGrp="1"/>
          </p:cNvSpPr>
          <p:nvPr>
            <p:ph type="sldNum" idx="1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39C50FE-C2A4-4AD3-9870-B19E137EA66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6" name="PlaceHolder 1"/>
          <p:cNvSpPr>
            <a:spLocks noGrp="1"/>
          </p:cNvSpPr>
          <p:nvPr>
            <p:ph type="sldImg"/>
          </p:nvPr>
        </p:nvSpPr>
        <p:spPr>
          <a:xfrm>
            <a:off x="685800" y="1143000"/>
            <a:ext cx="5486040" cy="3085920"/>
          </a:xfrm>
          <a:prstGeom prst="rect">
            <a:avLst/>
          </a:prstGeom>
          <a:ln w="0">
            <a:noFill/>
          </a:ln>
        </p:spPr>
      </p:sp>
      <p:sp>
        <p:nvSpPr>
          <p:cNvPr id="8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898" name="PlaceHolder 3"/>
          <p:cNvSpPr>
            <a:spLocks noGrp="1"/>
          </p:cNvSpPr>
          <p:nvPr>
            <p:ph type="sldNum" idx="1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BC8EEDC-F794-4A72-A2C3-A393BE9C46F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9" name="PlaceHolder 1"/>
          <p:cNvSpPr>
            <a:spLocks noGrp="1"/>
          </p:cNvSpPr>
          <p:nvPr>
            <p:ph type="sldImg"/>
          </p:nvPr>
        </p:nvSpPr>
        <p:spPr>
          <a:xfrm>
            <a:off x="685800" y="1143000"/>
            <a:ext cx="5486040" cy="3085920"/>
          </a:xfrm>
          <a:prstGeom prst="rect">
            <a:avLst/>
          </a:prstGeom>
          <a:ln w="0">
            <a:noFill/>
          </a:ln>
        </p:spPr>
      </p:sp>
      <p:sp>
        <p:nvSpPr>
          <p:cNvPr id="9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01" name="PlaceHolder 3"/>
          <p:cNvSpPr>
            <a:spLocks noGrp="1"/>
          </p:cNvSpPr>
          <p:nvPr>
            <p:ph type="sldNum" idx="1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9C2061D-B7B9-4CD3-B221-925A621F309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2" name="PlaceHolder 1"/>
          <p:cNvSpPr>
            <a:spLocks noGrp="1"/>
          </p:cNvSpPr>
          <p:nvPr>
            <p:ph type="sldImg"/>
          </p:nvPr>
        </p:nvSpPr>
        <p:spPr>
          <a:xfrm>
            <a:off x="685800" y="1143000"/>
            <a:ext cx="5486040" cy="3085920"/>
          </a:xfrm>
          <a:prstGeom prst="rect">
            <a:avLst/>
          </a:prstGeom>
          <a:ln w="0">
            <a:noFill/>
          </a:ln>
        </p:spPr>
      </p:sp>
      <p:sp>
        <p:nvSpPr>
          <p:cNvPr id="9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04" name="PlaceHolder 3"/>
          <p:cNvSpPr>
            <a:spLocks noGrp="1"/>
          </p:cNvSpPr>
          <p:nvPr>
            <p:ph type="sldNum" idx="1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92B1B35-7C75-4A0E-9D85-40569F14042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5" name="PlaceHolder 1"/>
          <p:cNvSpPr>
            <a:spLocks noGrp="1"/>
          </p:cNvSpPr>
          <p:nvPr>
            <p:ph type="sldImg"/>
          </p:nvPr>
        </p:nvSpPr>
        <p:spPr>
          <a:xfrm>
            <a:off x="685800" y="1143000"/>
            <a:ext cx="5486040" cy="3085920"/>
          </a:xfrm>
          <a:prstGeom prst="rect">
            <a:avLst/>
          </a:prstGeom>
          <a:ln w="0">
            <a:noFill/>
          </a:ln>
        </p:spPr>
      </p:sp>
      <p:sp>
        <p:nvSpPr>
          <p:cNvPr id="9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07" name="PlaceHolder 3"/>
          <p:cNvSpPr>
            <a:spLocks noGrp="1"/>
          </p:cNvSpPr>
          <p:nvPr>
            <p:ph type="sldNum" idx="1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60CBB4-E8EF-4962-8345-20F34345923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8" name="PlaceHolder 1"/>
          <p:cNvSpPr>
            <a:spLocks noGrp="1"/>
          </p:cNvSpPr>
          <p:nvPr>
            <p:ph type="sldImg"/>
          </p:nvPr>
        </p:nvSpPr>
        <p:spPr>
          <a:xfrm>
            <a:off x="685800" y="1143000"/>
            <a:ext cx="5486040" cy="3085920"/>
          </a:xfrm>
          <a:prstGeom prst="rect">
            <a:avLst/>
          </a:prstGeom>
          <a:ln w="0">
            <a:noFill/>
          </a:ln>
        </p:spPr>
      </p:sp>
      <p:sp>
        <p:nvSpPr>
          <p:cNvPr id="9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10" name="PlaceHolder 3"/>
          <p:cNvSpPr>
            <a:spLocks noGrp="1"/>
          </p:cNvSpPr>
          <p:nvPr>
            <p:ph type="sldNum" idx="1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1B1C66-25DE-4FA1-89E8-2E8AC14DE4E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1" name="PlaceHolder 1"/>
          <p:cNvSpPr>
            <a:spLocks noGrp="1"/>
          </p:cNvSpPr>
          <p:nvPr>
            <p:ph type="sldImg"/>
          </p:nvPr>
        </p:nvSpPr>
        <p:spPr>
          <a:xfrm>
            <a:off x="685800" y="1143000"/>
            <a:ext cx="5486040" cy="3085920"/>
          </a:xfrm>
          <a:prstGeom prst="rect">
            <a:avLst/>
          </a:prstGeom>
          <a:ln w="0">
            <a:noFill/>
          </a:ln>
        </p:spPr>
      </p:sp>
      <p:sp>
        <p:nvSpPr>
          <p:cNvPr id="9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13" name="PlaceHolder 3"/>
          <p:cNvSpPr>
            <a:spLocks noGrp="1"/>
          </p:cNvSpPr>
          <p:nvPr>
            <p:ph type="sldNum" idx="1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306B820-9D4C-4578-9AA7-E0AFAAF896B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4" name="PlaceHolder 1"/>
          <p:cNvSpPr>
            <a:spLocks noGrp="1"/>
          </p:cNvSpPr>
          <p:nvPr>
            <p:ph type="sldImg"/>
          </p:nvPr>
        </p:nvSpPr>
        <p:spPr>
          <a:xfrm>
            <a:off x="685800" y="1143000"/>
            <a:ext cx="5486040" cy="3085920"/>
          </a:xfrm>
          <a:prstGeom prst="rect">
            <a:avLst/>
          </a:prstGeom>
          <a:ln w="0">
            <a:noFill/>
          </a:ln>
        </p:spPr>
      </p:sp>
      <p:sp>
        <p:nvSpPr>
          <p:cNvPr id="9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16" name="PlaceHolder 3"/>
          <p:cNvSpPr>
            <a:spLocks noGrp="1"/>
          </p:cNvSpPr>
          <p:nvPr>
            <p:ph type="sldNum" idx="1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1DBFC8-26CD-44F3-A663-67164A0638B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PlaceHolder 1"/>
          <p:cNvSpPr>
            <a:spLocks noGrp="1"/>
          </p:cNvSpPr>
          <p:nvPr>
            <p:ph type="sldImg"/>
          </p:nvPr>
        </p:nvSpPr>
        <p:spPr>
          <a:xfrm>
            <a:off x="685800" y="1143000"/>
            <a:ext cx="5486040" cy="3085920"/>
          </a:xfrm>
          <a:prstGeom prst="rect">
            <a:avLst/>
          </a:prstGeom>
          <a:ln w="0">
            <a:noFill/>
          </a:ln>
        </p:spPr>
      </p:sp>
      <p:sp>
        <p:nvSpPr>
          <p:cNvPr id="9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19" name="PlaceHolder 3"/>
          <p:cNvSpPr>
            <a:spLocks noGrp="1"/>
          </p:cNvSpPr>
          <p:nvPr>
            <p:ph type="sldNum" idx="1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AF8008-6D39-4029-9F91-A700EB6E516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0" name="PlaceHolder 1"/>
          <p:cNvSpPr>
            <a:spLocks noGrp="1"/>
          </p:cNvSpPr>
          <p:nvPr>
            <p:ph type="sldImg"/>
          </p:nvPr>
        </p:nvSpPr>
        <p:spPr>
          <a:xfrm>
            <a:off x="685800" y="1143000"/>
            <a:ext cx="5486040" cy="3085920"/>
          </a:xfrm>
          <a:prstGeom prst="rect">
            <a:avLst/>
          </a:prstGeom>
          <a:ln w="0">
            <a:noFill/>
          </a:ln>
        </p:spPr>
      </p:sp>
      <p:sp>
        <p:nvSpPr>
          <p:cNvPr id="9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22" name="PlaceHolder 3"/>
          <p:cNvSpPr>
            <a:spLocks noGrp="1"/>
          </p:cNvSpPr>
          <p:nvPr>
            <p:ph type="sldNum" idx="1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56382F-1CBF-439C-AD57-A692245068F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3" name="PlaceHolder 1"/>
          <p:cNvSpPr>
            <a:spLocks noGrp="1"/>
          </p:cNvSpPr>
          <p:nvPr>
            <p:ph type="sldImg"/>
          </p:nvPr>
        </p:nvSpPr>
        <p:spPr>
          <a:xfrm>
            <a:off x="685800" y="1143000"/>
            <a:ext cx="5486040" cy="3085920"/>
          </a:xfrm>
          <a:prstGeom prst="rect">
            <a:avLst/>
          </a:prstGeom>
          <a:ln w="0">
            <a:noFill/>
          </a:ln>
        </p:spPr>
      </p:sp>
      <p:sp>
        <p:nvSpPr>
          <p:cNvPr id="9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25" name="PlaceHolder 3"/>
          <p:cNvSpPr>
            <a:spLocks noGrp="1"/>
          </p:cNvSpPr>
          <p:nvPr>
            <p:ph type="sldNum" idx="1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E74EDB-C377-435A-B615-29C21772BD1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type="sldImg"/>
          </p:nvPr>
        </p:nvSpPr>
        <p:spPr>
          <a:xfrm>
            <a:off x="685800" y="1143000"/>
            <a:ext cx="5486040" cy="3085920"/>
          </a:xfrm>
          <a:prstGeom prst="rect">
            <a:avLst/>
          </a:prstGeom>
          <a:ln w="0">
            <a:noFill/>
          </a:ln>
        </p:spPr>
      </p:sp>
      <p:sp>
        <p:nvSpPr>
          <p:cNvPr id="9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28" name="PlaceHolder 3"/>
          <p:cNvSpPr>
            <a:spLocks noGrp="1"/>
          </p:cNvSpPr>
          <p:nvPr>
            <p:ph type="sldNum" idx="1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736A0E-E433-4956-8346-16C6B5C72ED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9" name="PlaceHolder 1"/>
          <p:cNvSpPr>
            <a:spLocks noGrp="1"/>
          </p:cNvSpPr>
          <p:nvPr>
            <p:ph type="sldImg"/>
          </p:nvPr>
        </p:nvSpPr>
        <p:spPr>
          <a:xfrm>
            <a:off x="685800" y="1143000"/>
            <a:ext cx="5486040" cy="3085920"/>
          </a:xfrm>
          <a:prstGeom prst="rect">
            <a:avLst/>
          </a:prstGeom>
          <a:ln w="0">
            <a:noFill/>
          </a:ln>
        </p:spPr>
      </p:sp>
      <p:sp>
        <p:nvSpPr>
          <p:cNvPr id="9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p:txBody>
      </p:sp>
      <p:sp>
        <p:nvSpPr>
          <p:cNvPr id="931" name="PlaceHolder 3"/>
          <p:cNvSpPr>
            <a:spLocks noGrp="1"/>
          </p:cNvSpPr>
          <p:nvPr>
            <p:ph type="sldNum" idx="1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A4F764-E37B-4910-BD8C-A8ECFDC14A6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2CFD7C35-F880-4258-B76B-CED19228F0CF}" type="slidenum">
              <a:t>&lt;#&gt;</a:t>
            </a:fld>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sldNum" idx="1"/>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2E1FCBDF-C9B4-413C-B7DB-04061929EAF3}" type="slidenum">
              <a:rPr lang="en-US" sz="1000" b="0" u="none" strike="noStrike">
                <a:solidFill>
                  <a:srgbClr val="667786"/>
                </a:solidFill>
                <a:effectLst/>
                <a:uFillTx/>
                <a:latin typeface="Calibri"/>
                <a:ea typeface="Calibri"/>
              </a:rPr>
              <a:t>&lt;number&gt;</a:t>
            </a:fld>
            <a:endParaRPr lang="en-US" sz="1000" b="0" u="none" strike="noStrike">
              <a:solidFill>
                <a:srgbClr val="000000"/>
              </a:solidFill>
              <a:effectLst/>
              <a:uFillTx/>
              <a:latin typeface="Times New Roman"/>
            </a:endParaRPr>
          </a:p>
        </p:txBody>
      </p:sp>
      <p:sp>
        <p:nvSpPr>
          <p:cNvPr id="3"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4"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3E59"/>
        </a:solidFill>
      </p:bgPr>
    </p:bg>
    <p:spTree>
      <p:nvGrpSpPr>
        <p:cNvPr id="1" name=""/>
        <p:cNvGrpSpPr/>
        <p:nvPr/>
      </p:nvGrpSpPr>
      <p:grpSpPr>
        <a:xfrm>
          <a:off x="0" y="0"/>
          <a:ext cx="0" cy="0"/>
          <a:chOff x="0" y="0"/>
          <a:chExt cx="0" cy="0"/>
        </a:xfrm>
      </p:grpSpPr>
      <p:sp>
        <p:nvSpPr>
          <p:cNvPr id="11" name="Shape 0"/>
          <p:cNvSpPr/>
          <p:nvPr/>
        </p:nvSpPr>
        <p:spPr>
          <a:xfrm>
            <a:off x="7589520" y="1188720"/>
            <a:ext cx="4023000" cy="4023000"/>
          </a:xfrm>
          <a:prstGeom prst="ellipse">
            <a:avLst/>
          </a:prstGeom>
          <a:solidFill>
            <a:srgbClr val="1F6F8B">
              <a:alpha val="75000"/>
            </a:srgbClr>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Shape 1"/>
          <p:cNvSpPr/>
          <p:nvPr/>
        </p:nvSpPr>
        <p:spPr>
          <a:xfrm>
            <a:off x="10083960" y="2315160"/>
            <a:ext cx="3218400" cy="3218400"/>
          </a:xfrm>
          <a:prstGeom prst="ellipse">
            <a:avLst/>
          </a:prstGeom>
          <a:solidFill>
            <a:srgbClr val="D97706">
              <a:alpha val="6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 name="Text 2"/>
          <p:cNvSpPr/>
          <p:nvPr/>
        </p:nvSpPr>
        <p:spPr>
          <a:xfrm>
            <a:off x="731520" y="1554480"/>
            <a:ext cx="6400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pc="400" strike="noStrike">
                <a:solidFill>
                  <a:srgbClr val="D97706"/>
                </a:solidFill>
                <a:effectLst/>
                <a:uFillTx/>
                <a:latin typeface="Calibri"/>
                <a:ea typeface="Calibri"/>
              </a:rPr>
              <a:t>AI 854 · LECTURE 4</a:t>
            </a:r>
            <a:endParaRPr lang="en-US" sz="1800" b="0" u="none" strike="noStrike">
              <a:solidFill>
                <a:srgbClr val="FFFFFF"/>
              </a:solidFill>
              <a:effectLst/>
              <a:uFillTx/>
              <a:latin typeface="Arial"/>
            </a:endParaRPr>
          </a:p>
        </p:txBody>
      </p:sp>
      <p:sp>
        <p:nvSpPr>
          <p:cNvPr id="14" name="Text 3"/>
          <p:cNvSpPr/>
          <p:nvPr/>
        </p:nvSpPr>
        <p:spPr>
          <a:xfrm>
            <a:off x="731520" y="2103120"/>
            <a:ext cx="667476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5200" b="1" u="none" strike="noStrike">
                <a:solidFill>
                  <a:srgbClr val="FFFFFF"/>
                </a:solidFill>
                <a:effectLst/>
                <a:uFillTx/>
                <a:latin typeface="Cambria"/>
                <a:ea typeface="Cambria"/>
              </a:rPr>
              <a:t>What does an average hide?</a:t>
            </a:r>
            <a:endParaRPr lang="en-US" sz="5200" b="0" u="none" strike="noStrike">
              <a:solidFill>
                <a:srgbClr val="FFFFFF"/>
              </a:solidFill>
              <a:effectLst/>
              <a:uFillTx/>
              <a:latin typeface="Arial"/>
            </a:endParaRPr>
          </a:p>
        </p:txBody>
      </p:sp>
      <p:sp>
        <p:nvSpPr>
          <p:cNvPr id="15" name="Text 4"/>
          <p:cNvSpPr/>
          <p:nvPr/>
        </p:nvSpPr>
        <p:spPr>
          <a:xfrm>
            <a:off x="731520" y="4023360"/>
            <a:ext cx="6400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rgbClr val="CADCFC"/>
                </a:solidFill>
                <a:effectLst/>
                <a:uFillTx/>
                <a:latin typeface="Calibri"/>
                <a:ea typeface="Calibri"/>
              </a:rPr>
              <a:t>One case, five questions</a:t>
            </a:r>
            <a:endParaRPr lang="en-US" sz="2600" b="0" u="none" strike="noStrike">
              <a:solidFill>
                <a:srgbClr val="FFFFFF"/>
              </a:solidFill>
              <a:effectLst/>
              <a:uFillTx/>
              <a:latin typeface="Arial"/>
            </a:endParaRPr>
          </a:p>
        </p:txBody>
      </p:sp>
      <p:sp>
        <p:nvSpPr>
          <p:cNvPr id="16" name="Text 5"/>
          <p:cNvSpPr/>
          <p:nvPr/>
        </p:nvSpPr>
        <p:spPr>
          <a:xfrm>
            <a:off x="731520" y="5943600"/>
            <a:ext cx="6400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CADCFC"/>
                </a:solidFill>
                <a:effectLst/>
                <a:uFillTx/>
                <a:latin typeface="Calibri"/>
                <a:ea typeface="Calibri"/>
              </a:rPr>
              <a:t>Data Analysis and Visualization</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THE SEASON</a:t>
            </a:r>
            <a:endParaRPr lang="en-US" sz="1100" b="0" u="none" strike="noStrike">
              <a:solidFill>
                <a:srgbClr val="000000"/>
              </a:solidFill>
              <a:effectLst/>
              <a:uFillTx/>
              <a:latin typeface="Arial"/>
            </a:endParaRPr>
          </a:p>
        </p:txBody>
      </p:sp>
      <p:sp>
        <p:nvSpPr>
          <p:cNvPr id="18"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PSL 2017: five teams, one final</a:t>
            </a:r>
            <a:endParaRPr lang="en-US" sz="3200" b="0" u="none" strike="noStrike">
              <a:solidFill>
                <a:srgbClr val="000000"/>
              </a:solidFill>
              <a:effectLst/>
              <a:uFillTx/>
              <a:latin typeface="Arial"/>
            </a:endParaRPr>
          </a:p>
        </p:txBody>
      </p:sp>
      <p:sp>
        <p:nvSpPr>
          <p:cNvPr id="19"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20" name="Text 3"/>
          <p:cNvSpPr/>
          <p:nvPr/>
        </p:nvSpPr>
        <p:spPr>
          <a:xfrm>
            <a:off x="548640" y="1463040"/>
            <a:ext cx="877788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2017 Pakistan Super League. Matches in Dubai and Sharjah, the final in Lahore.</a:t>
            </a:r>
            <a:endParaRPr lang="en-US" sz="2760" b="0" u="none" strike="noStrike">
              <a:solidFill>
                <a:srgbClr val="000000"/>
              </a:solidFill>
              <a:effectLst/>
              <a:uFillTx/>
              <a:latin typeface="Arial"/>
            </a:endParaRPr>
          </a:p>
        </p:txBody>
      </p:sp>
      <p:sp>
        <p:nvSpPr>
          <p:cNvPr id="21" name="Text 4"/>
          <p:cNvSpPr/>
          <p:nvPr/>
        </p:nvSpPr>
        <p:spPr>
          <a:xfrm>
            <a:off x="548640" y="2652840"/>
            <a:ext cx="877788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Two of the five teams are our case: </a:t>
            </a:r>
            <a:r>
              <a:rPr lang="en-US" sz="2760" b="1" u="none" strike="noStrike">
                <a:solidFill>
                  <a:srgbClr val="172333"/>
                </a:solidFill>
                <a:effectLst/>
                <a:uFillTx/>
                <a:latin typeface="Calibri"/>
                <a:ea typeface="Calibri"/>
              </a:rPr>
              <a:t>Peshawar Zalmi</a:t>
            </a:r>
            <a:r>
              <a:rPr lang="en-US" sz="2760" b="0" u="none" strike="noStrike">
                <a:solidFill>
                  <a:srgbClr val="172333"/>
                </a:solidFill>
                <a:effectLst/>
                <a:uFillTx/>
                <a:latin typeface="Calibri"/>
                <a:ea typeface="Calibri"/>
              </a:rPr>
              <a:t> and </a:t>
            </a:r>
            <a:r>
              <a:rPr lang="en-US" sz="2760" b="1" u="none" strike="noStrike">
                <a:solidFill>
                  <a:srgbClr val="172333"/>
                </a:solidFill>
                <a:effectLst/>
                <a:uFillTx/>
                <a:latin typeface="Calibri"/>
                <a:ea typeface="Calibri"/>
              </a:rPr>
              <a:t>Quetta Gladiators</a:t>
            </a:r>
            <a:r>
              <a:rPr lang="en-US" sz="2760" b="0" u="none" strike="noStrike">
                <a:solidFill>
                  <a:srgbClr val="172333"/>
                </a:solidFill>
                <a:effectLst/>
                <a:uFillTx/>
                <a:latin typeface="Calibri"/>
                <a:ea typeface="Calibri"/>
              </a:rPr>
              <a:t>.</a:t>
            </a:r>
            <a:endParaRPr lang="en-US" sz="2760" b="0" u="none" strike="noStrike">
              <a:solidFill>
                <a:srgbClr val="000000"/>
              </a:solidFill>
              <a:effectLst/>
              <a:uFillTx/>
              <a:latin typeface="Arial"/>
            </a:endParaRPr>
          </a:p>
        </p:txBody>
      </p:sp>
      <p:sp>
        <p:nvSpPr>
          <p:cNvPr id="22" name="Text 5"/>
          <p:cNvSpPr/>
          <p:nvPr/>
        </p:nvSpPr>
        <p:spPr>
          <a:xfrm>
            <a:off x="548640" y="3843000"/>
            <a:ext cx="877788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We start with the season. The statistics come later, and they will answer a question the season raises.</a:t>
            </a:r>
            <a:endParaRPr lang="en-US" sz="2760" b="0" u="none" strike="noStrike">
              <a:solidFill>
                <a:srgbClr val="000000"/>
              </a:solidFill>
              <a:effectLst/>
              <a:uFillTx/>
              <a:latin typeface="Arial"/>
            </a:endParaRPr>
          </a:p>
        </p:txBody>
      </p:sp>
      <p:sp>
        <p:nvSpPr>
          <p:cNvPr id="23" name="Shape 6"/>
          <p:cNvSpPr/>
          <p:nvPr/>
        </p:nvSpPr>
        <p:spPr>
          <a:xfrm>
            <a:off x="9692640" y="4846320"/>
            <a:ext cx="1188360" cy="11883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 name="Shape 7"/>
          <p:cNvSpPr/>
          <p:nvPr/>
        </p:nvSpPr>
        <p:spPr>
          <a:xfrm>
            <a:off x="10429560" y="5179320"/>
            <a:ext cx="950760" cy="950760"/>
          </a:xfrm>
          <a:prstGeom prst="ellipse">
            <a:avLst/>
          </a:prstGeom>
          <a:solidFill>
            <a:srgbClr val="D97706">
              <a:alpha val="8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 name="PlaceHolder 1"/>
          <p:cNvSpPr>
            <a:spLocks noGrp="1"/>
          </p:cNvSpPr>
          <p:nvPr>
            <p:ph type="sldNum" idx="5"/>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F4B1C102-5A5F-4716-8585-509955CBEB9F}"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THE SEASON</a:t>
            </a:r>
            <a:endParaRPr lang="en-US" sz="1100" b="0" u="none" strike="noStrike">
              <a:solidFill>
                <a:srgbClr val="000000"/>
              </a:solidFill>
              <a:effectLst/>
              <a:uFillTx/>
              <a:latin typeface="Arial"/>
            </a:endParaRPr>
          </a:p>
        </p:txBody>
      </p:sp>
      <p:sp>
        <p:nvSpPr>
          <p:cNvPr id="27"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two teams' seasons</a:t>
            </a:r>
            <a:endParaRPr lang="en-US" sz="3200" b="0" u="none" strike="noStrike">
              <a:solidFill>
                <a:srgbClr val="000000"/>
              </a:solidFill>
              <a:effectLst/>
              <a:uFillTx/>
              <a:latin typeface="Arial"/>
            </a:endParaRPr>
          </a:p>
        </p:txBody>
      </p:sp>
      <p:sp>
        <p:nvSpPr>
          <p:cNvPr id="28"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29" name="Table 0"/>
          <p:cNvGraphicFramePr/>
          <p:nvPr/>
        </p:nvGraphicFramePr>
        <p:xfrm>
          <a:off x="548640" y="1463040"/>
          <a:ext cx="11091240" cy="1274400"/>
        </p:xfrm>
        <a:graphic>
          <a:graphicData uri="http://schemas.openxmlformats.org/drawingml/2006/table">
            <a:tbl>
              <a:tblPr/>
              <a:tblGrid>
                <a:gridCol w="4190040"/>
                <a:gridCol w="1725120"/>
                <a:gridCol w="1478880"/>
                <a:gridCol w="1478880"/>
                <a:gridCol w="2218320"/>
              </a:tblGrid>
              <a:tr h="0">
                <a:tc>
                  <a:txBody>
                    <a:bodyPr anchor="ctr">
                      <a:noAutofit/>
                    </a:bodyPr>
                    <a:p>
                      <a:endParaRPr lang="en-US" sz="1800" b="0" u="none" strike="noStrike">
                        <a:solidFill>
                          <a:schemeClr val="dk1"/>
                        </a:solidFill>
                        <a:effectLst/>
                        <a:uFillTx/>
                        <a:latin typeface="Calibri"/>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Matches</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Won</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Lost</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No result</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 Zalmi</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6</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4</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Quetta Gladiators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10</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5</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4</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30" name="Text 3"/>
          <p:cNvSpPr/>
          <p:nvPr/>
        </p:nvSpPr>
        <p:spPr>
          <a:xfrm>
            <a:off x="548640" y="334260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Nearly identical records. Peshawar won the final.</a:t>
            </a:r>
            <a:endParaRPr lang="en-US" sz="2760" b="0" u="none" strike="noStrike">
              <a:solidFill>
                <a:srgbClr val="000000"/>
              </a:solidFill>
              <a:effectLst/>
              <a:uFillTx/>
              <a:latin typeface="Arial"/>
            </a:endParaRPr>
          </a:p>
        </p:txBody>
      </p:sp>
      <p:sp>
        <p:nvSpPr>
          <p:cNvPr id="31" name="Text 4"/>
          <p:cNvSpPr/>
          <p:nvPr/>
        </p:nvSpPr>
        <p:spPr>
          <a:xfrm>
            <a:off x="548640" y="40838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1" u="none" strike="noStrike">
                <a:solidFill>
                  <a:srgbClr val="172333"/>
                </a:solidFill>
                <a:effectLst/>
                <a:uFillTx/>
                <a:latin typeface="Calibri"/>
                <a:ea typeface="Calibri"/>
              </a:rPr>
              <a:t>Predict:</a:t>
            </a:r>
            <a:r>
              <a:rPr lang="en-US" sz="2760" b="0" u="none" strike="noStrike">
                <a:solidFill>
                  <a:srgbClr val="172333"/>
                </a:solidFill>
                <a:effectLst/>
                <a:uFillTx/>
                <a:latin typeface="Calibri"/>
                <a:ea typeface="Calibri"/>
              </a:rPr>
              <a:t> in a T20 season, how close do you expect the final scores to be?</a:t>
            </a:r>
            <a:endParaRPr lang="en-US" sz="2760" b="0" u="none" strike="noStrike">
              <a:solidFill>
                <a:srgbClr val="000000"/>
              </a:solidFill>
              <a:effectLst/>
              <a:uFillTx/>
              <a:latin typeface="Arial"/>
            </a:endParaRPr>
          </a:p>
        </p:txBody>
      </p:sp>
      <p:sp>
        <p:nvSpPr>
          <p:cNvPr id="32" name="PlaceHolder 1"/>
          <p:cNvSpPr>
            <a:spLocks noGrp="1"/>
          </p:cNvSpPr>
          <p:nvPr>
            <p:ph type="sldNum" idx="6"/>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151E64B0-E26B-438E-9A9E-62561F607E20}"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THE SEASON</a:t>
            </a:r>
            <a:endParaRPr lang="en-US" sz="1100" b="0" u="none" strike="noStrike">
              <a:solidFill>
                <a:srgbClr val="000000"/>
              </a:solidFill>
              <a:effectLst/>
              <a:uFillTx/>
              <a:latin typeface="Arial"/>
            </a:endParaRPr>
          </a:p>
        </p:txBody>
      </p:sp>
      <p:sp>
        <p:nvSpPr>
          <p:cNvPr id="34"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Every match, both teams</a:t>
            </a:r>
            <a:endParaRPr lang="en-US" sz="3200" b="0" u="none" strike="noStrike">
              <a:solidFill>
                <a:srgbClr val="000000"/>
              </a:solidFill>
              <a:effectLst/>
              <a:uFillTx/>
              <a:latin typeface="Arial"/>
            </a:endParaRPr>
          </a:p>
        </p:txBody>
      </p:sp>
      <p:sp>
        <p:nvSpPr>
          <p:cNvPr id="35"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36" name="Image 0" descr="Every match, both teams"/>
          <p:cNvPicPr/>
          <p:nvPr/>
        </p:nvPicPr>
        <p:blipFill>
          <a:blip r:embed="rId1"/>
          <a:stretch/>
        </p:blipFill>
        <p:spPr>
          <a:xfrm>
            <a:off x="723240" y="1463040"/>
            <a:ext cx="10249560" cy="4251960"/>
          </a:xfrm>
          <a:prstGeom prst="rect">
            <a:avLst/>
          </a:prstGeom>
          <a:noFill/>
          <a:ln w="0">
            <a:noFill/>
          </a:ln>
        </p:spPr>
      </p:pic>
      <p:sp>
        <p:nvSpPr>
          <p:cNvPr id="37" name="Text 3"/>
          <p:cNvSpPr/>
          <p:nvPr/>
        </p:nvSpPr>
        <p:spPr>
          <a:xfrm>
            <a:off x="548640" y="5968440"/>
            <a:ext cx="11091240" cy="88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u="none" strike="noStrike">
                <a:solidFill>
                  <a:srgbClr val="172333"/>
                </a:solidFill>
                <a:effectLst/>
                <a:uFillTx/>
                <a:latin typeface="Calibri"/>
                <a:ea typeface="Calibri"/>
              </a:rPr>
              <a:t>Filled dot: own total. Hollow dot: opponent's total. A short line is a close game.</a:t>
            </a:r>
            <a:endParaRPr lang="en-US" sz="2400" b="0" u="none" strike="noStrike">
              <a:solidFill>
                <a:srgbClr val="000000"/>
              </a:solidFill>
              <a:effectLst/>
              <a:uFillTx/>
              <a:latin typeface="Arial"/>
            </a:endParaRPr>
          </a:p>
        </p:txBody>
      </p:sp>
      <p:sp>
        <p:nvSpPr>
          <p:cNvPr id="38" name="PlaceHolder 1"/>
          <p:cNvSpPr>
            <a:spLocks noGrp="1"/>
          </p:cNvSpPr>
          <p:nvPr>
            <p:ph type="sldNum" idx="7"/>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82D2250C-2270-4D6B-AFBF-06EC31A25938}"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THE SEASON</a:t>
            </a:r>
            <a:endParaRPr lang="en-US" sz="1100" b="0" u="none" strike="noStrike">
              <a:solidFill>
                <a:srgbClr val="000000"/>
              </a:solidFill>
              <a:effectLst/>
              <a:uFillTx/>
              <a:latin typeface="Arial"/>
            </a:endParaRPr>
          </a:p>
        </p:txBody>
      </p:sp>
      <p:sp>
        <p:nvSpPr>
          <p:cNvPr id="40"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A season of small margins</a:t>
            </a:r>
            <a:endParaRPr lang="en-US" sz="3200" b="0" u="none" strike="noStrike">
              <a:solidFill>
                <a:srgbClr val="000000"/>
              </a:solidFill>
              <a:effectLst/>
              <a:uFillTx/>
              <a:latin typeface="Arial"/>
            </a:endParaRPr>
          </a:p>
        </p:txBody>
      </p:sp>
      <p:sp>
        <p:nvSpPr>
          <p:cNvPr id="41"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42" name="Text 3"/>
          <p:cNvSpPr/>
          <p:nvPr/>
        </p:nvSpPr>
        <p:spPr>
          <a:xfrm>
            <a:off x="548640" y="1463040"/>
            <a:ext cx="11091240" cy="94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570" b="0" u="none" strike="noStrike">
                <a:solidFill>
                  <a:srgbClr val="172333"/>
                </a:solidFill>
                <a:effectLst/>
                <a:uFillTx/>
                <a:latin typeface="Calibri"/>
                <a:ea typeface="Calibri"/>
              </a:rPr>
              <a:t>Of the 9 decided games Peshawar played, 5 finished with totals within five runs. For Quetta it was 7 of 9.</a:t>
            </a:r>
            <a:endParaRPr lang="en-US" sz="2570" b="0" u="none" strike="noStrike">
              <a:solidFill>
                <a:srgbClr val="000000"/>
              </a:solidFill>
              <a:effectLst/>
              <a:uFillTx/>
              <a:latin typeface="Arial"/>
            </a:endParaRPr>
          </a:p>
        </p:txBody>
      </p:sp>
      <p:sp>
        <p:nvSpPr>
          <p:cNvPr id="43" name="Shape 4"/>
          <p:cNvSpPr/>
          <p:nvPr/>
        </p:nvSpPr>
        <p:spPr>
          <a:xfrm>
            <a:off x="548640" y="2590560"/>
            <a:ext cx="11091240" cy="597600"/>
          </a:xfrm>
          <a:prstGeom prst="roundRect">
            <a:avLst>
              <a:gd name="adj" fmla="val 12234"/>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 name="Shape 5"/>
          <p:cNvSpPr/>
          <p:nvPr/>
        </p:nvSpPr>
        <p:spPr>
          <a:xfrm>
            <a:off x="786240" y="28072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 name="Text 6"/>
          <p:cNvSpPr/>
          <p:nvPr/>
        </p:nvSpPr>
        <p:spPr>
          <a:xfrm>
            <a:off x="1234440" y="2590560"/>
            <a:ext cx="10222560" cy="597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60" b="0" u="none" strike="noStrike">
                <a:solidFill>
                  <a:srgbClr val="172333"/>
                </a:solidFill>
                <a:effectLst/>
                <a:uFillTx/>
                <a:latin typeface="Calibri"/>
                <a:ea typeface="Calibri"/>
              </a:rPr>
              <a:t>Peshawar chased </a:t>
            </a:r>
            <a:r>
              <a:rPr lang="en-US" sz="2360" b="1" u="none" strike="noStrike">
                <a:solidFill>
                  <a:srgbClr val="172333"/>
                </a:solidFill>
                <a:effectLst/>
                <a:uFillTx/>
                <a:latin typeface="Calibri"/>
                <a:ea typeface="Calibri"/>
              </a:rPr>
              <a:t>60</a:t>
            </a:r>
            <a:r>
              <a:rPr lang="en-US" sz="2360" b="0" u="none" strike="noStrike">
                <a:solidFill>
                  <a:srgbClr val="172333"/>
                </a:solidFill>
                <a:effectLst/>
                <a:uFillTx/>
                <a:latin typeface="Calibri"/>
                <a:ea typeface="Calibri"/>
              </a:rPr>
              <a:t> and beat Lahore's </a:t>
            </a:r>
            <a:r>
              <a:rPr lang="en-US" sz="2360" b="1" u="none" strike="noStrike">
                <a:solidFill>
                  <a:srgbClr val="172333"/>
                </a:solidFill>
                <a:effectLst/>
                <a:uFillTx/>
                <a:latin typeface="Calibri"/>
                <a:ea typeface="Calibri"/>
              </a:rPr>
              <a:t>59</a:t>
            </a:r>
            <a:r>
              <a:rPr lang="en-US" sz="2360" b="0" u="none" strike="noStrike">
                <a:solidFill>
                  <a:srgbClr val="172333"/>
                </a:solidFill>
                <a:effectLst/>
                <a:uFillTx/>
                <a:latin typeface="Calibri"/>
                <a:ea typeface="Calibri"/>
              </a:rPr>
              <a:t>.</a:t>
            </a:r>
            <a:endParaRPr lang="en-US" sz="2360" b="0" u="none" strike="noStrike">
              <a:solidFill>
                <a:srgbClr val="000000"/>
              </a:solidFill>
              <a:effectLst/>
              <a:uFillTx/>
              <a:latin typeface="Arial"/>
            </a:endParaRPr>
          </a:p>
        </p:txBody>
      </p:sp>
      <p:sp>
        <p:nvSpPr>
          <p:cNvPr id="46" name="Shape 7"/>
          <p:cNvSpPr/>
          <p:nvPr/>
        </p:nvSpPr>
        <p:spPr>
          <a:xfrm>
            <a:off x="548640" y="3286440"/>
            <a:ext cx="11091240" cy="597600"/>
          </a:xfrm>
          <a:prstGeom prst="roundRect">
            <a:avLst>
              <a:gd name="adj" fmla="val 12234"/>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 name="Shape 8"/>
          <p:cNvSpPr/>
          <p:nvPr/>
        </p:nvSpPr>
        <p:spPr>
          <a:xfrm>
            <a:off x="786240" y="350280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 name="Text 9"/>
          <p:cNvSpPr/>
          <p:nvPr/>
        </p:nvSpPr>
        <p:spPr>
          <a:xfrm>
            <a:off x="1234440" y="3286440"/>
            <a:ext cx="10222560" cy="597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60" b="0" u="none" strike="noStrike">
                <a:solidFill>
                  <a:srgbClr val="172333"/>
                </a:solidFill>
                <a:effectLst/>
                <a:uFillTx/>
                <a:latin typeface="Calibri"/>
                <a:ea typeface="Calibri"/>
              </a:rPr>
              <a:t>Peshawar chased </a:t>
            </a:r>
            <a:r>
              <a:rPr lang="en-US" sz="2360" b="1" u="none" strike="noStrike">
                <a:solidFill>
                  <a:srgbClr val="172333"/>
                </a:solidFill>
                <a:effectLst/>
                <a:uFillTx/>
                <a:latin typeface="Calibri"/>
                <a:ea typeface="Calibri"/>
              </a:rPr>
              <a:t>119</a:t>
            </a:r>
            <a:r>
              <a:rPr lang="en-US" sz="2360" b="0" u="none" strike="noStrike">
                <a:solidFill>
                  <a:srgbClr val="172333"/>
                </a:solidFill>
                <a:effectLst/>
                <a:uFillTx/>
                <a:latin typeface="Calibri"/>
                <a:ea typeface="Calibri"/>
              </a:rPr>
              <a:t> against Karachi's </a:t>
            </a:r>
            <a:r>
              <a:rPr lang="en-US" sz="2360" b="1" u="none" strike="noStrike">
                <a:solidFill>
                  <a:srgbClr val="172333"/>
                </a:solidFill>
                <a:effectLst/>
                <a:uFillTx/>
                <a:latin typeface="Calibri"/>
                <a:ea typeface="Calibri"/>
              </a:rPr>
              <a:t>118</a:t>
            </a:r>
            <a:r>
              <a:rPr lang="en-US" sz="2360" b="0" u="none" strike="noStrike">
                <a:solidFill>
                  <a:srgbClr val="172333"/>
                </a:solidFill>
                <a:effectLst/>
                <a:uFillTx/>
                <a:latin typeface="Calibri"/>
                <a:ea typeface="Calibri"/>
              </a:rPr>
              <a:t>.</a:t>
            </a:r>
            <a:endParaRPr lang="en-US" sz="2360" b="0" u="none" strike="noStrike">
              <a:solidFill>
                <a:srgbClr val="000000"/>
              </a:solidFill>
              <a:effectLst/>
              <a:uFillTx/>
              <a:latin typeface="Arial"/>
            </a:endParaRPr>
          </a:p>
        </p:txBody>
      </p:sp>
      <p:sp>
        <p:nvSpPr>
          <p:cNvPr id="49" name="Shape 10"/>
          <p:cNvSpPr/>
          <p:nvPr/>
        </p:nvSpPr>
        <p:spPr>
          <a:xfrm>
            <a:off x="548640" y="3981960"/>
            <a:ext cx="11091240" cy="597600"/>
          </a:xfrm>
          <a:prstGeom prst="roundRect">
            <a:avLst>
              <a:gd name="adj" fmla="val 12234"/>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 name="Shape 11"/>
          <p:cNvSpPr/>
          <p:nvPr/>
        </p:nvSpPr>
        <p:spPr>
          <a:xfrm>
            <a:off x="786240" y="41986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 name="Text 12"/>
          <p:cNvSpPr/>
          <p:nvPr/>
        </p:nvSpPr>
        <p:spPr>
          <a:xfrm>
            <a:off x="1234440" y="3981960"/>
            <a:ext cx="10222560" cy="597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60" b="0" u="none" strike="noStrike">
                <a:solidFill>
                  <a:srgbClr val="172333"/>
                </a:solidFill>
                <a:effectLst/>
                <a:uFillTx/>
                <a:latin typeface="Calibri"/>
                <a:ea typeface="Calibri"/>
              </a:rPr>
              <a:t>Quetta chased </a:t>
            </a:r>
            <a:r>
              <a:rPr lang="en-US" sz="2360" b="1" u="none" strike="noStrike">
                <a:solidFill>
                  <a:srgbClr val="172333"/>
                </a:solidFill>
                <a:effectLst/>
                <a:uFillTx/>
                <a:latin typeface="Calibri"/>
                <a:ea typeface="Calibri"/>
              </a:rPr>
              <a:t>160</a:t>
            </a:r>
            <a:r>
              <a:rPr lang="en-US" sz="2360" b="0" u="none" strike="noStrike">
                <a:solidFill>
                  <a:srgbClr val="172333"/>
                </a:solidFill>
                <a:effectLst/>
                <a:uFillTx/>
                <a:latin typeface="Calibri"/>
                <a:ea typeface="Calibri"/>
              </a:rPr>
              <a:t> against Karachi's </a:t>
            </a:r>
            <a:r>
              <a:rPr lang="en-US" sz="2360" b="1" u="none" strike="noStrike">
                <a:solidFill>
                  <a:srgbClr val="172333"/>
                </a:solidFill>
                <a:effectLst/>
                <a:uFillTx/>
                <a:latin typeface="Calibri"/>
                <a:ea typeface="Calibri"/>
              </a:rPr>
              <a:t>159</a:t>
            </a:r>
            <a:r>
              <a:rPr lang="en-US" sz="2360" b="0" u="none" strike="noStrike">
                <a:solidFill>
                  <a:srgbClr val="172333"/>
                </a:solidFill>
                <a:effectLst/>
                <a:uFillTx/>
                <a:latin typeface="Calibri"/>
                <a:ea typeface="Calibri"/>
              </a:rPr>
              <a:t>.</a:t>
            </a:r>
            <a:endParaRPr lang="en-US" sz="2360" b="0" u="none" strike="noStrike">
              <a:solidFill>
                <a:srgbClr val="000000"/>
              </a:solidFill>
              <a:effectLst/>
              <a:uFillTx/>
              <a:latin typeface="Arial"/>
            </a:endParaRPr>
          </a:p>
        </p:txBody>
      </p:sp>
      <p:sp>
        <p:nvSpPr>
          <p:cNvPr id="52" name="Shape 13"/>
          <p:cNvSpPr/>
          <p:nvPr/>
        </p:nvSpPr>
        <p:spPr>
          <a:xfrm>
            <a:off x="548640" y="4677840"/>
            <a:ext cx="11091240" cy="597600"/>
          </a:xfrm>
          <a:prstGeom prst="roundRect">
            <a:avLst>
              <a:gd name="adj" fmla="val 12234"/>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 name="Shape 14"/>
          <p:cNvSpPr/>
          <p:nvPr/>
        </p:nvSpPr>
        <p:spPr>
          <a:xfrm>
            <a:off x="786240" y="489456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 name="Text 15"/>
          <p:cNvSpPr/>
          <p:nvPr/>
        </p:nvSpPr>
        <p:spPr>
          <a:xfrm>
            <a:off x="1234440" y="4677840"/>
            <a:ext cx="10222560" cy="597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60" b="0" u="none" strike="noStrike">
                <a:solidFill>
                  <a:srgbClr val="172333"/>
                </a:solidFill>
                <a:effectLst/>
                <a:uFillTx/>
                <a:latin typeface="Calibri"/>
                <a:ea typeface="Calibri"/>
              </a:rPr>
              <a:t>Quetta beat Peshawar </a:t>
            </a:r>
            <a:r>
              <a:rPr lang="en-US" sz="2360" b="1" u="none" strike="noStrike">
                <a:solidFill>
                  <a:srgbClr val="172333"/>
                </a:solidFill>
                <a:effectLst/>
                <a:uFillTx/>
                <a:latin typeface="Calibri"/>
                <a:ea typeface="Calibri"/>
              </a:rPr>
              <a:t>200 to 199</a:t>
            </a:r>
            <a:r>
              <a:rPr lang="en-US" sz="2360" b="0" u="none" strike="noStrike">
                <a:solidFill>
                  <a:srgbClr val="172333"/>
                </a:solidFill>
                <a:effectLst/>
                <a:uFillTx/>
                <a:latin typeface="Calibri"/>
                <a:ea typeface="Calibri"/>
              </a:rPr>
              <a:t> in a playoff.</a:t>
            </a:r>
            <a:endParaRPr lang="en-US" sz="2360" b="0" u="none" strike="noStrike">
              <a:solidFill>
                <a:srgbClr val="000000"/>
              </a:solidFill>
              <a:effectLst/>
              <a:uFillTx/>
              <a:latin typeface="Arial"/>
            </a:endParaRPr>
          </a:p>
        </p:txBody>
      </p:sp>
      <p:sp>
        <p:nvSpPr>
          <p:cNvPr id="55" name="Text 16"/>
          <p:cNvSpPr/>
          <p:nvPr/>
        </p:nvSpPr>
        <p:spPr>
          <a:xfrm>
            <a:off x="548640" y="5501520"/>
            <a:ext cx="11091240" cy="526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570" b="0" u="none" strike="noStrike">
                <a:solidFill>
                  <a:srgbClr val="172333"/>
                </a:solidFill>
                <a:effectLst/>
                <a:uFillTx/>
                <a:latin typeface="Calibri"/>
                <a:ea typeface="Calibri"/>
              </a:rPr>
              <a:t>When games end this close, a few overs decide them. Which overs?</a:t>
            </a:r>
            <a:endParaRPr lang="en-US" sz="2570" b="0" u="none" strike="noStrike">
              <a:solidFill>
                <a:srgbClr val="000000"/>
              </a:solidFill>
              <a:effectLst/>
              <a:uFillTx/>
              <a:latin typeface="Arial"/>
            </a:endParaRPr>
          </a:p>
        </p:txBody>
      </p:sp>
      <p:sp>
        <p:nvSpPr>
          <p:cNvPr id="56" name="PlaceHolder 1"/>
          <p:cNvSpPr>
            <a:spLocks noGrp="1"/>
          </p:cNvSpPr>
          <p:nvPr>
            <p:ph type="sldNum" idx="8"/>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C9F5C503-35FE-455E-8171-4D85C7D75124}"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THE SEASON</a:t>
            </a:r>
            <a:endParaRPr lang="en-US" sz="1100" b="0" u="none" strike="noStrike">
              <a:solidFill>
                <a:srgbClr val="000000"/>
              </a:solidFill>
              <a:effectLst/>
              <a:uFillTx/>
              <a:latin typeface="Arial"/>
            </a:endParaRPr>
          </a:p>
        </p:txBody>
      </p:sp>
      <p:sp>
        <p:nvSpPr>
          <p:cNvPr id="58"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Three meetings in nine days</a:t>
            </a:r>
            <a:endParaRPr lang="en-US" sz="3200" b="0" u="none" strike="noStrike">
              <a:solidFill>
                <a:srgbClr val="000000"/>
              </a:solidFill>
              <a:effectLst/>
              <a:uFillTx/>
              <a:latin typeface="Arial"/>
            </a:endParaRPr>
          </a:p>
        </p:txBody>
      </p:sp>
      <p:sp>
        <p:nvSpPr>
          <p:cNvPr id="59"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60" name="Table 0"/>
          <p:cNvGraphicFramePr/>
          <p:nvPr/>
        </p:nvGraphicFramePr>
        <p:xfrm>
          <a:off x="548640" y="1463040"/>
          <a:ext cx="11091240" cy="1699200"/>
        </p:xfrm>
        <a:graphic>
          <a:graphicData uri="http://schemas.openxmlformats.org/drawingml/2006/table">
            <a:tbl>
              <a:tblPr/>
              <a:tblGrid>
                <a:gridCol w="1039680"/>
                <a:gridCol w="2252880"/>
                <a:gridCol w="2252880"/>
                <a:gridCol w="2426040"/>
                <a:gridCol w="3119400"/>
              </a:tblGrid>
              <a:tr h="0">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Date</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Stage</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First innings</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Second innings</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Winner</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25 Feb</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League</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Quetta 128</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 130</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28 Feb</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Playoff</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Quetta 200</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 199</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Quetta, by one run</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5 Mar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Final, Lahore</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 148</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Quetta 90</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bl>
          </a:graphicData>
        </a:graphic>
      </p:graphicFrame>
      <p:sp>
        <p:nvSpPr>
          <p:cNvPr id="61" name="Text 3"/>
          <p:cNvSpPr/>
          <p:nvPr/>
        </p:nvSpPr>
        <p:spPr>
          <a:xfrm>
            <a:off x="548640" y="38804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They also met on 17 February; that game was abandoned. Peshawar won 2 of the three completed meetings, Quetta 1.</a:t>
            </a:r>
            <a:endParaRPr lang="en-US" sz="2760" b="0" u="none" strike="noStrike">
              <a:solidFill>
                <a:srgbClr val="000000"/>
              </a:solidFill>
              <a:effectLst/>
              <a:uFillTx/>
              <a:latin typeface="Arial"/>
            </a:endParaRPr>
          </a:p>
        </p:txBody>
      </p:sp>
      <p:sp>
        <p:nvSpPr>
          <p:cNvPr id="62" name="PlaceHolder 1"/>
          <p:cNvSpPr>
            <a:spLocks noGrp="1"/>
          </p:cNvSpPr>
          <p:nvPr>
            <p:ph type="sldNum" idx="9"/>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F933EA51-2F25-4384-8E9E-7F6A48FB928B}"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THE SEASON</a:t>
            </a:r>
            <a:endParaRPr lang="en-US" sz="1100" b="0" u="none" strike="noStrike">
              <a:solidFill>
                <a:srgbClr val="000000"/>
              </a:solidFill>
              <a:effectLst/>
              <a:uFillTx/>
              <a:latin typeface="Arial"/>
            </a:endParaRPr>
          </a:p>
        </p:txBody>
      </p:sp>
      <p:sp>
        <p:nvSpPr>
          <p:cNvPr id="64"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How each team batted</a:t>
            </a:r>
            <a:endParaRPr lang="en-US" sz="3200" b="0" u="none" strike="noStrike">
              <a:solidFill>
                <a:srgbClr val="000000"/>
              </a:solidFill>
              <a:effectLst/>
              <a:uFillTx/>
              <a:latin typeface="Arial"/>
            </a:endParaRPr>
          </a:p>
        </p:txBody>
      </p:sp>
      <p:sp>
        <p:nvSpPr>
          <p:cNvPr id="65"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66" name="Table 0"/>
          <p:cNvGraphicFramePr/>
          <p:nvPr/>
        </p:nvGraphicFramePr>
        <p:xfrm>
          <a:off x="548640" y="1463040"/>
          <a:ext cx="11091240" cy="1274400"/>
        </p:xfrm>
        <a:graphic>
          <a:graphicData uri="http://schemas.openxmlformats.org/drawingml/2006/table">
            <a:tbl>
              <a:tblPr/>
              <a:tblGrid>
                <a:gridCol w="3412800"/>
                <a:gridCol w="5119200"/>
                <a:gridCol w="2559600"/>
              </a:tblGrid>
              <a:tr h="0">
                <a:tc>
                  <a:txBody>
                    <a:bodyPr anchor="ctr">
                      <a:noAutofit/>
                    </a:bodyPr>
                    <a:p>
                      <a:endParaRPr lang="en-US" sz="1800" b="0" u="none" strike="noStrike">
                        <a:solidFill>
                          <a:schemeClr val="dk1"/>
                        </a:solidFill>
                        <a:effectLst/>
                        <a:uFillTx/>
                        <a:latin typeface="Calibri"/>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Batted first</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Chased</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6</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5</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Quetta</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4</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5</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67" name="Text 3"/>
          <p:cNvSpPr/>
          <p:nvPr/>
        </p:nvSpPr>
        <p:spPr>
          <a:xfrm>
            <a:off x="548640" y="3342600"/>
            <a:ext cx="1109124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Batting first, a team sets a total. Chasing, it plays against a target it can see. The same 12-run over means different things in the two situations.</a:t>
            </a:r>
            <a:endParaRPr lang="en-US" sz="2760" b="0" u="none" strike="noStrike">
              <a:solidFill>
                <a:srgbClr val="000000"/>
              </a:solidFill>
              <a:effectLst/>
              <a:uFillTx/>
              <a:latin typeface="Arial"/>
            </a:endParaRPr>
          </a:p>
        </p:txBody>
      </p:sp>
      <p:sp>
        <p:nvSpPr>
          <p:cNvPr id="68" name="Text 4"/>
          <p:cNvSpPr/>
          <p:nvPr/>
        </p:nvSpPr>
        <p:spPr>
          <a:xfrm>
            <a:off x="548640" y="498096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last five overs (16 to 20) are the </a:t>
            </a:r>
            <a:r>
              <a:rPr lang="en-US" sz="2760" b="1" u="none" strike="noStrike">
                <a:solidFill>
                  <a:srgbClr val="172333"/>
                </a:solidFill>
                <a:effectLst/>
                <a:uFillTx/>
                <a:latin typeface="Calibri"/>
                <a:ea typeface="Calibri"/>
              </a:rPr>
              <a:t>death overs</a:t>
            </a:r>
            <a:r>
              <a:rPr lang="en-US" sz="2760" b="0" u="none" strike="noStrike">
                <a:solidFill>
                  <a:srgbClr val="172333"/>
                </a:solidFill>
                <a:effectLst/>
                <a:uFillTx/>
                <a:latin typeface="Calibri"/>
                <a:ea typeface="Calibri"/>
              </a:rPr>
              <a:t>. They are where the margins above are made.</a:t>
            </a:r>
            <a:endParaRPr lang="en-US" sz="2760" b="0" u="none" strike="noStrike">
              <a:solidFill>
                <a:srgbClr val="000000"/>
              </a:solidFill>
              <a:effectLst/>
              <a:uFillTx/>
              <a:latin typeface="Arial"/>
            </a:endParaRPr>
          </a:p>
        </p:txBody>
      </p:sp>
      <p:sp>
        <p:nvSpPr>
          <p:cNvPr id="69" name="PlaceHolder 1"/>
          <p:cNvSpPr>
            <a:spLocks noGrp="1"/>
          </p:cNvSpPr>
          <p:nvPr>
            <p:ph type="sldNum" idx="10"/>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A43B2452-BB16-4907-8083-B9D28BA2FE7F}"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THE SEASON</a:t>
            </a:r>
            <a:endParaRPr lang="en-US" sz="1100" b="0" u="none" strike="noStrike">
              <a:solidFill>
                <a:srgbClr val="000000"/>
              </a:solidFill>
              <a:effectLst/>
              <a:uFillTx/>
              <a:latin typeface="Arial"/>
            </a:endParaRPr>
          </a:p>
        </p:txBody>
      </p:sp>
      <p:sp>
        <p:nvSpPr>
          <p:cNvPr id="7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tempting explanation</a:t>
            </a:r>
            <a:endParaRPr lang="en-US" sz="3200" b="0" u="none" strike="noStrike">
              <a:solidFill>
                <a:srgbClr val="000000"/>
              </a:solidFill>
              <a:effectLst/>
              <a:uFillTx/>
              <a:latin typeface="Arial"/>
            </a:endParaRPr>
          </a:p>
        </p:txBody>
      </p:sp>
      <p:sp>
        <p:nvSpPr>
          <p:cNvPr id="7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73" name="Text 3"/>
          <p:cNvSpPr/>
          <p:nvPr/>
        </p:nvSpPr>
        <p:spPr>
          <a:xfrm>
            <a:off x="548640" y="1463040"/>
            <a:ext cx="11091240" cy="85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0" u="none" strike="noStrike">
                <a:solidFill>
                  <a:srgbClr val="172333"/>
                </a:solidFill>
                <a:effectLst/>
                <a:uFillTx/>
                <a:latin typeface="Calibri"/>
                <a:ea typeface="Calibri"/>
              </a:rPr>
              <a:t>Peshawar won the final and two of the three meetings. It is natural to say:</a:t>
            </a:r>
            <a:endParaRPr lang="en-US" sz="2280" b="0" u="none" strike="noStrike">
              <a:solidFill>
                <a:srgbClr val="000000"/>
              </a:solidFill>
              <a:effectLst/>
              <a:uFillTx/>
              <a:latin typeface="Arial"/>
            </a:endParaRPr>
          </a:p>
        </p:txBody>
      </p:sp>
      <p:sp>
        <p:nvSpPr>
          <p:cNvPr id="74" name="Shape 4"/>
          <p:cNvSpPr/>
          <p:nvPr/>
        </p:nvSpPr>
        <p:spPr>
          <a:xfrm>
            <a:off x="548640" y="2496960"/>
            <a:ext cx="11091240" cy="1364040"/>
          </a:xfrm>
          <a:prstGeom prst="roundRect">
            <a:avLst>
              <a:gd name="adj" fmla="val 670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Text 5"/>
          <p:cNvSpPr/>
          <p:nvPr/>
        </p:nvSpPr>
        <p:spPr>
          <a:xfrm>
            <a:off x="731520" y="2451240"/>
            <a:ext cx="7311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6400" b="1" u="none" strike="noStrike">
                <a:solidFill>
                  <a:srgbClr val="D97706"/>
                </a:solidFill>
                <a:effectLst/>
                <a:uFillTx/>
                <a:latin typeface="Cambria"/>
                <a:ea typeface="Cambria"/>
              </a:rPr>
              <a:t>“</a:t>
            </a:r>
            <a:endParaRPr lang="en-US" sz="6400" b="0" u="none" strike="noStrike">
              <a:solidFill>
                <a:srgbClr val="000000"/>
              </a:solidFill>
              <a:effectLst/>
              <a:uFillTx/>
              <a:latin typeface="Arial"/>
            </a:endParaRPr>
          </a:p>
        </p:txBody>
      </p:sp>
      <p:sp>
        <p:nvSpPr>
          <p:cNvPr id="76" name="Text 6"/>
          <p:cNvSpPr/>
          <p:nvPr/>
        </p:nvSpPr>
        <p:spPr>
          <a:xfrm>
            <a:off x="1508760" y="2496960"/>
            <a:ext cx="9719640" cy="136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70" b="0" i="1" u="none" strike="noStrike">
                <a:solidFill>
                  <a:srgbClr val="143E59"/>
                </a:solidFill>
                <a:effectLst/>
                <a:uFillTx/>
                <a:latin typeface="Calibri"/>
                <a:ea typeface="Calibri"/>
              </a:rPr>
              <a:t>Peshawar must have been the better team in the death overs.</a:t>
            </a:r>
            <a:endParaRPr lang="en-US" sz="2470" b="0" u="none" strike="noStrike">
              <a:solidFill>
                <a:srgbClr val="000000"/>
              </a:solidFill>
              <a:effectLst/>
              <a:uFillTx/>
              <a:latin typeface="Arial"/>
            </a:endParaRPr>
          </a:p>
        </p:txBody>
      </p:sp>
      <p:sp>
        <p:nvSpPr>
          <p:cNvPr id="77" name="Text 7"/>
          <p:cNvSpPr/>
          <p:nvPr/>
        </p:nvSpPr>
        <p:spPr>
          <a:xfrm>
            <a:off x="548640" y="4126320"/>
            <a:ext cx="11091240" cy="85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0" u="none" strike="noStrike">
                <a:solidFill>
                  <a:srgbClr val="172333"/>
                </a:solidFill>
                <a:effectLst/>
                <a:uFillTx/>
                <a:latin typeface="Calibri"/>
                <a:ea typeface="Calibri"/>
              </a:rPr>
              <a:t>We test that with the 81 complete death overs the two teams </a:t>
            </a:r>
            <a:r>
              <a:rPr lang="en-US" sz="2280" b="0" u="none" strike="noStrike">
                <a:solidFill>
                  <a:srgbClr val="172333"/>
                </a:solidFill>
                <a:effectLst/>
                <a:uFillTx/>
                <a:latin typeface="Calibri"/>
                <a:ea typeface="Calibri"/>
              </a:rPr>
              <a:t>batted in 2017.</a:t>
            </a:r>
            <a:endParaRPr lang="en-US" sz="2280" b="0" u="none" strike="noStrike">
              <a:solidFill>
                <a:srgbClr val="000000"/>
              </a:solidFill>
              <a:effectLst/>
              <a:uFillTx/>
              <a:latin typeface="Arial"/>
            </a:endParaRPr>
          </a:p>
        </p:txBody>
      </p:sp>
      <p:sp>
        <p:nvSpPr>
          <p:cNvPr id="78" name="Text 8"/>
          <p:cNvSpPr/>
          <p:nvPr/>
        </p:nvSpPr>
        <p:spPr>
          <a:xfrm>
            <a:off x="548640" y="5160240"/>
            <a:ext cx="11091240" cy="85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0" u="none" strike="noStrike">
                <a:solidFill>
                  <a:srgbClr val="172333"/>
                </a:solidFill>
                <a:effectLst/>
                <a:uFillTx/>
                <a:latin typeface="Calibri"/>
                <a:ea typeface="Calibri"/>
              </a:rPr>
              <a:t>Data: Cricsheet PSL archive (357 matches, 13,336 complete overs); Cricsheet: https://cricsheet.org/downloads/</a:t>
            </a:r>
            <a:endParaRPr lang="en-US" sz="2280" b="0" u="none" strike="noStrike">
              <a:solidFill>
                <a:srgbClr val="000000"/>
              </a:solidFill>
              <a:effectLst/>
              <a:uFillTx/>
              <a:latin typeface="Arial"/>
            </a:endParaRPr>
          </a:p>
        </p:txBody>
      </p:sp>
      <p:sp>
        <p:nvSpPr>
          <p:cNvPr id="79" name="PlaceHolder 1"/>
          <p:cNvSpPr>
            <a:spLocks noGrp="1"/>
          </p:cNvSpPr>
          <p:nvPr>
            <p:ph type="sldNum" idx="11"/>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DE3D2A1A-CF8A-4F67-96C3-5F1D8CE7D9B7}"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THE SEASON</a:t>
            </a:r>
            <a:endParaRPr lang="en-US" sz="1100" b="0" u="none" strike="noStrike">
              <a:solidFill>
                <a:srgbClr val="000000"/>
              </a:solidFill>
              <a:effectLst/>
              <a:uFillTx/>
              <a:latin typeface="Arial"/>
            </a:endParaRPr>
          </a:p>
        </p:txBody>
      </p:sp>
      <p:sp>
        <p:nvSpPr>
          <p:cNvPr id="8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five questions</a:t>
            </a:r>
            <a:endParaRPr lang="en-US" sz="3200" b="0" u="none" strike="noStrike">
              <a:solidFill>
                <a:srgbClr val="000000"/>
              </a:solidFill>
              <a:effectLst/>
              <a:uFillTx/>
              <a:latin typeface="Arial"/>
            </a:endParaRPr>
          </a:p>
        </p:txBody>
      </p:sp>
      <p:sp>
        <p:nvSpPr>
          <p:cNvPr id="8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83" name="Shape 3"/>
          <p:cNvSpPr/>
          <p:nvPr/>
        </p:nvSpPr>
        <p:spPr>
          <a:xfrm>
            <a:off x="548640" y="146304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 name="Shape 4"/>
          <p:cNvSpPr/>
          <p:nvPr/>
        </p:nvSpPr>
        <p:spPr>
          <a:xfrm>
            <a:off x="685800" y="161064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 name="Text 5"/>
          <p:cNvSpPr/>
          <p:nvPr/>
        </p:nvSpPr>
        <p:spPr>
          <a:xfrm>
            <a:off x="685800" y="16106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US" sz="1500" b="0" u="none" strike="noStrike">
              <a:solidFill>
                <a:srgbClr val="000000"/>
              </a:solidFill>
              <a:effectLst/>
              <a:uFillTx/>
              <a:latin typeface="Arial"/>
            </a:endParaRPr>
          </a:p>
        </p:txBody>
      </p:sp>
      <p:sp>
        <p:nvSpPr>
          <p:cNvPr id="86" name="Text 6"/>
          <p:cNvSpPr/>
          <p:nvPr/>
        </p:nvSpPr>
        <p:spPr>
          <a:xfrm>
            <a:off x="1234440" y="146304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Do two teams with the same average score the same way?</a:t>
            </a:r>
            <a:endParaRPr lang="en-US" sz="2530" b="0" u="none" strike="noStrike">
              <a:solidFill>
                <a:srgbClr val="000000"/>
              </a:solidFill>
              <a:effectLst/>
              <a:uFillTx/>
              <a:latin typeface="Arial"/>
            </a:endParaRPr>
          </a:p>
        </p:txBody>
      </p:sp>
      <p:sp>
        <p:nvSpPr>
          <p:cNvPr id="87" name="Shape 7"/>
          <p:cNvSpPr/>
          <p:nvPr/>
        </p:nvSpPr>
        <p:spPr>
          <a:xfrm>
            <a:off x="548640" y="221076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Shape 8"/>
          <p:cNvSpPr/>
          <p:nvPr/>
        </p:nvSpPr>
        <p:spPr>
          <a:xfrm>
            <a:off x="685800" y="235836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9" name="Text 9"/>
          <p:cNvSpPr/>
          <p:nvPr/>
        </p:nvSpPr>
        <p:spPr>
          <a:xfrm>
            <a:off x="685800" y="235836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US" sz="1500" b="0" u="none" strike="noStrike">
              <a:solidFill>
                <a:srgbClr val="000000"/>
              </a:solidFill>
              <a:effectLst/>
              <a:uFillTx/>
              <a:latin typeface="Arial"/>
            </a:endParaRPr>
          </a:p>
        </p:txBody>
      </p:sp>
      <p:sp>
        <p:nvSpPr>
          <p:cNvPr id="90" name="Text 10"/>
          <p:cNvSpPr/>
          <p:nvPr/>
        </p:nvSpPr>
        <p:spPr>
          <a:xfrm>
            <a:off x="1234440" y="221076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What exactly differs between two distributions?</a:t>
            </a:r>
            <a:endParaRPr lang="en-US" sz="2530" b="0" u="none" strike="noStrike">
              <a:solidFill>
                <a:srgbClr val="000000"/>
              </a:solidFill>
              <a:effectLst/>
              <a:uFillTx/>
              <a:latin typeface="Arial"/>
            </a:endParaRPr>
          </a:p>
        </p:txBody>
      </p:sp>
      <p:sp>
        <p:nvSpPr>
          <p:cNvPr id="91" name="Shape 11"/>
          <p:cNvSpPr/>
          <p:nvPr/>
        </p:nvSpPr>
        <p:spPr>
          <a:xfrm>
            <a:off x="548640" y="29584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 name="Shape 12"/>
          <p:cNvSpPr/>
          <p:nvPr/>
        </p:nvSpPr>
        <p:spPr>
          <a:xfrm>
            <a:off x="685800" y="310608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 name="Text 13"/>
          <p:cNvSpPr/>
          <p:nvPr/>
        </p:nvSpPr>
        <p:spPr>
          <a:xfrm>
            <a:off x="685800" y="31060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US" sz="1500" b="0" u="none" strike="noStrike">
              <a:solidFill>
                <a:srgbClr val="000000"/>
              </a:solidFill>
              <a:effectLst/>
              <a:uFillTx/>
              <a:latin typeface="Arial"/>
            </a:endParaRPr>
          </a:p>
        </p:txBody>
      </p:sp>
      <p:sp>
        <p:nvSpPr>
          <p:cNvPr id="94" name="Text 14"/>
          <p:cNvSpPr/>
          <p:nvPr/>
        </p:nvSpPr>
        <p:spPr>
          <a:xfrm>
            <a:off x="1234440" y="29584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How many </a:t>
            </a:r>
            <a:r>
              <a:rPr lang="en-US" sz="2530" b="1" u="none" strike="noStrike">
                <a:solidFill>
                  <a:srgbClr val="172333"/>
                </a:solidFill>
                <a:effectLst/>
                <a:uFillTx/>
                <a:latin typeface="Calibri"/>
                <a:ea typeface="Calibri"/>
              </a:rPr>
              <a:t>independent </a:t>
            </a:r>
            <a:r>
              <a:rPr lang="en-US" sz="2530" b="1" u="none" strike="noStrike">
                <a:solidFill>
                  <a:srgbClr val="172333"/>
                </a:solidFill>
                <a:effectLst/>
                <a:uFillTx/>
                <a:latin typeface="Calibri"/>
                <a:ea typeface="Calibri"/>
              </a:rPr>
              <a:t>observation</a:t>
            </a:r>
            <a:r>
              <a:rPr lang="en-US" sz="2530" b="1" u="none" strike="noStrike">
                <a:solidFill>
                  <a:srgbClr val="172333"/>
                </a:solidFill>
                <a:effectLst/>
                <a:uFillTx/>
                <a:latin typeface="Calibri"/>
                <a:ea typeface="Calibri"/>
              </a:rPr>
              <a:t>s do we </a:t>
            </a:r>
            <a:r>
              <a:rPr lang="en-US" sz="2530" b="1" u="none" strike="noStrike">
                <a:solidFill>
                  <a:srgbClr val="172333"/>
                </a:solidFill>
                <a:effectLst/>
                <a:uFillTx/>
                <a:latin typeface="Calibri"/>
                <a:ea typeface="Calibri"/>
              </a:rPr>
              <a:t>really have?</a:t>
            </a:r>
            <a:endParaRPr lang="en-US" sz="2530" b="0" u="none" strike="noStrike">
              <a:solidFill>
                <a:srgbClr val="000000"/>
              </a:solidFill>
              <a:effectLst/>
              <a:uFillTx/>
              <a:latin typeface="Arial"/>
            </a:endParaRPr>
          </a:p>
        </p:txBody>
      </p:sp>
      <p:sp>
        <p:nvSpPr>
          <p:cNvPr id="95" name="Shape 15"/>
          <p:cNvSpPr/>
          <p:nvPr/>
        </p:nvSpPr>
        <p:spPr>
          <a:xfrm>
            <a:off x="548640" y="37062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 name="Shape 16"/>
          <p:cNvSpPr/>
          <p:nvPr/>
        </p:nvSpPr>
        <p:spPr>
          <a:xfrm>
            <a:off x="685800" y="385380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7" name="Text 17"/>
          <p:cNvSpPr/>
          <p:nvPr/>
        </p:nvSpPr>
        <p:spPr>
          <a:xfrm>
            <a:off x="685800" y="385380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US" sz="1500" b="0" u="none" strike="noStrike">
              <a:solidFill>
                <a:srgbClr val="000000"/>
              </a:solidFill>
              <a:effectLst/>
              <a:uFillTx/>
              <a:latin typeface="Arial"/>
            </a:endParaRPr>
          </a:p>
        </p:txBody>
      </p:sp>
      <p:sp>
        <p:nvSpPr>
          <p:cNvPr id="98" name="Text 18"/>
          <p:cNvSpPr/>
          <p:nvPr/>
        </p:nvSpPr>
        <p:spPr>
          <a:xfrm>
            <a:off x="1234440" y="37062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How sure are we?</a:t>
            </a:r>
            <a:endParaRPr lang="en-US" sz="2530" b="0" u="none" strike="noStrike">
              <a:solidFill>
                <a:srgbClr val="000000"/>
              </a:solidFill>
              <a:effectLst/>
              <a:uFillTx/>
              <a:latin typeface="Arial"/>
            </a:endParaRPr>
          </a:p>
        </p:txBody>
      </p:sp>
      <p:sp>
        <p:nvSpPr>
          <p:cNvPr id="99" name="Shape 19"/>
          <p:cNvSpPr/>
          <p:nvPr/>
        </p:nvSpPr>
        <p:spPr>
          <a:xfrm>
            <a:off x="548640" y="44542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 name="Shape 20"/>
          <p:cNvSpPr/>
          <p:nvPr/>
        </p:nvSpPr>
        <p:spPr>
          <a:xfrm>
            <a:off x="685800" y="460188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 name="Text 21"/>
          <p:cNvSpPr/>
          <p:nvPr/>
        </p:nvSpPr>
        <p:spPr>
          <a:xfrm>
            <a:off x="685800" y="46018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5</a:t>
            </a:r>
            <a:endParaRPr lang="en-US" sz="1500" b="0" u="none" strike="noStrike">
              <a:solidFill>
                <a:srgbClr val="000000"/>
              </a:solidFill>
              <a:effectLst/>
              <a:uFillTx/>
              <a:latin typeface="Arial"/>
            </a:endParaRPr>
          </a:p>
        </p:txBody>
      </p:sp>
      <p:sp>
        <p:nvSpPr>
          <p:cNvPr id="102" name="Text 22"/>
          <p:cNvSpPr/>
          <p:nvPr/>
        </p:nvSpPr>
        <p:spPr>
          <a:xfrm>
            <a:off x="1234440" y="44542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What can we defend?</a:t>
            </a:r>
            <a:endParaRPr lang="en-US" sz="2530" b="0" u="none" strike="noStrike">
              <a:solidFill>
                <a:srgbClr val="000000"/>
              </a:solidFill>
              <a:effectLst/>
              <a:uFillTx/>
              <a:latin typeface="Arial"/>
            </a:endParaRPr>
          </a:p>
        </p:txBody>
      </p:sp>
      <p:sp>
        <p:nvSpPr>
          <p:cNvPr id="103" name="Text 23"/>
          <p:cNvSpPr/>
          <p:nvPr/>
        </p:nvSpPr>
        <p:spPr>
          <a:xfrm>
            <a:off x="548640" y="532980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Board: keep these five lines visible all class.</a:t>
            </a:r>
            <a:endParaRPr lang="en-US" sz="2760" b="0" u="none" strike="noStrike">
              <a:solidFill>
                <a:srgbClr val="000000"/>
              </a:solidFill>
              <a:effectLst/>
              <a:uFillTx/>
              <a:latin typeface="Arial"/>
            </a:endParaRPr>
          </a:p>
        </p:txBody>
      </p:sp>
      <p:sp>
        <p:nvSpPr>
          <p:cNvPr id="104" name="PlaceHolder 1"/>
          <p:cNvSpPr>
            <a:spLocks noGrp="1"/>
          </p:cNvSpPr>
          <p:nvPr>
            <p:ph type="sldNum" idx="12"/>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86020C3B-E853-4711-A53E-6FAEDF8DC783}"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3E59"/>
        </a:solidFill>
      </p:bgPr>
    </p:bg>
    <p:spTree>
      <p:nvGrpSpPr>
        <p:cNvPr id="1" name=""/>
        <p:cNvGrpSpPr/>
        <p:nvPr/>
      </p:nvGrpSpPr>
      <p:grpSpPr>
        <a:xfrm>
          <a:off x="0" y="0"/>
          <a:ext cx="0" cy="0"/>
          <a:chOff x="0" y="0"/>
          <a:chExt cx="0" cy="0"/>
        </a:xfrm>
      </p:grpSpPr>
      <p:sp>
        <p:nvSpPr>
          <p:cNvPr id="105" name="Shape 0"/>
          <p:cNvSpPr/>
          <p:nvPr/>
        </p:nvSpPr>
        <p:spPr>
          <a:xfrm>
            <a:off x="8595360" y="1097280"/>
            <a:ext cx="3017160" cy="3017160"/>
          </a:xfrm>
          <a:prstGeom prst="ellipse">
            <a:avLst/>
          </a:prstGeom>
          <a:solidFill>
            <a:srgbClr val="1F6F8B">
              <a:alpha val="75000"/>
            </a:srgbClr>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 name="Shape 1"/>
          <p:cNvSpPr/>
          <p:nvPr/>
        </p:nvSpPr>
        <p:spPr>
          <a:xfrm>
            <a:off x="10466280" y="1942200"/>
            <a:ext cx="2413800" cy="2413800"/>
          </a:xfrm>
          <a:prstGeom prst="ellipse">
            <a:avLst/>
          </a:prstGeom>
          <a:solidFill>
            <a:srgbClr val="D97706">
              <a:alpha val="6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 name="Text 2"/>
          <p:cNvSpPr/>
          <p:nvPr/>
        </p:nvSpPr>
        <p:spPr>
          <a:xfrm>
            <a:off x="731520" y="219456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pc="499" strike="noStrike">
                <a:solidFill>
                  <a:srgbClr val="D97706"/>
                </a:solidFill>
                <a:effectLst/>
                <a:uFillTx/>
                <a:latin typeface="Calibri"/>
                <a:ea typeface="Calibri"/>
              </a:rPr>
              <a:t>ACT 1</a:t>
            </a:r>
            <a:endParaRPr lang="en-US" sz="2000" b="0" u="none" strike="noStrike">
              <a:solidFill>
                <a:srgbClr val="FFFFFF"/>
              </a:solidFill>
              <a:effectLst/>
              <a:uFillTx/>
              <a:latin typeface="Arial"/>
            </a:endParaRPr>
          </a:p>
        </p:txBody>
      </p:sp>
      <p:sp>
        <p:nvSpPr>
          <p:cNvPr id="108" name="Text 3"/>
          <p:cNvSpPr/>
          <p:nvPr/>
        </p:nvSpPr>
        <p:spPr>
          <a:xfrm>
            <a:off x="731520" y="2697480"/>
            <a:ext cx="74977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600" b="1" u="none" strike="noStrike">
                <a:solidFill>
                  <a:srgbClr val="FFFFFF"/>
                </a:solidFill>
                <a:effectLst/>
                <a:uFillTx/>
                <a:latin typeface="Cambria"/>
                <a:ea typeface="Cambria"/>
              </a:rPr>
              <a:t>Same average</a:t>
            </a:r>
            <a:endParaRPr lang="en-US" sz="4600" b="0" u="none" strike="noStrike">
              <a:solidFill>
                <a:srgbClr val="FFFFFF"/>
              </a:solidFill>
              <a:effectLst/>
              <a:uFillTx/>
              <a:latin typeface="Arial"/>
            </a:endParaRPr>
          </a:p>
        </p:txBody>
      </p:sp>
      <p:sp>
        <p:nvSpPr>
          <p:cNvPr id="109" name="Text 4"/>
          <p:cNvSpPr/>
          <p:nvPr/>
        </p:nvSpPr>
        <p:spPr>
          <a:xfrm>
            <a:off x="731520" y="4114800"/>
            <a:ext cx="71319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i="1" u="none" strike="noStrike">
                <a:solidFill>
                  <a:srgbClr val="CADCFC"/>
                </a:solidFill>
                <a:effectLst/>
                <a:uFillTx/>
                <a:latin typeface="Calibri"/>
                <a:ea typeface="Calibri"/>
              </a:rPr>
              <a:t>Do two teams with the same average score the same way?</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1 · SAME AVERAGE</a:t>
            </a:r>
            <a:endParaRPr lang="en-US" sz="1100" b="0" u="none" strike="noStrike">
              <a:solidFill>
                <a:srgbClr val="000000"/>
              </a:solidFill>
              <a:effectLst/>
              <a:uFillTx/>
              <a:latin typeface="Arial"/>
            </a:endParaRPr>
          </a:p>
        </p:txBody>
      </p:sp>
      <p:sp>
        <p:nvSpPr>
          <p:cNvPr id="11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a:t>
            </a:r>
            <a:r>
              <a:rPr lang="en-US" sz="3200" b="1" u="none" strike="noStrike">
                <a:solidFill>
                  <a:srgbClr val="143E59"/>
                </a:solidFill>
                <a:effectLst/>
                <a:uFillTx/>
                <a:latin typeface="Cambria"/>
                <a:ea typeface="Cambria"/>
              </a:rPr>
              <a:t>clai</a:t>
            </a:r>
            <a:r>
              <a:rPr lang="en-US" sz="3200" b="1" u="none" strike="noStrike">
                <a:solidFill>
                  <a:srgbClr val="143E59"/>
                </a:solidFill>
                <a:effectLst/>
                <a:uFillTx/>
                <a:latin typeface="Cambria"/>
                <a:ea typeface="Cambria"/>
              </a:rPr>
              <a:t>m </a:t>
            </a:r>
            <a:r>
              <a:rPr lang="en-US" sz="3200" b="1" u="none" strike="noStrike">
                <a:solidFill>
                  <a:srgbClr val="143E59"/>
                </a:solidFill>
                <a:effectLst/>
                <a:uFillTx/>
                <a:latin typeface="Cambria"/>
                <a:ea typeface="Cambria"/>
              </a:rPr>
              <a:t>und</a:t>
            </a:r>
            <a:r>
              <a:rPr lang="en-US" sz="3200" b="1" u="none" strike="noStrike">
                <a:solidFill>
                  <a:srgbClr val="143E59"/>
                </a:solidFill>
                <a:effectLst/>
                <a:uFillTx/>
                <a:latin typeface="Cambria"/>
                <a:ea typeface="Cambria"/>
              </a:rPr>
              <a:t>er </a:t>
            </a:r>
            <a:r>
              <a:rPr lang="en-US" sz="3200" b="1" u="none" strike="noStrike">
                <a:solidFill>
                  <a:srgbClr val="143E59"/>
                </a:solidFill>
                <a:effectLst/>
                <a:uFillTx/>
                <a:latin typeface="Cambria"/>
                <a:ea typeface="Cambria"/>
              </a:rPr>
              <a:t>test</a:t>
            </a:r>
            <a:endParaRPr lang="en-US" sz="3200" b="0" u="none" strike="noStrike">
              <a:solidFill>
                <a:srgbClr val="000000"/>
              </a:solidFill>
              <a:effectLst/>
              <a:uFillTx/>
              <a:latin typeface="Arial"/>
            </a:endParaRPr>
          </a:p>
        </p:txBody>
      </p:sp>
      <p:sp>
        <p:nvSpPr>
          <p:cNvPr id="11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113" name="Shape 3"/>
          <p:cNvSpPr/>
          <p:nvPr/>
        </p:nvSpPr>
        <p:spPr>
          <a:xfrm>
            <a:off x="548640" y="1463040"/>
            <a:ext cx="11091240" cy="1501200"/>
          </a:xfrm>
          <a:prstGeom prst="roundRect">
            <a:avLst>
              <a:gd name="adj" fmla="val 6090"/>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4" name="Text 4"/>
          <p:cNvSpPr/>
          <p:nvPr/>
        </p:nvSpPr>
        <p:spPr>
          <a:xfrm>
            <a:off x="731520" y="1417320"/>
            <a:ext cx="7311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6400" b="1" u="none" strike="noStrike">
                <a:solidFill>
                  <a:srgbClr val="D97706"/>
                </a:solidFill>
                <a:effectLst/>
                <a:uFillTx/>
                <a:latin typeface="Cambria"/>
                <a:ea typeface="Cambria"/>
              </a:rPr>
              <a:t>“</a:t>
            </a:r>
            <a:endParaRPr lang="en-US" sz="6400" b="0" u="none" strike="noStrike">
              <a:solidFill>
                <a:srgbClr val="000000"/>
              </a:solidFill>
              <a:effectLst/>
              <a:uFillTx/>
              <a:latin typeface="Arial"/>
            </a:endParaRPr>
          </a:p>
        </p:txBody>
      </p:sp>
      <p:sp>
        <p:nvSpPr>
          <p:cNvPr id="115" name="Text 5"/>
          <p:cNvSpPr/>
          <p:nvPr/>
        </p:nvSpPr>
        <p:spPr>
          <a:xfrm>
            <a:off x="1508760" y="1463040"/>
            <a:ext cx="9719640" cy="150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90" b="0" i="1" u="none" strike="noStrike">
                <a:solidFill>
                  <a:srgbClr val="143E59"/>
                </a:solidFill>
                <a:effectLst/>
                <a:uFillTx/>
                <a:latin typeface="Calibri"/>
                <a:ea typeface="Calibri"/>
              </a:rPr>
              <a:t>In the death overs, Peshawar and Quetta scored about the same.</a:t>
            </a:r>
            <a:endParaRPr lang="en-US" sz="2890" b="0" u="none" strike="noStrike">
              <a:solidFill>
                <a:srgbClr val="000000"/>
              </a:solidFill>
              <a:effectLst/>
              <a:uFillTx/>
              <a:latin typeface="Arial"/>
            </a:endParaRPr>
          </a:p>
        </p:txBody>
      </p:sp>
      <p:graphicFrame>
        <p:nvGraphicFramePr>
          <p:cNvPr id="116" name="Table 0"/>
          <p:cNvGraphicFramePr/>
          <p:nvPr/>
        </p:nvGraphicFramePr>
        <p:xfrm>
          <a:off x="548640" y="3229920"/>
          <a:ext cx="11091240" cy="1239840"/>
        </p:xfrm>
        <a:graphic>
          <a:graphicData uri="http://schemas.openxmlformats.org/drawingml/2006/table">
            <a:tbl>
              <a:tblPr/>
              <a:tblGrid>
                <a:gridCol w="2772720"/>
                <a:gridCol w="2079360"/>
                <a:gridCol w="6238800"/>
              </a:tblGrid>
              <a:tr h="0">
                <a:tc>
                  <a:txBody>
                    <a:bodyPr anchor="ctr">
                      <a:noAutofit/>
                    </a:bodyPr>
                    <a:p>
                      <a:endParaRPr lang="en-US" sz="1800" b="0" u="none" strike="noStrike">
                        <a:solidFill>
                          <a:schemeClr val="dk1"/>
                        </a:solidFill>
                        <a:effectLst/>
                        <a:uFillTx/>
                        <a:latin typeface="Calibri"/>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10" b="1" u="none" strike="noStrike">
                          <a:solidFill>
                            <a:srgbClr val="FFFFFF"/>
                          </a:solidFill>
                          <a:effectLst/>
                          <a:uFillTx/>
                          <a:latin typeface="Calibri"/>
                          <a:ea typeface="Calibri"/>
                        </a:rPr>
                        <a:t>Overs</a:t>
                      </a:r>
                      <a:endParaRPr lang="en-US" sz="211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10" b="1" u="none" strike="noStrike">
                          <a:solidFill>
                            <a:srgbClr val="FFFFFF"/>
                          </a:solidFill>
                          <a:effectLst/>
                          <a:uFillTx/>
                          <a:latin typeface="Calibri"/>
                          <a:ea typeface="Calibri"/>
                        </a:rPr>
                        <a:t>Mean runs per over</a:t>
                      </a:r>
                      <a:endParaRPr lang="en-US" sz="211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10" b="0" u="none" strike="noStrike">
                          <a:solidFill>
                            <a:srgbClr val="172333"/>
                          </a:solidFill>
                          <a:effectLst/>
                          <a:uFillTx/>
                          <a:latin typeface="Calibri"/>
                          <a:ea typeface="Calibri"/>
                        </a:rPr>
                        <a:t>Peshawar</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10" b="0" u="none" strike="noStrike">
                          <a:solidFill>
                            <a:srgbClr val="172333"/>
                          </a:solidFill>
                          <a:effectLst/>
                          <a:uFillTx/>
                          <a:latin typeface="Calibri"/>
                          <a:ea typeface="Calibri"/>
                        </a:rPr>
                        <a:t>44</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10" b="0" u="none" strike="noStrike">
                          <a:solidFill>
                            <a:srgbClr val="172333"/>
                          </a:solidFill>
                          <a:effectLst/>
                          <a:uFillTx/>
                          <a:latin typeface="Calibri"/>
                          <a:ea typeface="Calibri"/>
                        </a:rPr>
                        <a:t>9.32</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10" b="0" u="none" strike="noStrike">
                          <a:solidFill>
                            <a:srgbClr val="172333"/>
                          </a:solidFill>
                          <a:effectLst/>
                          <a:uFillTx/>
                          <a:latin typeface="Calibri"/>
                          <a:ea typeface="Calibri"/>
                        </a:rPr>
                        <a:t>Quetta</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10" b="0" u="none" strike="noStrike">
                          <a:solidFill>
                            <a:srgbClr val="172333"/>
                          </a:solidFill>
                          <a:effectLst/>
                          <a:uFillTx/>
                          <a:latin typeface="Calibri"/>
                          <a:ea typeface="Calibri"/>
                        </a:rPr>
                        <a:t>37</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10" b="0" u="none" strike="noStrike">
                          <a:solidFill>
                            <a:srgbClr val="172333"/>
                          </a:solidFill>
                          <a:effectLst/>
                          <a:uFillTx/>
                          <a:latin typeface="Calibri"/>
                          <a:ea typeface="Calibri"/>
                        </a:rPr>
                        <a:t>9.08</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117" name="Text 6"/>
          <p:cNvSpPr/>
          <p:nvPr/>
        </p:nvSpPr>
        <p:spPr>
          <a:xfrm>
            <a:off x="548640" y="5072040"/>
            <a:ext cx="11091240" cy="97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660" b="1" u="none" strike="noStrike">
                <a:solidFill>
                  <a:srgbClr val="172333"/>
                </a:solidFill>
                <a:effectLst/>
                <a:uFillTx/>
                <a:latin typeface="Calibri"/>
                <a:ea typeface="Calibri"/>
              </a:rPr>
              <a:t>Com</a:t>
            </a:r>
            <a:r>
              <a:rPr lang="en-US" sz="2660" b="1" u="none" strike="noStrike">
                <a:solidFill>
                  <a:srgbClr val="172333"/>
                </a:solidFill>
                <a:effectLst/>
                <a:uFillTx/>
                <a:latin typeface="Calibri"/>
                <a:ea typeface="Calibri"/>
              </a:rPr>
              <a:t>mit:</a:t>
            </a:r>
            <a:r>
              <a:rPr lang="en-US" sz="2660" b="0" u="none" strike="noStrike">
                <a:solidFill>
                  <a:srgbClr val="172333"/>
                </a:solidFill>
                <a:effectLst/>
                <a:uFillTx/>
                <a:latin typeface="Calibri"/>
                <a:ea typeface="Calibri"/>
              </a:rPr>
              <a:t> is </a:t>
            </a:r>
            <a:r>
              <a:rPr lang="en-US" sz="2660" b="0" u="none" strike="noStrike">
                <a:solidFill>
                  <a:srgbClr val="172333"/>
                </a:solidFill>
                <a:effectLst/>
                <a:uFillTx/>
                <a:latin typeface="Calibri"/>
                <a:ea typeface="Calibri"/>
              </a:rPr>
              <a:t>the </a:t>
            </a:r>
            <a:r>
              <a:rPr lang="en-US" sz="2660" b="0" u="none" strike="noStrike">
                <a:solidFill>
                  <a:srgbClr val="172333"/>
                </a:solidFill>
                <a:effectLst/>
                <a:uFillTx/>
                <a:latin typeface="Calibri"/>
                <a:ea typeface="Calibri"/>
              </a:rPr>
              <a:t>sente</a:t>
            </a:r>
            <a:r>
              <a:rPr lang="en-US" sz="2660" b="0" u="none" strike="noStrike">
                <a:solidFill>
                  <a:srgbClr val="172333"/>
                </a:solidFill>
                <a:effectLst/>
                <a:uFillTx/>
                <a:latin typeface="Calibri"/>
                <a:ea typeface="Calibri"/>
              </a:rPr>
              <a:t>nce </a:t>
            </a:r>
            <a:r>
              <a:rPr lang="en-US" sz="2660" b="0" u="none" strike="noStrike">
                <a:solidFill>
                  <a:srgbClr val="172333"/>
                </a:solidFill>
                <a:effectLst/>
                <a:uFillTx/>
                <a:latin typeface="Calibri"/>
                <a:ea typeface="Calibri"/>
              </a:rPr>
              <a:t>(A) </a:t>
            </a:r>
            <a:r>
              <a:rPr lang="en-US" sz="2660" b="0" u="none" strike="noStrike">
                <a:solidFill>
                  <a:srgbClr val="172333"/>
                </a:solidFill>
                <a:effectLst/>
                <a:uFillTx/>
                <a:latin typeface="Calibri"/>
                <a:ea typeface="Calibri"/>
              </a:rPr>
              <a:t>true, </a:t>
            </a:r>
            <a:r>
              <a:rPr lang="en-US" sz="2660" b="0" u="none" strike="noStrike">
                <a:solidFill>
                  <a:srgbClr val="172333"/>
                </a:solidFill>
                <a:effectLst/>
                <a:uFillTx/>
                <a:latin typeface="Calibri"/>
                <a:ea typeface="Calibri"/>
              </a:rPr>
              <a:t>(B) </a:t>
            </a:r>
            <a:r>
              <a:rPr lang="en-US" sz="2660" b="0" u="none" strike="noStrike">
                <a:solidFill>
                  <a:srgbClr val="172333"/>
                </a:solidFill>
                <a:effectLst/>
                <a:uFillTx/>
                <a:latin typeface="Calibri"/>
                <a:ea typeface="Calibri"/>
              </a:rPr>
              <a:t>misle</a:t>
            </a:r>
            <a:r>
              <a:rPr lang="en-US" sz="2660" b="0" u="none" strike="noStrike">
                <a:solidFill>
                  <a:srgbClr val="172333"/>
                </a:solidFill>
                <a:effectLst/>
                <a:uFillTx/>
                <a:latin typeface="Calibri"/>
                <a:ea typeface="Calibri"/>
              </a:rPr>
              <a:t>ading, </a:t>
            </a:r>
            <a:r>
              <a:rPr lang="en-US" sz="2660" b="0" u="none" strike="noStrike">
                <a:solidFill>
                  <a:srgbClr val="172333"/>
                </a:solidFill>
                <a:effectLst/>
                <a:uFillTx/>
                <a:latin typeface="Calibri"/>
                <a:ea typeface="Calibri"/>
              </a:rPr>
              <a:t>or (C) </a:t>
            </a:r>
            <a:r>
              <a:rPr lang="en-US" sz="2660" b="0" u="none" strike="noStrike">
                <a:solidFill>
                  <a:srgbClr val="172333"/>
                </a:solidFill>
                <a:effectLst/>
                <a:uFillTx/>
                <a:latin typeface="Calibri"/>
                <a:ea typeface="Calibri"/>
              </a:rPr>
              <a:t>impos</a:t>
            </a:r>
            <a:r>
              <a:rPr lang="en-US" sz="2660" b="0" u="none" strike="noStrike">
                <a:solidFill>
                  <a:srgbClr val="172333"/>
                </a:solidFill>
                <a:effectLst/>
                <a:uFillTx/>
                <a:latin typeface="Calibri"/>
                <a:ea typeface="Calibri"/>
              </a:rPr>
              <a:t>sible </a:t>
            </a:r>
            <a:r>
              <a:rPr lang="en-US" sz="2660" b="0" u="none" strike="noStrike">
                <a:solidFill>
                  <a:srgbClr val="172333"/>
                </a:solidFill>
                <a:effectLst/>
                <a:uFillTx/>
                <a:latin typeface="Calibri"/>
                <a:ea typeface="Calibri"/>
              </a:rPr>
              <a:t>to </a:t>
            </a:r>
            <a:r>
              <a:rPr lang="en-US" sz="2660" b="0" u="none" strike="noStrike">
                <a:solidFill>
                  <a:srgbClr val="172333"/>
                </a:solidFill>
                <a:effectLst/>
                <a:uFillTx/>
                <a:latin typeface="Calibri"/>
                <a:ea typeface="Calibri"/>
              </a:rPr>
              <a:t>judge</a:t>
            </a:r>
            <a:r>
              <a:rPr lang="en-US" sz="2660" b="0" u="none" strike="noStrike">
                <a:solidFill>
                  <a:srgbClr val="172333"/>
                </a:solidFill>
                <a:effectLst/>
                <a:uFillTx/>
                <a:latin typeface="Calibri"/>
                <a:ea typeface="Calibri"/>
              </a:rPr>
              <a:t>?</a:t>
            </a:r>
            <a:endParaRPr lang="en-US" sz="2660" b="0" u="none" strike="noStrike">
              <a:solidFill>
                <a:srgbClr val="000000"/>
              </a:solidFill>
              <a:effectLst/>
              <a:uFillTx/>
              <a:latin typeface="Arial"/>
            </a:endParaRPr>
          </a:p>
        </p:txBody>
      </p:sp>
      <p:sp>
        <p:nvSpPr>
          <p:cNvPr id="118" name="PlaceHolder 1"/>
          <p:cNvSpPr>
            <a:spLocks noGrp="1"/>
          </p:cNvSpPr>
          <p:nvPr>
            <p:ph type="sldNum" idx="13"/>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1A3576CB-1EC1-401B-B600-D54BFDF1506C}"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1 · SAME AVERAGE</a:t>
            </a:r>
            <a:endParaRPr lang="en-US" sz="1100" b="0" u="none" strike="noStrike">
              <a:solidFill>
                <a:srgbClr val="000000"/>
              </a:solidFill>
              <a:effectLst/>
              <a:uFillTx/>
              <a:latin typeface="Arial"/>
            </a:endParaRPr>
          </a:p>
        </p:txBody>
      </p:sp>
      <p:sp>
        <p:nvSpPr>
          <p:cNvPr id="120"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Look at every over</a:t>
            </a:r>
            <a:endParaRPr lang="en-US" sz="3200" b="0" u="none" strike="noStrike">
              <a:solidFill>
                <a:srgbClr val="000000"/>
              </a:solidFill>
              <a:effectLst/>
              <a:uFillTx/>
              <a:latin typeface="Arial"/>
            </a:endParaRPr>
          </a:p>
        </p:txBody>
      </p:sp>
      <p:sp>
        <p:nvSpPr>
          <p:cNvPr id="121"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122" name="Image 0" descr="Look at every over"/>
          <p:cNvPicPr/>
          <p:nvPr/>
        </p:nvPicPr>
        <p:blipFill>
          <a:blip r:embed="rId1"/>
          <a:stretch/>
        </p:blipFill>
        <p:spPr>
          <a:xfrm>
            <a:off x="914400" y="1463040"/>
            <a:ext cx="9473040" cy="4480560"/>
          </a:xfrm>
          <a:prstGeom prst="rect">
            <a:avLst/>
          </a:prstGeom>
          <a:noFill/>
          <a:ln w="0">
            <a:noFill/>
          </a:ln>
        </p:spPr>
      </p:pic>
      <p:sp>
        <p:nvSpPr>
          <p:cNvPr id="123" name="Text 3"/>
          <p:cNvSpPr/>
          <p:nvPr/>
        </p:nvSpPr>
        <p:spPr>
          <a:xfrm>
            <a:off x="548640" y="5190840"/>
            <a:ext cx="11091240" cy="88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124" name="PlaceHolder 1"/>
          <p:cNvSpPr>
            <a:spLocks noGrp="1"/>
          </p:cNvSpPr>
          <p:nvPr>
            <p:ph type="sldNum" idx="14"/>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0CA41CC8-6082-45B4-A2D0-BABF0BC9BC1E}"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1 · SAME AVERAGE</a:t>
            </a:r>
            <a:endParaRPr lang="en-US" sz="1100" b="0" u="none" strike="noStrike">
              <a:solidFill>
                <a:srgbClr val="000000"/>
              </a:solidFill>
              <a:effectLst/>
              <a:uFillTx/>
              <a:latin typeface="Arial"/>
            </a:endParaRPr>
          </a:p>
        </p:txBody>
      </p:sp>
      <p:sp>
        <p:nvSpPr>
          <p:cNvPr id="126"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What the average did not say</a:t>
            </a:r>
            <a:endParaRPr lang="en-US" sz="3200" b="0" u="none" strike="noStrike">
              <a:solidFill>
                <a:srgbClr val="000000"/>
              </a:solidFill>
              <a:effectLst/>
              <a:uFillTx/>
              <a:latin typeface="Arial"/>
            </a:endParaRPr>
          </a:p>
        </p:txBody>
      </p:sp>
      <p:sp>
        <p:nvSpPr>
          <p:cNvPr id="127"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128" name="Table 0"/>
          <p:cNvGraphicFramePr/>
          <p:nvPr/>
        </p:nvGraphicFramePr>
        <p:xfrm>
          <a:off x="548640" y="1463040"/>
          <a:ext cx="11091240" cy="1206360"/>
        </p:xfrm>
        <a:graphic>
          <a:graphicData uri="http://schemas.openxmlformats.org/drawingml/2006/table">
            <a:tbl>
              <a:tblPr/>
              <a:tblGrid>
                <a:gridCol w="3454560"/>
                <a:gridCol w="2727360"/>
                <a:gridCol w="2727360"/>
                <a:gridCol w="2181960"/>
              </a:tblGrid>
              <a:tr h="0">
                <a:tc>
                  <a:txBody>
                    <a:bodyPr anchor="ctr">
                      <a:noAutofit/>
                    </a:bodyPr>
                    <a:p>
                      <a:endParaRPr lang="en-US" sz="1800" b="0" u="none" strike="noStrike">
                        <a:solidFill>
                          <a:schemeClr val="dk1"/>
                        </a:solidFill>
                        <a:effectLst/>
                        <a:uFillTx/>
                        <a:latin typeface="Calibri"/>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040" b="1" u="none" strike="noStrike">
                          <a:solidFill>
                            <a:srgbClr val="FFFFFF"/>
                          </a:solidFill>
                          <a:effectLst/>
                          <a:uFillTx/>
                          <a:latin typeface="Calibri"/>
                          <a:ea typeface="Calibri"/>
                        </a:rPr>
                        <a:t>4 runs or fewer</a:t>
                      </a:r>
                      <a:endParaRPr lang="en-US" sz="204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040" b="1" u="none" strike="noStrike">
                          <a:solidFill>
                            <a:srgbClr val="FFFFFF"/>
                          </a:solidFill>
                          <a:effectLst/>
                          <a:uFillTx/>
                          <a:latin typeface="Calibri"/>
                          <a:ea typeface="Calibri"/>
                        </a:rPr>
                        <a:t>15 runs or more</a:t>
                      </a:r>
                      <a:endParaRPr lang="en-US" sz="204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040" b="1" u="none" strike="noStrike">
                          <a:solidFill>
                            <a:srgbClr val="FFFFFF"/>
                          </a:solidFill>
                          <a:effectLst/>
                          <a:uFillTx/>
                          <a:latin typeface="Calibri"/>
                          <a:ea typeface="Calibri"/>
                        </a:rPr>
                        <a:t>Highest over</a:t>
                      </a:r>
                      <a:endParaRPr lang="en-US" sz="204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040" b="0" u="none" strike="noStrike">
                          <a:solidFill>
                            <a:srgbClr val="172333"/>
                          </a:solidFill>
                          <a:effectLst/>
                          <a:uFillTx/>
                          <a:latin typeface="Calibri"/>
                          <a:ea typeface="Calibri"/>
                        </a:rPr>
                        <a:t>Peshawar (44 overs)</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10</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11</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21</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040" b="0" u="none" strike="noStrike">
                          <a:solidFill>
                            <a:srgbClr val="172333"/>
                          </a:solidFill>
                          <a:effectLst/>
                          <a:uFillTx/>
                          <a:latin typeface="Calibri"/>
                          <a:ea typeface="Calibri"/>
                        </a:rPr>
                        <a:t>Quetta (37 overs)</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6</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3</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26</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129" name="Text 3"/>
          <p:cNvSpPr/>
          <p:nvPr/>
        </p:nvSpPr>
        <p:spPr>
          <a:xfrm>
            <a:off x="548640" y="3268440"/>
            <a:ext cx="11091240" cy="94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570" b="0" u="none" strike="noStrike">
                <a:solidFill>
                  <a:srgbClr val="172333"/>
                </a:solidFill>
                <a:effectLst/>
                <a:uFillTx/>
                <a:latin typeface="Calibri"/>
                <a:ea typeface="Calibri"/>
              </a:rPr>
              <a:t>Same mean. Peshawar has more overs at both ends. Quetta's largest over is bigger.</a:t>
            </a:r>
            <a:endParaRPr lang="en-US" sz="2570" b="0" u="none" strike="noStrike">
              <a:solidFill>
                <a:srgbClr val="000000"/>
              </a:solidFill>
              <a:effectLst/>
              <a:uFillTx/>
              <a:latin typeface="Arial"/>
            </a:endParaRPr>
          </a:p>
        </p:txBody>
      </p:sp>
      <p:sp>
        <p:nvSpPr>
          <p:cNvPr id="130" name="Text 4"/>
          <p:cNvSpPr/>
          <p:nvPr/>
        </p:nvSpPr>
        <p:spPr>
          <a:xfrm>
            <a:off x="548640" y="4395960"/>
            <a:ext cx="11091240" cy="94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570" b="1" u="none" strike="noStrike">
                <a:solidFill>
                  <a:srgbClr val="172333"/>
                </a:solidFill>
                <a:effectLst/>
                <a:uFillTx/>
                <a:latin typeface="Calibri"/>
                <a:ea typeface="Calibri"/>
              </a:rPr>
              <a:t>Claim v1:</a:t>
            </a:r>
            <a:r>
              <a:rPr lang="en-US" sz="2570" b="0" u="none" strike="noStrike">
                <a:solidFill>
                  <a:srgbClr val="172333"/>
                </a:solidFill>
                <a:effectLst/>
                <a:uFillTx/>
                <a:latin typeface="Calibri"/>
                <a:ea typeface="Calibri"/>
              </a:rPr>
              <a:t> </a:t>
            </a:r>
            <a:r>
              <a:rPr lang="en-US" sz="2570" b="0" i="1" u="none" strike="noStrike">
                <a:solidFill>
                  <a:srgbClr val="172333"/>
                </a:solidFill>
                <a:effectLst/>
                <a:uFillTx/>
                <a:latin typeface="Calibri"/>
                <a:ea typeface="Calibri"/>
              </a:rPr>
              <a:t>the means agree, so the death overs do not explain the final.</a:t>
            </a:r>
            <a:r>
              <a:rPr lang="en-US" sz="2570" b="0" u="none" strike="noStrike">
                <a:solidFill>
                  <a:srgbClr val="172333"/>
                </a:solidFill>
                <a:effectLst/>
                <a:uFillTx/>
                <a:latin typeface="Calibri"/>
                <a:ea typeface="Calibri"/>
              </a:rPr>
              <a:t> The first half is true. The second half is unproven.</a:t>
            </a:r>
            <a:endParaRPr lang="en-US" sz="2570" b="0" u="none" strike="noStrike">
              <a:solidFill>
                <a:srgbClr val="000000"/>
              </a:solidFill>
              <a:effectLst/>
              <a:uFillTx/>
              <a:latin typeface="Arial"/>
            </a:endParaRPr>
          </a:p>
        </p:txBody>
      </p:sp>
      <p:sp>
        <p:nvSpPr>
          <p:cNvPr id="131" name="Text 5"/>
          <p:cNvSpPr/>
          <p:nvPr/>
        </p:nvSpPr>
        <p:spPr>
          <a:xfrm>
            <a:off x="548640" y="5523480"/>
            <a:ext cx="11091240" cy="526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570" b="1" u="none" strike="noStrike">
                <a:solidFill>
                  <a:srgbClr val="172333"/>
                </a:solidFill>
                <a:effectLst/>
                <a:uFillTx/>
                <a:latin typeface="Calibri"/>
                <a:ea typeface="Calibri"/>
              </a:rPr>
              <a:t>Question 2:</a:t>
            </a:r>
            <a:r>
              <a:rPr lang="en-US" sz="2570" b="0" u="none" strike="noStrike">
                <a:solidFill>
                  <a:srgbClr val="172333"/>
                </a:solidFill>
                <a:effectLst/>
                <a:uFillTx/>
                <a:latin typeface="Calibri"/>
                <a:ea typeface="Calibri"/>
              </a:rPr>
              <a:t> if the mean is not what differs, what is?</a:t>
            </a:r>
            <a:endParaRPr lang="en-US" sz="2570" b="0" u="none" strike="noStrike">
              <a:solidFill>
                <a:srgbClr val="000000"/>
              </a:solidFill>
              <a:effectLst/>
              <a:uFillTx/>
              <a:latin typeface="Arial"/>
            </a:endParaRPr>
          </a:p>
        </p:txBody>
      </p:sp>
      <p:sp>
        <p:nvSpPr>
          <p:cNvPr id="132" name="PlaceHolder 1"/>
          <p:cNvSpPr>
            <a:spLocks noGrp="1"/>
          </p:cNvSpPr>
          <p:nvPr>
            <p:ph type="sldNum" idx="15"/>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CB13167F-1D85-4AEA-B4C9-28E73449535C}"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3E59"/>
        </a:solidFill>
      </p:bgPr>
    </p:bg>
    <p:spTree>
      <p:nvGrpSpPr>
        <p:cNvPr id="1" name=""/>
        <p:cNvGrpSpPr/>
        <p:nvPr/>
      </p:nvGrpSpPr>
      <p:grpSpPr>
        <a:xfrm>
          <a:off x="0" y="0"/>
          <a:ext cx="0" cy="0"/>
          <a:chOff x="0" y="0"/>
          <a:chExt cx="0" cy="0"/>
        </a:xfrm>
      </p:grpSpPr>
      <p:sp>
        <p:nvSpPr>
          <p:cNvPr id="133" name="Shape 0"/>
          <p:cNvSpPr/>
          <p:nvPr/>
        </p:nvSpPr>
        <p:spPr>
          <a:xfrm>
            <a:off x="8595360" y="1097280"/>
            <a:ext cx="3017160" cy="3017160"/>
          </a:xfrm>
          <a:prstGeom prst="ellipse">
            <a:avLst/>
          </a:prstGeom>
          <a:solidFill>
            <a:srgbClr val="1F6F8B">
              <a:alpha val="75000"/>
            </a:srgbClr>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 name="Shape 1"/>
          <p:cNvSpPr/>
          <p:nvPr/>
        </p:nvSpPr>
        <p:spPr>
          <a:xfrm>
            <a:off x="10466280" y="1942200"/>
            <a:ext cx="2413800" cy="2413800"/>
          </a:xfrm>
          <a:prstGeom prst="ellipse">
            <a:avLst/>
          </a:prstGeom>
          <a:solidFill>
            <a:srgbClr val="D97706">
              <a:alpha val="6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5" name="Text 2"/>
          <p:cNvSpPr/>
          <p:nvPr/>
        </p:nvSpPr>
        <p:spPr>
          <a:xfrm>
            <a:off x="731520" y="219456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pc="499" strike="noStrike">
                <a:solidFill>
                  <a:srgbClr val="D97706"/>
                </a:solidFill>
                <a:effectLst/>
                <a:uFillTx/>
                <a:latin typeface="Calibri"/>
                <a:ea typeface="Calibri"/>
              </a:rPr>
              <a:t>ACT 2</a:t>
            </a:r>
            <a:endParaRPr lang="en-US" sz="2000" b="0" u="none" strike="noStrike">
              <a:solidFill>
                <a:srgbClr val="FFFFFF"/>
              </a:solidFill>
              <a:effectLst/>
              <a:uFillTx/>
              <a:latin typeface="Arial"/>
            </a:endParaRPr>
          </a:p>
        </p:txBody>
      </p:sp>
      <p:sp>
        <p:nvSpPr>
          <p:cNvPr id="136" name="Text 3"/>
          <p:cNvSpPr/>
          <p:nvPr/>
        </p:nvSpPr>
        <p:spPr>
          <a:xfrm>
            <a:off x="731520" y="2697480"/>
            <a:ext cx="74977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600" b="1" u="none" strike="noStrike">
                <a:solidFill>
                  <a:srgbClr val="FFFFFF"/>
                </a:solidFill>
                <a:effectLst/>
                <a:uFillTx/>
                <a:latin typeface="Cambria"/>
                <a:ea typeface="Cambria"/>
              </a:rPr>
              <a:t>What exactly differs?</a:t>
            </a:r>
            <a:endParaRPr lang="en-US" sz="4600" b="0" u="none" strike="noStrike">
              <a:solidFill>
                <a:srgbClr val="FFFFFF"/>
              </a:solidFill>
              <a:effectLst/>
              <a:uFillTx/>
              <a:latin typeface="Arial"/>
            </a:endParaRPr>
          </a:p>
        </p:txBody>
      </p:sp>
      <p:sp>
        <p:nvSpPr>
          <p:cNvPr id="137" name="Text 4"/>
          <p:cNvSpPr/>
          <p:nvPr/>
        </p:nvSpPr>
        <p:spPr>
          <a:xfrm>
            <a:off x="731520" y="4114800"/>
            <a:ext cx="71319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i="1" u="none" strike="noStrike">
                <a:solidFill>
                  <a:srgbClr val="CADCFC"/>
                </a:solidFill>
                <a:effectLst/>
                <a:uFillTx/>
                <a:latin typeface="Calibri"/>
                <a:ea typeface="Calibri"/>
              </a:rPr>
              <a:t>What exactly differs between two distributions?</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8"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139"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A distribution is every value</a:t>
            </a:r>
            <a:endParaRPr lang="en-US" sz="3200" b="0" u="none" strike="noStrike">
              <a:solidFill>
                <a:srgbClr val="000000"/>
              </a:solidFill>
              <a:effectLst/>
              <a:uFillTx/>
              <a:latin typeface="Arial"/>
            </a:endParaRPr>
          </a:p>
        </p:txBody>
      </p:sp>
      <p:sp>
        <p:nvSpPr>
          <p:cNvPr id="140"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141" name="Text 3"/>
          <p:cNvSpPr/>
          <p:nvPr/>
        </p:nvSpPr>
        <p:spPr>
          <a:xfrm>
            <a:off x="548640" y="1463040"/>
            <a:ext cx="1109124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380" b="0" u="none" strike="noStrike">
                <a:solidFill>
                  <a:srgbClr val="172333"/>
                </a:solidFill>
                <a:effectLst/>
                <a:uFillTx/>
                <a:latin typeface="Calibri"/>
                <a:ea typeface="Calibri"/>
              </a:rPr>
              <a:t>A </a:t>
            </a:r>
            <a:r>
              <a:rPr lang="en-US" sz="2380" b="1" u="none" strike="noStrike">
                <a:solidFill>
                  <a:srgbClr val="172333"/>
                </a:solidFill>
                <a:effectLst/>
                <a:uFillTx/>
                <a:latin typeface="Calibri"/>
                <a:ea typeface="Calibri"/>
              </a:rPr>
              <a:t>distribution</a:t>
            </a:r>
            <a:r>
              <a:rPr lang="en-US" sz="2380" b="0" u="none" strike="noStrike">
                <a:solidFill>
                  <a:srgbClr val="172333"/>
                </a:solidFill>
                <a:effectLst/>
                <a:uFillTx/>
                <a:latin typeface="Calibri"/>
                <a:ea typeface="Calibri"/>
              </a:rPr>
              <a:t> is which values occurred and how often.</a:t>
            </a:r>
            <a:endParaRPr lang="en-US" sz="2380" b="0" u="none" strike="noStrike">
              <a:solidFill>
                <a:srgbClr val="000000"/>
              </a:solidFill>
              <a:effectLst/>
              <a:uFillTx/>
              <a:latin typeface="Arial"/>
            </a:endParaRPr>
          </a:p>
        </p:txBody>
      </p:sp>
      <p:sp>
        <p:nvSpPr>
          <p:cNvPr id="142" name="Text 4"/>
          <p:cNvSpPr/>
          <p:nvPr/>
        </p:nvSpPr>
        <p:spPr>
          <a:xfrm>
            <a:off x="548640" y="2142000"/>
            <a:ext cx="1109124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380" b="0" u="none" strike="noStrike">
                <a:solidFill>
                  <a:srgbClr val="172333"/>
                </a:solidFill>
                <a:effectLst/>
                <a:uFillTx/>
                <a:latin typeface="Calibri"/>
                <a:ea typeface="Calibri"/>
              </a:rPr>
              <a:t>A </a:t>
            </a:r>
            <a:r>
              <a:rPr lang="en-US" sz="2380" b="1" u="none" strike="noStrike">
                <a:solidFill>
                  <a:srgbClr val="172333"/>
                </a:solidFill>
                <a:effectLst/>
                <a:uFillTx/>
                <a:latin typeface="Calibri"/>
                <a:ea typeface="Calibri"/>
              </a:rPr>
              <a:t>summary</a:t>
            </a:r>
            <a:r>
              <a:rPr lang="en-US" sz="2380" b="0" u="none" strike="noStrike">
                <a:solidFill>
                  <a:srgbClr val="172333"/>
                </a:solidFill>
                <a:effectLst/>
                <a:uFillTx/>
                <a:latin typeface="Calibri"/>
                <a:ea typeface="Calibri"/>
              </a:rPr>
              <a:t> is one answer to one question about it.</a:t>
            </a:r>
            <a:endParaRPr lang="en-US" sz="2380" b="0" u="none" strike="noStrike">
              <a:solidFill>
                <a:srgbClr val="000000"/>
              </a:solidFill>
              <a:effectLst/>
              <a:uFillTx/>
              <a:latin typeface="Arial"/>
            </a:endParaRPr>
          </a:p>
        </p:txBody>
      </p:sp>
      <p:sp>
        <p:nvSpPr>
          <p:cNvPr id="143" name="Shape 5"/>
          <p:cNvSpPr/>
          <p:nvPr/>
        </p:nvSpPr>
        <p:spPr>
          <a:xfrm>
            <a:off x="548640" y="2820600"/>
            <a:ext cx="11091240" cy="552960"/>
          </a:xfrm>
          <a:prstGeom prst="roundRect">
            <a:avLst>
              <a:gd name="adj" fmla="val 1322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4" name="Shape 6"/>
          <p:cNvSpPr/>
          <p:nvPr/>
        </p:nvSpPr>
        <p:spPr>
          <a:xfrm>
            <a:off x="786240" y="301500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5" name="Text 7"/>
          <p:cNvSpPr/>
          <p:nvPr/>
        </p:nvSpPr>
        <p:spPr>
          <a:xfrm>
            <a:off x="1234440" y="2820600"/>
            <a:ext cx="10222560" cy="552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80" b="0" u="none" strike="noStrike">
                <a:solidFill>
                  <a:srgbClr val="172333"/>
                </a:solidFill>
                <a:effectLst/>
                <a:uFillTx/>
                <a:latin typeface="Calibri"/>
                <a:ea typeface="Calibri"/>
              </a:rPr>
              <a:t>mean: what total should I expect?</a:t>
            </a:r>
            <a:endParaRPr lang="en-US" sz="2180" b="0" u="none" strike="noStrike">
              <a:solidFill>
                <a:srgbClr val="000000"/>
              </a:solidFill>
              <a:effectLst/>
              <a:uFillTx/>
              <a:latin typeface="Arial"/>
            </a:endParaRPr>
          </a:p>
        </p:txBody>
      </p:sp>
      <p:sp>
        <p:nvSpPr>
          <p:cNvPr id="146" name="Shape 8"/>
          <p:cNvSpPr/>
          <p:nvPr/>
        </p:nvSpPr>
        <p:spPr>
          <a:xfrm>
            <a:off x="548640" y="3464640"/>
            <a:ext cx="11091240" cy="552960"/>
          </a:xfrm>
          <a:prstGeom prst="roundRect">
            <a:avLst>
              <a:gd name="adj" fmla="val 1322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7" name="Shape 9"/>
          <p:cNvSpPr/>
          <p:nvPr/>
        </p:nvSpPr>
        <p:spPr>
          <a:xfrm>
            <a:off x="786240" y="36586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8" name="Text 10"/>
          <p:cNvSpPr/>
          <p:nvPr/>
        </p:nvSpPr>
        <p:spPr>
          <a:xfrm>
            <a:off x="1234440" y="3464640"/>
            <a:ext cx="10222560" cy="552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80" b="0" u="none" strike="noStrike">
                <a:solidFill>
                  <a:srgbClr val="172333"/>
                </a:solidFill>
                <a:effectLst/>
                <a:uFillTx/>
                <a:latin typeface="Calibri"/>
                <a:ea typeface="Calibri"/>
              </a:rPr>
              <a:t>median: what does a typical over look like?</a:t>
            </a:r>
            <a:endParaRPr lang="en-US" sz="2180" b="0" u="none" strike="noStrike">
              <a:solidFill>
                <a:srgbClr val="000000"/>
              </a:solidFill>
              <a:effectLst/>
              <a:uFillTx/>
              <a:latin typeface="Arial"/>
            </a:endParaRPr>
          </a:p>
        </p:txBody>
      </p:sp>
      <p:sp>
        <p:nvSpPr>
          <p:cNvPr id="149" name="Shape 11"/>
          <p:cNvSpPr/>
          <p:nvPr/>
        </p:nvSpPr>
        <p:spPr>
          <a:xfrm>
            <a:off x="548640" y="4108320"/>
            <a:ext cx="11091240" cy="552960"/>
          </a:xfrm>
          <a:prstGeom prst="roundRect">
            <a:avLst>
              <a:gd name="adj" fmla="val 1322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0" name="Shape 12"/>
          <p:cNvSpPr/>
          <p:nvPr/>
        </p:nvSpPr>
        <p:spPr>
          <a:xfrm>
            <a:off x="786240" y="430236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Text 13"/>
          <p:cNvSpPr/>
          <p:nvPr/>
        </p:nvSpPr>
        <p:spPr>
          <a:xfrm>
            <a:off x="1234440" y="4108320"/>
            <a:ext cx="10222560" cy="552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80" b="0" u="none" strike="noStrike">
                <a:solidFill>
                  <a:srgbClr val="172333"/>
                </a:solidFill>
                <a:effectLst/>
                <a:uFillTx/>
                <a:latin typeface="Calibri"/>
                <a:ea typeface="Calibri"/>
              </a:rPr>
              <a:t>quantile: how good or bad can it get?</a:t>
            </a:r>
            <a:endParaRPr lang="en-US" sz="2180" b="0" u="none" strike="noStrike">
              <a:solidFill>
                <a:srgbClr val="000000"/>
              </a:solidFill>
              <a:effectLst/>
              <a:uFillTx/>
              <a:latin typeface="Arial"/>
            </a:endParaRPr>
          </a:p>
        </p:txBody>
      </p:sp>
      <p:sp>
        <p:nvSpPr>
          <p:cNvPr id="152" name="Shape 14"/>
          <p:cNvSpPr/>
          <p:nvPr/>
        </p:nvSpPr>
        <p:spPr>
          <a:xfrm>
            <a:off x="548640" y="4752000"/>
            <a:ext cx="11091240" cy="552960"/>
          </a:xfrm>
          <a:prstGeom prst="roundRect">
            <a:avLst>
              <a:gd name="adj" fmla="val 1322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Shape 15"/>
          <p:cNvSpPr/>
          <p:nvPr/>
        </p:nvSpPr>
        <p:spPr>
          <a:xfrm>
            <a:off x="786240" y="494640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4" name="Text 16"/>
          <p:cNvSpPr/>
          <p:nvPr/>
        </p:nvSpPr>
        <p:spPr>
          <a:xfrm>
            <a:off x="1234440" y="4752000"/>
            <a:ext cx="10222560" cy="552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80" b="0" u="none" strike="noStrike">
                <a:solidFill>
                  <a:srgbClr val="172333"/>
                </a:solidFill>
                <a:effectLst/>
                <a:uFillTx/>
                <a:latin typeface="Calibri"/>
                <a:ea typeface="Calibri"/>
              </a:rPr>
              <a:t>tail rate: how often does it cross a line?</a:t>
            </a:r>
            <a:endParaRPr lang="en-US" sz="2180" b="0" u="none" strike="noStrike">
              <a:solidFill>
                <a:srgbClr val="000000"/>
              </a:solidFill>
              <a:effectLst/>
              <a:uFillTx/>
              <a:latin typeface="Arial"/>
            </a:endParaRPr>
          </a:p>
        </p:txBody>
      </p:sp>
      <p:sp>
        <p:nvSpPr>
          <p:cNvPr id="155" name="Text 17"/>
          <p:cNvSpPr/>
          <p:nvPr/>
        </p:nvSpPr>
        <p:spPr>
          <a:xfrm>
            <a:off x="548640" y="5523840"/>
            <a:ext cx="1109124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380" b="0" u="none" strike="noStrike">
                <a:solidFill>
                  <a:srgbClr val="172333"/>
                </a:solidFill>
                <a:effectLst/>
                <a:uFillTx/>
                <a:latin typeface="Calibri"/>
                <a:ea typeface="Calibri"/>
              </a:rPr>
              <a:t>Different questions, different summaries.</a:t>
            </a:r>
            <a:endParaRPr lang="en-US" sz="2380" b="0" u="none" strike="noStrike">
              <a:solidFill>
                <a:srgbClr val="000000"/>
              </a:solidFill>
              <a:effectLst/>
              <a:uFillTx/>
              <a:latin typeface="Arial"/>
            </a:endParaRPr>
          </a:p>
        </p:txBody>
      </p:sp>
      <p:sp>
        <p:nvSpPr>
          <p:cNvPr id="156" name="PlaceHolder 1"/>
          <p:cNvSpPr>
            <a:spLocks noGrp="1"/>
          </p:cNvSpPr>
          <p:nvPr>
            <p:ph type="sldNum" idx="16"/>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FE1C6B4D-B708-44EC-93E9-3EB6C0081059}"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158"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histogram</a:t>
            </a:r>
            <a:endParaRPr lang="en-US" sz="3200" b="0" u="none" strike="noStrike">
              <a:solidFill>
                <a:srgbClr val="000000"/>
              </a:solidFill>
              <a:effectLst/>
              <a:uFillTx/>
              <a:latin typeface="Arial"/>
            </a:endParaRPr>
          </a:p>
        </p:txBody>
      </p:sp>
      <p:sp>
        <p:nvSpPr>
          <p:cNvPr id="159"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160" name="Image 0" descr="The histogram"/>
          <p:cNvPicPr/>
          <p:nvPr/>
        </p:nvPicPr>
        <p:blipFill>
          <a:blip r:embed="rId1"/>
          <a:stretch/>
        </p:blipFill>
        <p:spPr>
          <a:xfrm>
            <a:off x="548640" y="1780560"/>
            <a:ext cx="7314840" cy="4165200"/>
          </a:xfrm>
          <a:prstGeom prst="rect">
            <a:avLst/>
          </a:prstGeom>
          <a:noFill/>
          <a:ln w="0">
            <a:noFill/>
          </a:ln>
        </p:spPr>
      </p:pic>
      <p:sp>
        <p:nvSpPr>
          <p:cNvPr id="161" name="Text 3"/>
          <p:cNvSpPr/>
          <p:nvPr/>
        </p:nvSpPr>
        <p:spPr>
          <a:xfrm>
            <a:off x="8183880" y="1463040"/>
            <a:ext cx="3456000" cy="1435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40" b="0" u="none" strike="noStrike">
                <a:solidFill>
                  <a:srgbClr val="172333"/>
                </a:solidFill>
                <a:effectLst/>
                <a:uFillTx/>
                <a:latin typeface="Calibri"/>
                <a:ea typeface="Calibri"/>
              </a:rPr>
              <a:t>Same bins for both teams, drawn as a percentage because the teams have different numbers of overs.</a:t>
            </a:r>
            <a:endParaRPr lang="en-US" sz="2040" b="0" u="none" strike="noStrike">
              <a:solidFill>
                <a:srgbClr val="000000"/>
              </a:solidFill>
              <a:effectLst/>
              <a:uFillTx/>
              <a:latin typeface="Arial"/>
            </a:endParaRPr>
          </a:p>
        </p:txBody>
      </p:sp>
      <p:sp>
        <p:nvSpPr>
          <p:cNvPr id="162" name="PlaceHolder 1"/>
          <p:cNvSpPr>
            <a:spLocks noGrp="1"/>
          </p:cNvSpPr>
          <p:nvPr>
            <p:ph type="sldNum" idx="17"/>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0654078F-497E-4F6E-8FB5-D79693F7C0EC}"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164"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histogram depends on its bins</a:t>
            </a:r>
            <a:endParaRPr lang="en-US" sz="3200" b="0" u="none" strike="noStrike">
              <a:solidFill>
                <a:srgbClr val="000000"/>
              </a:solidFill>
              <a:effectLst/>
              <a:uFillTx/>
              <a:latin typeface="Arial"/>
            </a:endParaRPr>
          </a:p>
        </p:txBody>
      </p:sp>
      <p:sp>
        <p:nvSpPr>
          <p:cNvPr id="165"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166" name="Text 3"/>
          <p:cNvSpPr/>
          <p:nvPr/>
        </p:nvSpPr>
        <p:spPr>
          <a:xfrm>
            <a:off x="548640" y="14630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Change the bin width and the shape changes. So we use a picture with no bins.</a:t>
            </a:r>
            <a:endParaRPr lang="en-US" sz="2760" b="0" u="none" strike="noStrike">
              <a:solidFill>
                <a:srgbClr val="000000"/>
              </a:solidFill>
              <a:effectLst/>
              <a:uFillTx/>
              <a:latin typeface="Arial"/>
            </a:endParaRPr>
          </a:p>
        </p:txBody>
      </p:sp>
      <p:pic>
        <p:nvPicPr>
          <p:cNvPr id="167" name="Image 0" descr="equation"/>
          <p:cNvPicPr/>
          <p:nvPr/>
        </p:nvPicPr>
        <p:blipFill>
          <a:blip r:embed="rId1"/>
          <a:stretch/>
        </p:blipFill>
        <p:spPr>
          <a:xfrm>
            <a:off x="548640" y="2726280"/>
            <a:ext cx="4338720" cy="1209240"/>
          </a:xfrm>
          <a:prstGeom prst="rect">
            <a:avLst/>
          </a:prstGeom>
          <a:noFill/>
          <a:ln w="0">
            <a:noFill/>
          </a:ln>
        </p:spPr>
      </p:pic>
      <p:sp>
        <p:nvSpPr>
          <p:cNvPr id="168" name="Text 4"/>
          <p:cNvSpPr/>
          <p:nvPr/>
        </p:nvSpPr>
        <p:spPr>
          <a:xfrm>
            <a:off x="548640" y="421920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a:t>
            </a:r>
            <a:r>
              <a:rPr lang="en-US" sz="2760" b="1" u="none" strike="noStrike">
                <a:solidFill>
                  <a:srgbClr val="172333"/>
                </a:solidFill>
                <a:effectLst/>
                <a:uFillTx/>
                <a:latin typeface="Calibri"/>
                <a:ea typeface="Calibri"/>
              </a:rPr>
              <a:t>ECDF</a:t>
            </a:r>
            <a:r>
              <a:rPr lang="en-US" sz="2760" b="0" u="none" strike="noStrike">
                <a:solidFill>
                  <a:srgbClr val="172333"/>
                </a:solidFill>
                <a:effectLst/>
                <a:uFillTx/>
                <a:latin typeface="Calibri"/>
                <a:ea typeface="Calibri"/>
              </a:rPr>
              <a:t> answers: </a:t>
            </a:r>
            <a:r>
              <a:rPr lang="en-US" sz="2760" b="0" i="1" u="none" strike="noStrike">
                <a:solidFill>
                  <a:srgbClr val="172333"/>
                </a:solidFill>
                <a:effectLst/>
                <a:uFillTx/>
                <a:latin typeface="Calibri"/>
                <a:ea typeface="Calibri"/>
              </a:rPr>
              <a:t>what fraction of overs scored at most x runs?</a:t>
            </a:r>
            <a:endParaRPr lang="en-US" sz="2760" b="0" u="none" strike="noStrike">
              <a:solidFill>
                <a:srgbClr val="000000"/>
              </a:solidFill>
              <a:effectLst/>
              <a:uFillTx/>
              <a:latin typeface="Arial"/>
            </a:endParaRPr>
          </a:p>
        </p:txBody>
      </p:sp>
      <p:sp>
        <p:nvSpPr>
          <p:cNvPr id="169" name="PlaceHolder 1"/>
          <p:cNvSpPr>
            <a:spLocks noGrp="1"/>
          </p:cNvSpPr>
          <p:nvPr>
            <p:ph type="sldNum" idx="18"/>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9B815D8F-4696-4E84-8FA1-17B20FB2FD05}"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17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ECDF</a:t>
            </a:r>
            <a:endParaRPr lang="en-US" sz="3200" b="0" u="none" strike="noStrike">
              <a:solidFill>
                <a:srgbClr val="000000"/>
              </a:solidFill>
              <a:effectLst/>
              <a:uFillTx/>
              <a:latin typeface="Arial"/>
            </a:endParaRPr>
          </a:p>
        </p:txBody>
      </p:sp>
      <p:sp>
        <p:nvSpPr>
          <p:cNvPr id="17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173" name="Image 0" descr="The ECDF"/>
          <p:cNvPicPr/>
          <p:nvPr/>
        </p:nvPicPr>
        <p:blipFill>
          <a:blip r:embed="rId1"/>
          <a:stretch/>
        </p:blipFill>
        <p:spPr>
          <a:xfrm>
            <a:off x="548640" y="1761840"/>
            <a:ext cx="7314840" cy="4202280"/>
          </a:xfrm>
          <a:prstGeom prst="rect">
            <a:avLst/>
          </a:prstGeom>
          <a:noFill/>
          <a:ln w="0">
            <a:noFill/>
          </a:ln>
        </p:spPr>
      </p:pic>
      <p:sp>
        <p:nvSpPr>
          <p:cNvPr id="174" name="Text 3"/>
          <p:cNvSpPr/>
          <p:nvPr/>
        </p:nvSpPr>
        <p:spPr>
          <a:xfrm>
            <a:off x="8183880" y="1463040"/>
            <a:ext cx="3456000" cy="1435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40" b="0" u="none" strike="noStrike">
                <a:solidFill>
                  <a:srgbClr val="172333"/>
                </a:solidFill>
                <a:effectLst/>
                <a:uFillTx/>
                <a:latin typeface="Calibri"/>
                <a:ea typeface="Calibri"/>
              </a:rPr>
              <a:t>Peshawar's curve starts higher (more low overs) and ends lower (more high overs). The curves cross.</a:t>
            </a:r>
            <a:endParaRPr lang="en-US" sz="2040" b="0" u="none" strike="noStrike">
              <a:solidFill>
                <a:srgbClr val="000000"/>
              </a:solidFill>
              <a:effectLst/>
              <a:uFillTx/>
              <a:latin typeface="Arial"/>
            </a:endParaRPr>
          </a:p>
        </p:txBody>
      </p:sp>
      <p:sp>
        <p:nvSpPr>
          <p:cNvPr id="175" name="PlaceHolder 1"/>
          <p:cNvSpPr>
            <a:spLocks noGrp="1"/>
          </p:cNvSpPr>
          <p:nvPr>
            <p:ph type="sldNum" idx="19"/>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8AA01699-1C5C-48B3-ABF5-B49D47F57303}"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177"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Reading an ECDF</a:t>
            </a:r>
            <a:endParaRPr lang="en-US" sz="3200" b="0" u="none" strike="noStrike">
              <a:solidFill>
                <a:srgbClr val="000000"/>
              </a:solidFill>
              <a:effectLst/>
              <a:uFillTx/>
              <a:latin typeface="Arial"/>
            </a:endParaRPr>
          </a:p>
        </p:txBody>
      </p:sp>
      <p:sp>
        <p:nvSpPr>
          <p:cNvPr id="178"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179" name="Shape 3"/>
          <p:cNvSpPr/>
          <p:nvPr/>
        </p:nvSpPr>
        <p:spPr>
          <a:xfrm>
            <a:off x="548640" y="146304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0" name="Shape 4"/>
          <p:cNvSpPr/>
          <p:nvPr/>
        </p:nvSpPr>
        <p:spPr>
          <a:xfrm>
            <a:off x="786240" y="19076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1" name="Text 5"/>
          <p:cNvSpPr/>
          <p:nvPr/>
        </p:nvSpPr>
        <p:spPr>
          <a:xfrm>
            <a:off x="1234440" y="146304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A </a:t>
            </a:r>
            <a:r>
              <a:rPr lang="en-US" sz="2530" b="1" u="none" strike="noStrike">
                <a:solidFill>
                  <a:srgbClr val="172333"/>
                </a:solidFill>
                <a:effectLst/>
                <a:uFillTx/>
                <a:latin typeface="Calibri"/>
                <a:ea typeface="Calibri"/>
              </a:rPr>
              <a:t>vertical gap</a:t>
            </a:r>
            <a:r>
              <a:rPr lang="en-US" sz="2530" b="0" u="none" strike="noStrike">
                <a:solidFill>
                  <a:srgbClr val="172333"/>
                </a:solidFill>
                <a:effectLst/>
                <a:uFillTx/>
                <a:latin typeface="Calibri"/>
                <a:ea typeface="Calibri"/>
              </a:rPr>
              <a:t> at x is a difference in "at most x" frequencies.</a:t>
            </a:r>
            <a:endParaRPr lang="en-US" sz="2530" b="0" u="none" strike="noStrike">
              <a:solidFill>
                <a:srgbClr val="000000"/>
              </a:solidFill>
              <a:effectLst/>
              <a:uFillTx/>
              <a:latin typeface="Arial"/>
            </a:endParaRPr>
          </a:p>
        </p:txBody>
      </p:sp>
      <p:sp>
        <p:nvSpPr>
          <p:cNvPr id="182" name="Shape 6"/>
          <p:cNvSpPr/>
          <p:nvPr/>
        </p:nvSpPr>
        <p:spPr>
          <a:xfrm>
            <a:off x="548640" y="262224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3" name="Shape 7"/>
          <p:cNvSpPr/>
          <p:nvPr/>
        </p:nvSpPr>
        <p:spPr>
          <a:xfrm>
            <a:off x="786240" y="30668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4" name="Text 8"/>
          <p:cNvSpPr/>
          <p:nvPr/>
        </p:nvSpPr>
        <p:spPr>
          <a:xfrm>
            <a:off x="1234440" y="262224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At x = 14, the gap is the difference in the share of overs </a:t>
            </a:r>
            <a:r>
              <a:rPr lang="en-US" sz="2530" b="0" i="1" u="none" strike="noStrike">
                <a:solidFill>
                  <a:srgbClr val="172333"/>
                </a:solidFill>
                <a:effectLst/>
                <a:uFillTx/>
                <a:latin typeface="Calibri"/>
                <a:ea typeface="Calibri"/>
              </a:rPr>
              <a:t>above</a:t>
            </a:r>
            <a:r>
              <a:rPr lang="en-US" sz="2530" b="0" u="none" strike="noStrike">
                <a:solidFill>
                  <a:srgbClr val="172333"/>
                </a:solidFill>
                <a:effectLst/>
                <a:uFillTx/>
                <a:latin typeface="Calibri"/>
                <a:ea typeface="Calibri"/>
              </a:rPr>
              <a:t> 14.</a:t>
            </a:r>
            <a:endParaRPr lang="en-US" sz="2530" b="0" u="none" strike="noStrike">
              <a:solidFill>
                <a:srgbClr val="000000"/>
              </a:solidFill>
              <a:effectLst/>
              <a:uFillTx/>
              <a:latin typeface="Arial"/>
            </a:endParaRPr>
          </a:p>
        </p:txBody>
      </p:sp>
      <p:sp>
        <p:nvSpPr>
          <p:cNvPr id="185" name="Shape 9"/>
          <p:cNvSpPr/>
          <p:nvPr/>
        </p:nvSpPr>
        <p:spPr>
          <a:xfrm>
            <a:off x="548640" y="3781080"/>
            <a:ext cx="11091240" cy="1464840"/>
          </a:xfrm>
          <a:prstGeom prst="roundRect">
            <a:avLst>
              <a:gd name="adj" fmla="val 499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6" name="Shape 10"/>
          <p:cNvSpPr/>
          <p:nvPr/>
        </p:nvSpPr>
        <p:spPr>
          <a:xfrm>
            <a:off x="786240" y="443160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7" name="Text 11"/>
          <p:cNvSpPr/>
          <p:nvPr/>
        </p:nvSpPr>
        <p:spPr>
          <a:xfrm>
            <a:off x="1234440" y="3781080"/>
            <a:ext cx="10222560" cy="1464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Crossing curves</a:t>
            </a:r>
            <a:r>
              <a:rPr lang="en-US" sz="2530" b="0" u="none" strike="noStrike">
                <a:solidFill>
                  <a:srgbClr val="172333"/>
                </a:solidFill>
                <a:effectLst/>
                <a:uFillTx/>
                <a:latin typeface="Calibri"/>
                <a:ea typeface="Calibri"/>
              </a:rPr>
              <a:t> mean neither team is simply "higher": which team is better depends on which part of the distribution you care about.</a:t>
            </a:r>
            <a:endParaRPr lang="en-US" sz="2530" b="0" u="none" strike="noStrike">
              <a:solidFill>
                <a:srgbClr val="000000"/>
              </a:solidFill>
              <a:effectLst/>
              <a:uFillTx/>
              <a:latin typeface="Arial"/>
            </a:endParaRPr>
          </a:p>
        </p:txBody>
      </p:sp>
      <p:sp>
        <p:nvSpPr>
          <p:cNvPr id="188" name="PlaceHolder 1"/>
          <p:cNvSpPr>
            <a:spLocks noGrp="1"/>
          </p:cNvSpPr>
          <p:nvPr>
            <p:ph type="sldNum" idx="20"/>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040C789C-A623-4BC7-BF9A-C1B3911FAD37}"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9"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190"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Bridge: a summary is a choice of loss</a:t>
            </a:r>
            <a:endParaRPr lang="en-US" sz="3200" b="0" u="none" strike="noStrike">
              <a:solidFill>
                <a:srgbClr val="000000"/>
              </a:solidFill>
              <a:effectLst/>
              <a:uFillTx/>
              <a:latin typeface="Arial"/>
            </a:endParaRPr>
          </a:p>
        </p:txBody>
      </p:sp>
      <p:sp>
        <p:nvSpPr>
          <p:cNvPr id="191"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192" name="Shape 3"/>
          <p:cNvSpPr/>
          <p:nvPr/>
        </p:nvSpPr>
        <p:spPr>
          <a:xfrm>
            <a:off x="10465200" y="347400"/>
            <a:ext cx="1174680" cy="328680"/>
          </a:xfrm>
          <a:prstGeom prst="roundRect">
            <a:avLst>
              <a:gd name="adj" fmla="val 50000"/>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3" name="Text 4"/>
          <p:cNvSpPr/>
          <p:nvPr/>
        </p:nvSpPr>
        <p:spPr>
          <a:xfrm>
            <a:off x="10465200" y="347400"/>
            <a:ext cx="1174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ML BRIDGE</a:t>
            </a:r>
            <a:endParaRPr lang="en-US" sz="1100" b="0" u="none" strike="noStrike">
              <a:solidFill>
                <a:srgbClr val="000000"/>
              </a:solidFill>
              <a:effectLst/>
              <a:uFillTx/>
              <a:latin typeface="Arial"/>
            </a:endParaRPr>
          </a:p>
        </p:txBody>
      </p:sp>
      <p:sp>
        <p:nvSpPr>
          <p:cNvPr id="194" name="Text 5"/>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For a constant guess c:</a:t>
            </a:r>
            <a:endParaRPr lang="en-US" sz="2760" b="0" u="none" strike="noStrike">
              <a:solidFill>
                <a:srgbClr val="000000"/>
              </a:solidFill>
              <a:effectLst/>
              <a:uFillTx/>
              <a:latin typeface="Arial"/>
            </a:endParaRPr>
          </a:p>
        </p:txBody>
      </p:sp>
      <p:pic>
        <p:nvPicPr>
          <p:cNvPr id="195" name="Image 0" descr="equation"/>
          <p:cNvPicPr/>
          <p:nvPr/>
        </p:nvPicPr>
        <p:blipFill>
          <a:blip r:embed="rId1"/>
          <a:stretch/>
        </p:blipFill>
        <p:spPr>
          <a:xfrm>
            <a:off x="548640" y="2277360"/>
            <a:ext cx="11091240" cy="566280"/>
          </a:xfrm>
          <a:prstGeom prst="rect">
            <a:avLst/>
          </a:prstGeom>
          <a:noFill/>
          <a:ln w="0">
            <a:noFill/>
          </a:ln>
        </p:spPr>
      </p:pic>
      <p:pic>
        <p:nvPicPr>
          <p:cNvPr id="196" name="Image 1" descr="equation"/>
          <p:cNvPicPr/>
          <p:nvPr/>
        </p:nvPicPr>
        <p:blipFill>
          <a:blip r:embed="rId2"/>
          <a:stretch/>
        </p:blipFill>
        <p:spPr>
          <a:xfrm>
            <a:off x="548640" y="3200400"/>
            <a:ext cx="11091240" cy="552240"/>
          </a:xfrm>
          <a:prstGeom prst="rect">
            <a:avLst/>
          </a:prstGeom>
          <a:noFill/>
          <a:ln w="0">
            <a:noFill/>
          </a:ln>
        </p:spPr>
      </p:pic>
      <p:sp>
        <p:nvSpPr>
          <p:cNvPr id="197" name="Text 6"/>
          <p:cNvSpPr/>
          <p:nvPr/>
        </p:nvSpPr>
        <p:spPr>
          <a:xfrm>
            <a:off x="548640" y="4036680"/>
            <a:ext cx="1109124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Squared error, absolute error and pinball loss: you already choose these when you train a model. Choosing a summary is choosing what you refuse to lose.</a:t>
            </a:r>
            <a:endParaRPr lang="en-US" sz="2760" b="0" u="none" strike="noStrike">
              <a:solidFill>
                <a:srgbClr val="000000"/>
              </a:solidFill>
              <a:effectLst/>
              <a:uFillTx/>
              <a:latin typeface="Arial"/>
            </a:endParaRPr>
          </a:p>
        </p:txBody>
      </p:sp>
      <p:sp>
        <p:nvSpPr>
          <p:cNvPr id="198" name="PlaceHolder 1"/>
          <p:cNvSpPr>
            <a:spLocks noGrp="1"/>
          </p:cNvSpPr>
          <p:nvPr>
            <p:ph type="sldNum" idx="21"/>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8297CC1E-4B56-4505-9D5A-0056A75D682C}"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9"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00"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loss minimizers, live</a:t>
            </a:r>
            <a:endParaRPr lang="en-US" sz="3200" b="0" u="none" strike="noStrike">
              <a:solidFill>
                <a:srgbClr val="000000"/>
              </a:solidFill>
              <a:effectLst/>
              <a:uFillTx/>
              <a:latin typeface="Arial"/>
            </a:endParaRPr>
          </a:p>
        </p:txBody>
      </p:sp>
      <p:sp>
        <p:nvSpPr>
          <p:cNvPr id="201"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202" name="Image 0" descr="The loss minimizers, live"/>
          <p:cNvPicPr/>
          <p:nvPr/>
        </p:nvPicPr>
        <p:blipFill>
          <a:blip r:embed="rId1"/>
          <a:stretch/>
        </p:blipFill>
        <p:spPr>
          <a:xfrm>
            <a:off x="548640" y="1463040"/>
            <a:ext cx="11091240" cy="3078000"/>
          </a:xfrm>
          <a:prstGeom prst="rect">
            <a:avLst/>
          </a:prstGeom>
          <a:noFill/>
          <a:ln w="0">
            <a:noFill/>
          </a:ln>
        </p:spPr>
      </p:pic>
      <p:sp>
        <p:nvSpPr>
          <p:cNvPr id="203" name="Text 3"/>
          <p:cNvSpPr/>
          <p:nvPr/>
        </p:nvSpPr>
        <p:spPr>
          <a:xfrm>
            <a:off x="548640" y="4724280"/>
            <a:ext cx="1109124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u="none" strike="noStrike">
                <a:solidFill>
                  <a:srgbClr val="172333"/>
                </a:solidFill>
                <a:effectLst/>
                <a:uFillTx/>
                <a:latin typeface="Calibri"/>
                <a:ea typeface="Calibri"/>
              </a:rPr>
              <a:t>For Peshawar: squared error is minimized at 9.3 (the mean is 9.32), absolute error at 8 (the median is 8), pinball at 0.9 near 19 (the 90th percentile is 19 by the inverse-CDF rule).</a:t>
            </a:r>
            <a:endParaRPr lang="en-US" sz="2400" b="0" u="none" strike="noStrike">
              <a:solidFill>
                <a:srgbClr val="000000"/>
              </a:solidFill>
              <a:effectLst/>
              <a:uFillTx/>
              <a:latin typeface="Arial"/>
            </a:endParaRPr>
          </a:p>
        </p:txBody>
      </p:sp>
      <p:sp>
        <p:nvSpPr>
          <p:cNvPr id="204" name="PlaceHolder 1"/>
          <p:cNvSpPr>
            <a:spLocks noGrp="1"/>
          </p:cNvSpPr>
          <p:nvPr>
            <p:ph type="sldNum" idx="22"/>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B197F9D0-9D6F-4D43-9E14-27EF3034CCF5}"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5"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06"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Skew and pooling</a:t>
            </a:r>
            <a:endParaRPr lang="en-US" sz="3200" b="0" u="none" strike="noStrike">
              <a:solidFill>
                <a:srgbClr val="000000"/>
              </a:solidFill>
              <a:effectLst/>
              <a:uFillTx/>
              <a:latin typeface="Arial"/>
            </a:endParaRPr>
          </a:p>
        </p:txBody>
      </p:sp>
      <p:sp>
        <p:nvSpPr>
          <p:cNvPr id="207"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208" name="Text 3"/>
          <p:cNvSpPr/>
          <p:nvPr/>
        </p:nvSpPr>
        <p:spPr>
          <a:xfrm>
            <a:off x="548640" y="14630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Skew is a long tail on one side. It pulls the mean away from the median.</a:t>
            </a:r>
            <a:endParaRPr lang="en-US" sz="2760" b="0" u="none" strike="noStrike">
              <a:solidFill>
                <a:srgbClr val="000000"/>
              </a:solidFill>
              <a:effectLst/>
              <a:uFillTx/>
              <a:latin typeface="Arial"/>
            </a:endParaRPr>
          </a:p>
        </p:txBody>
      </p:sp>
      <p:graphicFrame>
        <p:nvGraphicFramePr>
          <p:cNvPr id="209" name="Table 0"/>
          <p:cNvGraphicFramePr/>
          <p:nvPr/>
        </p:nvGraphicFramePr>
        <p:xfrm>
          <a:off x="548640" y="2652840"/>
          <a:ext cx="11091240" cy="1274400"/>
        </p:xfrm>
        <a:graphic>
          <a:graphicData uri="http://schemas.openxmlformats.org/drawingml/2006/table">
            <a:tbl>
              <a:tblPr/>
              <a:tblGrid>
                <a:gridCol w="2772720"/>
                <a:gridCol w="2079360"/>
                <a:gridCol w="2079360"/>
                <a:gridCol w="2079360"/>
                <a:gridCol w="2079360"/>
              </a:tblGrid>
              <a:tr h="0">
                <a:tc>
                  <a:txBody>
                    <a:bodyPr anchor="ctr">
                      <a:noAutofit/>
                    </a:bodyPr>
                    <a:p>
                      <a:endParaRPr lang="en-US" sz="1800" b="0" u="none" strike="noStrike">
                        <a:solidFill>
                          <a:schemeClr val="dk1"/>
                        </a:solidFill>
                        <a:effectLst/>
                        <a:uFillTx/>
                        <a:latin typeface="Calibri"/>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Mean</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Median</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SD</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Skew</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9.32</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8</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6.00</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0.44</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Quetta</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9.08</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8</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4.92</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1.31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210" name="Text 4"/>
          <p:cNvSpPr/>
          <p:nvPr/>
        </p:nvSpPr>
        <p:spPr>
          <a:xfrm>
            <a:off x="548640" y="453240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Quetta's skew comes largely from two overs: 21 and 26. One extreme value should not be read as a heavy tail.</a:t>
            </a:r>
            <a:endParaRPr lang="en-US" sz="2760" b="0" u="none" strike="noStrike">
              <a:solidFill>
                <a:srgbClr val="000000"/>
              </a:solidFill>
              <a:effectLst/>
              <a:uFillTx/>
              <a:latin typeface="Arial"/>
            </a:endParaRPr>
          </a:p>
        </p:txBody>
      </p:sp>
      <p:sp>
        <p:nvSpPr>
          <p:cNvPr id="211" name="PlaceHolder 1"/>
          <p:cNvSpPr>
            <a:spLocks noGrp="1"/>
          </p:cNvSpPr>
          <p:nvPr>
            <p:ph type="sldNum" idx="23"/>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AD7EE096-61CE-4050-9714-644E93EAABDA}"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2"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13"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Pooling hides structure</a:t>
            </a:r>
            <a:endParaRPr lang="en-US" sz="3200" b="0" u="none" strike="noStrike">
              <a:solidFill>
                <a:srgbClr val="000000"/>
              </a:solidFill>
              <a:effectLst/>
              <a:uFillTx/>
              <a:latin typeface="Arial"/>
            </a:endParaRPr>
          </a:p>
        </p:txBody>
      </p:sp>
      <p:sp>
        <p:nvSpPr>
          <p:cNvPr id="214"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215" name="Image 0" descr="Pooling hides structure"/>
          <p:cNvPicPr/>
          <p:nvPr/>
        </p:nvPicPr>
        <p:blipFill>
          <a:blip r:embed="rId1"/>
          <a:stretch/>
        </p:blipFill>
        <p:spPr>
          <a:xfrm>
            <a:off x="548640" y="1925280"/>
            <a:ext cx="7314840" cy="3875400"/>
          </a:xfrm>
          <a:prstGeom prst="rect">
            <a:avLst/>
          </a:prstGeom>
          <a:noFill/>
          <a:ln w="0">
            <a:noFill/>
          </a:ln>
        </p:spPr>
      </p:pic>
      <p:sp>
        <p:nvSpPr>
          <p:cNvPr id="216" name="Text 3"/>
          <p:cNvSpPr/>
          <p:nvPr/>
        </p:nvSpPr>
        <p:spPr>
          <a:xfrm>
            <a:off x="8183880" y="1463040"/>
            <a:ext cx="3456000" cy="2099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40" b="0" u="none" strike="noStrike">
                <a:solidFill>
                  <a:srgbClr val="172333"/>
                </a:solidFill>
                <a:effectLst/>
                <a:uFillTx/>
                <a:latin typeface="Calibri"/>
                <a:ea typeface="Calibri"/>
              </a:rPr>
              <a:t>All 13,336 complete overs. Mean runs: powerplay 8.23, middle 7.99, death 10.11. A league-wide average mixes three different situations.</a:t>
            </a:r>
            <a:endParaRPr lang="en-US" sz="2040" b="0" u="none" strike="noStrike">
              <a:solidFill>
                <a:srgbClr val="000000"/>
              </a:solidFill>
              <a:effectLst/>
              <a:uFillTx/>
              <a:latin typeface="Arial"/>
            </a:endParaRPr>
          </a:p>
        </p:txBody>
      </p:sp>
      <p:sp>
        <p:nvSpPr>
          <p:cNvPr id="217" name="PlaceHolder 1"/>
          <p:cNvSpPr>
            <a:spLocks noGrp="1"/>
          </p:cNvSpPr>
          <p:nvPr>
            <p:ph type="sldNum" idx="24"/>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D2FC2071-4858-417A-A2BA-9A6314DD01A6}"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8"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19"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A new scale asks a new question</a:t>
            </a:r>
            <a:endParaRPr lang="en-US" sz="3200" b="0" u="none" strike="noStrike">
              <a:solidFill>
                <a:srgbClr val="000000"/>
              </a:solidFill>
              <a:effectLst/>
              <a:uFillTx/>
              <a:latin typeface="Arial"/>
            </a:endParaRPr>
          </a:p>
        </p:txBody>
      </p:sp>
      <p:sp>
        <p:nvSpPr>
          <p:cNvPr id="220"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221" name="Table 0"/>
          <p:cNvGraphicFramePr/>
          <p:nvPr/>
        </p:nvGraphicFramePr>
        <p:xfrm>
          <a:off x="548640" y="1463040"/>
          <a:ext cx="11091240" cy="1699200"/>
        </p:xfrm>
        <a:graphic>
          <a:graphicData uri="http://schemas.openxmlformats.org/drawingml/2006/table">
            <a:tbl>
              <a:tblPr/>
              <a:tblGrid>
                <a:gridCol w="4313160"/>
                <a:gridCol w="1643040"/>
                <a:gridCol w="5134680"/>
              </a:tblGrid>
              <a:tr h="0">
                <a:tc>
                  <a:txBody>
                    <a:bodyPr anchor="ctr">
                      <a:noAutofit/>
                    </a:bodyPr>
                    <a:p>
                      <a:endParaRPr lang="en-US" sz="1800" b="0" u="none" strike="noStrike">
                        <a:solidFill>
                          <a:schemeClr val="dk1"/>
                        </a:solidFill>
                        <a:effectLst/>
                        <a:uFillTx/>
                        <a:latin typeface="Calibri"/>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Raw mean</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Back-transformed log mean</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9.32</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7.53</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Quetta</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9.08</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8.04</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Peshawar minus Quetta</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+0.24</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-0.51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bl>
          </a:graphicData>
        </a:graphic>
      </p:graphicFrame>
      <p:sp>
        <p:nvSpPr>
          <p:cNvPr id="222" name="Text 3"/>
          <p:cNvSpPr/>
          <p:nvPr/>
        </p:nvSpPr>
        <p:spPr>
          <a:xfrm>
            <a:off x="548640" y="3880440"/>
            <a:ext cx="1109124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On the raw scale Peshawar is slightly ahead. On the log scale Quetta is. Neither is wrong. They answer a runs question and a ratio question.</a:t>
            </a:r>
            <a:endParaRPr lang="en-US" sz="2760" b="0" u="none" strike="noStrike">
              <a:solidFill>
                <a:srgbClr val="000000"/>
              </a:solidFill>
              <a:effectLst/>
              <a:uFillTx/>
              <a:latin typeface="Arial"/>
            </a:endParaRPr>
          </a:p>
        </p:txBody>
      </p:sp>
      <p:sp>
        <p:nvSpPr>
          <p:cNvPr id="223" name="PlaceHolder 1"/>
          <p:cNvSpPr>
            <a:spLocks noGrp="1"/>
          </p:cNvSpPr>
          <p:nvPr>
            <p:ph type="sldNum" idx="25"/>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4CE00534-4047-4E56-88B0-A96FFE9A6EE3}"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4"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25"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Quantile profile</a:t>
            </a:r>
            <a:endParaRPr lang="en-US" sz="3200" b="0" u="none" strike="noStrike">
              <a:solidFill>
                <a:srgbClr val="000000"/>
              </a:solidFill>
              <a:effectLst/>
              <a:uFillTx/>
              <a:latin typeface="Arial"/>
            </a:endParaRPr>
          </a:p>
        </p:txBody>
      </p:sp>
      <p:sp>
        <p:nvSpPr>
          <p:cNvPr id="226"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227" name="Image 0" descr="Quantile profile"/>
          <p:cNvPicPr/>
          <p:nvPr/>
        </p:nvPicPr>
        <p:blipFill>
          <a:blip r:embed="rId1"/>
          <a:stretch/>
        </p:blipFill>
        <p:spPr>
          <a:xfrm>
            <a:off x="3918600" y="228600"/>
            <a:ext cx="6691680" cy="3530160"/>
          </a:xfrm>
          <a:prstGeom prst="rect">
            <a:avLst/>
          </a:prstGeom>
          <a:noFill/>
          <a:ln w="0">
            <a:noFill/>
          </a:ln>
        </p:spPr>
      </p:pic>
      <p:graphicFrame>
        <p:nvGraphicFramePr>
          <p:cNvPr id="228" name="Table 0"/>
          <p:cNvGraphicFramePr/>
          <p:nvPr/>
        </p:nvGraphicFramePr>
        <p:xfrm>
          <a:off x="548640" y="3942000"/>
          <a:ext cx="11091240" cy="762480"/>
        </p:xfrm>
        <a:graphic>
          <a:graphicData uri="http://schemas.openxmlformats.org/drawingml/2006/table">
            <a:tbl>
              <a:tblPr/>
              <a:tblGrid>
                <a:gridCol w="4566960"/>
                <a:gridCol w="1304640"/>
                <a:gridCol w="1304640"/>
                <a:gridCol w="1304640"/>
                <a:gridCol w="1304640"/>
                <a:gridCol w="1304640"/>
              </a:tblGrid>
              <a:tr h="0">
                <a:tc>
                  <a:txBody>
                    <a:bodyPr anchor="ctr">
                      <a:noAutofit/>
                    </a:bodyPr>
                    <a:p>
                      <a:pPr defTabSz="914400">
                        <a:lnSpc>
                          <a:spcPct val="100000"/>
                        </a:lnSpc>
                        <a:tabLst>
                          <a:tab pos="0" algn="l"/>
                        </a:tabLst>
                      </a:pPr>
                      <a:r>
                        <a:rPr lang="en-US" sz="1900" b="1" u="none" strike="noStrike">
                          <a:solidFill>
                            <a:srgbClr val="FFFFFF"/>
                          </a:solidFill>
                          <a:effectLst/>
                          <a:uFillTx/>
                          <a:latin typeface="Calibri"/>
                          <a:ea typeface="Calibri"/>
                        </a:rPr>
                        <a:t>Quantile</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1900" b="1" u="none" strike="noStrike">
                          <a:solidFill>
                            <a:srgbClr val="FFFFFF"/>
                          </a:solidFill>
                          <a:effectLst/>
                          <a:uFillTx/>
                          <a:latin typeface="Calibri"/>
                          <a:ea typeface="Calibri"/>
                        </a:rPr>
                        <a:t>10th</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1900" b="1" u="none" strike="noStrike">
                          <a:solidFill>
                            <a:srgbClr val="FFFFFF"/>
                          </a:solidFill>
                          <a:effectLst/>
                          <a:uFillTx/>
                          <a:latin typeface="Calibri"/>
                          <a:ea typeface="Calibri"/>
                        </a:rPr>
                        <a:t>25th</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1900" b="1" u="none" strike="noStrike">
                          <a:solidFill>
                            <a:srgbClr val="FFFFFF"/>
                          </a:solidFill>
                          <a:effectLst/>
                          <a:uFillTx/>
                          <a:latin typeface="Calibri"/>
                          <a:ea typeface="Calibri"/>
                        </a:rPr>
                        <a:t>50th</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1900" b="1" u="none" strike="noStrike">
                          <a:solidFill>
                            <a:srgbClr val="FFFFFF"/>
                          </a:solidFill>
                          <a:effectLst/>
                          <a:uFillTx/>
                          <a:latin typeface="Calibri"/>
                          <a:ea typeface="Calibri"/>
                        </a:rPr>
                        <a:t>75th</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1900" b="1" u="none" strike="noStrike">
                          <a:solidFill>
                            <a:srgbClr val="FFFFFF"/>
                          </a:solidFill>
                          <a:effectLst/>
                          <a:uFillTx/>
                          <a:latin typeface="Calibri"/>
                          <a:ea typeface="Calibri"/>
                        </a:rPr>
                        <a:t>90th</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1900" b="0" u="none" strike="noStrike">
                          <a:solidFill>
                            <a:srgbClr val="172333"/>
                          </a:solidFill>
                          <a:effectLst/>
                          <a:uFillTx/>
                          <a:latin typeface="Calibri"/>
                          <a:ea typeface="Calibri"/>
                        </a:rPr>
                        <a:t>Peshawar minus Quetta</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1900" b="0" u="none" strike="noStrike">
                          <a:solidFill>
                            <a:srgbClr val="172333"/>
                          </a:solidFill>
                          <a:effectLst/>
                          <a:uFillTx/>
                          <a:latin typeface="Calibri"/>
                          <a:ea typeface="Calibri"/>
                        </a:rPr>
                        <a:t>-2.0</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1900" b="0" u="none" strike="noStrike">
                          <a:solidFill>
                            <a:srgbClr val="172333"/>
                          </a:solidFill>
                          <a:effectLst/>
                          <a:uFillTx/>
                          <a:latin typeface="Calibri"/>
                          <a:ea typeface="Calibri"/>
                        </a:rPr>
                        <a:t>-1.0</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1900" b="0" u="none" strike="noStrike">
                          <a:solidFill>
                            <a:srgbClr val="172333"/>
                          </a:solidFill>
                          <a:effectLst/>
                          <a:uFillTx/>
                          <a:latin typeface="Calibri"/>
                          <a:ea typeface="Calibri"/>
                        </a:rPr>
                        <a:t>+0.0</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1900" b="0" u="none" strike="noStrike">
                          <a:solidFill>
                            <a:srgbClr val="172333"/>
                          </a:solidFill>
                          <a:effectLst/>
                          <a:uFillTx/>
                          <a:latin typeface="Calibri"/>
                          <a:ea typeface="Calibri"/>
                        </a:rPr>
                        <a:t>+3.25</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1900" b="0" u="none" strike="noStrike">
                          <a:solidFill>
                            <a:srgbClr val="172333"/>
                          </a:solidFill>
                          <a:effectLst/>
                          <a:uFillTx/>
                          <a:latin typeface="Calibri"/>
                          <a:ea typeface="Calibri"/>
                        </a:rPr>
                        <a:t>+5.30</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bl>
          </a:graphicData>
        </a:graphic>
      </p:graphicFrame>
      <p:sp>
        <p:nvSpPr>
          <p:cNvPr id="229" name="Text 3"/>
          <p:cNvSpPr/>
          <p:nvPr/>
        </p:nvSpPr>
        <p:spPr>
          <a:xfrm>
            <a:off x="548640" y="5190840"/>
            <a:ext cx="11091240" cy="88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u="none" strike="noStrike">
                <a:solidFill>
                  <a:srgbClr val="172333"/>
                </a:solidFill>
                <a:effectLst/>
                <a:uFillTx/>
                <a:latin typeface="Calibri"/>
                <a:ea typeface="Calibri"/>
              </a:rPr>
              <a:t>Lower than Quetta at the bottom, equal at the median, higher at the top. A single mean difference cannot describe that.</a:t>
            </a:r>
            <a:endParaRPr lang="en-US" sz="2400" b="0" u="none" strike="noStrike">
              <a:solidFill>
                <a:srgbClr val="000000"/>
              </a:solidFill>
              <a:effectLst/>
              <a:uFillTx/>
              <a:latin typeface="Arial"/>
            </a:endParaRPr>
          </a:p>
        </p:txBody>
      </p:sp>
      <p:sp>
        <p:nvSpPr>
          <p:cNvPr id="230" name="PlaceHolder 1"/>
          <p:cNvSpPr>
            <a:spLocks noGrp="1"/>
          </p:cNvSpPr>
          <p:nvPr>
            <p:ph type="sldNum" idx="26"/>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BDCFFAB6-0BC9-44D5-B24C-7230B8217D8A}"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1"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32"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Tail rate</a:t>
            </a:r>
            <a:endParaRPr lang="en-US" sz="3200" b="0" u="none" strike="noStrike">
              <a:solidFill>
                <a:srgbClr val="000000"/>
              </a:solidFill>
              <a:effectLst/>
              <a:uFillTx/>
              <a:latin typeface="Arial"/>
            </a:endParaRPr>
          </a:p>
        </p:txBody>
      </p:sp>
      <p:sp>
        <p:nvSpPr>
          <p:cNvPr id="233"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234" name="Text 3"/>
          <p:cNvSpPr/>
          <p:nvPr/>
        </p:nvSpPr>
        <p:spPr>
          <a:xfrm>
            <a:off x="548640" y="14630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tail rate is a decision question: </a:t>
            </a:r>
            <a:r>
              <a:rPr lang="en-US" sz="2760" b="0" i="1" u="none" strike="noStrike">
                <a:solidFill>
                  <a:srgbClr val="172333"/>
                </a:solidFill>
                <a:effectLst/>
                <a:uFillTx/>
                <a:latin typeface="Calibri"/>
                <a:ea typeface="Calibri"/>
              </a:rPr>
              <a:t>how often does an over reach at least c runs?</a:t>
            </a:r>
            <a:endParaRPr lang="en-US" sz="2760" b="0" u="none" strike="noStrike">
              <a:solidFill>
                <a:srgbClr val="000000"/>
              </a:solidFill>
              <a:effectLst/>
              <a:uFillTx/>
              <a:latin typeface="Arial"/>
            </a:endParaRPr>
          </a:p>
        </p:txBody>
      </p:sp>
      <p:pic>
        <p:nvPicPr>
          <p:cNvPr id="235" name="Image 0" descr="equation"/>
          <p:cNvPicPr/>
          <p:nvPr/>
        </p:nvPicPr>
        <p:blipFill>
          <a:blip r:embed="rId1"/>
          <a:stretch/>
        </p:blipFill>
        <p:spPr>
          <a:xfrm>
            <a:off x="548640" y="2726280"/>
            <a:ext cx="2734560" cy="519120"/>
          </a:xfrm>
          <a:prstGeom prst="rect">
            <a:avLst/>
          </a:prstGeom>
          <a:noFill/>
          <a:ln w="0">
            <a:noFill/>
          </a:ln>
        </p:spPr>
      </p:pic>
      <p:sp>
        <p:nvSpPr>
          <p:cNvPr id="236" name="Text 4"/>
          <p:cNvSpPr/>
          <p:nvPr/>
        </p:nvSpPr>
        <p:spPr>
          <a:xfrm>
            <a:off x="548640" y="352908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At c = 15: Peshawar 25.0% (11 of 44), Quetta 8.1% (3 of 37).</a:t>
            </a:r>
            <a:endParaRPr lang="en-US" sz="2760" b="0" u="none" strike="noStrike">
              <a:solidFill>
                <a:srgbClr val="000000"/>
              </a:solidFill>
              <a:effectLst/>
              <a:uFillTx/>
              <a:latin typeface="Arial"/>
            </a:endParaRPr>
          </a:p>
        </p:txBody>
      </p:sp>
      <p:sp>
        <p:nvSpPr>
          <p:cNvPr id="237" name="Text 5"/>
          <p:cNvSpPr/>
          <p:nvPr/>
        </p:nvSpPr>
        <p:spPr>
          <a:xfrm>
            <a:off x="548640" y="47192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archive gap is </a:t>
            </a:r>
            <a:r>
              <a:rPr lang="en-US" sz="2760" b="1" u="none" strike="noStrike">
                <a:solidFill>
                  <a:srgbClr val="172333"/>
                </a:solidFill>
                <a:effectLst/>
                <a:uFillTx/>
                <a:latin typeface="Calibri"/>
                <a:ea typeface="Calibri"/>
              </a:rPr>
              <a:t>+16.9 percentage points</a:t>
            </a:r>
            <a:r>
              <a:rPr lang="en-US" sz="2760" b="0" u="none" strike="noStrike">
                <a:solidFill>
                  <a:srgbClr val="172333"/>
                </a:solidFill>
                <a:effectLst/>
                <a:uFillTx/>
                <a:latin typeface="Calibri"/>
                <a:ea typeface="Calibri"/>
              </a:rPr>
              <a:t>.</a:t>
            </a:r>
            <a:endParaRPr lang="en-US" sz="2760" b="0" u="none" strike="noStrike">
              <a:solidFill>
                <a:srgbClr val="000000"/>
              </a:solidFill>
              <a:effectLst/>
              <a:uFillTx/>
              <a:latin typeface="Arial"/>
            </a:endParaRPr>
          </a:p>
        </p:txBody>
      </p:sp>
      <p:sp>
        <p:nvSpPr>
          <p:cNvPr id="238" name="PlaceHolder 1"/>
          <p:cNvSpPr>
            <a:spLocks noGrp="1"/>
          </p:cNvSpPr>
          <p:nvPr>
            <p:ph type="sldNum" idx="27"/>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74A97B28-E23F-4626-A6B6-0603030AF4BD}"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9"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a:t>
            </a:r>
            <a:r>
              <a:rPr lang="en-US" sz="1100" b="1" u="none" spc="201" strike="noStrike">
                <a:solidFill>
                  <a:srgbClr val="1F6F8B"/>
                </a:solidFill>
                <a:effectLst/>
                <a:uFillTx/>
                <a:latin typeface="Calibri"/>
                <a:ea typeface="Calibri"/>
              </a:rPr>
              <a:t>WHAT </a:t>
            </a:r>
            <a:r>
              <a:rPr lang="en-US" sz="1100" b="1" u="none" spc="201" strike="noStrike">
                <a:solidFill>
                  <a:srgbClr val="1F6F8B"/>
                </a:solidFill>
                <a:effectLst/>
                <a:uFillTx/>
                <a:latin typeface="Calibri"/>
                <a:ea typeface="Calibri"/>
              </a:rPr>
              <a:t>EXACTLY </a:t>
            </a:r>
            <a:r>
              <a:rPr lang="en-US" sz="1100" b="1" u="none" spc="201" strike="noStrike">
                <a:solidFill>
                  <a:srgbClr val="1F6F8B"/>
                </a:solidFill>
                <a:effectLst/>
                <a:uFillTx/>
                <a:latin typeface="Calibri"/>
                <a:ea typeface="Calibri"/>
              </a:rPr>
              <a:t>DIFFERS?</a:t>
            </a:r>
            <a:endParaRPr lang="en-US" sz="1100" b="0" u="none" strike="noStrike">
              <a:solidFill>
                <a:srgbClr val="000000"/>
              </a:solidFill>
              <a:effectLst/>
              <a:uFillTx/>
              <a:latin typeface="Arial"/>
            </a:endParaRPr>
          </a:p>
        </p:txBody>
      </p:sp>
      <p:sp>
        <p:nvSpPr>
          <p:cNvPr id="240"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Where does the tail begin?</a:t>
            </a:r>
            <a:endParaRPr lang="en-US" sz="3200" b="0" u="none" strike="noStrike">
              <a:solidFill>
                <a:srgbClr val="000000"/>
              </a:solidFill>
              <a:effectLst/>
              <a:uFillTx/>
              <a:latin typeface="Arial"/>
            </a:endParaRPr>
          </a:p>
        </p:txBody>
      </p:sp>
      <p:sp>
        <p:nvSpPr>
          <p:cNvPr id="241"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242" name="Image 0" descr="Where does the tail begin?"/>
          <p:cNvPicPr/>
          <p:nvPr/>
        </p:nvPicPr>
        <p:blipFill>
          <a:blip r:embed="rId1"/>
          <a:stretch/>
        </p:blipFill>
        <p:spPr>
          <a:xfrm>
            <a:off x="548640" y="1638000"/>
            <a:ext cx="7314840" cy="4450320"/>
          </a:xfrm>
          <a:prstGeom prst="rect">
            <a:avLst/>
          </a:prstGeom>
          <a:noFill/>
          <a:ln w="0">
            <a:noFill/>
          </a:ln>
        </p:spPr>
      </p:pic>
      <p:sp>
        <p:nvSpPr>
          <p:cNvPr id="243" name="Text 3"/>
          <p:cNvSpPr/>
          <p:nvPr/>
        </p:nvSpPr>
        <p:spPr>
          <a:xfrm>
            <a:off x="8183880" y="1463040"/>
            <a:ext cx="3456000" cy="1435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40" b="0" u="none" strike="noStrike">
                <a:solidFill>
                  <a:srgbClr val="172333"/>
                </a:solidFill>
                <a:effectLst/>
                <a:uFillTx/>
                <a:latin typeface="Calibri"/>
                <a:ea typeface="Calibri"/>
              </a:rPr>
              <a:t>The gap depends on the line you draw. The ECDF already showed every threshold at once.</a:t>
            </a:r>
            <a:endParaRPr lang="en-US" sz="2040" b="0" u="none" strike="noStrike">
              <a:solidFill>
                <a:srgbClr val="000000"/>
              </a:solidFill>
              <a:effectLst/>
              <a:uFillTx/>
              <a:latin typeface="Arial"/>
            </a:endParaRPr>
          </a:p>
        </p:txBody>
      </p:sp>
      <p:sp>
        <p:nvSpPr>
          <p:cNvPr id="244" name="PlaceHolder 1"/>
          <p:cNvSpPr>
            <a:spLocks noGrp="1"/>
          </p:cNvSpPr>
          <p:nvPr>
            <p:ph type="sldNum" idx="28"/>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79A89F54-1B8E-404A-B0D5-DA85181F2EF5}"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5"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46"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Checkpoint 1</a:t>
            </a:r>
            <a:endParaRPr lang="en-US" sz="3200" b="0" u="none" strike="noStrike">
              <a:solidFill>
                <a:srgbClr val="000000"/>
              </a:solidFill>
              <a:effectLst/>
              <a:uFillTx/>
              <a:latin typeface="Arial"/>
            </a:endParaRPr>
          </a:p>
        </p:txBody>
      </p:sp>
      <p:sp>
        <p:nvSpPr>
          <p:cNvPr id="247"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248" name="Shape 3"/>
          <p:cNvSpPr/>
          <p:nvPr/>
        </p:nvSpPr>
        <p:spPr>
          <a:xfrm>
            <a:off x="9939600" y="347400"/>
            <a:ext cx="1700280" cy="32868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9" name="Text 4"/>
          <p:cNvSpPr/>
          <p:nvPr/>
        </p:nvSpPr>
        <p:spPr>
          <a:xfrm>
            <a:off x="9939600" y="347400"/>
            <a:ext cx="17002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CLASS ACTIVITY</a:t>
            </a:r>
            <a:endParaRPr lang="en-US" sz="1100" b="0" u="none" strike="noStrike">
              <a:solidFill>
                <a:srgbClr val="000000"/>
              </a:solidFill>
              <a:effectLst/>
              <a:uFillTx/>
              <a:latin typeface="Arial"/>
            </a:endParaRPr>
          </a:p>
        </p:txBody>
      </p:sp>
      <p:sp>
        <p:nvSpPr>
          <p:cNvPr id="250" name="Text 5"/>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Which sentence do the 81 overs support so far?</a:t>
            </a:r>
            <a:endParaRPr lang="en-US" sz="2760" b="0" u="none" strike="noStrike">
              <a:solidFill>
                <a:srgbClr val="000000"/>
              </a:solidFill>
              <a:effectLst/>
              <a:uFillTx/>
              <a:latin typeface="Arial"/>
            </a:endParaRPr>
          </a:p>
        </p:txBody>
      </p:sp>
      <p:sp>
        <p:nvSpPr>
          <p:cNvPr id="251" name="Shape 6"/>
          <p:cNvSpPr/>
          <p:nvPr/>
        </p:nvSpPr>
        <p:spPr>
          <a:xfrm>
            <a:off x="548640" y="22042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2" name="Shape 7"/>
          <p:cNvSpPr/>
          <p:nvPr/>
        </p:nvSpPr>
        <p:spPr>
          <a:xfrm>
            <a:off x="685800" y="235188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3" name="Text 8"/>
          <p:cNvSpPr/>
          <p:nvPr/>
        </p:nvSpPr>
        <p:spPr>
          <a:xfrm>
            <a:off x="685800" y="23518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US" sz="1500" b="0" u="none" strike="noStrike">
              <a:solidFill>
                <a:srgbClr val="000000"/>
              </a:solidFill>
              <a:effectLst/>
              <a:uFillTx/>
              <a:latin typeface="Arial"/>
            </a:endParaRPr>
          </a:p>
        </p:txBody>
      </p:sp>
      <p:sp>
        <p:nvSpPr>
          <p:cNvPr id="254" name="Text 9"/>
          <p:cNvSpPr/>
          <p:nvPr/>
        </p:nvSpPr>
        <p:spPr>
          <a:xfrm>
            <a:off x="1234440" y="22042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Peshawar and Quetta score identically.</a:t>
            </a:r>
            <a:endParaRPr lang="en-US" sz="2530" b="0" u="none" strike="noStrike">
              <a:solidFill>
                <a:srgbClr val="000000"/>
              </a:solidFill>
              <a:effectLst/>
              <a:uFillTx/>
              <a:latin typeface="Arial"/>
            </a:endParaRPr>
          </a:p>
        </p:txBody>
      </p:sp>
      <p:sp>
        <p:nvSpPr>
          <p:cNvPr id="255" name="Shape 10"/>
          <p:cNvSpPr/>
          <p:nvPr/>
        </p:nvSpPr>
        <p:spPr>
          <a:xfrm>
            <a:off x="548640" y="29520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6" name="Shape 11"/>
          <p:cNvSpPr/>
          <p:nvPr/>
        </p:nvSpPr>
        <p:spPr>
          <a:xfrm>
            <a:off x="685800" y="309960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7" name="Text 12"/>
          <p:cNvSpPr/>
          <p:nvPr/>
        </p:nvSpPr>
        <p:spPr>
          <a:xfrm>
            <a:off x="685800" y="309960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US" sz="1500" b="0" u="none" strike="noStrike">
              <a:solidFill>
                <a:srgbClr val="000000"/>
              </a:solidFill>
              <a:effectLst/>
              <a:uFillTx/>
              <a:latin typeface="Arial"/>
            </a:endParaRPr>
          </a:p>
        </p:txBody>
      </p:sp>
      <p:sp>
        <p:nvSpPr>
          <p:cNvPr id="258" name="Text 13"/>
          <p:cNvSpPr/>
          <p:nvPr/>
        </p:nvSpPr>
        <p:spPr>
          <a:xfrm>
            <a:off x="1234440" y="29520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Peshawar scores more per over.</a:t>
            </a:r>
            <a:endParaRPr lang="en-US" sz="2530" b="0" u="none" strike="noStrike">
              <a:solidFill>
                <a:srgbClr val="000000"/>
              </a:solidFill>
              <a:effectLst/>
              <a:uFillTx/>
              <a:latin typeface="Arial"/>
            </a:endParaRPr>
          </a:p>
        </p:txBody>
      </p:sp>
      <p:sp>
        <p:nvSpPr>
          <p:cNvPr id="259" name="Shape 14"/>
          <p:cNvSpPr/>
          <p:nvPr/>
        </p:nvSpPr>
        <p:spPr>
          <a:xfrm>
            <a:off x="548640" y="369972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Shape 15"/>
          <p:cNvSpPr/>
          <p:nvPr/>
        </p:nvSpPr>
        <p:spPr>
          <a:xfrm>
            <a:off x="685800" y="405324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1" name="Text 16"/>
          <p:cNvSpPr/>
          <p:nvPr/>
        </p:nvSpPr>
        <p:spPr>
          <a:xfrm>
            <a:off x="685800" y="40532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US" sz="1500" b="0" u="none" strike="noStrike">
              <a:solidFill>
                <a:srgbClr val="000000"/>
              </a:solidFill>
              <a:effectLst/>
              <a:uFillTx/>
              <a:latin typeface="Arial"/>
            </a:endParaRPr>
          </a:p>
        </p:txBody>
      </p:sp>
      <p:sp>
        <p:nvSpPr>
          <p:cNvPr id="262" name="Text 17"/>
          <p:cNvSpPr/>
          <p:nvPr/>
        </p:nvSpPr>
        <p:spPr>
          <a:xfrm>
            <a:off x="1234440" y="369972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Same mean and median, but Peshawar has more low overs and more 15-plus overs in this archive.</a:t>
            </a:r>
            <a:endParaRPr lang="en-US" sz="2530" b="0" u="none" strike="noStrike">
              <a:solidFill>
                <a:srgbClr val="000000"/>
              </a:solidFill>
              <a:effectLst/>
              <a:uFillTx/>
              <a:latin typeface="Arial"/>
            </a:endParaRPr>
          </a:p>
        </p:txBody>
      </p:sp>
      <p:sp>
        <p:nvSpPr>
          <p:cNvPr id="263" name="Shape 18"/>
          <p:cNvSpPr/>
          <p:nvPr/>
        </p:nvSpPr>
        <p:spPr>
          <a:xfrm>
            <a:off x="548640" y="48589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Shape 19"/>
          <p:cNvSpPr/>
          <p:nvPr/>
        </p:nvSpPr>
        <p:spPr>
          <a:xfrm>
            <a:off x="685800" y="500652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5" name="Text 20"/>
          <p:cNvSpPr/>
          <p:nvPr/>
        </p:nvSpPr>
        <p:spPr>
          <a:xfrm>
            <a:off x="685800" y="500652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US" sz="1500" b="0" u="none" strike="noStrike">
              <a:solidFill>
                <a:srgbClr val="000000"/>
              </a:solidFill>
              <a:effectLst/>
              <a:uFillTx/>
              <a:latin typeface="Arial"/>
            </a:endParaRPr>
          </a:p>
        </p:txBody>
      </p:sp>
      <p:sp>
        <p:nvSpPr>
          <p:cNvPr id="266" name="Text 21"/>
          <p:cNvSpPr/>
          <p:nvPr/>
        </p:nvSpPr>
        <p:spPr>
          <a:xfrm>
            <a:off x="1234440" y="48589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Peshawar has a more explosive strategy.</a:t>
            </a:r>
            <a:endParaRPr lang="en-US" sz="2530" b="0" u="none" strike="noStrike">
              <a:solidFill>
                <a:srgbClr val="000000"/>
              </a:solidFill>
              <a:effectLst/>
              <a:uFillTx/>
              <a:latin typeface="Arial"/>
            </a:endParaRPr>
          </a:p>
        </p:txBody>
      </p:sp>
      <p:sp>
        <p:nvSpPr>
          <p:cNvPr id="267" name="PlaceHolder 1"/>
          <p:cNvSpPr>
            <a:spLocks noGrp="1"/>
          </p:cNvSpPr>
          <p:nvPr>
            <p:ph type="sldNum" idx="29"/>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F2CD50EA-F162-4B4B-A9AE-49317E5A949D}"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69"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effect-size family</a:t>
            </a:r>
            <a:endParaRPr lang="en-US" sz="3200" b="0" u="none" strike="noStrike">
              <a:solidFill>
                <a:srgbClr val="000000"/>
              </a:solidFill>
              <a:effectLst/>
              <a:uFillTx/>
              <a:latin typeface="Arial"/>
            </a:endParaRPr>
          </a:p>
        </p:txBody>
      </p:sp>
      <p:sp>
        <p:nvSpPr>
          <p:cNvPr id="270"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271" name="Table 0"/>
          <p:cNvGraphicFramePr/>
          <p:nvPr/>
        </p:nvGraphicFramePr>
        <p:xfrm>
          <a:off x="548640" y="1463040"/>
          <a:ext cx="11091240" cy="2548800"/>
        </p:xfrm>
        <a:graphic>
          <a:graphicData uri="http://schemas.openxmlformats.org/drawingml/2006/table">
            <a:tbl>
              <a:tblPr/>
              <a:tblGrid>
                <a:gridCol w="4505760"/>
                <a:gridCol w="4852440"/>
                <a:gridCol w="1733040"/>
              </a:tblGrid>
              <a:tr h="0">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Question</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Estimand</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Value</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Expected difference</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mean</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+0.24 runs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Typical over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median</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+0.00 runs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High-scoring capacity</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90th percentile</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+5.30 runs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Frequency above 15</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tail rate</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+16.9 pp</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Random over vs random over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probability of superiority θ</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0.493</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bl>
          </a:graphicData>
        </a:graphic>
      </p:graphicFrame>
      <p:sp>
        <p:nvSpPr>
          <p:cNvPr id="272" name="PlaceHolder 1"/>
          <p:cNvSpPr>
            <a:spLocks noGrp="1"/>
          </p:cNvSpPr>
          <p:nvPr>
            <p:ph type="sldNum" idx="30"/>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B0C62D0F-F854-46EA-A0BA-9408A43F5154}"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3"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74"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Bridge: probability of superiority is AUC</a:t>
            </a:r>
            <a:endParaRPr lang="en-US" sz="3200" b="0" u="none" strike="noStrike">
              <a:solidFill>
                <a:srgbClr val="000000"/>
              </a:solidFill>
              <a:effectLst/>
              <a:uFillTx/>
              <a:latin typeface="Arial"/>
            </a:endParaRPr>
          </a:p>
        </p:txBody>
      </p:sp>
      <p:sp>
        <p:nvSpPr>
          <p:cNvPr id="275"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276" name="Shape 3"/>
          <p:cNvSpPr/>
          <p:nvPr/>
        </p:nvSpPr>
        <p:spPr>
          <a:xfrm>
            <a:off x="10465200" y="347400"/>
            <a:ext cx="1174680" cy="328680"/>
          </a:xfrm>
          <a:prstGeom prst="roundRect">
            <a:avLst>
              <a:gd name="adj" fmla="val 50000"/>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7" name="Text 4"/>
          <p:cNvSpPr/>
          <p:nvPr/>
        </p:nvSpPr>
        <p:spPr>
          <a:xfrm>
            <a:off x="10465200" y="347400"/>
            <a:ext cx="1174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ML BRIDGE</a:t>
            </a:r>
            <a:endParaRPr lang="en-US" sz="1100" b="0" u="none" strike="noStrike">
              <a:solidFill>
                <a:srgbClr val="000000"/>
              </a:solidFill>
              <a:effectLst/>
              <a:uFillTx/>
              <a:latin typeface="Arial"/>
            </a:endParaRPr>
          </a:p>
        </p:txBody>
      </p:sp>
      <p:pic>
        <p:nvPicPr>
          <p:cNvPr id="278" name="Image 0" descr="equation"/>
          <p:cNvPicPr/>
          <p:nvPr/>
        </p:nvPicPr>
        <p:blipFill>
          <a:blip r:embed="rId1"/>
          <a:stretch/>
        </p:blipFill>
        <p:spPr>
          <a:xfrm>
            <a:off x="548640" y="1536120"/>
            <a:ext cx="7269120" cy="652320"/>
          </a:xfrm>
          <a:prstGeom prst="rect">
            <a:avLst/>
          </a:prstGeom>
          <a:noFill/>
          <a:ln w="0">
            <a:noFill/>
          </a:ln>
        </p:spPr>
      </p:pic>
      <p:sp>
        <p:nvSpPr>
          <p:cNvPr id="279" name="Text 5"/>
          <p:cNvSpPr/>
          <p:nvPr/>
        </p:nvSpPr>
        <p:spPr>
          <a:xfrm>
            <a:off x="548640" y="2472120"/>
            <a:ext cx="1109124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If you tried to guess the team from an over's run count, θ is the </a:t>
            </a:r>
            <a:r>
              <a:rPr lang="en-US" sz="2760" b="1" u="none" strike="noStrike">
                <a:solidFill>
                  <a:srgbClr val="172333"/>
                </a:solidFill>
                <a:effectLst/>
                <a:uFillTx/>
                <a:latin typeface="Calibri"/>
                <a:ea typeface="Calibri"/>
              </a:rPr>
              <a:t>AUC</a:t>
            </a:r>
            <a:r>
              <a:rPr lang="en-US" sz="2760" b="0" u="none" strike="noStrike">
                <a:solidFill>
                  <a:srgbClr val="172333"/>
                </a:solidFill>
                <a:effectLst/>
                <a:uFillTx/>
                <a:latin typeface="Calibri"/>
                <a:ea typeface="Calibri"/>
              </a:rPr>
              <a:t> of that classifier (Mann–Whitney U). Cliff's delta is 2θ − 1 = -0.015.</a:t>
            </a:r>
            <a:endParaRPr lang="en-US" sz="2760" b="0" u="none" strike="noStrike">
              <a:solidFill>
                <a:srgbClr val="000000"/>
              </a:solidFill>
              <a:effectLst/>
              <a:uFillTx/>
              <a:latin typeface="Arial"/>
            </a:endParaRPr>
          </a:p>
        </p:txBody>
      </p:sp>
      <p:sp>
        <p:nvSpPr>
          <p:cNvPr id="280" name="Text 6"/>
          <p:cNvSpPr/>
          <p:nvPr/>
        </p:nvSpPr>
        <p:spPr>
          <a:xfrm>
            <a:off x="548640" y="41108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θ= 0.493 means the run count alone cannot separate the two teams.</a:t>
            </a:r>
            <a:endParaRPr lang="en-US" sz="2760" b="0" u="none" strike="noStrike">
              <a:solidFill>
                <a:srgbClr val="000000"/>
              </a:solidFill>
              <a:effectLst/>
              <a:uFillTx/>
              <a:latin typeface="Arial"/>
            </a:endParaRPr>
          </a:p>
        </p:txBody>
      </p:sp>
      <p:sp>
        <p:nvSpPr>
          <p:cNvPr id="281" name="Text 7"/>
          <p:cNvSpPr/>
          <p:nvPr/>
        </p:nvSpPr>
        <p:spPr>
          <a:xfrm>
            <a:off x="548640" y="53006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Week 10 will build ROC curves from this idea.</a:t>
            </a:r>
            <a:endParaRPr lang="en-US" sz="2760" b="0" u="none" strike="noStrike">
              <a:solidFill>
                <a:srgbClr val="000000"/>
              </a:solidFill>
              <a:effectLst/>
              <a:uFillTx/>
              <a:latin typeface="Arial"/>
            </a:endParaRPr>
          </a:p>
        </p:txBody>
      </p:sp>
      <p:sp>
        <p:nvSpPr>
          <p:cNvPr id="282" name="PlaceHolder 1"/>
          <p:cNvSpPr>
            <a:spLocks noGrp="1"/>
          </p:cNvSpPr>
          <p:nvPr>
            <p:ph type="sldNum" idx="31"/>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8E230972-B83F-4BE0-B20D-58559A2F553F}"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3"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84"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Tail gap and θ do not contradict</a:t>
            </a:r>
            <a:endParaRPr lang="en-US" sz="3200" b="0" u="none" strike="noStrike">
              <a:solidFill>
                <a:srgbClr val="000000"/>
              </a:solidFill>
              <a:effectLst/>
              <a:uFillTx/>
              <a:latin typeface="Arial"/>
            </a:endParaRPr>
          </a:p>
        </p:txBody>
      </p:sp>
      <p:sp>
        <p:nvSpPr>
          <p:cNvPr id="285"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286" name="Text 3"/>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tail gap and θ do not contradict each other.</a:t>
            </a:r>
            <a:endParaRPr lang="en-US" sz="2760" b="0" u="none" strike="noStrike">
              <a:solidFill>
                <a:srgbClr val="000000"/>
              </a:solidFill>
              <a:effectLst/>
              <a:uFillTx/>
              <a:latin typeface="Arial"/>
            </a:endParaRPr>
          </a:p>
        </p:txBody>
      </p:sp>
      <p:sp>
        <p:nvSpPr>
          <p:cNvPr id="287" name="Shape 4"/>
          <p:cNvSpPr/>
          <p:nvPr/>
        </p:nvSpPr>
        <p:spPr>
          <a:xfrm>
            <a:off x="548640" y="220428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8" name="Shape 5"/>
          <p:cNvSpPr/>
          <p:nvPr/>
        </p:nvSpPr>
        <p:spPr>
          <a:xfrm>
            <a:off x="786240" y="26488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9" name="Text 6"/>
          <p:cNvSpPr/>
          <p:nvPr/>
        </p:nvSpPr>
        <p:spPr>
          <a:xfrm>
            <a:off x="1234440" y="220428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tail gap looks at a small slice of the distribution (15 and above).</a:t>
            </a:r>
            <a:endParaRPr lang="en-US" sz="2530" b="0" u="none" strike="noStrike">
              <a:solidFill>
                <a:srgbClr val="000000"/>
              </a:solidFill>
              <a:effectLst/>
              <a:uFillTx/>
              <a:latin typeface="Arial"/>
            </a:endParaRPr>
          </a:p>
        </p:txBody>
      </p:sp>
      <p:sp>
        <p:nvSpPr>
          <p:cNvPr id="290" name="Shape 7"/>
          <p:cNvSpPr/>
          <p:nvPr/>
        </p:nvSpPr>
        <p:spPr>
          <a:xfrm>
            <a:off x="548640" y="33634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1" name="Shape 8"/>
          <p:cNvSpPr/>
          <p:nvPr/>
        </p:nvSpPr>
        <p:spPr>
          <a:xfrm>
            <a:off x="786240" y="360252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2" name="Text 9"/>
          <p:cNvSpPr/>
          <p:nvPr/>
        </p:nvSpPr>
        <p:spPr>
          <a:xfrm>
            <a:off x="1234440" y="33634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θ looks at every pair of overs.</a:t>
            </a:r>
            <a:endParaRPr lang="en-US" sz="2530" b="0" u="none" strike="noStrike">
              <a:solidFill>
                <a:srgbClr val="000000"/>
              </a:solidFill>
              <a:effectLst/>
              <a:uFillTx/>
              <a:latin typeface="Arial"/>
            </a:endParaRPr>
          </a:p>
        </p:txBody>
      </p:sp>
      <p:sp>
        <p:nvSpPr>
          <p:cNvPr id="293" name="Shape 10"/>
          <p:cNvSpPr/>
          <p:nvPr/>
        </p:nvSpPr>
        <p:spPr>
          <a:xfrm>
            <a:off x="548640" y="411120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4" name="Shape 11"/>
          <p:cNvSpPr/>
          <p:nvPr/>
        </p:nvSpPr>
        <p:spPr>
          <a:xfrm>
            <a:off x="786240" y="455580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5" name="Text 12"/>
          <p:cNvSpPr/>
          <p:nvPr/>
        </p:nvSpPr>
        <p:spPr>
          <a:xfrm>
            <a:off x="1234440" y="411120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A distribution can differ strongly in a corner and hardly at all in a </a:t>
            </a:r>
            <a:r>
              <a:rPr lang="en-US" sz="2530" b="0" u="none" strike="noStrike">
                <a:solidFill>
                  <a:srgbClr val="172333"/>
                </a:solidFill>
                <a:effectLst/>
                <a:uFillTx/>
                <a:latin typeface="Calibri"/>
                <a:ea typeface="Calibri"/>
              </a:rPr>
              <a:t>global ordering.</a:t>
            </a:r>
            <a:endParaRPr lang="en-US" sz="2530" b="0" u="none" strike="noStrike">
              <a:solidFill>
                <a:srgbClr val="000000"/>
              </a:solidFill>
              <a:effectLst/>
              <a:uFillTx/>
              <a:latin typeface="Arial"/>
            </a:endParaRPr>
          </a:p>
        </p:txBody>
      </p:sp>
      <p:sp>
        <p:nvSpPr>
          <p:cNvPr id="296" name="Text 13"/>
          <p:cNvSpPr/>
          <p:nvPr/>
        </p:nvSpPr>
        <p:spPr>
          <a:xfrm>
            <a:off x="548640" y="539820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Different estimands, different answers.</a:t>
            </a:r>
            <a:endParaRPr lang="en-US" sz="2760" b="0" u="none" strike="noStrike">
              <a:solidFill>
                <a:srgbClr val="000000"/>
              </a:solidFill>
              <a:effectLst/>
              <a:uFillTx/>
              <a:latin typeface="Arial"/>
            </a:endParaRPr>
          </a:p>
        </p:txBody>
      </p:sp>
      <p:sp>
        <p:nvSpPr>
          <p:cNvPr id="297" name="PlaceHolder 1"/>
          <p:cNvSpPr>
            <a:spLocks noGrp="1"/>
          </p:cNvSpPr>
          <p:nvPr>
            <p:ph type="sldNum" idx="32"/>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645C5024-1C6F-4858-BAFB-0CC8AC4F2228}"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8"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299"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QQ plot</a:t>
            </a:r>
            <a:endParaRPr lang="en-US" sz="3200" b="0" u="none" strike="noStrike">
              <a:solidFill>
                <a:srgbClr val="000000"/>
              </a:solidFill>
              <a:effectLst/>
              <a:uFillTx/>
              <a:latin typeface="Arial"/>
            </a:endParaRPr>
          </a:p>
        </p:txBody>
      </p:sp>
      <p:sp>
        <p:nvSpPr>
          <p:cNvPr id="300"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301" name="Image 0" descr="QQ plot"/>
          <p:cNvPicPr/>
          <p:nvPr/>
        </p:nvPicPr>
        <p:blipFill>
          <a:blip r:embed="rId1"/>
          <a:stretch/>
        </p:blipFill>
        <p:spPr>
          <a:xfrm>
            <a:off x="1666440" y="1463040"/>
            <a:ext cx="5079600" cy="4800240"/>
          </a:xfrm>
          <a:prstGeom prst="rect">
            <a:avLst/>
          </a:prstGeom>
          <a:noFill/>
          <a:ln w="0">
            <a:noFill/>
          </a:ln>
        </p:spPr>
      </p:pic>
      <p:sp>
        <p:nvSpPr>
          <p:cNvPr id="302" name="Text 3"/>
          <p:cNvSpPr/>
          <p:nvPr/>
        </p:nvSpPr>
        <p:spPr>
          <a:xfrm>
            <a:off x="8183880" y="1463040"/>
            <a:ext cx="3456000" cy="1767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40" b="0" u="none" strike="noStrike">
                <a:solidFill>
                  <a:srgbClr val="172333"/>
                </a:solidFill>
                <a:effectLst/>
                <a:uFillTx/>
                <a:latin typeface="Calibri"/>
                <a:ea typeface="Calibri"/>
              </a:rPr>
              <a:t>Points on the dashed line mean identical quantiles. Peshawar is below the line at the bottom and above it at the top.</a:t>
            </a:r>
            <a:endParaRPr lang="en-US" sz="2040" b="0" u="none" strike="noStrike">
              <a:solidFill>
                <a:srgbClr val="000000"/>
              </a:solidFill>
              <a:effectLst/>
              <a:uFillTx/>
              <a:latin typeface="Arial"/>
            </a:endParaRPr>
          </a:p>
        </p:txBody>
      </p:sp>
      <p:sp>
        <p:nvSpPr>
          <p:cNvPr id="303" name="PlaceHolder 1"/>
          <p:cNvSpPr>
            <a:spLocks noGrp="1"/>
          </p:cNvSpPr>
          <p:nvPr>
            <p:ph type="sldNum" idx="33"/>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1CBFB90A-08CD-4820-AA86-F8636CF5CC56}"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4"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305"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Bridge: comparing real and generated data</a:t>
            </a:r>
            <a:endParaRPr lang="en-US" sz="3200" b="0" u="none" strike="noStrike">
              <a:solidFill>
                <a:srgbClr val="000000"/>
              </a:solidFill>
              <a:effectLst/>
              <a:uFillTx/>
              <a:latin typeface="Arial"/>
            </a:endParaRPr>
          </a:p>
        </p:txBody>
      </p:sp>
      <p:sp>
        <p:nvSpPr>
          <p:cNvPr id="306"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307" name="Shape 3"/>
          <p:cNvSpPr/>
          <p:nvPr/>
        </p:nvSpPr>
        <p:spPr>
          <a:xfrm>
            <a:off x="10465200" y="347400"/>
            <a:ext cx="1174680" cy="328680"/>
          </a:xfrm>
          <a:prstGeom prst="roundRect">
            <a:avLst>
              <a:gd name="adj" fmla="val 50000"/>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8" name="Text 4"/>
          <p:cNvSpPr/>
          <p:nvPr/>
        </p:nvSpPr>
        <p:spPr>
          <a:xfrm>
            <a:off x="10465200" y="347400"/>
            <a:ext cx="1174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ML BRIDGE</a:t>
            </a:r>
            <a:endParaRPr lang="en-US" sz="1100" b="0" u="none" strike="noStrike">
              <a:solidFill>
                <a:srgbClr val="000000"/>
              </a:solidFill>
              <a:effectLst/>
              <a:uFillTx/>
              <a:latin typeface="Arial"/>
            </a:endParaRPr>
          </a:p>
        </p:txBody>
      </p:sp>
      <p:sp>
        <p:nvSpPr>
          <p:cNvPr id="309" name="Text 5"/>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same tools check a generative model against real data:</a:t>
            </a:r>
            <a:endParaRPr lang="en-US" sz="2760" b="0" u="none" strike="noStrike">
              <a:solidFill>
                <a:srgbClr val="000000"/>
              </a:solidFill>
              <a:effectLst/>
              <a:uFillTx/>
              <a:latin typeface="Arial"/>
            </a:endParaRPr>
          </a:p>
        </p:txBody>
      </p:sp>
      <p:sp>
        <p:nvSpPr>
          <p:cNvPr id="310" name="Shape 6"/>
          <p:cNvSpPr/>
          <p:nvPr/>
        </p:nvSpPr>
        <p:spPr>
          <a:xfrm>
            <a:off x="548640" y="220428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1" name="Shape 7"/>
          <p:cNvSpPr/>
          <p:nvPr/>
        </p:nvSpPr>
        <p:spPr>
          <a:xfrm>
            <a:off x="786240" y="26488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2" name="Text 8"/>
          <p:cNvSpPr/>
          <p:nvPr/>
        </p:nvSpPr>
        <p:spPr>
          <a:xfrm>
            <a:off x="1234440" y="220428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ECDF and QQ plots</a:t>
            </a:r>
            <a:r>
              <a:rPr lang="en-US" sz="2530" b="0" u="none" strike="noStrike">
                <a:solidFill>
                  <a:srgbClr val="172333"/>
                </a:solidFill>
                <a:effectLst/>
                <a:uFillTx/>
                <a:latin typeface="Calibri"/>
                <a:ea typeface="Calibri"/>
              </a:rPr>
              <a:t> show where the generated distribution departs.</a:t>
            </a:r>
            <a:endParaRPr lang="en-US" sz="2530" b="0" u="none" strike="noStrike">
              <a:solidFill>
                <a:srgbClr val="000000"/>
              </a:solidFill>
              <a:effectLst/>
              <a:uFillTx/>
              <a:latin typeface="Arial"/>
            </a:endParaRPr>
          </a:p>
        </p:txBody>
      </p:sp>
      <p:sp>
        <p:nvSpPr>
          <p:cNvPr id="313" name="Shape 9"/>
          <p:cNvSpPr/>
          <p:nvPr/>
        </p:nvSpPr>
        <p:spPr>
          <a:xfrm>
            <a:off x="548640" y="33634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4" name="Shape 10"/>
          <p:cNvSpPr/>
          <p:nvPr/>
        </p:nvSpPr>
        <p:spPr>
          <a:xfrm>
            <a:off x="786240" y="360252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5" name="Text 11"/>
          <p:cNvSpPr/>
          <p:nvPr/>
        </p:nvSpPr>
        <p:spPr>
          <a:xfrm>
            <a:off x="1234440" y="33634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Tail rate</a:t>
            </a:r>
            <a:r>
              <a:rPr lang="en-US" sz="2530" b="0" u="none" strike="noStrike">
                <a:solidFill>
                  <a:srgbClr val="172333"/>
                </a:solidFill>
                <a:effectLst/>
                <a:uFillTx/>
                <a:latin typeface="Calibri"/>
                <a:ea typeface="Calibri"/>
              </a:rPr>
              <a:t> checks whether rare, large values are reproduced.</a:t>
            </a:r>
            <a:endParaRPr lang="en-US" sz="2530" b="0" u="none" strike="noStrike">
              <a:solidFill>
                <a:srgbClr val="000000"/>
              </a:solidFill>
              <a:effectLst/>
              <a:uFillTx/>
              <a:latin typeface="Arial"/>
            </a:endParaRPr>
          </a:p>
        </p:txBody>
      </p:sp>
      <p:sp>
        <p:nvSpPr>
          <p:cNvPr id="316" name="Shape 12"/>
          <p:cNvSpPr/>
          <p:nvPr/>
        </p:nvSpPr>
        <p:spPr>
          <a:xfrm>
            <a:off x="548640" y="41112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7" name="Shape 13"/>
          <p:cNvSpPr/>
          <p:nvPr/>
        </p:nvSpPr>
        <p:spPr>
          <a:xfrm>
            <a:off x="786240" y="43502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8" name="Text 14"/>
          <p:cNvSpPr/>
          <p:nvPr/>
        </p:nvSpPr>
        <p:spPr>
          <a:xfrm>
            <a:off x="1234440" y="41112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1" u="none" strike="noStrike">
                <a:solidFill>
                  <a:srgbClr val="172333"/>
                </a:solidFill>
                <a:effectLst/>
                <a:uFillTx/>
                <a:latin typeface="Calibri"/>
                <a:ea typeface="Calibri"/>
              </a:rPr>
              <a:t>A matching mean</a:t>
            </a:r>
            <a:r>
              <a:rPr lang="en-US" sz="2530" b="0" u="none" strike="noStrike">
                <a:solidFill>
                  <a:srgbClr val="172333"/>
                </a:solidFill>
                <a:effectLst/>
                <a:uFillTx/>
                <a:latin typeface="Calibri"/>
                <a:ea typeface="Calibri"/>
              </a:rPr>
              <a:t> is the easy test and proves little.</a:t>
            </a:r>
            <a:endParaRPr lang="en-US" sz="2530" b="0" u="none" strike="noStrike">
              <a:solidFill>
                <a:srgbClr val="000000"/>
              </a:solidFill>
              <a:effectLst/>
              <a:uFillTx/>
              <a:latin typeface="Arial"/>
            </a:endParaRPr>
          </a:p>
        </p:txBody>
      </p:sp>
      <p:sp>
        <p:nvSpPr>
          <p:cNvPr id="319" name="Text 15"/>
          <p:cNvSpPr/>
          <p:nvPr/>
        </p:nvSpPr>
        <p:spPr>
          <a:xfrm>
            <a:off x="548640" y="498708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"What exactly differs?" is the question in both settings.</a:t>
            </a:r>
            <a:endParaRPr lang="en-US" sz="2760" b="0" u="none" strike="noStrike">
              <a:solidFill>
                <a:srgbClr val="000000"/>
              </a:solidFill>
              <a:effectLst/>
              <a:uFillTx/>
              <a:latin typeface="Arial"/>
            </a:endParaRPr>
          </a:p>
        </p:txBody>
      </p:sp>
      <p:sp>
        <p:nvSpPr>
          <p:cNvPr id="320" name="PlaceHolder 1"/>
          <p:cNvSpPr>
            <a:spLocks noGrp="1"/>
          </p:cNvSpPr>
          <p:nvPr>
            <p:ph type="sldNum" idx="34"/>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1C3962AA-C672-46DF-A4C6-F21CAABDC744}"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1"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2 · WHAT EXACTLY DIFFERS?</a:t>
            </a:r>
            <a:endParaRPr lang="en-US" sz="1100" b="0" u="none" strike="noStrike">
              <a:solidFill>
                <a:srgbClr val="000000"/>
              </a:solidFill>
              <a:effectLst/>
              <a:uFillTx/>
              <a:latin typeface="Arial"/>
            </a:endParaRPr>
          </a:p>
        </p:txBody>
      </p:sp>
      <p:sp>
        <p:nvSpPr>
          <p:cNvPr id="322"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Claim v2</a:t>
            </a:r>
            <a:endParaRPr lang="en-US" sz="3200" b="0" u="none" strike="noStrike">
              <a:solidFill>
                <a:srgbClr val="000000"/>
              </a:solidFill>
              <a:effectLst/>
              <a:uFillTx/>
              <a:latin typeface="Arial"/>
            </a:endParaRPr>
          </a:p>
        </p:txBody>
      </p:sp>
      <p:sp>
        <p:nvSpPr>
          <p:cNvPr id="323"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324" name="Shape 3"/>
          <p:cNvSpPr/>
          <p:nvPr/>
        </p:nvSpPr>
        <p:spPr>
          <a:xfrm>
            <a:off x="10149840" y="347400"/>
            <a:ext cx="1490040" cy="328680"/>
          </a:xfrm>
          <a:prstGeom prst="roundRect">
            <a:avLst>
              <a:gd name="adj" fmla="val 50000"/>
            </a:avLst>
          </a:prstGeom>
          <a:solidFill>
            <a:srgbClr val="143E59"/>
          </a:solidFill>
          <a:ln w="12700">
            <a:solidFill>
              <a:srgbClr val="143E59"/>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5" name="Text 4"/>
          <p:cNvSpPr/>
          <p:nvPr/>
        </p:nvSpPr>
        <p:spPr>
          <a:xfrm>
            <a:off x="10149840" y="347400"/>
            <a:ext cx="1490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CLAIM LEDGER</a:t>
            </a:r>
            <a:endParaRPr lang="en-US" sz="1100" b="0" u="none" strike="noStrike">
              <a:solidFill>
                <a:srgbClr val="000000"/>
              </a:solidFill>
              <a:effectLst/>
              <a:uFillTx/>
              <a:latin typeface="Arial"/>
            </a:endParaRPr>
          </a:p>
        </p:txBody>
      </p:sp>
      <p:sp>
        <p:nvSpPr>
          <p:cNvPr id="326" name="Text 5"/>
          <p:cNvSpPr/>
          <p:nvPr/>
        </p:nvSpPr>
        <p:spPr>
          <a:xfrm>
            <a:off x="548640" y="1463040"/>
            <a:ext cx="877788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i="1" u="none" strike="noStrike">
                <a:solidFill>
                  <a:srgbClr val="172333"/>
                </a:solidFill>
                <a:effectLst/>
                <a:uFillTx/>
                <a:latin typeface="Calibri"/>
                <a:ea typeface="Calibri"/>
              </a:rPr>
              <a:t>Same mean and same median. In this archive Peshawar has more very low overs and more overs of 15 or more.</a:t>
            </a:r>
            <a:endParaRPr lang="en-US" sz="2760" b="0" u="none" strike="noStrike">
              <a:solidFill>
                <a:srgbClr val="000000"/>
              </a:solidFill>
              <a:effectLst/>
              <a:uFillTx/>
              <a:latin typeface="Arial"/>
            </a:endParaRPr>
          </a:p>
        </p:txBody>
      </p:sp>
      <p:sp>
        <p:nvSpPr>
          <p:cNvPr id="327" name="Text 6"/>
          <p:cNvSpPr/>
          <p:nvPr/>
        </p:nvSpPr>
        <p:spPr>
          <a:xfrm>
            <a:off x="548640" y="3101760"/>
            <a:ext cx="877788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This claim treated the 81 overs as 81 independent pieces of evidence.</a:t>
            </a:r>
            <a:endParaRPr lang="en-US" sz="2760" b="0" u="none" strike="noStrike">
              <a:solidFill>
                <a:srgbClr val="000000"/>
              </a:solidFill>
              <a:effectLst/>
              <a:uFillTx/>
              <a:latin typeface="Arial"/>
            </a:endParaRPr>
          </a:p>
        </p:txBody>
      </p:sp>
      <p:sp>
        <p:nvSpPr>
          <p:cNvPr id="328" name="Text 7"/>
          <p:cNvSpPr/>
          <p:nvPr/>
        </p:nvSpPr>
        <p:spPr>
          <a:xfrm>
            <a:off x="548640" y="4291560"/>
            <a:ext cx="877788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1" u="none" strike="noStrike">
                <a:solidFill>
                  <a:srgbClr val="172333"/>
                </a:solidFill>
                <a:effectLst/>
                <a:uFillTx/>
                <a:latin typeface="Calibri"/>
                <a:ea typeface="Calibri"/>
              </a:rPr>
              <a:t>Question 3:</a:t>
            </a:r>
            <a:r>
              <a:rPr lang="en-US" sz="2760" b="0" u="none" strike="noStrike">
                <a:solidFill>
                  <a:srgbClr val="172333"/>
                </a:solidFill>
                <a:effectLst/>
                <a:uFillTx/>
                <a:latin typeface="Calibri"/>
                <a:ea typeface="Calibri"/>
              </a:rPr>
              <a:t> are they?</a:t>
            </a:r>
            <a:endParaRPr lang="en-US" sz="2760" b="0" u="none" strike="noStrike">
              <a:solidFill>
                <a:srgbClr val="000000"/>
              </a:solidFill>
              <a:effectLst/>
              <a:uFillTx/>
              <a:latin typeface="Arial"/>
            </a:endParaRPr>
          </a:p>
        </p:txBody>
      </p:sp>
      <p:sp>
        <p:nvSpPr>
          <p:cNvPr id="329" name="Shape 8"/>
          <p:cNvSpPr/>
          <p:nvPr/>
        </p:nvSpPr>
        <p:spPr>
          <a:xfrm>
            <a:off x="9692640" y="4846320"/>
            <a:ext cx="1188360" cy="11883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0" name="Shape 9"/>
          <p:cNvSpPr/>
          <p:nvPr/>
        </p:nvSpPr>
        <p:spPr>
          <a:xfrm>
            <a:off x="10429560" y="5179320"/>
            <a:ext cx="950760" cy="950760"/>
          </a:xfrm>
          <a:prstGeom prst="ellipse">
            <a:avLst/>
          </a:prstGeom>
          <a:solidFill>
            <a:srgbClr val="D97706">
              <a:alpha val="8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1" name="PlaceHolder 1"/>
          <p:cNvSpPr>
            <a:spLocks noGrp="1"/>
          </p:cNvSpPr>
          <p:nvPr>
            <p:ph type="sldNum" idx="35"/>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7E14D5F0-DDA7-459D-8768-465FF18D619A}"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3E59"/>
        </a:solidFill>
      </p:bgPr>
    </p:bg>
    <p:spTree>
      <p:nvGrpSpPr>
        <p:cNvPr id="1" name=""/>
        <p:cNvGrpSpPr/>
        <p:nvPr/>
      </p:nvGrpSpPr>
      <p:grpSpPr>
        <a:xfrm>
          <a:off x="0" y="0"/>
          <a:ext cx="0" cy="0"/>
          <a:chOff x="0" y="0"/>
          <a:chExt cx="0" cy="0"/>
        </a:xfrm>
      </p:grpSpPr>
      <p:sp>
        <p:nvSpPr>
          <p:cNvPr id="332" name="Shape 0"/>
          <p:cNvSpPr/>
          <p:nvPr/>
        </p:nvSpPr>
        <p:spPr>
          <a:xfrm>
            <a:off x="8595360" y="1097280"/>
            <a:ext cx="3017160" cy="3017160"/>
          </a:xfrm>
          <a:prstGeom prst="ellipse">
            <a:avLst/>
          </a:prstGeom>
          <a:solidFill>
            <a:srgbClr val="1F6F8B">
              <a:alpha val="75000"/>
            </a:srgbClr>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3" name="Shape 1"/>
          <p:cNvSpPr/>
          <p:nvPr/>
        </p:nvSpPr>
        <p:spPr>
          <a:xfrm>
            <a:off x="10466280" y="1942200"/>
            <a:ext cx="2413800" cy="2413800"/>
          </a:xfrm>
          <a:prstGeom prst="ellipse">
            <a:avLst/>
          </a:prstGeom>
          <a:solidFill>
            <a:srgbClr val="D97706">
              <a:alpha val="6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Text 2"/>
          <p:cNvSpPr/>
          <p:nvPr/>
        </p:nvSpPr>
        <p:spPr>
          <a:xfrm>
            <a:off x="731520" y="219456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pc="499" strike="noStrike">
                <a:solidFill>
                  <a:srgbClr val="D97706"/>
                </a:solidFill>
                <a:effectLst/>
                <a:uFillTx/>
                <a:latin typeface="Calibri"/>
                <a:ea typeface="Calibri"/>
              </a:rPr>
              <a:t>ACT 3</a:t>
            </a:r>
            <a:endParaRPr lang="en-US" sz="2000" b="0" u="none" strike="noStrike">
              <a:solidFill>
                <a:srgbClr val="FFFFFF"/>
              </a:solidFill>
              <a:effectLst/>
              <a:uFillTx/>
              <a:latin typeface="Arial"/>
            </a:endParaRPr>
          </a:p>
        </p:txBody>
      </p:sp>
      <p:sp>
        <p:nvSpPr>
          <p:cNvPr id="335" name="Text 3"/>
          <p:cNvSpPr/>
          <p:nvPr/>
        </p:nvSpPr>
        <p:spPr>
          <a:xfrm>
            <a:off x="731520" y="2697480"/>
            <a:ext cx="74977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000" b="1" u="none" strike="noStrike">
                <a:solidFill>
                  <a:srgbClr val="FFFFFF"/>
                </a:solidFill>
                <a:effectLst/>
                <a:uFillTx/>
                <a:latin typeface="Cambria"/>
                <a:ea typeface="Cambria"/>
              </a:rPr>
              <a:t>How many observations do we really have?</a:t>
            </a:r>
            <a:endParaRPr lang="en-US" sz="4000" b="0" u="none" strike="noStrike">
              <a:solidFill>
                <a:srgbClr val="FFFFFF"/>
              </a:solidFill>
              <a:effectLst/>
              <a:uFillTx/>
              <a:latin typeface="Arial"/>
            </a:endParaRPr>
          </a:p>
        </p:txBody>
      </p:sp>
      <p:sp>
        <p:nvSpPr>
          <p:cNvPr id="336" name="Text 4"/>
          <p:cNvSpPr/>
          <p:nvPr/>
        </p:nvSpPr>
        <p:spPr>
          <a:xfrm>
            <a:off x="731520" y="4617720"/>
            <a:ext cx="71319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i="1" u="none" strike="noStrike">
                <a:solidFill>
                  <a:srgbClr val="CADCFC"/>
                </a:solidFill>
                <a:effectLst/>
                <a:uFillTx/>
                <a:latin typeface="Calibri"/>
                <a:ea typeface="Calibri"/>
              </a:rPr>
              <a:t>How many independent observations do we really have?</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7"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a:t>
            </a:r>
            <a:r>
              <a:rPr lang="en-US" sz="1100" b="1" u="none" spc="201" strike="noStrike">
                <a:solidFill>
                  <a:srgbClr val="1F6F8B"/>
                </a:solidFill>
                <a:effectLst/>
                <a:uFillTx/>
                <a:latin typeface="Calibri"/>
                <a:ea typeface="Calibri"/>
              </a:rPr>
              <a:t>REALLY HAVE?</a:t>
            </a:r>
            <a:endParaRPr lang="en-US" sz="1100" b="0" u="none" strike="noStrike">
              <a:solidFill>
                <a:srgbClr val="000000"/>
              </a:solidFill>
              <a:effectLst/>
              <a:uFillTx/>
              <a:latin typeface="Arial"/>
            </a:endParaRPr>
          </a:p>
        </p:txBody>
      </p:sp>
      <p:sp>
        <p:nvSpPr>
          <p:cNvPr id="338"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Count the matches</a:t>
            </a:r>
            <a:endParaRPr lang="en-US" sz="3200" b="0" u="none" strike="noStrike">
              <a:solidFill>
                <a:srgbClr val="000000"/>
              </a:solidFill>
              <a:effectLst/>
              <a:uFillTx/>
              <a:latin typeface="Arial"/>
            </a:endParaRPr>
          </a:p>
        </p:txBody>
      </p:sp>
      <p:sp>
        <p:nvSpPr>
          <p:cNvPr id="339"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340" name="Shape 3"/>
          <p:cNvSpPr/>
          <p:nvPr/>
        </p:nvSpPr>
        <p:spPr>
          <a:xfrm>
            <a:off x="9939600" y="347400"/>
            <a:ext cx="1700280" cy="32868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1" name="Text 4"/>
          <p:cNvSpPr/>
          <p:nvPr/>
        </p:nvSpPr>
        <p:spPr>
          <a:xfrm>
            <a:off x="9939600" y="347400"/>
            <a:ext cx="17002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CLASS ACTIVITY</a:t>
            </a:r>
            <a:endParaRPr lang="en-US" sz="1100" b="0" u="none" strike="noStrike">
              <a:solidFill>
                <a:srgbClr val="000000"/>
              </a:solidFill>
              <a:effectLst/>
              <a:uFillTx/>
              <a:latin typeface="Arial"/>
            </a:endParaRPr>
          </a:p>
        </p:txBody>
      </p:sp>
      <p:graphicFrame>
        <p:nvGraphicFramePr>
          <p:cNvPr id="342" name="Table 0"/>
          <p:cNvGraphicFramePr/>
          <p:nvPr/>
        </p:nvGraphicFramePr>
        <p:xfrm>
          <a:off x="548640" y="1463040"/>
          <a:ext cx="11091240" cy="2066400"/>
        </p:xfrm>
        <a:graphic>
          <a:graphicData uri="http://schemas.openxmlformats.org/drawingml/2006/table">
            <a:tbl>
              <a:tblPr/>
              <a:tblGrid>
                <a:gridCol w="9292680"/>
                <a:gridCol w="1798560"/>
              </a:tblGrid>
              <a:tr h="0">
                <a:tc>
                  <a:txBody>
                    <a:bodyPr anchor="ctr">
                      <a:noAutofit/>
                    </a:bodyPr>
                    <a:p>
                      <a:endParaRPr lang="en-US" sz="1800" b="0" u="none" strike="noStrike">
                        <a:solidFill>
                          <a:schemeClr val="dk1"/>
                        </a:solidFill>
                        <a:effectLst/>
                        <a:uFillTx/>
                        <a:latin typeface="Calibri"/>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10" b="1" u="none" strike="noStrike">
                          <a:solidFill>
                            <a:srgbClr val="FFFFFF"/>
                          </a:solidFill>
                          <a:effectLst/>
                          <a:uFillTx/>
                          <a:latin typeface="Calibri"/>
                          <a:ea typeface="Calibri"/>
                        </a:rPr>
                        <a:t>Count</a:t>
                      </a:r>
                      <a:endParaRPr lang="en-US" sz="211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10" b="0" u="none" strike="noStrike">
                          <a:solidFill>
                            <a:srgbClr val="172333"/>
                          </a:solidFill>
                          <a:effectLst/>
                          <a:uFillTx/>
                          <a:latin typeface="Calibri"/>
                          <a:ea typeface="Calibri"/>
                        </a:rPr>
                        <a:t>Over rows</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10" b="0" u="none" strike="noStrike">
                          <a:solidFill>
                            <a:srgbClr val="172333"/>
                          </a:solidFill>
                          <a:effectLst/>
                          <a:uFillTx/>
                          <a:latin typeface="Calibri"/>
                          <a:ea typeface="Calibri"/>
                        </a:rPr>
                        <a:t>81</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10" b="0" u="none" strike="noStrike">
                          <a:solidFill>
                            <a:srgbClr val="172333"/>
                          </a:solidFill>
                          <a:effectLst/>
                          <a:uFillTx/>
                          <a:latin typeface="Calibri"/>
                          <a:ea typeface="Calibri"/>
                        </a:rPr>
                        <a:t>Team-match clusters</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10" b="0" u="none" strike="noStrike">
                          <a:solidFill>
                            <a:srgbClr val="172333"/>
                          </a:solidFill>
                          <a:effectLst/>
                          <a:uFillTx/>
                          <a:latin typeface="Calibri"/>
                          <a:ea typeface="Calibri"/>
                        </a:rPr>
                        <a:t>20</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2110" b="0" u="none" strike="noStrike">
                          <a:solidFill>
                            <a:srgbClr val="172333"/>
                          </a:solidFill>
                          <a:effectLst/>
                          <a:uFillTx/>
                          <a:latin typeface="Calibri"/>
                          <a:ea typeface="Calibri"/>
                        </a:rPr>
                        <a:t>Distinct matches</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10" b="0" u="none" strike="noStrike">
                          <a:solidFill>
                            <a:srgbClr val="172333"/>
                          </a:solidFill>
                          <a:effectLst/>
                          <a:uFillTx/>
                          <a:latin typeface="Calibri"/>
                          <a:ea typeface="Calibri"/>
                        </a:rPr>
                        <a:t>17</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10" b="0" u="none" strike="noStrike">
                          <a:solidFill>
                            <a:srgbClr val="172333"/>
                          </a:solidFill>
                          <a:effectLst/>
                          <a:uFillTx/>
                          <a:latin typeface="Calibri"/>
                          <a:ea typeface="Calibri"/>
                        </a:rPr>
                        <a:t>Matches where both teams appear</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10" b="0" u="none" strike="noStrike">
                          <a:solidFill>
                            <a:srgbClr val="172333"/>
                          </a:solidFill>
                          <a:effectLst/>
                          <a:uFillTx/>
                          <a:latin typeface="Calibri"/>
                          <a:ea typeface="Calibri"/>
                        </a:rPr>
                        <a:t>3</a:t>
                      </a:r>
                      <a:endParaRPr lang="en-US" sz="211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343" name="Text 5"/>
          <p:cNvSpPr/>
          <p:nvPr/>
        </p:nvSpPr>
        <p:spPr>
          <a:xfrm>
            <a:off x="548640" y="4356720"/>
            <a:ext cx="11091240" cy="542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660" b="0" u="none" strike="noStrike">
                <a:solidFill>
                  <a:srgbClr val="172333"/>
                </a:solidFill>
                <a:effectLst/>
                <a:uFillTx/>
                <a:latin typeface="Calibri"/>
                <a:ea typeface="Calibri"/>
              </a:rPr>
              <a:t>The largest cluster is 5 </a:t>
            </a:r>
            <a:r>
              <a:rPr lang="en-US" sz="2660" b="0" u="none" strike="noStrike">
                <a:solidFill>
                  <a:srgbClr val="172333"/>
                </a:solidFill>
                <a:effectLst/>
                <a:uFillTx/>
                <a:latin typeface="Calibri"/>
                <a:ea typeface="Calibri"/>
              </a:rPr>
              <a:t>overs.</a:t>
            </a:r>
            <a:endParaRPr lang="en-US" sz="2660" b="0" u="none" strike="noStrike">
              <a:solidFill>
                <a:srgbClr val="000000"/>
              </a:solidFill>
              <a:effectLst/>
              <a:uFillTx/>
              <a:latin typeface="Arial"/>
            </a:endParaRPr>
          </a:p>
        </p:txBody>
      </p:sp>
      <p:sp>
        <p:nvSpPr>
          <p:cNvPr id="344" name="Text 6"/>
          <p:cNvSpPr/>
          <p:nvPr/>
        </p:nvSpPr>
        <p:spPr>
          <a:xfrm>
            <a:off x="548640" y="5082480"/>
            <a:ext cx="11091240" cy="97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660" b="1" u="none" strike="noStrike">
                <a:solidFill>
                  <a:srgbClr val="172333"/>
                </a:solidFill>
                <a:effectLst/>
                <a:uFillTx/>
                <a:latin typeface="Calibri"/>
                <a:ea typeface="Calibri"/>
              </a:rPr>
              <a:t>Predict:</a:t>
            </a:r>
            <a:r>
              <a:rPr lang="en-US" sz="2660" b="0" u="none" strike="noStrike">
                <a:solidFill>
                  <a:srgbClr val="172333"/>
                </a:solidFill>
                <a:effectLst/>
                <a:uFillTx/>
                <a:latin typeface="Calibri"/>
                <a:ea typeface="Calibri"/>
              </a:rPr>
              <a:t> how many independent observations do you think we have?</a:t>
            </a:r>
            <a:endParaRPr lang="en-US" sz="2660" b="0" u="none" strike="noStrike">
              <a:solidFill>
                <a:srgbClr val="000000"/>
              </a:solidFill>
              <a:effectLst/>
              <a:uFillTx/>
              <a:latin typeface="Arial"/>
            </a:endParaRPr>
          </a:p>
        </p:txBody>
      </p:sp>
      <p:sp>
        <p:nvSpPr>
          <p:cNvPr id="345" name="PlaceHolder 1"/>
          <p:cNvSpPr>
            <a:spLocks noGrp="1"/>
          </p:cNvSpPr>
          <p:nvPr>
            <p:ph type="sldNum" idx="36"/>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C4A27C41-9724-42EF-99F5-09A3E7CE672A}"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6"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347"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same overs, grouped by match</a:t>
            </a:r>
            <a:endParaRPr lang="en-US" sz="3200" b="0" u="none" strike="noStrike">
              <a:solidFill>
                <a:srgbClr val="000000"/>
              </a:solidFill>
              <a:effectLst/>
              <a:uFillTx/>
              <a:latin typeface="Arial"/>
            </a:endParaRPr>
          </a:p>
        </p:txBody>
      </p:sp>
      <p:sp>
        <p:nvSpPr>
          <p:cNvPr id="348"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349" name="Image 0" descr="The same overs, grouped by match"/>
          <p:cNvPicPr/>
          <p:nvPr/>
        </p:nvPicPr>
        <p:blipFill>
          <a:blip r:embed="rId1"/>
          <a:stretch/>
        </p:blipFill>
        <p:spPr>
          <a:xfrm>
            <a:off x="91440" y="1143000"/>
            <a:ext cx="9052560" cy="5545080"/>
          </a:xfrm>
          <a:prstGeom prst="rect">
            <a:avLst/>
          </a:prstGeom>
          <a:noFill/>
          <a:ln w="0">
            <a:noFill/>
          </a:ln>
        </p:spPr>
      </p:pic>
      <p:sp>
        <p:nvSpPr>
          <p:cNvPr id="350" name="Text 3"/>
          <p:cNvSpPr/>
          <p:nvPr/>
        </p:nvSpPr>
        <p:spPr>
          <a:xfrm>
            <a:off x="9144000" y="2057400"/>
            <a:ext cx="2743200" cy="1435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40" b="0" u="none" strike="noStrike">
                <a:solidFill>
                  <a:srgbClr val="172333"/>
                </a:solidFill>
                <a:effectLst/>
                <a:uFillTx/>
                <a:latin typeface="Calibri"/>
                <a:ea typeface="Calibri"/>
              </a:rPr>
              <a:t>Overs in the same match share a pitch, weather, a target and wickets already lost.</a:t>
            </a:r>
            <a:endParaRPr lang="en-US" sz="2040" b="0" u="none" strike="noStrike">
              <a:solidFill>
                <a:srgbClr val="000000"/>
              </a:solidFill>
              <a:effectLst/>
              <a:uFillTx/>
              <a:latin typeface="Arial"/>
            </a:endParaRPr>
          </a:p>
        </p:txBody>
      </p:sp>
      <p:sp>
        <p:nvSpPr>
          <p:cNvPr id="351" name="PlaceHolder 1"/>
          <p:cNvSpPr>
            <a:spLocks noGrp="1"/>
          </p:cNvSpPr>
          <p:nvPr>
            <p:ph type="sldNum" idx="37"/>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5B048CB2-F4B3-4C48-A09B-BAB0EC7FB2A6}"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2"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353"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Hierarchy</a:t>
            </a:r>
            <a:endParaRPr lang="en-US" sz="3200" b="0" u="none" strike="noStrike">
              <a:solidFill>
                <a:srgbClr val="000000"/>
              </a:solidFill>
              <a:effectLst/>
              <a:uFillTx/>
              <a:latin typeface="Arial"/>
            </a:endParaRPr>
          </a:p>
        </p:txBody>
      </p:sp>
      <p:sp>
        <p:nvSpPr>
          <p:cNvPr id="354"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355" name="Shape 3"/>
          <p:cNvSpPr/>
          <p:nvPr/>
        </p:nvSpPr>
        <p:spPr>
          <a:xfrm>
            <a:off x="548640" y="1463040"/>
            <a:ext cx="11091240" cy="2293200"/>
          </a:xfrm>
          <a:prstGeom prst="roundRect">
            <a:avLst>
              <a:gd name="adj" fmla="val 3189"/>
            </a:avLst>
          </a:prstGeom>
          <a:solidFill>
            <a:srgbClr val="F4F6F8"/>
          </a:solidFill>
          <a:ln w="12700">
            <a:solidFill>
              <a:srgbClr val="D5DEE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6" name="Text 4"/>
          <p:cNvSpPr/>
          <p:nvPr/>
        </p:nvSpPr>
        <p:spPr>
          <a:xfrm>
            <a:off x="822960" y="1463040"/>
            <a:ext cx="10542600" cy="2293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0" u="none" strike="noStrike">
                <a:solidFill>
                  <a:srgbClr val="143E59"/>
                </a:solidFill>
                <a:effectLst/>
                <a:uFillTx/>
                <a:latin typeface="Courier New"/>
                <a:ea typeface="Courier New"/>
              </a:rPr>
              <a:t>Season</a:t>
            </a:r>
            <a:endParaRPr lang="en-US" sz="2300" b="0" u="none" strike="noStrike">
              <a:solidFill>
                <a:srgbClr val="000000"/>
              </a:solidFill>
              <a:effectLst/>
              <a:uFillTx/>
              <a:latin typeface="Arial"/>
            </a:endParaRPr>
          </a:p>
          <a:p>
            <a:pPr defTabSz="914400">
              <a:lnSpc>
                <a:spcPct val="100000"/>
              </a:lnSpc>
              <a:tabLst>
                <a:tab pos="0" algn="l"/>
              </a:tabLst>
            </a:pPr>
            <a:r>
              <a:rPr lang="en-US" sz="2300" b="0" u="none" strike="noStrike">
                <a:solidFill>
                  <a:srgbClr val="143E59"/>
                </a:solidFill>
                <a:effectLst/>
                <a:uFillTx/>
                <a:latin typeface="Courier New"/>
                <a:ea typeface="Courier New"/>
              </a:rPr>
              <a:t>  Match</a:t>
            </a:r>
            <a:endParaRPr lang="en-US" sz="2300" b="0" u="none" strike="noStrike">
              <a:solidFill>
                <a:srgbClr val="000000"/>
              </a:solidFill>
              <a:effectLst/>
              <a:uFillTx/>
              <a:latin typeface="Arial"/>
            </a:endParaRPr>
          </a:p>
          <a:p>
            <a:pPr defTabSz="914400">
              <a:lnSpc>
                <a:spcPct val="100000"/>
              </a:lnSpc>
              <a:tabLst>
                <a:tab pos="0" algn="l"/>
              </a:tabLst>
            </a:pPr>
            <a:r>
              <a:rPr lang="en-US" sz="2300" b="0" u="none" strike="noStrike">
                <a:solidFill>
                  <a:srgbClr val="143E59"/>
                </a:solidFill>
                <a:effectLst/>
                <a:uFillTx/>
                <a:latin typeface="Courier New"/>
                <a:ea typeface="Courier New"/>
              </a:rPr>
              <a:t>    Innings</a:t>
            </a:r>
            <a:endParaRPr lang="en-US" sz="2300" b="0" u="none" strike="noStrike">
              <a:solidFill>
                <a:srgbClr val="000000"/>
              </a:solidFill>
              <a:effectLst/>
              <a:uFillTx/>
              <a:latin typeface="Arial"/>
            </a:endParaRPr>
          </a:p>
          <a:p>
            <a:pPr defTabSz="914400">
              <a:lnSpc>
                <a:spcPct val="100000"/>
              </a:lnSpc>
              <a:tabLst>
                <a:tab pos="0" algn="l"/>
              </a:tabLst>
            </a:pPr>
            <a:r>
              <a:rPr lang="en-US" sz="2300" b="0" u="none" strike="noStrike">
                <a:solidFill>
                  <a:srgbClr val="143E59"/>
                </a:solidFill>
                <a:effectLst/>
                <a:uFillTx/>
                <a:latin typeface="Courier New"/>
                <a:ea typeface="Courier New"/>
              </a:rPr>
              <a:t>      Over</a:t>
            </a:r>
            <a:endParaRPr lang="en-US" sz="2300" b="0" u="none" strike="noStrike">
              <a:solidFill>
                <a:srgbClr val="000000"/>
              </a:solidFill>
              <a:effectLst/>
              <a:uFillTx/>
              <a:latin typeface="Arial"/>
            </a:endParaRPr>
          </a:p>
          <a:p>
            <a:pPr defTabSz="914400">
              <a:lnSpc>
                <a:spcPct val="100000"/>
              </a:lnSpc>
              <a:tabLst>
                <a:tab pos="0" algn="l"/>
              </a:tabLst>
            </a:pPr>
            <a:r>
              <a:rPr lang="en-US" sz="2300" b="0" u="none" strike="noStrike">
                <a:solidFill>
                  <a:srgbClr val="143E59"/>
                </a:solidFill>
                <a:effectLst/>
                <a:uFillTx/>
                <a:latin typeface="Courier New"/>
                <a:ea typeface="Courier New"/>
              </a:rPr>
              <a:t>        Delivery</a:t>
            </a:r>
            <a:endParaRPr lang="en-US" sz="2300" b="0" u="none" strike="noStrike">
              <a:solidFill>
                <a:srgbClr val="000000"/>
              </a:solidFill>
              <a:effectLst/>
              <a:uFillTx/>
              <a:latin typeface="Arial"/>
            </a:endParaRPr>
          </a:p>
        </p:txBody>
      </p:sp>
      <p:sp>
        <p:nvSpPr>
          <p:cNvPr id="357" name="Text 5"/>
          <p:cNvSpPr/>
          <p:nvPr/>
        </p:nvSpPr>
        <p:spPr>
          <a:xfrm>
            <a:off x="548640" y="402192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a:t>
            </a:r>
            <a:r>
              <a:rPr lang="en-US" sz="2760" b="1" u="none" strike="noStrike">
                <a:solidFill>
                  <a:srgbClr val="172333"/>
                </a:solidFill>
                <a:effectLst/>
                <a:uFillTx/>
                <a:latin typeface="Calibri"/>
                <a:ea typeface="Calibri"/>
              </a:rPr>
              <a:t>unit of observation</a:t>
            </a:r>
            <a:r>
              <a:rPr lang="en-US" sz="2760" b="0" u="none" strike="noStrike">
                <a:solidFill>
                  <a:srgbClr val="172333"/>
                </a:solidFill>
                <a:effectLst/>
                <a:uFillTx/>
                <a:latin typeface="Calibri"/>
                <a:ea typeface="Calibri"/>
              </a:rPr>
              <a:t> (an over) is not necessarily the </a:t>
            </a:r>
            <a:r>
              <a:rPr lang="en-US" sz="2760" b="1" u="none" strike="noStrike">
                <a:solidFill>
                  <a:srgbClr val="172333"/>
                </a:solidFill>
                <a:effectLst/>
                <a:uFillTx/>
                <a:latin typeface="Calibri"/>
                <a:ea typeface="Calibri"/>
              </a:rPr>
              <a:t>unit of independence</a:t>
            </a:r>
            <a:r>
              <a:rPr lang="en-US" sz="2760" b="0" u="none" strike="noStrike">
                <a:solidFill>
                  <a:srgbClr val="172333"/>
                </a:solidFill>
                <a:effectLst/>
                <a:uFillTx/>
                <a:latin typeface="Calibri"/>
                <a:ea typeface="Calibri"/>
              </a:rPr>
              <a:t> (probably a match).</a:t>
            </a:r>
            <a:endParaRPr lang="en-US" sz="2760" b="0" u="none" strike="noStrike">
              <a:solidFill>
                <a:srgbClr val="000000"/>
              </a:solidFill>
              <a:effectLst/>
              <a:uFillTx/>
              <a:latin typeface="Arial"/>
            </a:endParaRPr>
          </a:p>
        </p:txBody>
      </p:sp>
      <p:sp>
        <p:nvSpPr>
          <p:cNvPr id="358" name="PlaceHolder 1"/>
          <p:cNvSpPr>
            <a:spLocks noGrp="1"/>
          </p:cNvSpPr>
          <p:nvPr>
            <p:ph type="sldNum" idx="38"/>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987DFDA6-2D6F-4F08-B868-B338815F804A}"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9"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360"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Bridge: group leakage</a:t>
            </a:r>
            <a:endParaRPr lang="en-US" sz="3200" b="0" u="none" strike="noStrike">
              <a:solidFill>
                <a:srgbClr val="000000"/>
              </a:solidFill>
              <a:effectLst/>
              <a:uFillTx/>
              <a:latin typeface="Arial"/>
            </a:endParaRPr>
          </a:p>
        </p:txBody>
      </p:sp>
      <p:sp>
        <p:nvSpPr>
          <p:cNvPr id="361"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362" name="Shape 3"/>
          <p:cNvSpPr/>
          <p:nvPr/>
        </p:nvSpPr>
        <p:spPr>
          <a:xfrm>
            <a:off x="10465200" y="347400"/>
            <a:ext cx="1174680" cy="328680"/>
          </a:xfrm>
          <a:prstGeom prst="roundRect">
            <a:avLst>
              <a:gd name="adj" fmla="val 50000"/>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3" name="Text 4"/>
          <p:cNvSpPr/>
          <p:nvPr/>
        </p:nvSpPr>
        <p:spPr>
          <a:xfrm>
            <a:off x="10465200" y="347400"/>
            <a:ext cx="1174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ML BRIDGE</a:t>
            </a:r>
            <a:endParaRPr lang="en-US" sz="1100" b="0" u="none" strike="noStrike">
              <a:solidFill>
                <a:srgbClr val="000000"/>
              </a:solidFill>
              <a:effectLst/>
              <a:uFillTx/>
              <a:latin typeface="Arial"/>
            </a:endParaRPr>
          </a:p>
        </p:txBody>
      </p:sp>
      <p:graphicFrame>
        <p:nvGraphicFramePr>
          <p:cNvPr id="364" name="Table 0"/>
          <p:cNvGraphicFramePr/>
          <p:nvPr/>
        </p:nvGraphicFramePr>
        <p:xfrm>
          <a:off x="548640" y="1463040"/>
          <a:ext cx="11091240" cy="2032200"/>
        </p:xfrm>
        <a:graphic>
          <a:graphicData uri="http://schemas.openxmlformats.org/drawingml/2006/table">
            <a:tbl>
              <a:tblPr/>
              <a:tblGrid>
                <a:gridCol w="5545800"/>
                <a:gridCol w="5545800"/>
              </a:tblGrid>
              <a:tr h="0">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Machine learning</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Statistics</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Random split puts one group's rows in train and test</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Treating one match's overs as independent</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Score is too optimistic</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Interval is too narrow</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Fix: </a:t>
                      </a:r>
                      <a:r>
                        <a:rPr lang="en-US" sz="2190" b="0" u="none" strike="noStrike">
                          <a:solidFill>
                            <a:srgbClr val="172333"/>
                          </a:solidFill>
                          <a:effectLst/>
                          <a:uFillTx/>
                          <a:latin typeface="Courier New"/>
                          <a:ea typeface="Courier New"/>
                        </a:rPr>
                        <a:t>GroupKFold</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Fix: resample the group</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bl>
          </a:graphicData>
        </a:graphic>
      </p:graphicFrame>
      <p:sp>
        <p:nvSpPr>
          <p:cNvPr id="365" name="Text 5"/>
          <p:cNvSpPr/>
          <p:nvPr/>
        </p:nvSpPr>
        <p:spPr>
          <a:xfrm>
            <a:off x="548640" y="423576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Name for the second column: </a:t>
            </a:r>
            <a:r>
              <a:rPr lang="en-US" sz="2760" b="1" u="none" strike="noStrike">
                <a:solidFill>
                  <a:srgbClr val="172333"/>
                </a:solidFill>
                <a:effectLst/>
                <a:uFillTx/>
                <a:latin typeface="Calibri"/>
                <a:ea typeface="Calibri"/>
              </a:rPr>
              <a:t>pseudoreplication</a:t>
            </a:r>
            <a:r>
              <a:rPr lang="en-US" sz="2760" b="0" u="none" strike="noStrike">
                <a:solidFill>
                  <a:srgbClr val="172333"/>
                </a:solidFill>
                <a:effectLst/>
                <a:uFillTx/>
                <a:latin typeface="Calibri"/>
                <a:ea typeface="Calibri"/>
              </a:rPr>
              <a:t>.</a:t>
            </a:r>
            <a:endParaRPr lang="en-US" sz="2760" b="0" u="none" strike="noStrike">
              <a:solidFill>
                <a:srgbClr val="000000"/>
              </a:solidFill>
              <a:effectLst/>
              <a:uFillTx/>
              <a:latin typeface="Arial"/>
            </a:endParaRPr>
          </a:p>
        </p:txBody>
      </p:sp>
      <p:sp>
        <p:nvSpPr>
          <p:cNvPr id="366" name="PlaceHolder 1"/>
          <p:cNvSpPr>
            <a:spLocks noGrp="1"/>
          </p:cNvSpPr>
          <p:nvPr>
            <p:ph type="sldNum" idx="39"/>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89038B2A-2536-4EA2-9A89-EDAE473ACEDF}"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7"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368"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Can the data show the dependence?</a:t>
            </a:r>
            <a:endParaRPr lang="en-US" sz="3200" b="0" u="none" strike="noStrike">
              <a:solidFill>
                <a:srgbClr val="000000"/>
              </a:solidFill>
              <a:effectLst/>
              <a:uFillTx/>
              <a:latin typeface="Arial"/>
            </a:endParaRPr>
          </a:p>
        </p:txBody>
      </p:sp>
      <p:sp>
        <p:nvSpPr>
          <p:cNvPr id="369"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370" name="Text 3"/>
          <p:cNvSpPr/>
          <p:nvPr/>
        </p:nvSpPr>
        <p:spPr>
          <a:xfrm>
            <a:off x="548640" y="1463040"/>
            <a:ext cx="877788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Share of variation explained by match: 0.28. Expected if match labels were random: 0.20. Permutation p-value: 0.10.</a:t>
            </a:r>
            <a:endParaRPr lang="en-US" sz="2760" b="0" u="none" strike="noStrike">
              <a:solidFill>
                <a:srgbClr val="000000"/>
              </a:solidFill>
              <a:effectLst/>
              <a:uFillTx/>
              <a:latin typeface="Arial"/>
            </a:endParaRPr>
          </a:p>
        </p:txBody>
      </p:sp>
      <p:sp>
        <p:nvSpPr>
          <p:cNvPr id="371" name="Text 4"/>
          <p:cNvSpPr/>
          <p:nvPr/>
        </p:nvSpPr>
        <p:spPr>
          <a:xfrm>
            <a:off x="548640" y="3101760"/>
            <a:ext cx="877788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Match explains a bit more than chance would, but 81 rows cannot prove it.</a:t>
            </a:r>
            <a:endParaRPr lang="en-US" sz="2760" b="0" u="none" strike="noStrike">
              <a:solidFill>
                <a:srgbClr val="000000"/>
              </a:solidFill>
              <a:effectLst/>
              <a:uFillTx/>
              <a:latin typeface="Arial"/>
            </a:endParaRPr>
          </a:p>
        </p:txBody>
      </p:sp>
      <p:sp>
        <p:nvSpPr>
          <p:cNvPr id="372" name="Text 5"/>
          <p:cNvSpPr/>
          <p:nvPr/>
        </p:nvSpPr>
        <p:spPr>
          <a:xfrm>
            <a:off x="548640" y="4291560"/>
            <a:ext cx="877788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1" u="none" strike="noStrike">
                <a:solidFill>
                  <a:srgbClr val="172333"/>
                </a:solidFill>
                <a:effectLst/>
                <a:uFillTx/>
                <a:latin typeface="Calibri"/>
                <a:ea typeface="Calibri"/>
              </a:rPr>
              <a:t>Absence of proof is not proof of independence.</a:t>
            </a:r>
            <a:r>
              <a:rPr lang="en-US" sz="2760" b="0" u="none" strike="noStrike">
                <a:solidFill>
                  <a:srgbClr val="172333"/>
                </a:solidFill>
                <a:effectLst/>
                <a:uFillTx/>
                <a:latin typeface="Calibri"/>
                <a:ea typeface="Calibri"/>
              </a:rPr>
              <a:t> The reason to respect matches is how the data were generated.</a:t>
            </a:r>
            <a:endParaRPr lang="en-US" sz="2760" b="0" u="none" strike="noStrike">
              <a:solidFill>
                <a:srgbClr val="000000"/>
              </a:solidFill>
              <a:effectLst/>
              <a:uFillTx/>
              <a:latin typeface="Arial"/>
            </a:endParaRPr>
          </a:p>
        </p:txBody>
      </p:sp>
      <p:sp>
        <p:nvSpPr>
          <p:cNvPr id="373" name="Shape 6"/>
          <p:cNvSpPr/>
          <p:nvPr/>
        </p:nvSpPr>
        <p:spPr>
          <a:xfrm>
            <a:off x="9692640" y="4846320"/>
            <a:ext cx="1188360" cy="11883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4" name="Shape 7"/>
          <p:cNvSpPr/>
          <p:nvPr/>
        </p:nvSpPr>
        <p:spPr>
          <a:xfrm>
            <a:off x="10429560" y="5179320"/>
            <a:ext cx="950760" cy="950760"/>
          </a:xfrm>
          <a:prstGeom prst="ellipse">
            <a:avLst/>
          </a:prstGeom>
          <a:solidFill>
            <a:srgbClr val="D97706">
              <a:alpha val="8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5" name="PlaceHolder 1"/>
          <p:cNvSpPr>
            <a:spLocks noGrp="1"/>
          </p:cNvSpPr>
          <p:nvPr>
            <p:ph type="sldNum" idx="40"/>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F4659282-24CC-46CF-BC07-2C3EC8A08384}"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6"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377"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Which observations get equal weight?</a:t>
            </a:r>
            <a:endParaRPr lang="en-US" sz="3200" b="0" u="none" strike="noStrike">
              <a:solidFill>
                <a:srgbClr val="000000"/>
              </a:solidFill>
              <a:effectLst/>
              <a:uFillTx/>
              <a:latin typeface="Arial"/>
            </a:endParaRPr>
          </a:p>
        </p:txBody>
      </p:sp>
      <p:sp>
        <p:nvSpPr>
          <p:cNvPr id="378"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379" name="Image 0" descr="equation"/>
          <p:cNvPicPr/>
          <p:nvPr/>
        </p:nvPicPr>
        <p:blipFill>
          <a:blip r:embed="rId1"/>
          <a:stretch/>
        </p:blipFill>
        <p:spPr>
          <a:xfrm>
            <a:off x="548640" y="1536120"/>
            <a:ext cx="6570720" cy="1304640"/>
          </a:xfrm>
          <a:prstGeom prst="rect">
            <a:avLst/>
          </a:prstGeom>
          <a:noFill/>
          <a:ln w="0">
            <a:noFill/>
          </a:ln>
        </p:spPr>
      </p:pic>
      <p:sp>
        <p:nvSpPr>
          <p:cNvPr id="380" name="Shape 3"/>
          <p:cNvSpPr/>
          <p:nvPr/>
        </p:nvSpPr>
        <p:spPr>
          <a:xfrm>
            <a:off x="548640" y="31248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1" name="Shape 4"/>
          <p:cNvSpPr/>
          <p:nvPr/>
        </p:nvSpPr>
        <p:spPr>
          <a:xfrm>
            <a:off x="786240" y="33638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2" name="Text 5"/>
          <p:cNvSpPr/>
          <p:nvPr/>
        </p:nvSpPr>
        <p:spPr>
          <a:xfrm>
            <a:off x="1234440" y="31248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Over-weighted: describes a randomly chosen </a:t>
            </a:r>
            <a:r>
              <a:rPr lang="en-US" sz="2530" b="1" u="none" strike="noStrike">
                <a:solidFill>
                  <a:srgbClr val="172333"/>
                </a:solidFill>
                <a:effectLst/>
                <a:uFillTx/>
                <a:latin typeface="Calibri"/>
                <a:ea typeface="Calibri"/>
              </a:rPr>
              <a:t>over</a:t>
            </a:r>
            <a:r>
              <a:rPr lang="en-US" sz="2530" b="0" u="none" strike="noStrike">
                <a:solidFill>
                  <a:srgbClr val="172333"/>
                </a:solidFill>
                <a:effectLst/>
                <a:uFillTx/>
                <a:latin typeface="Calibri"/>
                <a:ea typeface="Calibri"/>
              </a:rPr>
              <a:t>.</a:t>
            </a:r>
            <a:endParaRPr lang="en-US" sz="2530" b="0" u="none" strike="noStrike">
              <a:solidFill>
                <a:srgbClr val="000000"/>
              </a:solidFill>
              <a:effectLst/>
              <a:uFillTx/>
              <a:latin typeface="Arial"/>
            </a:endParaRPr>
          </a:p>
        </p:txBody>
      </p:sp>
      <p:sp>
        <p:nvSpPr>
          <p:cNvPr id="383" name="Shape 6"/>
          <p:cNvSpPr/>
          <p:nvPr/>
        </p:nvSpPr>
        <p:spPr>
          <a:xfrm>
            <a:off x="548640" y="38725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4" name="Shape 7"/>
          <p:cNvSpPr/>
          <p:nvPr/>
        </p:nvSpPr>
        <p:spPr>
          <a:xfrm>
            <a:off x="786240" y="411156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5" name="Text 8"/>
          <p:cNvSpPr/>
          <p:nvPr/>
        </p:nvSpPr>
        <p:spPr>
          <a:xfrm>
            <a:off x="1234440" y="38725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Match-weighted: describes a randomly chosen </a:t>
            </a:r>
            <a:r>
              <a:rPr lang="en-US" sz="2530" b="1" u="none" strike="noStrike">
                <a:solidFill>
                  <a:srgbClr val="172333"/>
                </a:solidFill>
                <a:effectLst/>
                <a:uFillTx/>
                <a:latin typeface="Calibri"/>
                <a:ea typeface="Calibri"/>
              </a:rPr>
              <a:t>match</a:t>
            </a:r>
            <a:r>
              <a:rPr lang="en-US" sz="2530" b="0" u="none" strike="noStrike">
                <a:solidFill>
                  <a:srgbClr val="172333"/>
                </a:solidFill>
                <a:effectLst/>
                <a:uFillTx/>
                <a:latin typeface="Calibri"/>
                <a:ea typeface="Calibri"/>
              </a:rPr>
              <a:t>.</a:t>
            </a:r>
            <a:endParaRPr lang="en-US" sz="2530" b="0" u="none" strike="noStrike">
              <a:solidFill>
                <a:srgbClr val="000000"/>
              </a:solidFill>
              <a:effectLst/>
              <a:uFillTx/>
              <a:latin typeface="Arial"/>
            </a:endParaRPr>
          </a:p>
        </p:txBody>
      </p:sp>
      <p:sp>
        <p:nvSpPr>
          <p:cNvPr id="386" name="Text 9"/>
          <p:cNvSpPr/>
          <p:nvPr/>
        </p:nvSpPr>
        <p:spPr>
          <a:xfrm>
            <a:off x="548640" y="474840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A match with five overs counts five times as much as a match with one.</a:t>
            </a:r>
            <a:endParaRPr lang="en-US" sz="2760" b="0" u="none" strike="noStrike">
              <a:solidFill>
                <a:srgbClr val="000000"/>
              </a:solidFill>
              <a:effectLst/>
              <a:uFillTx/>
              <a:latin typeface="Arial"/>
            </a:endParaRPr>
          </a:p>
        </p:txBody>
      </p:sp>
      <p:sp>
        <p:nvSpPr>
          <p:cNvPr id="387" name="PlaceHolder 1"/>
          <p:cNvSpPr>
            <a:spLocks noGrp="1"/>
          </p:cNvSpPr>
          <p:nvPr>
            <p:ph type="sldNum" idx="41"/>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32FF34E2-DC29-4D57-BEE1-7B10873B2A0D}"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8"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389"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weights, visible</a:t>
            </a:r>
            <a:endParaRPr lang="en-US" sz="3200" b="0" u="none" strike="noStrike">
              <a:solidFill>
                <a:srgbClr val="000000"/>
              </a:solidFill>
              <a:effectLst/>
              <a:uFillTx/>
              <a:latin typeface="Arial"/>
            </a:endParaRPr>
          </a:p>
        </p:txBody>
      </p:sp>
      <p:sp>
        <p:nvSpPr>
          <p:cNvPr id="390"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391" name="Image 0" descr="The weights, visible"/>
          <p:cNvPicPr/>
          <p:nvPr/>
        </p:nvPicPr>
        <p:blipFill>
          <a:blip r:embed="rId1"/>
          <a:stretch/>
        </p:blipFill>
        <p:spPr>
          <a:xfrm>
            <a:off x="1476000" y="1463040"/>
            <a:ext cx="9236880" cy="3934440"/>
          </a:xfrm>
          <a:prstGeom prst="rect">
            <a:avLst/>
          </a:prstGeom>
          <a:noFill/>
          <a:ln w="0">
            <a:noFill/>
          </a:ln>
        </p:spPr>
      </p:pic>
      <p:sp>
        <p:nvSpPr>
          <p:cNvPr id="392" name="Text 3"/>
          <p:cNvSpPr/>
          <p:nvPr/>
        </p:nvSpPr>
        <p:spPr>
          <a:xfrm>
            <a:off x="548640" y="5580720"/>
            <a:ext cx="11091240" cy="49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u="none" strike="noStrike">
                <a:solidFill>
                  <a:srgbClr val="172333"/>
                </a:solidFill>
                <a:effectLst/>
                <a:uFillTx/>
                <a:latin typeface="Calibri"/>
                <a:ea typeface="Calibri"/>
              </a:rPr>
              <a:t>Marker area is the number of eligible overs.</a:t>
            </a:r>
            <a:endParaRPr lang="en-US" sz="2400" b="0" u="none" strike="noStrike">
              <a:solidFill>
                <a:srgbClr val="000000"/>
              </a:solidFill>
              <a:effectLst/>
              <a:uFillTx/>
              <a:latin typeface="Arial"/>
            </a:endParaRPr>
          </a:p>
        </p:txBody>
      </p:sp>
      <p:sp>
        <p:nvSpPr>
          <p:cNvPr id="393" name="PlaceHolder 1"/>
          <p:cNvSpPr>
            <a:spLocks noGrp="1"/>
          </p:cNvSpPr>
          <p:nvPr>
            <p:ph type="sldNum" idx="42"/>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3CE94167-F2F0-4512-8D26-751B9528D17E}"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4"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395"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sign reversal</a:t>
            </a:r>
            <a:endParaRPr lang="en-US" sz="3200" b="0" u="none" strike="noStrike">
              <a:solidFill>
                <a:srgbClr val="000000"/>
              </a:solidFill>
              <a:effectLst/>
              <a:uFillTx/>
              <a:latin typeface="Arial"/>
            </a:endParaRPr>
          </a:p>
        </p:txBody>
      </p:sp>
      <p:sp>
        <p:nvSpPr>
          <p:cNvPr id="396"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397" name="Table 0"/>
          <p:cNvGraphicFramePr/>
          <p:nvPr/>
        </p:nvGraphicFramePr>
        <p:xfrm>
          <a:off x="548640" y="1463040"/>
          <a:ext cx="11091240" cy="2124000"/>
        </p:xfrm>
        <a:graphic>
          <a:graphicData uri="http://schemas.openxmlformats.org/drawingml/2006/table">
            <a:tbl>
              <a:tblPr/>
              <a:tblGrid>
                <a:gridCol w="5545800"/>
                <a:gridCol w="1848600"/>
                <a:gridCol w="1386360"/>
                <a:gridCol w="2310480"/>
              </a:tblGrid>
              <a:tr h="0">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Target</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Peshawar</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Quetta</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190" b="1" u="none" strike="noStrike">
                          <a:solidFill>
                            <a:srgbClr val="FFFFFF"/>
                          </a:solidFill>
                          <a:effectLst/>
                          <a:uFillTx/>
                          <a:latin typeface="Calibri"/>
                          <a:ea typeface="Calibri"/>
                        </a:rPr>
                        <a:t>Difference</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Mean, equal overs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9.32</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9.08</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+0.24</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Mean, equal matches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8.71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9.20</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-0.48</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15-plus %, equal overs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25.0</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8.1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+16.9</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15-plus %, equal matches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22.1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11.1</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190" b="0" u="none" strike="noStrike">
                          <a:solidFill>
                            <a:srgbClr val="172333"/>
                          </a:solidFill>
                          <a:effectLst/>
                          <a:uFillTx/>
                          <a:latin typeface="Calibri"/>
                          <a:ea typeface="Calibri"/>
                        </a:rPr>
                        <a:t>+11.0</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398" name="Text 3"/>
          <p:cNvSpPr/>
          <p:nvPr/>
        </p:nvSpPr>
        <p:spPr>
          <a:xfrm>
            <a:off x="548640" y="4418640"/>
            <a:ext cx="1109124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Both mean differences are small next to the spread of overs. The lesson is not a discovery. It is that an aggregate hides a </a:t>
            </a:r>
            <a:r>
              <a:rPr lang="en-US" sz="2760" b="1" u="none" strike="noStrike">
                <a:solidFill>
                  <a:srgbClr val="172333"/>
                </a:solidFill>
                <a:effectLst/>
                <a:uFillTx/>
                <a:latin typeface="Calibri"/>
                <a:ea typeface="Calibri"/>
              </a:rPr>
              <a:t>weighting rule</a:t>
            </a:r>
            <a:r>
              <a:rPr lang="en-US" sz="2760" b="0" u="none" strike="noStrike">
                <a:solidFill>
                  <a:srgbClr val="172333"/>
                </a:solidFill>
                <a:effectLst/>
                <a:uFillTx/>
                <a:latin typeface="Calibri"/>
                <a:ea typeface="Calibri"/>
              </a:rPr>
              <a:t>.</a:t>
            </a:r>
            <a:endParaRPr lang="en-US" sz="2760" b="0" u="none" strike="noStrike">
              <a:solidFill>
                <a:srgbClr val="000000"/>
              </a:solidFill>
              <a:effectLst/>
              <a:uFillTx/>
              <a:latin typeface="Arial"/>
            </a:endParaRPr>
          </a:p>
        </p:txBody>
      </p:sp>
      <p:sp>
        <p:nvSpPr>
          <p:cNvPr id="399" name="PlaceHolder 1"/>
          <p:cNvSpPr>
            <a:spLocks noGrp="1"/>
          </p:cNvSpPr>
          <p:nvPr>
            <p:ph type="sldNum" idx="43"/>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DCD1C6FF-14FA-4658-B7BF-496F915509FD}"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40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Which target fits which question?</a:t>
            </a:r>
            <a:endParaRPr lang="en-US" sz="3200" b="0" u="none" strike="noStrike">
              <a:solidFill>
                <a:srgbClr val="000000"/>
              </a:solidFill>
              <a:effectLst/>
              <a:uFillTx/>
              <a:latin typeface="Arial"/>
            </a:endParaRPr>
          </a:p>
        </p:txBody>
      </p:sp>
      <p:sp>
        <p:nvSpPr>
          <p:cNvPr id="40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403" name="Table 0"/>
          <p:cNvGraphicFramePr/>
          <p:nvPr/>
        </p:nvGraphicFramePr>
        <p:xfrm>
          <a:off x="548640" y="1463040"/>
          <a:ext cx="11091240" cy="2124000"/>
        </p:xfrm>
        <a:graphic>
          <a:graphicData uri="http://schemas.openxmlformats.org/drawingml/2006/table">
            <a:tbl>
              <a:tblPr/>
              <a:tblGrid>
                <a:gridCol w="8264160"/>
                <a:gridCol w="2827080"/>
              </a:tblGrid>
              <a:tr h="0">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Question</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2190" b="1" u="none" strike="noStrike">
                          <a:solidFill>
                            <a:srgbClr val="FFFFFF"/>
                          </a:solidFill>
                          <a:effectLst/>
                          <a:uFillTx/>
                          <a:latin typeface="Calibri"/>
                          <a:ea typeface="Calibri"/>
                        </a:rPr>
                        <a:t>Weight</a:t>
                      </a:r>
                      <a:endParaRPr lang="en-US" sz="219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What happens in a randomly chosen death over?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equal overs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What happens in a randomly chosen match?</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equal matches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What does the team's typical match look like?</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equal matches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What run total should a scoring model expect per over?</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2190" b="0" u="none" strike="noStrike">
                          <a:solidFill>
                            <a:srgbClr val="172333"/>
                          </a:solidFill>
                          <a:effectLst/>
                          <a:uFillTx/>
                          <a:latin typeface="Calibri"/>
                          <a:ea typeface="Calibri"/>
                        </a:rPr>
                        <a:t>equal overs</a:t>
                      </a:r>
                      <a:endParaRPr lang="en-US" sz="219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404" name="Text 3"/>
          <p:cNvSpPr/>
          <p:nvPr/>
        </p:nvSpPr>
        <p:spPr>
          <a:xfrm>
            <a:off x="548640" y="44186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State the question, then choose the weight.</a:t>
            </a:r>
            <a:endParaRPr lang="en-US" sz="2760" b="0" u="none" strike="noStrike">
              <a:solidFill>
                <a:srgbClr val="000000"/>
              </a:solidFill>
              <a:effectLst/>
              <a:uFillTx/>
              <a:latin typeface="Arial"/>
            </a:endParaRPr>
          </a:p>
        </p:txBody>
      </p:sp>
      <p:sp>
        <p:nvSpPr>
          <p:cNvPr id="405" name="PlaceHolder 1"/>
          <p:cNvSpPr>
            <a:spLocks noGrp="1"/>
          </p:cNvSpPr>
          <p:nvPr>
            <p:ph type="sldNum" idx="44"/>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5A4BD29E-97B1-4B7E-8C5B-A3C1730A7A08}"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6"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407"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Claim v3</a:t>
            </a:r>
            <a:endParaRPr lang="en-US" sz="3200" b="0" u="none" strike="noStrike">
              <a:solidFill>
                <a:srgbClr val="000000"/>
              </a:solidFill>
              <a:effectLst/>
              <a:uFillTx/>
              <a:latin typeface="Arial"/>
            </a:endParaRPr>
          </a:p>
        </p:txBody>
      </p:sp>
      <p:sp>
        <p:nvSpPr>
          <p:cNvPr id="408"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409" name="Shape 3"/>
          <p:cNvSpPr/>
          <p:nvPr/>
        </p:nvSpPr>
        <p:spPr>
          <a:xfrm>
            <a:off x="10149840" y="347400"/>
            <a:ext cx="1490040" cy="328680"/>
          </a:xfrm>
          <a:prstGeom prst="roundRect">
            <a:avLst>
              <a:gd name="adj" fmla="val 50000"/>
            </a:avLst>
          </a:prstGeom>
          <a:solidFill>
            <a:srgbClr val="143E59"/>
          </a:solidFill>
          <a:ln w="12700">
            <a:solidFill>
              <a:srgbClr val="143E59"/>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0" name="Text 4"/>
          <p:cNvSpPr/>
          <p:nvPr/>
        </p:nvSpPr>
        <p:spPr>
          <a:xfrm>
            <a:off x="10149840" y="347400"/>
            <a:ext cx="1490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CLAIM LEDGER</a:t>
            </a:r>
            <a:endParaRPr lang="en-US" sz="1100" b="0" u="none" strike="noStrike">
              <a:solidFill>
                <a:srgbClr val="000000"/>
              </a:solidFill>
              <a:effectLst/>
              <a:uFillTx/>
              <a:latin typeface="Arial"/>
            </a:endParaRPr>
          </a:p>
        </p:txBody>
      </p:sp>
      <p:sp>
        <p:nvSpPr>
          <p:cNvPr id="411" name="Text 5"/>
          <p:cNvSpPr/>
          <p:nvPr/>
        </p:nvSpPr>
        <p:spPr>
          <a:xfrm>
            <a:off x="548640" y="1463040"/>
            <a:ext cx="8777880" cy="190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i="1" u="none" strike="noStrike">
                <a:solidFill>
                  <a:srgbClr val="172333"/>
                </a:solidFill>
                <a:effectLst/>
                <a:uFillTx/>
                <a:latin typeface="Calibri"/>
                <a:ea typeface="Calibri"/>
              </a:rPr>
              <a:t>In this archive Peshawar has the higher rate of 15-plus overs. The mean difference changes sign with the weighting rule. Only 17 matches produced the data.</a:t>
            </a:r>
            <a:endParaRPr lang="en-US" sz="2760" b="0" u="none" strike="noStrike">
              <a:solidFill>
                <a:srgbClr val="000000"/>
              </a:solidFill>
              <a:effectLst/>
              <a:uFillTx/>
              <a:latin typeface="Arial"/>
            </a:endParaRPr>
          </a:p>
        </p:txBody>
      </p:sp>
      <p:sp>
        <p:nvSpPr>
          <p:cNvPr id="412" name="Text 6"/>
          <p:cNvSpPr/>
          <p:nvPr/>
        </p:nvSpPr>
        <p:spPr>
          <a:xfrm>
            <a:off x="548640" y="3550320"/>
            <a:ext cx="877788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1" u="none" strike="noStrike">
                <a:solidFill>
                  <a:srgbClr val="172333"/>
                </a:solidFill>
                <a:effectLst/>
                <a:uFillTx/>
                <a:latin typeface="Calibri"/>
                <a:ea typeface="Calibri"/>
              </a:rPr>
              <a:t>Question 4:</a:t>
            </a:r>
            <a:r>
              <a:rPr lang="en-US" sz="2760" b="0" u="none" strike="noStrike">
                <a:solidFill>
                  <a:srgbClr val="172333"/>
                </a:solidFill>
                <a:effectLst/>
                <a:uFillTx/>
                <a:latin typeface="Calibri"/>
                <a:ea typeface="Calibri"/>
              </a:rPr>
              <a:t> if the match is the real unit, how sure can we be about the tail gap?</a:t>
            </a:r>
            <a:endParaRPr lang="en-US" sz="2760" b="0" u="none" strike="noStrike">
              <a:solidFill>
                <a:srgbClr val="000000"/>
              </a:solidFill>
              <a:effectLst/>
              <a:uFillTx/>
              <a:latin typeface="Arial"/>
            </a:endParaRPr>
          </a:p>
        </p:txBody>
      </p:sp>
      <p:sp>
        <p:nvSpPr>
          <p:cNvPr id="413" name="Shape 7"/>
          <p:cNvSpPr/>
          <p:nvPr/>
        </p:nvSpPr>
        <p:spPr>
          <a:xfrm>
            <a:off x="9692640" y="4846320"/>
            <a:ext cx="1188360" cy="11883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4" name="Shape 8"/>
          <p:cNvSpPr/>
          <p:nvPr/>
        </p:nvSpPr>
        <p:spPr>
          <a:xfrm>
            <a:off x="10429560" y="5179320"/>
            <a:ext cx="950760" cy="950760"/>
          </a:xfrm>
          <a:prstGeom prst="ellipse">
            <a:avLst/>
          </a:prstGeom>
          <a:solidFill>
            <a:srgbClr val="D97706">
              <a:alpha val="8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5" name="PlaceHolder 1"/>
          <p:cNvSpPr>
            <a:spLocks noGrp="1"/>
          </p:cNvSpPr>
          <p:nvPr>
            <p:ph type="sldNum" idx="45"/>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872B90B4-EC12-4C03-AB05-48C06C750916}"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6"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3 · HOW MANY OBSERVATIONS DO WE REALLY HAVE?</a:t>
            </a:r>
            <a:endParaRPr lang="en-US" sz="1100" b="0" u="none" strike="noStrike">
              <a:solidFill>
                <a:srgbClr val="000000"/>
              </a:solidFill>
              <a:effectLst/>
              <a:uFillTx/>
              <a:latin typeface="Arial"/>
            </a:endParaRPr>
          </a:p>
        </p:txBody>
      </p:sp>
      <p:sp>
        <p:nvSpPr>
          <p:cNvPr id="417"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Break checkpoint</a:t>
            </a:r>
            <a:endParaRPr lang="en-US" sz="3200" b="0" u="none" strike="noStrike">
              <a:solidFill>
                <a:srgbClr val="000000"/>
              </a:solidFill>
              <a:effectLst/>
              <a:uFillTx/>
              <a:latin typeface="Arial"/>
            </a:endParaRPr>
          </a:p>
        </p:txBody>
      </p:sp>
      <p:sp>
        <p:nvSpPr>
          <p:cNvPr id="418"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419" name="Shape 3"/>
          <p:cNvSpPr/>
          <p:nvPr/>
        </p:nvSpPr>
        <p:spPr>
          <a:xfrm>
            <a:off x="9939600" y="347400"/>
            <a:ext cx="1700280" cy="32868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0" name="Text 4"/>
          <p:cNvSpPr/>
          <p:nvPr/>
        </p:nvSpPr>
        <p:spPr>
          <a:xfrm>
            <a:off x="9939600" y="347400"/>
            <a:ext cx="17002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CLASS ACTIVITY</a:t>
            </a:r>
            <a:endParaRPr lang="en-US" sz="1100" b="0" u="none" strike="noStrike">
              <a:solidFill>
                <a:srgbClr val="000000"/>
              </a:solidFill>
              <a:effectLst/>
              <a:uFillTx/>
              <a:latin typeface="Arial"/>
            </a:endParaRPr>
          </a:p>
        </p:txBody>
      </p:sp>
      <p:sp>
        <p:nvSpPr>
          <p:cNvPr id="421" name="Text 5"/>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Write down before the break:</a:t>
            </a:r>
            <a:endParaRPr lang="en-US" sz="2760" b="0" u="none" strike="noStrike">
              <a:solidFill>
                <a:srgbClr val="000000"/>
              </a:solidFill>
              <a:effectLst/>
              <a:uFillTx/>
              <a:latin typeface="Arial"/>
            </a:endParaRPr>
          </a:p>
        </p:txBody>
      </p:sp>
      <p:sp>
        <p:nvSpPr>
          <p:cNvPr id="422" name="Shape 6"/>
          <p:cNvSpPr/>
          <p:nvPr/>
        </p:nvSpPr>
        <p:spPr>
          <a:xfrm>
            <a:off x="548640" y="220428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3" name="Shape 7"/>
          <p:cNvSpPr/>
          <p:nvPr/>
        </p:nvSpPr>
        <p:spPr>
          <a:xfrm>
            <a:off x="685800" y="255744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4" name="Text 8"/>
          <p:cNvSpPr/>
          <p:nvPr/>
        </p:nvSpPr>
        <p:spPr>
          <a:xfrm>
            <a:off x="685800" y="2557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US" sz="1500" b="0" u="none" strike="noStrike">
              <a:solidFill>
                <a:srgbClr val="000000"/>
              </a:solidFill>
              <a:effectLst/>
              <a:uFillTx/>
              <a:latin typeface="Arial"/>
            </a:endParaRPr>
          </a:p>
        </p:txBody>
      </p:sp>
      <p:sp>
        <p:nvSpPr>
          <p:cNvPr id="425" name="Text 9"/>
          <p:cNvSpPr/>
          <p:nvPr/>
        </p:nvSpPr>
        <p:spPr>
          <a:xfrm>
            <a:off x="1234440" y="220428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Which interval for the tail gap will be wider: over-level or match-level?</a:t>
            </a:r>
            <a:endParaRPr lang="en-US" sz="2530" b="0" u="none" strike="noStrike">
              <a:solidFill>
                <a:srgbClr val="000000"/>
              </a:solidFill>
              <a:effectLst/>
              <a:uFillTx/>
              <a:latin typeface="Arial"/>
            </a:endParaRPr>
          </a:p>
        </p:txBody>
      </p:sp>
      <p:sp>
        <p:nvSpPr>
          <p:cNvPr id="426" name="Shape 10"/>
          <p:cNvSpPr/>
          <p:nvPr/>
        </p:nvSpPr>
        <p:spPr>
          <a:xfrm>
            <a:off x="548640" y="33634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7" name="Shape 11"/>
          <p:cNvSpPr/>
          <p:nvPr/>
        </p:nvSpPr>
        <p:spPr>
          <a:xfrm>
            <a:off x="685800" y="351108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8" name="Text 12"/>
          <p:cNvSpPr/>
          <p:nvPr/>
        </p:nvSpPr>
        <p:spPr>
          <a:xfrm>
            <a:off x="685800" y="35110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US" sz="1500" b="0" u="none" strike="noStrike">
              <a:solidFill>
                <a:srgbClr val="000000"/>
              </a:solidFill>
              <a:effectLst/>
              <a:uFillTx/>
              <a:latin typeface="Arial"/>
            </a:endParaRPr>
          </a:p>
        </p:txBody>
      </p:sp>
      <p:sp>
        <p:nvSpPr>
          <p:cNvPr id="429" name="Text 13"/>
          <p:cNvSpPr/>
          <p:nvPr/>
        </p:nvSpPr>
        <p:spPr>
          <a:xfrm>
            <a:off x="1234440" y="33634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By how many percentage points?</a:t>
            </a:r>
            <a:endParaRPr lang="en-US" sz="2530" b="0" u="none" strike="noStrike">
              <a:solidFill>
                <a:srgbClr val="000000"/>
              </a:solidFill>
              <a:effectLst/>
              <a:uFillTx/>
              <a:latin typeface="Arial"/>
            </a:endParaRPr>
          </a:p>
        </p:txBody>
      </p:sp>
      <p:sp>
        <p:nvSpPr>
          <p:cNvPr id="430" name="Shape 14"/>
          <p:cNvSpPr/>
          <p:nvPr/>
        </p:nvSpPr>
        <p:spPr>
          <a:xfrm>
            <a:off x="548640" y="41112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1" name="Shape 15"/>
          <p:cNvSpPr/>
          <p:nvPr/>
        </p:nvSpPr>
        <p:spPr>
          <a:xfrm>
            <a:off x="685800" y="425880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2" name="Text 16"/>
          <p:cNvSpPr/>
          <p:nvPr/>
        </p:nvSpPr>
        <p:spPr>
          <a:xfrm>
            <a:off x="685800" y="425880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US" sz="1500" b="0" u="none" strike="noStrike">
              <a:solidFill>
                <a:srgbClr val="000000"/>
              </a:solidFill>
              <a:effectLst/>
              <a:uFillTx/>
              <a:latin typeface="Arial"/>
            </a:endParaRPr>
          </a:p>
        </p:txBody>
      </p:sp>
      <p:sp>
        <p:nvSpPr>
          <p:cNvPr id="433" name="Text 17"/>
          <p:cNvSpPr/>
          <p:nvPr/>
        </p:nvSpPr>
        <p:spPr>
          <a:xfrm>
            <a:off x="1234440" y="41112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Will the match-level interval include zero?</a:t>
            </a:r>
            <a:endParaRPr lang="en-US" sz="2530" b="0" u="none" strike="noStrike">
              <a:solidFill>
                <a:srgbClr val="000000"/>
              </a:solidFill>
              <a:effectLst/>
              <a:uFillTx/>
              <a:latin typeface="Arial"/>
            </a:endParaRPr>
          </a:p>
        </p:txBody>
      </p:sp>
      <p:sp>
        <p:nvSpPr>
          <p:cNvPr id="434" name="PlaceHolder 1"/>
          <p:cNvSpPr>
            <a:spLocks noGrp="1"/>
          </p:cNvSpPr>
          <p:nvPr>
            <p:ph type="sldNum" idx="46"/>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49A98538-3BF9-4878-A6FC-5A42D19E7785}"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3E59"/>
        </a:solidFill>
      </p:bgPr>
    </p:bg>
    <p:spTree>
      <p:nvGrpSpPr>
        <p:cNvPr id="1" name=""/>
        <p:cNvGrpSpPr/>
        <p:nvPr/>
      </p:nvGrpSpPr>
      <p:grpSpPr>
        <a:xfrm>
          <a:off x="0" y="0"/>
          <a:ext cx="0" cy="0"/>
          <a:chOff x="0" y="0"/>
          <a:chExt cx="0" cy="0"/>
        </a:xfrm>
      </p:grpSpPr>
      <p:sp>
        <p:nvSpPr>
          <p:cNvPr id="435" name="Shape 0"/>
          <p:cNvSpPr/>
          <p:nvPr/>
        </p:nvSpPr>
        <p:spPr>
          <a:xfrm>
            <a:off x="8595360" y="1097280"/>
            <a:ext cx="3017160" cy="3017160"/>
          </a:xfrm>
          <a:prstGeom prst="ellipse">
            <a:avLst/>
          </a:prstGeom>
          <a:solidFill>
            <a:srgbClr val="1F6F8B">
              <a:alpha val="75000"/>
            </a:srgbClr>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6" name="Shape 1"/>
          <p:cNvSpPr/>
          <p:nvPr/>
        </p:nvSpPr>
        <p:spPr>
          <a:xfrm>
            <a:off x="10466280" y="1942200"/>
            <a:ext cx="2413800" cy="2413800"/>
          </a:xfrm>
          <a:prstGeom prst="ellipse">
            <a:avLst/>
          </a:prstGeom>
          <a:solidFill>
            <a:srgbClr val="D97706">
              <a:alpha val="6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7" name="Text 2"/>
          <p:cNvSpPr/>
          <p:nvPr/>
        </p:nvSpPr>
        <p:spPr>
          <a:xfrm>
            <a:off x="731520" y="219456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pc="499" strike="noStrike">
                <a:solidFill>
                  <a:srgbClr val="D97706"/>
                </a:solidFill>
                <a:effectLst/>
                <a:uFillTx/>
                <a:latin typeface="Calibri"/>
                <a:ea typeface="Calibri"/>
              </a:rPr>
              <a:t>ACT 4</a:t>
            </a:r>
            <a:endParaRPr lang="en-US" sz="2000" b="0" u="none" strike="noStrike">
              <a:solidFill>
                <a:srgbClr val="FFFFFF"/>
              </a:solidFill>
              <a:effectLst/>
              <a:uFillTx/>
              <a:latin typeface="Arial"/>
            </a:endParaRPr>
          </a:p>
        </p:txBody>
      </p:sp>
      <p:sp>
        <p:nvSpPr>
          <p:cNvPr id="438" name="Text 3"/>
          <p:cNvSpPr/>
          <p:nvPr/>
        </p:nvSpPr>
        <p:spPr>
          <a:xfrm>
            <a:off x="731520" y="2697480"/>
            <a:ext cx="74977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600" b="1" u="none" strike="noStrike">
                <a:solidFill>
                  <a:srgbClr val="FFFFFF"/>
                </a:solidFill>
                <a:effectLst/>
                <a:uFillTx/>
                <a:latin typeface="Cambria"/>
                <a:ea typeface="Cambria"/>
              </a:rPr>
              <a:t>How sure are we?</a:t>
            </a:r>
            <a:endParaRPr lang="en-US" sz="4600" b="0" u="none" strike="noStrike">
              <a:solidFill>
                <a:srgbClr val="FFFFFF"/>
              </a:solidFill>
              <a:effectLst/>
              <a:uFillTx/>
              <a:latin typeface="Arial"/>
            </a:endParaRPr>
          </a:p>
        </p:txBody>
      </p:sp>
      <p:sp>
        <p:nvSpPr>
          <p:cNvPr id="439" name="Text 4"/>
          <p:cNvSpPr/>
          <p:nvPr/>
        </p:nvSpPr>
        <p:spPr>
          <a:xfrm>
            <a:off x="731520" y="4114800"/>
            <a:ext cx="71319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i="1" u="none" strike="noStrike">
                <a:solidFill>
                  <a:srgbClr val="CADCFC"/>
                </a:solidFill>
                <a:effectLst/>
                <a:uFillTx/>
                <a:latin typeface="Calibri"/>
                <a:ea typeface="Calibri"/>
              </a:rPr>
              <a:t>How sure are we?</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44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What a bootstrap imitates</a:t>
            </a:r>
            <a:endParaRPr lang="en-US" sz="3200" b="0" u="none" strike="noStrike">
              <a:solidFill>
                <a:srgbClr val="000000"/>
              </a:solidFill>
              <a:effectLst/>
              <a:uFillTx/>
              <a:latin typeface="Arial"/>
            </a:endParaRPr>
          </a:p>
        </p:txBody>
      </p:sp>
      <p:sp>
        <p:nvSpPr>
          <p:cNvPr id="44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443" name="Text 3"/>
          <p:cNvSpPr/>
          <p:nvPr/>
        </p:nvSpPr>
        <p:spPr>
          <a:xfrm>
            <a:off x="548640" y="14630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An interval imitates a repetition of the study. The bootstrap repeats it by redrawing from the data we have.</a:t>
            </a:r>
            <a:endParaRPr lang="en-US" sz="2760" b="0" u="none" strike="noStrike">
              <a:solidFill>
                <a:srgbClr val="000000"/>
              </a:solidFill>
              <a:effectLst/>
              <a:uFillTx/>
              <a:latin typeface="Arial"/>
            </a:endParaRPr>
          </a:p>
        </p:txBody>
      </p:sp>
      <p:sp>
        <p:nvSpPr>
          <p:cNvPr id="444" name="Text 4"/>
          <p:cNvSpPr/>
          <p:nvPr/>
        </p:nvSpPr>
        <p:spPr>
          <a:xfrm>
            <a:off x="548640" y="26528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Every bootstrap must answer: </a:t>
            </a:r>
            <a:r>
              <a:rPr lang="en-US" sz="2760" b="1" u="none" strike="noStrike">
                <a:solidFill>
                  <a:srgbClr val="172333"/>
                </a:solidFill>
                <a:effectLst/>
                <a:uFillTx/>
                <a:latin typeface="Calibri"/>
                <a:ea typeface="Calibri"/>
              </a:rPr>
              <a:t>what is the unit being redrawn?</a:t>
            </a:r>
            <a:endParaRPr lang="en-US" sz="2760" b="0" u="none" strike="noStrike">
              <a:solidFill>
                <a:srgbClr val="000000"/>
              </a:solidFill>
              <a:effectLst/>
              <a:uFillTx/>
              <a:latin typeface="Arial"/>
            </a:endParaRPr>
          </a:p>
        </p:txBody>
      </p:sp>
      <p:sp>
        <p:nvSpPr>
          <p:cNvPr id="445" name="Shape 5"/>
          <p:cNvSpPr/>
          <p:nvPr/>
        </p:nvSpPr>
        <p:spPr>
          <a:xfrm>
            <a:off x="548640" y="38430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6" name="Shape 6"/>
          <p:cNvSpPr/>
          <p:nvPr/>
        </p:nvSpPr>
        <p:spPr>
          <a:xfrm>
            <a:off x="786240" y="40820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7" name="Text 7"/>
          <p:cNvSpPr/>
          <p:nvPr/>
        </p:nvSpPr>
        <p:spPr>
          <a:xfrm>
            <a:off x="1234440" y="38430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IID over bootstrap: the over.</a:t>
            </a:r>
            <a:endParaRPr lang="en-US" sz="2530" b="0" u="none" strike="noStrike">
              <a:solidFill>
                <a:srgbClr val="000000"/>
              </a:solidFill>
              <a:effectLst/>
              <a:uFillTx/>
              <a:latin typeface="Arial"/>
            </a:endParaRPr>
          </a:p>
        </p:txBody>
      </p:sp>
      <p:sp>
        <p:nvSpPr>
          <p:cNvPr id="448" name="Shape 8"/>
          <p:cNvSpPr/>
          <p:nvPr/>
        </p:nvSpPr>
        <p:spPr>
          <a:xfrm>
            <a:off x="548640" y="45907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9" name="Shape 9"/>
          <p:cNvSpPr/>
          <p:nvPr/>
        </p:nvSpPr>
        <p:spPr>
          <a:xfrm>
            <a:off x="786240" y="482976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0" name="Text 10"/>
          <p:cNvSpPr/>
          <p:nvPr/>
        </p:nvSpPr>
        <p:spPr>
          <a:xfrm>
            <a:off x="1234440" y="45907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Match-cluster bootstrap: the match.</a:t>
            </a:r>
            <a:endParaRPr lang="en-US" sz="2530" b="0" u="none" strike="noStrike">
              <a:solidFill>
                <a:srgbClr val="000000"/>
              </a:solidFill>
              <a:effectLst/>
              <a:uFillTx/>
              <a:latin typeface="Arial"/>
            </a:endParaRPr>
          </a:p>
        </p:txBody>
      </p:sp>
      <p:sp>
        <p:nvSpPr>
          <p:cNvPr id="451" name="PlaceHolder 1"/>
          <p:cNvSpPr>
            <a:spLocks noGrp="1"/>
          </p:cNvSpPr>
          <p:nvPr>
            <p:ph type="sldNum" idx="47"/>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689E61C4-3643-47FE-9E9A-14509F2ECF3C}"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2"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453"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Two resampling </a:t>
            </a:r>
            <a:r>
              <a:rPr lang="en-US" sz="3200" b="1" u="none" strike="noStrike">
                <a:solidFill>
                  <a:srgbClr val="143E59"/>
                </a:solidFill>
                <a:effectLst/>
                <a:uFillTx/>
                <a:latin typeface="Cambria"/>
                <a:ea typeface="Cambria"/>
              </a:rPr>
              <a:t>designs</a:t>
            </a:r>
            <a:endParaRPr lang="en-US" sz="3200" b="0" u="none" strike="noStrike">
              <a:solidFill>
                <a:srgbClr val="000000"/>
              </a:solidFill>
              <a:effectLst/>
              <a:uFillTx/>
              <a:latin typeface="Arial"/>
            </a:endParaRPr>
          </a:p>
        </p:txBody>
      </p:sp>
      <p:sp>
        <p:nvSpPr>
          <p:cNvPr id="454"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455" name="Shape 3"/>
          <p:cNvSpPr/>
          <p:nvPr/>
        </p:nvSpPr>
        <p:spPr>
          <a:xfrm>
            <a:off x="548640" y="1463040"/>
            <a:ext cx="11091240" cy="2678760"/>
          </a:xfrm>
          <a:prstGeom prst="roundRect">
            <a:avLst>
              <a:gd name="adj" fmla="val 2730"/>
            </a:avLst>
          </a:prstGeom>
          <a:solidFill>
            <a:srgbClr val="F4F6F8"/>
          </a:solidFill>
          <a:ln w="12700">
            <a:solidFill>
              <a:srgbClr val="D5DEE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6" name="Text 4"/>
          <p:cNvSpPr/>
          <p:nvPr/>
        </p:nvSpPr>
        <p:spPr>
          <a:xfrm>
            <a:off x="822960" y="1463040"/>
            <a:ext cx="10542600" cy="2678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0" u="none" strike="noStrike">
                <a:solidFill>
                  <a:srgbClr val="143E59"/>
                </a:solidFill>
                <a:effectLst/>
                <a:uFillTx/>
                <a:latin typeface="Courier New"/>
                <a:ea typeface="Courier New"/>
              </a:rPr>
              <a:t>IID bootstrap</a:t>
            </a:r>
            <a:endParaRPr lang="en-US" sz="2300" b="0" u="none" strike="noStrike">
              <a:solidFill>
                <a:srgbClr val="000000"/>
              </a:solidFill>
              <a:effectLst/>
              <a:uFillTx/>
              <a:latin typeface="Arial"/>
            </a:endParaRPr>
          </a:p>
          <a:p>
            <a:pPr defTabSz="914400">
              <a:lnSpc>
                <a:spcPct val="100000"/>
              </a:lnSpc>
              <a:tabLst>
                <a:tab pos="0" algn="l"/>
              </a:tabLst>
            </a:pPr>
            <a:r>
              <a:rPr lang="en-US" sz="2300" b="0" u="none" strike="noStrike">
                <a:solidFill>
                  <a:srgbClr val="143E59"/>
                </a:solidFill>
                <a:effectLst/>
                <a:uFillTx/>
                <a:latin typeface="Courier New"/>
                <a:ea typeface="Courier New"/>
              </a:rPr>
              <a:t>  draw overs one by one; matches are ignored</a:t>
            </a:r>
            <a:endParaRPr lang="en-US" sz="2300" b="0" u="none" strike="noStrike">
              <a:solidFill>
                <a:srgbClr val="000000"/>
              </a:solidFill>
              <a:effectLst/>
              <a:uFillTx/>
              <a:latin typeface="Arial"/>
            </a:endParaRPr>
          </a:p>
          <a:p>
            <a:pPr defTabSz="914400">
              <a:lnSpc>
                <a:spcPct val="100000"/>
              </a:lnSpc>
              <a:tabLst>
                <a:tab pos="0" algn="l"/>
              </a:tabLst>
            </a:pPr>
            <a:endParaRPr lang="en-US" sz="2300" b="0" u="none" strike="noStrike">
              <a:solidFill>
                <a:srgbClr val="000000"/>
              </a:solidFill>
              <a:effectLst/>
              <a:uFillTx/>
              <a:latin typeface="Arial"/>
            </a:endParaRPr>
          </a:p>
          <a:p>
            <a:pPr defTabSz="914400">
              <a:lnSpc>
                <a:spcPct val="100000"/>
              </a:lnSpc>
              <a:tabLst>
                <a:tab pos="0" algn="l"/>
              </a:tabLst>
            </a:pPr>
            <a:r>
              <a:rPr lang="en-US" sz="2300" b="0" u="none" strike="noStrike">
                <a:solidFill>
                  <a:srgbClr val="143E59"/>
                </a:solidFill>
                <a:effectLst/>
                <a:uFillTx/>
                <a:latin typeface="Courier New"/>
                <a:ea typeface="Courier New"/>
              </a:rPr>
              <a:t>Match-cluster bootstrap</a:t>
            </a:r>
            <a:endParaRPr lang="en-US" sz="2300" b="0" u="none" strike="noStrike">
              <a:solidFill>
                <a:srgbClr val="000000"/>
              </a:solidFill>
              <a:effectLst/>
              <a:uFillTx/>
              <a:latin typeface="Arial"/>
            </a:endParaRPr>
          </a:p>
          <a:p>
            <a:pPr defTabSz="914400">
              <a:lnSpc>
                <a:spcPct val="100000"/>
              </a:lnSpc>
              <a:tabLst>
                <a:tab pos="0" algn="l"/>
              </a:tabLst>
            </a:pPr>
            <a:r>
              <a:rPr lang="en-US" sz="2300" b="0" u="none" strike="noStrike">
                <a:solidFill>
                  <a:srgbClr val="143E59"/>
                </a:solidFill>
                <a:effectLst/>
                <a:uFillTx/>
                <a:latin typeface="Courier New"/>
                <a:ea typeface="Courier New"/>
              </a:rPr>
              <a:t>  draw 17 matches with replacement;</a:t>
            </a:r>
            <a:endParaRPr lang="en-US" sz="2300" b="0" u="none" strike="noStrike">
              <a:solidFill>
                <a:srgbClr val="000000"/>
              </a:solidFill>
              <a:effectLst/>
              <a:uFillTx/>
              <a:latin typeface="Arial"/>
            </a:endParaRPr>
          </a:p>
          <a:p>
            <a:pPr defTabSz="914400">
              <a:lnSpc>
                <a:spcPct val="100000"/>
              </a:lnSpc>
              <a:tabLst>
                <a:tab pos="0" algn="l"/>
              </a:tabLst>
            </a:pPr>
            <a:r>
              <a:rPr lang="en-US" sz="2300" b="0" u="none" strike="noStrike">
                <a:solidFill>
                  <a:srgbClr val="143E59"/>
                </a:solidFill>
                <a:effectLst/>
                <a:uFillTx/>
                <a:latin typeface="Courier New"/>
                <a:ea typeface="Courier New"/>
              </a:rPr>
              <a:t>  each drawn match brings all its overs, for both teams</a:t>
            </a:r>
            <a:endParaRPr lang="en-US" sz="2300" b="0" u="none" strike="noStrike">
              <a:solidFill>
                <a:srgbClr val="000000"/>
              </a:solidFill>
              <a:effectLst/>
              <a:uFillTx/>
              <a:latin typeface="Arial"/>
            </a:endParaRPr>
          </a:p>
        </p:txBody>
      </p:sp>
      <p:sp>
        <p:nvSpPr>
          <p:cNvPr id="457" name="Text 5"/>
          <p:cNvSpPr/>
          <p:nvPr/>
        </p:nvSpPr>
        <p:spPr>
          <a:xfrm>
            <a:off x="548640" y="4407480"/>
            <a:ext cx="1109124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team's rate is recomputed on every redraw. A team may appear in more or fewer of the drawn matches; that variation is part of the uncertainty.</a:t>
            </a:r>
            <a:endParaRPr lang="en-US" sz="2760" b="0" u="none" strike="noStrike">
              <a:solidFill>
                <a:srgbClr val="000000"/>
              </a:solidFill>
              <a:effectLst/>
              <a:uFillTx/>
              <a:latin typeface="Arial"/>
            </a:endParaRPr>
          </a:p>
        </p:txBody>
      </p:sp>
      <p:sp>
        <p:nvSpPr>
          <p:cNvPr id="458" name="PlaceHolder 1"/>
          <p:cNvSpPr>
            <a:spLocks noGrp="1"/>
          </p:cNvSpPr>
          <p:nvPr>
            <p:ph type="sldNum" idx="48"/>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96C866DE-87ED-4336-8848-50ACC7F6DCA8}"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9"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460"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bootstrap distributions</a:t>
            </a:r>
            <a:endParaRPr lang="en-US" sz="3200" b="0" u="none" strike="noStrike">
              <a:solidFill>
                <a:srgbClr val="000000"/>
              </a:solidFill>
              <a:effectLst/>
              <a:uFillTx/>
              <a:latin typeface="Arial"/>
            </a:endParaRPr>
          </a:p>
        </p:txBody>
      </p:sp>
      <p:sp>
        <p:nvSpPr>
          <p:cNvPr id="461"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462" name="Image 0" descr="The bootstrap distributions"/>
          <p:cNvPicPr/>
          <p:nvPr/>
        </p:nvPicPr>
        <p:blipFill>
          <a:blip r:embed="rId1"/>
          <a:stretch/>
        </p:blipFill>
        <p:spPr>
          <a:xfrm>
            <a:off x="950760" y="1463040"/>
            <a:ext cx="10287000" cy="3934440"/>
          </a:xfrm>
          <a:prstGeom prst="rect">
            <a:avLst/>
          </a:prstGeom>
          <a:noFill/>
          <a:ln w="0">
            <a:noFill/>
          </a:ln>
        </p:spPr>
      </p:pic>
      <p:sp>
        <p:nvSpPr>
          <p:cNvPr id="463" name="Text 3"/>
          <p:cNvSpPr/>
          <p:nvPr/>
        </p:nvSpPr>
        <p:spPr>
          <a:xfrm>
            <a:off x="548640" y="5580720"/>
            <a:ext cx="11091240" cy="49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u="none" strike="noStrike">
                <a:solidFill>
                  <a:srgbClr val="172333"/>
                </a:solidFill>
                <a:effectLst/>
                <a:uFillTx/>
                <a:latin typeface="Calibri"/>
                <a:ea typeface="Calibri"/>
              </a:rPr>
              <a:t>20,000 replicates per design, seed 854.</a:t>
            </a:r>
            <a:endParaRPr lang="en-US" sz="2400" b="0" u="none" strike="noStrike">
              <a:solidFill>
                <a:srgbClr val="000000"/>
              </a:solidFill>
              <a:effectLst/>
              <a:uFillTx/>
              <a:latin typeface="Arial"/>
            </a:endParaRPr>
          </a:p>
        </p:txBody>
      </p:sp>
      <p:sp>
        <p:nvSpPr>
          <p:cNvPr id="464" name="PlaceHolder 1"/>
          <p:cNvSpPr>
            <a:spLocks noGrp="1"/>
          </p:cNvSpPr>
          <p:nvPr>
            <p:ph type="sldNum" idx="49"/>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C7B0034A-BC06-4352-AF88-25B3B84E74EB}"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5"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466"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intervals</a:t>
            </a:r>
            <a:endParaRPr lang="en-US" sz="3200" b="0" u="none" strike="noStrike">
              <a:solidFill>
                <a:srgbClr val="000000"/>
              </a:solidFill>
              <a:effectLst/>
              <a:uFillTx/>
              <a:latin typeface="Arial"/>
            </a:endParaRPr>
          </a:p>
        </p:txBody>
      </p:sp>
      <p:sp>
        <p:nvSpPr>
          <p:cNvPr id="467"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pic>
        <p:nvPicPr>
          <p:cNvPr id="468" name="Image 0" descr="The intervals"/>
          <p:cNvPicPr/>
          <p:nvPr/>
        </p:nvPicPr>
        <p:blipFill>
          <a:blip r:embed="rId1"/>
          <a:stretch/>
        </p:blipFill>
        <p:spPr>
          <a:xfrm>
            <a:off x="723240" y="1463040"/>
            <a:ext cx="10742400" cy="2877120"/>
          </a:xfrm>
          <a:prstGeom prst="rect">
            <a:avLst/>
          </a:prstGeom>
          <a:noFill/>
          <a:ln w="0">
            <a:noFill/>
          </a:ln>
        </p:spPr>
      </p:pic>
      <p:graphicFrame>
        <p:nvGraphicFramePr>
          <p:cNvPr id="469" name="Table 0"/>
          <p:cNvGraphicFramePr/>
          <p:nvPr/>
        </p:nvGraphicFramePr>
        <p:xfrm>
          <a:off x="548640" y="4523400"/>
          <a:ext cx="11091240" cy="1143720"/>
        </p:xfrm>
        <a:graphic>
          <a:graphicData uri="http://schemas.openxmlformats.org/drawingml/2006/table">
            <a:tbl>
              <a:tblPr/>
              <a:tblGrid>
                <a:gridCol w="4880160"/>
                <a:gridCol w="3105360"/>
                <a:gridCol w="3105360"/>
              </a:tblGrid>
              <a:tr h="0">
                <a:tc>
                  <a:txBody>
                    <a:bodyPr anchor="ctr">
                      <a:noAutofit/>
                    </a:bodyPr>
                    <a:p>
                      <a:pPr defTabSz="914400">
                        <a:lnSpc>
                          <a:spcPct val="100000"/>
                        </a:lnSpc>
                        <a:tabLst>
                          <a:tab pos="0" algn="l"/>
                        </a:tabLst>
                      </a:pPr>
                      <a:r>
                        <a:rPr lang="en-US" sz="1900" b="1" u="none" strike="noStrike">
                          <a:solidFill>
                            <a:srgbClr val="FFFFFF"/>
                          </a:solidFill>
                          <a:effectLst/>
                          <a:uFillTx/>
                          <a:latin typeface="Calibri"/>
                          <a:ea typeface="Calibri"/>
                        </a:rPr>
                        <a:t>Estimand</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1900" b="1" u="none" strike="noStrike">
                          <a:solidFill>
                            <a:srgbClr val="FFFFFF"/>
                          </a:solidFill>
                          <a:effectLst/>
                          <a:uFillTx/>
                          <a:latin typeface="Calibri"/>
                          <a:ea typeface="Calibri"/>
                        </a:rPr>
                        <a:t>IID over</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1900" b="1" u="none" strike="noStrike">
                          <a:solidFill>
                            <a:srgbClr val="FFFFFF"/>
                          </a:solidFill>
                          <a:effectLst/>
                          <a:uFillTx/>
                          <a:latin typeface="Calibri"/>
                          <a:ea typeface="Calibri"/>
                        </a:rPr>
                        <a:t>Match cluster</a:t>
                      </a:r>
                      <a:endParaRPr lang="en-US" sz="190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1900" b="0" u="none" strike="noStrike">
                          <a:solidFill>
                            <a:srgbClr val="172333"/>
                          </a:solidFill>
                          <a:effectLst/>
                          <a:uFillTx/>
                          <a:latin typeface="Calibri"/>
                          <a:ea typeface="Calibri"/>
                        </a:rPr>
                        <a:t>Mean difference (runs)</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1900" b="0" u="none" strike="noStrike">
                          <a:solidFill>
                            <a:srgbClr val="172333"/>
                          </a:solidFill>
                          <a:effectLst/>
                          <a:uFillTx/>
                          <a:latin typeface="Calibri"/>
                          <a:ea typeface="Calibri"/>
                        </a:rPr>
                        <a:t>-2.13 to +2.57</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1900" b="0" u="none" strike="noStrike">
                          <a:solidFill>
                            <a:srgbClr val="172333"/>
                          </a:solidFill>
                          <a:effectLst/>
                          <a:uFillTx/>
                          <a:latin typeface="Calibri"/>
                          <a:ea typeface="Calibri"/>
                        </a:rPr>
                        <a:t>-2.74 to +2.39</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1900" b="0" u="none" strike="noStrike">
                          <a:solidFill>
                            <a:srgbClr val="172333"/>
                          </a:solidFill>
                          <a:effectLst/>
                          <a:uFillTx/>
                          <a:latin typeface="Calibri"/>
                          <a:ea typeface="Calibri"/>
                        </a:rPr>
                        <a:t>15-plus gap (pp)</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1900" b="0" u="none" strike="noStrike">
                          <a:solidFill>
                            <a:srgbClr val="172333"/>
                          </a:solidFill>
                          <a:effectLst/>
                          <a:uFillTx/>
                          <a:latin typeface="Calibri"/>
                          <a:ea typeface="Calibri"/>
                        </a:rPr>
                        <a:t>+2.0 to +32.8</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1900" b="0" u="none" strike="noStrike">
                          <a:solidFill>
                            <a:srgbClr val="172333"/>
                          </a:solidFill>
                          <a:effectLst/>
                          <a:uFillTx/>
                          <a:latin typeface="Calibri"/>
                          <a:ea typeface="Calibri"/>
                        </a:rPr>
                        <a:t>-5.2 to +32.7</a:t>
                      </a:r>
                      <a:endParaRPr lang="en-US" sz="190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470" name="PlaceHolder 1"/>
          <p:cNvSpPr>
            <a:spLocks noGrp="1"/>
          </p:cNvSpPr>
          <p:nvPr>
            <p:ph type="sldNum" idx="50"/>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F8A6154C-2119-46D9-B98A-26B3E85AC2B6}"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1"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472"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How to read the result</a:t>
            </a:r>
            <a:endParaRPr lang="en-US" sz="3200" b="0" u="none" strike="noStrike">
              <a:solidFill>
                <a:srgbClr val="000000"/>
              </a:solidFill>
              <a:effectLst/>
              <a:uFillTx/>
              <a:latin typeface="Arial"/>
            </a:endParaRPr>
          </a:p>
        </p:txBody>
      </p:sp>
      <p:sp>
        <p:nvSpPr>
          <p:cNvPr id="473"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474" name="Text 3"/>
          <p:cNvSpPr/>
          <p:nvPr/>
        </p:nvSpPr>
        <p:spPr>
          <a:xfrm>
            <a:off x="548640" y="1463040"/>
            <a:ext cx="877788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tail-gap interval widens from 30.8 to 37.9 percentage points. Its lower end moves from +2.0 to -5.2.</a:t>
            </a:r>
            <a:endParaRPr lang="en-US" sz="2760" b="0" u="none" strike="noStrike">
              <a:solidFill>
                <a:srgbClr val="000000"/>
              </a:solidFill>
              <a:effectLst/>
              <a:uFillTx/>
              <a:latin typeface="Arial"/>
            </a:endParaRPr>
          </a:p>
        </p:txBody>
      </p:sp>
      <p:sp>
        <p:nvSpPr>
          <p:cNvPr id="475" name="Text 4"/>
          <p:cNvSpPr/>
          <p:nvPr/>
        </p:nvSpPr>
        <p:spPr>
          <a:xfrm>
            <a:off x="548640" y="3101760"/>
            <a:ext cx="877788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correct question is </a:t>
            </a:r>
            <a:r>
              <a:rPr lang="en-US" sz="2760" b="1" u="none" strike="noStrike">
                <a:solidFill>
                  <a:srgbClr val="172333"/>
                </a:solidFill>
                <a:effectLst/>
                <a:uFillTx/>
                <a:latin typeface="Calibri"/>
                <a:ea typeface="Calibri"/>
              </a:rPr>
              <a:t>how wide</a:t>
            </a:r>
            <a:r>
              <a:rPr lang="en-US" sz="2760" b="0" u="none" strike="noStrike">
                <a:solidFill>
                  <a:srgbClr val="172333"/>
                </a:solidFill>
                <a:effectLst/>
                <a:uFillTx/>
                <a:latin typeface="Calibri"/>
                <a:ea typeface="Calibri"/>
              </a:rPr>
              <a:t>, not "does it touch zero."</a:t>
            </a:r>
            <a:endParaRPr lang="en-US" sz="2760" b="0" u="none" strike="noStrike">
              <a:solidFill>
                <a:srgbClr val="000000"/>
              </a:solidFill>
              <a:effectLst/>
              <a:uFillTx/>
              <a:latin typeface="Arial"/>
            </a:endParaRPr>
          </a:p>
        </p:txBody>
      </p:sp>
      <p:sp>
        <p:nvSpPr>
          <p:cNvPr id="476" name="Text 5"/>
          <p:cNvSpPr/>
          <p:nvPr/>
        </p:nvSpPr>
        <p:spPr>
          <a:xfrm>
            <a:off x="548640" y="4291560"/>
            <a:ext cx="8777880" cy="145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An interval that contains zero does not show the teams are equal. It shows the data cannot exclude a range of values.</a:t>
            </a:r>
            <a:endParaRPr lang="en-US" sz="2760" b="0" u="none" strike="noStrike">
              <a:solidFill>
                <a:srgbClr val="000000"/>
              </a:solidFill>
              <a:effectLst/>
              <a:uFillTx/>
              <a:latin typeface="Arial"/>
            </a:endParaRPr>
          </a:p>
        </p:txBody>
      </p:sp>
      <p:sp>
        <p:nvSpPr>
          <p:cNvPr id="477" name="Shape 6"/>
          <p:cNvSpPr/>
          <p:nvPr/>
        </p:nvSpPr>
        <p:spPr>
          <a:xfrm>
            <a:off x="9692640" y="4846320"/>
            <a:ext cx="1188360" cy="11883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8" name="Shape 7"/>
          <p:cNvSpPr/>
          <p:nvPr/>
        </p:nvSpPr>
        <p:spPr>
          <a:xfrm>
            <a:off x="10429560" y="5179320"/>
            <a:ext cx="950760" cy="950760"/>
          </a:xfrm>
          <a:prstGeom prst="ellipse">
            <a:avLst/>
          </a:prstGeom>
          <a:solidFill>
            <a:srgbClr val="D97706">
              <a:alpha val="8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9" name="PlaceHolder 1"/>
          <p:cNvSpPr>
            <a:spLocks noGrp="1"/>
          </p:cNvSpPr>
          <p:nvPr>
            <p:ph type="sldNum" idx="51"/>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A69133BA-18F0-490A-9F7A-4796FAF203C5}"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48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A classical cross-check</a:t>
            </a:r>
            <a:endParaRPr lang="en-US" sz="3200" b="0" u="none" strike="noStrike">
              <a:solidFill>
                <a:srgbClr val="000000"/>
              </a:solidFill>
              <a:effectLst/>
              <a:uFillTx/>
              <a:latin typeface="Arial"/>
            </a:endParaRPr>
          </a:p>
        </p:txBody>
      </p:sp>
      <p:sp>
        <p:nvSpPr>
          <p:cNvPr id="48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483" name="Text 3"/>
          <p:cNvSpPr/>
          <p:nvPr/>
        </p:nvSpPr>
        <p:spPr>
          <a:xfrm>
            <a:off x="548640" y="1463040"/>
            <a:ext cx="8777880" cy="1315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70" b="0" u="none" strike="noStrike">
                <a:solidFill>
                  <a:srgbClr val="172333"/>
                </a:solidFill>
                <a:effectLst/>
                <a:uFillTx/>
                <a:latin typeface="Calibri"/>
                <a:ea typeface="Calibri"/>
              </a:rPr>
              <a:t>Fisher's exact test on the raw counts, 11 of 44 versus 3 of 37 overs at 15 runs or more, treating overs as independent:</a:t>
            </a:r>
            <a:endParaRPr lang="en-US" sz="2470" b="0" u="none" strike="noStrike">
              <a:solidFill>
                <a:srgbClr val="000000"/>
              </a:solidFill>
              <a:effectLst/>
              <a:uFillTx/>
              <a:latin typeface="Arial"/>
            </a:endParaRPr>
          </a:p>
        </p:txBody>
      </p:sp>
      <p:sp>
        <p:nvSpPr>
          <p:cNvPr id="484" name="Text 4"/>
          <p:cNvSpPr/>
          <p:nvPr/>
        </p:nvSpPr>
        <p:spPr>
          <a:xfrm>
            <a:off x="548640" y="2961360"/>
            <a:ext cx="8777880" cy="511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70" b="0" u="none" strike="noStrike">
                <a:solidFill>
                  <a:srgbClr val="172333"/>
                </a:solidFill>
                <a:effectLst/>
                <a:uFillTx/>
                <a:latin typeface="Calibri"/>
                <a:ea typeface="Calibri"/>
              </a:rPr>
              <a:t>p= 0.075.</a:t>
            </a:r>
            <a:endParaRPr lang="en-US" sz="2470" b="0" u="none" strike="noStrike">
              <a:solidFill>
                <a:srgbClr val="000000"/>
              </a:solidFill>
              <a:effectLst/>
              <a:uFillTx/>
              <a:latin typeface="Arial"/>
            </a:endParaRPr>
          </a:p>
        </p:txBody>
      </p:sp>
      <p:sp>
        <p:nvSpPr>
          <p:cNvPr id="485" name="Text 5"/>
          <p:cNvSpPr/>
          <p:nvPr/>
        </p:nvSpPr>
        <p:spPr>
          <a:xfrm>
            <a:off x="548640" y="3655800"/>
            <a:ext cx="8777880" cy="912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70" b="0" u="none" strike="noStrike">
                <a:solidFill>
                  <a:srgbClr val="172333"/>
                </a:solidFill>
                <a:effectLst/>
                <a:uFillTx/>
                <a:latin typeface="Calibri"/>
                <a:ea typeface="Calibri"/>
              </a:rPr>
              <a:t>Even the naive test was borderline. The honest reading is:</a:t>
            </a:r>
            <a:endParaRPr lang="en-US" sz="2470" b="0" u="none" strike="noStrike">
              <a:solidFill>
                <a:srgbClr val="000000"/>
              </a:solidFill>
              <a:effectLst/>
              <a:uFillTx/>
              <a:latin typeface="Arial"/>
            </a:endParaRPr>
          </a:p>
        </p:txBody>
      </p:sp>
      <p:sp>
        <p:nvSpPr>
          <p:cNvPr id="486" name="Text 6"/>
          <p:cNvSpPr/>
          <p:nvPr/>
        </p:nvSpPr>
        <p:spPr>
          <a:xfrm>
            <a:off x="548640" y="4752000"/>
            <a:ext cx="8777880" cy="1315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70" b="0" i="1" u="none" strike="noStrike">
                <a:solidFill>
                  <a:srgbClr val="172333"/>
                </a:solidFill>
                <a:effectLst/>
                <a:uFillTx/>
                <a:latin typeface="Calibri"/>
                <a:ea typeface="Calibri"/>
              </a:rPr>
              <a:t>the data lean toward a Peshawar tail gap; the uncertainty is large under either design, and larger when the match is the unit.</a:t>
            </a:r>
            <a:endParaRPr lang="en-US" sz="2470" b="0" u="none" strike="noStrike">
              <a:solidFill>
                <a:srgbClr val="000000"/>
              </a:solidFill>
              <a:effectLst/>
              <a:uFillTx/>
              <a:latin typeface="Arial"/>
            </a:endParaRPr>
          </a:p>
        </p:txBody>
      </p:sp>
      <p:sp>
        <p:nvSpPr>
          <p:cNvPr id="487" name="Shape 7"/>
          <p:cNvSpPr/>
          <p:nvPr/>
        </p:nvSpPr>
        <p:spPr>
          <a:xfrm>
            <a:off x="9692640" y="4846320"/>
            <a:ext cx="1188360" cy="11883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8" name="Shape 8"/>
          <p:cNvSpPr/>
          <p:nvPr/>
        </p:nvSpPr>
        <p:spPr>
          <a:xfrm>
            <a:off x="10429560" y="5179320"/>
            <a:ext cx="950760" cy="950760"/>
          </a:xfrm>
          <a:prstGeom prst="ellipse">
            <a:avLst/>
          </a:prstGeom>
          <a:solidFill>
            <a:srgbClr val="D97706">
              <a:alpha val="8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9" name="PlaceHolder 1"/>
          <p:cNvSpPr>
            <a:spLocks noGrp="1"/>
          </p:cNvSpPr>
          <p:nvPr>
            <p:ph type="sldNum" idx="52"/>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3904FF42-E4A4-44A5-86A7-3B12DFCDB941}"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49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What a 95% interval does not mean</a:t>
            </a:r>
            <a:endParaRPr lang="en-US" sz="3200" b="0" u="none" strike="noStrike">
              <a:solidFill>
                <a:srgbClr val="000000"/>
              </a:solidFill>
              <a:effectLst/>
              <a:uFillTx/>
              <a:latin typeface="Arial"/>
            </a:endParaRPr>
          </a:p>
        </p:txBody>
      </p:sp>
      <p:sp>
        <p:nvSpPr>
          <p:cNvPr id="49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493" name="Shape 3"/>
          <p:cNvSpPr/>
          <p:nvPr/>
        </p:nvSpPr>
        <p:spPr>
          <a:xfrm>
            <a:off x="548640" y="146304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4" name="Shape 4"/>
          <p:cNvSpPr/>
          <p:nvPr/>
        </p:nvSpPr>
        <p:spPr>
          <a:xfrm>
            <a:off x="786240" y="19076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5" name="Text 5"/>
          <p:cNvSpPr/>
          <p:nvPr/>
        </p:nvSpPr>
        <p:spPr>
          <a:xfrm>
            <a:off x="1234440" y="146304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It is not a 95% probability that the true value lies inside this one interval.</a:t>
            </a:r>
            <a:endParaRPr lang="en-US" sz="2530" b="0" u="none" strike="noStrike">
              <a:solidFill>
                <a:srgbClr val="000000"/>
              </a:solidFill>
              <a:effectLst/>
              <a:uFillTx/>
              <a:latin typeface="Arial"/>
            </a:endParaRPr>
          </a:p>
        </p:txBody>
      </p:sp>
      <p:sp>
        <p:nvSpPr>
          <p:cNvPr id="496" name="Shape 6"/>
          <p:cNvSpPr/>
          <p:nvPr/>
        </p:nvSpPr>
        <p:spPr>
          <a:xfrm>
            <a:off x="548640" y="262224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7" name="Shape 7"/>
          <p:cNvSpPr/>
          <p:nvPr/>
        </p:nvSpPr>
        <p:spPr>
          <a:xfrm>
            <a:off x="786240" y="28612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8" name="Text 8"/>
          <p:cNvSpPr/>
          <p:nvPr/>
        </p:nvSpPr>
        <p:spPr>
          <a:xfrm>
            <a:off x="1234440" y="262224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It does not say the effect is causal.</a:t>
            </a:r>
            <a:endParaRPr lang="en-US" sz="2530" b="0" u="none" strike="noStrike">
              <a:solidFill>
                <a:srgbClr val="000000"/>
              </a:solidFill>
              <a:effectLst/>
              <a:uFillTx/>
              <a:latin typeface="Arial"/>
            </a:endParaRPr>
          </a:p>
        </p:txBody>
      </p:sp>
      <p:sp>
        <p:nvSpPr>
          <p:cNvPr id="499" name="Shape 9"/>
          <p:cNvSpPr/>
          <p:nvPr/>
        </p:nvSpPr>
        <p:spPr>
          <a:xfrm>
            <a:off x="548640" y="336996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0" name="Shape 10"/>
          <p:cNvSpPr/>
          <p:nvPr/>
        </p:nvSpPr>
        <p:spPr>
          <a:xfrm>
            <a:off x="786240" y="360900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1" name="Text 11"/>
          <p:cNvSpPr/>
          <p:nvPr/>
        </p:nvSpPr>
        <p:spPr>
          <a:xfrm>
            <a:off x="1234440" y="336996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It does not say the effect will appear in another season.</a:t>
            </a:r>
            <a:endParaRPr lang="en-US" sz="2530" b="0" u="none" strike="noStrike">
              <a:solidFill>
                <a:srgbClr val="000000"/>
              </a:solidFill>
              <a:effectLst/>
              <a:uFillTx/>
              <a:latin typeface="Arial"/>
            </a:endParaRPr>
          </a:p>
        </p:txBody>
      </p:sp>
      <p:sp>
        <p:nvSpPr>
          <p:cNvPr id="502" name="Shape 12"/>
          <p:cNvSpPr/>
          <p:nvPr/>
        </p:nvSpPr>
        <p:spPr>
          <a:xfrm>
            <a:off x="548640" y="4117680"/>
            <a:ext cx="11091240" cy="1053360"/>
          </a:xfrm>
          <a:prstGeom prst="roundRect">
            <a:avLst>
              <a:gd name="adj" fmla="val 694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3" name="Shape 13"/>
          <p:cNvSpPr/>
          <p:nvPr/>
        </p:nvSpPr>
        <p:spPr>
          <a:xfrm>
            <a:off x="786240" y="45622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4" name="Text 14"/>
          <p:cNvSpPr/>
          <p:nvPr/>
        </p:nvSpPr>
        <p:spPr>
          <a:xfrm>
            <a:off x="1234440" y="4117680"/>
            <a:ext cx="10222560" cy="10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With 17 matches, even the cluster bootstrap is approximate. Few clusters make percentile intervals too optimistic.</a:t>
            </a:r>
            <a:endParaRPr lang="en-US" sz="2530" b="0" u="none" strike="noStrike">
              <a:solidFill>
                <a:srgbClr val="000000"/>
              </a:solidFill>
              <a:effectLst/>
              <a:uFillTx/>
              <a:latin typeface="Arial"/>
            </a:endParaRPr>
          </a:p>
        </p:txBody>
      </p:sp>
      <p:sp>
        <p:nvSpPr>
          <p:cNvPr id="505" name="PlaceHolder 1"/>
          <p:cNvSpPr>
            <a:spLocks noGrp="1"/>
          </p:cNvSpPr>
          <p:nvPr>
            <p:ph type="sldNum" idx="53"/>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D7CFB1AD-AD35-4774-BD14-3E8D07FCD010}"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6"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507"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Analyst choices</a:t>
            </a:r>
            <a:endParaRPr lang="en-US" sz="3200" b="0" u="none" strike="noStrike">
              <a:solidFill>
                <a:srgbClr val="000000"/>
              </a:solidFill>
              <a:effectLst/>
              <a:uFillTx/>
              <a:latin typeface="Arial"/>
            </a:endParaRPr>
          </a:p>
        </p:txBody>
      </p:sp>
      <p:sp>
        <p:nvSpPr>
          <p:cNvPr id="508"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graphicFrame>
        <p:nvGraphicFramePr>
          <p:cNvPr id="509" name="Table 0"/>
          <p:cNvGraphicFramePr/>
          <p:nvPr/>
        </p:nvGraphicFramePr>
        <p:xfrm>
          <a:off x="548640" y="1463040"/>
          <a:ext cx="11091240" cy="2010600"/>
        </p:xfrm>
        <a:graphic>
          <a:graphicData uri="http://schemas.openxmlformats.org/drawingml/2006/table">
            <a:tbl>
              <a:tblPr/>
              <a:tblGrid>
                <a:gridCol w="5059080"/>
                <a:gridCol w="2918520"/>
                <a:gridCol w="3113280"/>
              </a:tblGrid>
              <a:tr h="0">
                <a:tc>
                  <a:txBody>
                    <a:bodyPr anchor="ctr">
                      <a:noAutofit/>
                    </a:bodyPr>
                    <a:p>
                      <a:pPr algn="r" defTabSz="914400">
                        <a:lnSpc>
                          <a:spcPct val="100000"/>
                        </a:lnSpc>
                        <a:tabLst>
                          <a:tab pos="0" algn="l"/>
                        </a:tabLst>
                      </a:pPr>
                      <a:r>
                        <a:rPr lang="en-US" sz="2040" b="1" u="none" strike="noStrike">
                          <a:solidFill>
                            <a:srgbClr val="FFFFFF"/>
                          </a:solidFill>
                          <a:effectLst/>
                          <a:uFillTx/>
                          <a:latin typeface="Calibri"/>
                          <a:ea typeface="Calibri"/>
                        </a:rPr>
                        <a:t>Death phase starts at over</a:t>
                      </a:r>
                      <a:endParaRPr lang="en-US" sz="204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040" b="1" u="none" strike="noStrike">
                          <a:solidFill>
                            <a:srgbClr val="FFFFFF"/>
                          </a:solidFill>
                          <a:effectLst/>
                          <a:uFillTx/>
                          <a:latin typeface="Calibri"/>
                          <a:ea typeface="Calibri"/>
                        </a:rPr>
                        <a:t>Mean difference</a:t>
                      </a:r>
                      <a:endParaRPr lang="en-US" sz="204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algn="r" defTabSz="914400">
                        <a:lnSpc>
                          <a:spcPct val="100000"/>
                        </a:lnSpc>
                        <a:tabLst>
                          <a:tab pos="0" algn="l"/>
                        </a:tabLst>
                      </a:pPr>
                      <a:r>
                        <a:rPr lang="en-US" sz="2040" b="1" u="none" strike="noStrike">
                          <a:solidFill>
                            <a:srgbClr val="FFFFFF"/>
                          </a:solidFill>
                          <a:effectLst/>
                          <a:uFillTx/>
                          <a:latin typeface="Calibri"/>
                          <a:ea typeface="Calibri"/>
                        </a:rPr>
                        <a:t>15-plus gap (pp)</a:t>
                      </a:r>
                      <a:endParaRPr lang="en-US" sz="2040"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14</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-0.00</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+7.3</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15</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+0.41</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+15.3</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16</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+0.24</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+16.9</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17</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+0.42</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algn="r" defTabSz="914400">
                        <a:lnSpc>
                          <a:spcPct val="100000"/>
                        </a:lnSpc>
                        <a:tabLst>
                          <a:tab pos="0" algn="l"/>
                        </a:tabLst>
                      </a:pPr>
                      <a:r>
                        <a:rPr lang="en-US" sz="2040" b="0" u="none" strike="noStrike">
                          <a:solidFill>
                            <a:srgbClr val="172333"/>
                          </a:solidFill>
                          <a:effectLst/>
                          <a:uFillTx/>
                          <a:latin typeface="Calibri"/>
                          <a:ea typeface="Calibri"/>
                        </a:rPr>
                        <a:t>+17.1</a:t>
                      </a:r>
                      <a:endParaRPr lang="en-US" sz="2040"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bl>
          </a:graphicData>
        </a:graphic>
      </p:graphicFrame>
      <p:sp>
        <p:nvSpPr>
          <p:cNvPr id="510" name="Text 3"/>
          <p:cNvSpPr/>
          <p:nvPr/>
        </p:nvSpPr>
        <p:spPr>
          <a:xfrm>
            <a:off x="548640" y="4295160"/>
            <a:ext cx="11091240" cy="1779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570" b="0" u="none" strike="noStrike">
                <a:solidFill>
                  <a:srgbClr val="172333"/>
                </a:solidFill>
                <a:effectLst/>
                <a:uFillTx/>
                <a:latin typeface="Calibri"/>
                <a:ea typeface="Calibri"/>
              </a:rPr>
              <a:t>The tail gap stays positive; the mean gap moves and nearly vanishes. Full robustness work (specification curves, influence, alternative explanations) is Week 14. This slide is the reason it exists.</a:t>
            </a:r>
            <a:endParaRPr lang="en-US" sz="2570" b="0" u="none" strike="noStrike">
              <a:solidFill>
                <a:srgbClr val="000000"/>
              </a:solidFill>
              <a:effectLst/>
              <a:uFillTx/>
              <a:latin typeface="Arial"/>
            </a:endParaRPr>
          </a:p>
        </p:txBody>
      </p:sp>
      <p:sp>
        <p:nvSpPr>
          <p:cNvPr id="511" name="PlaceHolder 1"/>
          <p:cNvSpPr>
            <a:spLocks noGrp="1"/>
          </p:cNvSpPr>
          <p:nvPr>
            <p:ph type="sldNum" idx="54"/>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75BABF59-318A-44DF-BBA2-5F188CD5D59B}"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2"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4 · HOW SURE ARE WE?</a:t>
            </a:r>
            <a:endParaRPr lang="en-US" sz="1100" b="0" u="none" strike="noStrike">
              <a:solidFill>
                <a:srgbClr val="000000"/>
              </a:solidFill>
              <a:effectLst/>
              <a:uFillTx/>
              <a:latin typeface="Arial"/>
            </a:endParaRPr>
          </a:p>
        </p:txBody>
      </p:sp>
      <p:sp>
        <p:nvSpPr>
          <p:cNvPr id="513"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claim ladder</a:t>
            </a:r>
            <a:endParaRPr lang="en-US" sz="3200" b="0" u="none" strike="noStrike">
              <a:solidFill>
                <a:srgbClr val="000000"/>
              </a:solidFill>
              <a:effectLst/>
              <a:uFillTx/>
              <a:latin typeface="Arial"/>
            </a:endParaRPr>
          </a:p>
        </p:txBody>
      </p:sp>
      <p:sp>
        <p:nvSpPr>
          <p:cNvPr id="514"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515" name="Shape 3"/>
          <p:cNvSpPr/>
          <p:nvPr/>
        </p:nvSpPr>
        <p:spPr>
          <a:xfrm>
            <a:off x="10149840" y="347400"/>
            <a:ext cx="1490040" cy="328680"/>
          </a:xfrm>
          <a:prstGeom prst="roundRect">
            <a:avLst>
              <a:gd name="adj" fmla="val 50000"/>
            </a:avLst>
          </a:prstGeom>
          <a:solidFill>
            <a:srgbClr val="143E59"/>
          </a:solidFill>
          <a:ln w="12700">
            <a:solidFill>
              <a:srgbClr val="143E59"/>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6" name="Text 4"/>
          <p:cNvSpPr/>
          <p:nvPr/>
        </p:nvSpPr>
        <p:spPr>
          <a:xfrm>
            <a:off x="10149840" y="347400"/>
            <a:ext cx="1490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CLAIM LEDGER</a:t>
            </a:r>
            <a:endParaRPr lang="en-US" sz="1100" b="0" u="none" strike="noStrike">
              <a:solidFill>
                <a:srgbClr val="000000"/>
              </a:solidFill>
              <a:effectLst/>
              <a:uFillTx/>
              <a:latin typeface="Arial"/>
            </a:endParaRPr>
          </a:p>
        </p:txBody>
      </p:sp>
      <p:graphicFrame>
        <p:nvGraphicFramePr>
          <p:cNvPr id="517" name="Table 0"/>
          <p:cNvGraphicFramePr/>
          <p:nvPr/>
        </p:nvGraphicFramePr>
        <p:xfrm>
          <a:off x="548640" y="1463040"/>
          <a:ext cx="11091240" cy="2843280"/>
        </p:xfrm>
        <a:graphic>
          <a:graphicData uri="http://schemas.openxmlformats.org/drawingml/2006/table">
            <a:tbl>
              <a:tblPr/>
              <a:tblGrid>
                <a:gridCol w="2986200"/>
                <a:gridCol w="5403600"/>
                <a:gridCol w="2701800"/>
              </a:tblGrid>
              <a:tr h="0">
                <a:tc>
                  <a:txBody>
                    <a:bodyPr anchor="ctr">
                      <a:noAutofit/>
                    </a:bodyPr>
                    <a:p>
                      <a:pPr defTabSz="914400">
                        <a:lnSpc>
                          <a:spcPct val="100000"/>
                        </a:lnSpc>
                        <a:tabLst>
                          <a:tab pos="0" algn="l"/>
                        </a:tabLst>
                      </a:pPr>
                      <a:r>
                        <a:rPr lang="en-US" sz="1879" b="1" u="none" strike="noStrike">
                          <a:solidFill>
                            <a:srgbClr val="FFFFFF"/>
                          </a:solidFill>
                          <a:effectLst/>
                          <a:uFillTx/>
                          <a:latin typeface="Calibri"/>
                          <a:ea typeface="Calibri"/>
                        </a:rPr>
                        <a:t>Rung</a:t>
                      </a:r>
                      <a:endParaRPr lang="en-US" sz="1879"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1879" b="1" u="none" strike="noStrike">
                          <a:solidFill>
                            <a:srgbClr val="FFFFFF"/>
                          </a:solidFill>
                          <a:effectLst/>
                          <a:uFillTx/>
                          <a:latin typeface="Calibri"/>
                          <a:ea typeface="Calibri"/>
                        </a:rPr>
                        <a:t>Statement</a:t>
                      </a:r>
                      <a:endParaRPr lang="en-US" sz="1879"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c>
                  <a:txBody>
                    <a:bodyPr anchor="ctr">
                      <a:noAutofit/>
                    </a:bodyPr>
                    <a:p>
                      <a:pPr defTabSz="914400">
                        <a:lnSpc>
                          <a:spcPct val="100000"/>
                        </a:lnSpc>
                        <a:tabLst>
                          <a:tab pos="0" algn="l"/>
                        </a:tabLst>
                      </a:pPr>
                      <a:r>
                        <a:rPr lang="en-US" sz="1879" b="1" u="none" strike="noStrike">
                          <a:solidFill>
                            <a:srgbClr val="FFFFFF"/>
                          </a:solidFill>
                          <a:effectLst/>
                          <a:uFillTx/>
                          <a:latin typeface="Calibri"/>
                          <a:ea typeface="Calibri"/>
                        </a:rPr>
                        <a:t>Supported here?</a:t>
                      </a:r>
                      <a:endParaRPr lang="en-US" sz="1879" b="0" u="none" strike="noStrike">
                        <a:solidFill>
                          <a:srgbClr val="FFFFFF"/>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143E59"/>
                    </a:solidFill>
                  </a:tcPr>
                </a:tc>
              </a:tr>
              <a:tr h="0">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Archive description</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Peshawar reached 15+ more often in these overs</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yes, exact</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Distributional detail</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Same mean and median; more low and more high overs</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yes, exact</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Process inference</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Peshawar would repeat a higher 15+ rate in new matches</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weak; interval wide</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r h="0">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Generalization</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The pattern holds across seasons</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not tested</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EEF5F8"/>
                    </a:solidFill>
                  </a:tcPr>
                </a:tc>
              </a:tr>
              <a:tr h="0">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Causal explanation</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Its strategy causes explosive overs</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c>
                  <a:txBody>
                    <a:bodyPr anchor="ctr">
                      <a:noAutofit/>
                    </a:bodyPr>
                    <a:p>
                      <a:pPr defTabSz="914400">
                        <a:lnSpc>
                          <a:spcPct val="100000"/>
                        </a:lnSpc>
                        <a:tabLst>
                          <a:tab pos="0" algn="l"/>
                        </a:tabLst>
                      </a:pPr>
                      <a:r>
                        <a:rPr lang="en-US" sz="1879" b="0" u="none" strike="noStrike">
                          <a:solidFill>
                            <a:srgbClr val="172333"/>
                          </a:solidFill>
                          <a:effectLst/>
                          <a:uFillTx/>
                          <a:latin typeface="Calibri"/>
                          <a:ea typeface="Calibri"/>
                        </a:rPr>
                        <a:t>not supported</a:t>
                      </a:r>
                      <a:endParaRPr lang="en-US" sz="1879" b="0" u="none" strike="noStrike">
                        <a:solidFill>
                          <a:srgbClr val="000000"/>
                        </a:solidFill>
                        <a:effectLst/>
                        <a:uFillTx/>
                        <a:latin typeface="Arial"/>
                      </a:endParaRPr>
                    </a:p>
                  </a:txBody>
                  <a:tcPr anchor="ctr" marL="91440" marR="91440" marT="45720" marB="45720">
                    <a:lnL w="9360">
                      <a:solidFill>
                        <a:srgbClr val="D5DEE4"/>
                      </a:solidFill>
                      <a:prstDash val="solid"/>
                    </a:lnL>
                    <a:lnR w="9360">
                      <a:solidFill>
                        <a:srgbClr val="D5DEE4"/>
                      </a:solidFill>
                      <a:prstDash val="solid"/>
                    </a:lnR>
                    <a:lnT w="9360">
                      <a:solidFill>
                        <a:srgbClr val="D5DEE4"/>
                      </a:solidFill>
                      <a:prstDash val="solid"/>
                    </a:lnT>
                    <a:lnB w="9360">
                      <a:solidFill>
                        <a:srgbClr val="D5DEE4"/>
                      </a:solidFill>
                      <a:prstDash val="solid"/>
                    </a:lnB>
                    <a:solidFill>
                      <a:srgbClr val="FFFFFF"/>
                    </a:solidFill>
                  </a:tcPr>
                </a:tc>
              </a:tr>
            </a:tbl>
          </a:graphicData>
        </a:graphic>
      </p:graphicFrame>
      <p:sp>
        <p:nvSpPr>
          <p:cNvPr id="518" name="Text 5"/>
          <p:cNvSpPr/>
          <p:nvPr/>
        </p:nvSpPr>
        <p:spPr>
          <a:xfrm>
            <a:off x="548640" y="5577480"/>
            <a:ext cx="1109124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380" b="1" u="none" strike="noStrike">
                <a:solidFill>
                  <a:srgbClr val="172333"/>
                </a:solidFill>
                <a:effectLst/>
                <a:uFillTx/>
                <a:latin typeface="Calibri"/>
                <a:ea typeface="Calibri"/>
              </a:rPr>
              <a:t>Language stops where the design stops.</a:t>
            </a:r>
            <a:endParaRPr lang="en-US" sz="2380" b="0" u="none" strike="noStrike">
              <a:solidFill>
                <a:srgbClr val="000000"/>
              </a:solidFill>
              <a:effectLst/>
              <a:uFillTx/>
              <a:latin typeface="Arial"/>
            </a:endParaRPr>
          </a:p>
        </p:txBody>
      </p:sp>
      <p:sp>
        <p:nvSpPr>
          <p:cNvPr id="519" name="PlaceHolder 1"/>
          <p:cNvSpPr>
            <a:spLocks noGrp="1"/>
          </p:cNvSpPr>
          <p:nvPr>
            <p:ph type="sldNum" idx="55"/>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2B8FCBF4-A121-45F8-BC3D-40B79F2EF7AE}"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3E59"/>
        </a:solidFill>
      </p:bgPr>
    </p:bg>
    <p:spTree>
      <p:nvGrpSpPr>
        <p:cNvPr id="1" name=""/>
        <p:cNvGrpSpPr/>
        <p:nvPr/>
      </p:nvGrpSpPr>
      <p:grpSpPr>
        <a:xfrm>
          <a:off x="0" y="0"/>
          <a:ext cx="0" cy="0"/>
          <a:chOff x="0" y="0"/>
          <a:chExt cx="0" cy="0"/>
        </a:xfrm>
      </p:grpSpPr>
      <p:sp>
        <p:nvSpPr>
          <p:cNvPr id="520" name="Shape 0"/>
          <p:cNvSpPr/>
          <p:nvPr/>
        </p:nvSpPr>
        <p:spPr>
          <a:xfrm>
            <a:off x="8595360" y="1097280"/>
            <a:ext cx="3017160" cy="3017160"/>
          </a:xfrm>
          <a:prstGeom prst="ellipse">
            <a:avLst/>
          </a:prstGeom>
          <a:solidFill>
            <a:srgbClr val="1F6F8B">
              <a:alpha val="75000"/>
            </a:srgbClr>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1" name="Shape 1"/>
          <p:cNvSpPr/>
          <p:nvPr/>
        </p:nvSpPr>
        <p:spPr>
          <a:xfrm>
            <a:off x="10466280" y="1942200"/>
            <a:ext cx="2413800" cy="2413800"/>
          </a:xfrm>
          <a:prstGeom prst="ellipse">
            <a:avLst/>
          </a:prstGeom>
          <a:solidFill>
            <a:srgbClr val="D97706">
              <a:alpha val="6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2" name="Text 2"/>
          <p:cNvSpPr/>
          <p:nvPr/>
        </p:nvSpPr>
        <p:spPr>
          <a:xfrm>
            <a:off x="731520" y="219456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pc="499" strike="noStrike">
                <a:solidFill>
                  <a:srgbClr val="D97706"/>
                </a:solidFill>
                <a:effectLst/>
                <a:uFillTx/>
                <a:latin typeface="Calibri"/>
                <a:ea typeface="Calibri"/>
              </a:rPr>
              <a:t>ACT 5</a:t>
            </a:r>
            <a:endParaRPr lang="en-US" sz="2000" b="0" u="none" strike="noStrike">
              <a:solidFill>
                <a:srgbClr val="FFFFFF"/>
              </a:solidFill>
              <a:effectLst/>
              <a:uFillTx/>
              <a:latin typeface="Arial"/>
            </a:endParaRPr>
          </a:p>
        </p:txBody>
      </p:sp>
      <p:sp>
        <p:nvSpPr>
          <p:cNvPr id="523" name="Text 3"/>
          <p:cNvSpPr/>
          <p:nvPr/>
        </p:nvSpPr>
        <p:spPr>
          <a:xfrm>
            <a:off x="731520" y="2697480"/>
            <a:ext cx="74977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600" b="1" u="none" strike="noStrike">
                <a:solidFill>
                  <a:srgbClr val="FFFFFF"/>
                </a:solidFill>
                <a:effectLst/>
                <a:uFillTx/>
                <a:latin typeface="Cambria"/>
                <a:ea typeface="Cambria"/>
              </a:rPr>
              <a:t>What can we defend?</a:t>
            </a:r>
            <a:endParaRPr lang="en-US" sz="4600" b="0" u="none" strike="noStrike">
              <a:solidFill>
                <a:srgbClr val="FFFFFF"/>
              </a:solidFill>
              <a:effectLst/>
              <a:uFillTx/>
              <a:latin typeface="Arial"/>
            </a:endParaRPr>
          </a:p>
        </p:txBody>
      </p:sp>
      <p:sp>
        <p:nvSpPr>
          <p:cNvPr id="524" name="Text 4"/>
          <p:cNvSpPr/>
          <p:nvPr/>
        </p:nvSpPr>
        <p:spPr>
          <a:xfrm>
            <a:off x="731520" y="4114800"/>
            <a:ext cx="71319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i="1" u="none" strike="noStrike">
                <a:solidFill>
                  <a:srgbClr val="CADCFC"/>
                </a:solidFill>
                <a:effectLst/>
                <a:uFillTx/>
                <a:latin typeface="Calibri"/>
                <a:ea typeface="Calibri"/>
              </a:rPr>
              <a:t>What can we defend?</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5"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526"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Anonymous evidence audit</a:t>
            </a:r>
            <a:endParaRPr lang="en-US" sz="3200" b="0" u="none" strike="noStrike">
              <a:solidFill>
                <a:srgbClr val="000000"/>
              </a:solidFill>
              <a:effectLst/>
              <a:uFillTx/>
              <a:latin typeface="Arial"/>
            </a:endParaRPr>
          </a:p>
        </p:txBody>
      </p:sp>
      <p:sp>
        <p:nvSpPr>
          <p:cNvPr id="527"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528" name="Shape 3"/>
          <p:cNvSpPr/>
          <p:nvPr/>
        </p:nvSpPr>
        <p:spPr>
          <a:xfrm>
            <a:off x="9939600" y="347400"/>
            <a:ext cx="1700280" cy="32868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9" name="Text 4"/>
          <p:cNvSpPr/>
          <p:nvPr/>
        </p:nvSpPr>
        <p:spPr>
          <a:xfrm>
            <a:off x="9939600" y="347400"/>
            <a:ext cx="17002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CLASS ACTIVITY</a:t>
            </a:r>
            <a:endParaRPr lang="en-US" sz="1100" b="0" u="none" strike="noStrike">
              <a:solidFill>
                <a:srgbClr val="000000"/>
              </a:solidFill>
              <a:effectLst/>
              <a:uFillTx/>
              <a:latin typeface="Arial"/>
            </a:endParaRPr>
          </a:p>
        </p:txBody>
      </p:sp>
      <p:sp>
        <p:nvSpPr>
          <p:cNvPr id="530" name="Text 5"/>
          <p:cNvSpPr/>
          <p:nvPr/>
        </p:nvSpPr>
        <p:spPr>
          <a:xfrm>
            <a:off x="548640" y="1463040"/>
            <a:ext cx="11091240" cy="122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0" u="none" strike="noStrike">
                <a:solidFill>
                  <a:srgbClr val="172333"/>
                </a:solidFill>
                <a:effectLst/>
                <a:uFillTx/>
                <a:latin typeface="Calibri"/>
                <a:ea typeface="Calibri"/>
              </a:rPr>
              <a:t>Two anonymous groups, Group A and Group B, have similar averages in a phase of </a:t>
            </a:r>
            <a:r>
              <a:rPr lang="en-US" sz="2280" b="0" u="none" strike="noStrike">
                <a:solidFill>
                  <a:srgbClr val="172333"/>
                </a:solidFill>
                <a:effectLst/>
                <a:uFillTx/>
                <a:latin typeface="Calibri"/>
                <a:ea typeface="Calibri"/>
              </a:rPr>
              <a:t>play. An analyst claims Group A has a reliably more explosive strategy.</a:t>
            </a:r>
            <a:endParaRPr lang="en-US" sz="2280" b="0" u="none" strike="noStrike">
              <a:solidFill>
                <a:srgbClr val="000000"/>
              </a:solidFill>
              <a:effectLst/>
              <a:uFillTx/>
              <a:latin typeface="Arial"/>
            </a:endParaRPr>
          </a:p>
        </p:txBody>
      </p:sp>
      <p:sp>
        <p:nvSpPr>
          <p:cNvPr id="531" name="Text 6"/>
          <p:cNvSpPr/>
          <p:nvPr/>
        </p:nvSpPr>
        <p:spPr>
          <a:xfrm>
            <a:off x="548640" y="2867400"/>
            <a:ext cx="11091240" cy="479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0" u="none" strike="noStrike">
                <a:solidFill>
                  <a:srgbClr val="172333"/>
                </a:solidFill>
                <a:effectLst/>
                <a:uFillTx/>
                <a:latin typeface="Calibri"/>
                <a:ea typeface="Calibri"/>
              </a:rPr>
              <a:t>Groups of three:</a:t>
            </a:r>
            <a:endParaRPr lang="en-US" sz="2280" b="0" u="none" strike="noStrike">
              <a:solidFill>
                <a:srgbClr val="000000"/>
              </a:solidFill>
              <a:effectLst/>
              <a:uFillTx/>
              <a:latin typeface="Arial"/>
            </a:endParaRPr>
          </a:p>
        </p:txBody>
      </p:sp>
      <p:sp>
        <p:nvSpPr>
          <p:cNvPr id="532" name="Shape 7"/>
          <p:cNvSpPr/>
          <p:nvPr/>
        </p:nvSpPr>
        <p:spPr>
          <a:xfrm>
            <a:off x="548640" y="3530880"/>
            <a:ext cx="11091240" cy="530640"/>
          </a:xfrm>
          <a:prstGeom prst="roundRect">
            <a:avLst>
              <a:gd name="adj" fmla="val 13780"/>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3" name="Shape 8"/>
          <p:cNvSpPr/>
          <p:nvPr/>
        </p:nvSpPr>
        <p:spPr>
          <a:xfrm>
            <a:off x="786240" y="371376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4" name="Text 9"/>
          <p:cNvSpPr/>
          <p:nvPr/>
        </p:nvSpPr>
        <p:spPr>
          <a:xfrm>
            <a:off x="1234440" y="3530880"/>
            <a:ext cx="10222560" cy="530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90" b="1" u="none" strike="noStrike">
                <a:solidFill>
                  <a:srgbClr val="172333"/>
                </a:solidFill>
                <a:effectLst/>
                <a:uFillTx/>
                <a:latin typeface="Calibri"/>
                <a:ea typeface="Calibri"/>
              </a:rPr>
              <a:t>Analyst</a:t>
            </a:r>
            <a:r>
              <a:rPr lang="en-US" sz="2090" b="1" u="none" strike="noStrike">
                <a:solidFill>
                  <a:srgbClr val="172333"/>
                </a:solidFill>
                <a:effectLst/>
                <a:uFillTx/>
                <a:latin typeface="Calibri"/>
                <a:ea typeface="Calibri"/>
              </a:rPr>
              <a:t>:</a:t>
            </a:r>
            <a:r>
              <a:rPr lang="en-US" sz="2090" b="0" u="none" strike="noStrike">
                <a:solidFill>
                  <a:srgbClr val="172333"/>
                </a:solidFill>
                <a:effectLst/>
                <a:uFillTx/>
                <a:latin typeface="Calibri"/>
                <a:ea typeface="Calibri"/>
              </a:rPr>
              <a:t> states </a:t>
            </a:r>
            <a:r>
              <a:rPr lang="en-US" sz="2090" b="0" u="none" strike="noStrike">
                <a:solidFill>
                  <a:srgbClr val="172333"/>
                </a:solidFill>
                <a:effectLst/>
                <a:uFillTx/>
                <a:latin typeface="Calibri"/>
                <a:ea typeface="Calibri"/>
              </a:rPr>
              <a:t>the </a:t>
            </a:r>
            <a:r>
              <a:rPr lang="en-US" sz="2090" b="0" u="none" strike="noStrike">
                <a:solidFill>
                  <a:srgbClr val="172333"/>
                </a:solidFill>
                <a:effectLst/>
                <a:uFillTx/>
                <a:latin typeface="Calibri"/>
                <a:ea typeface="Calibri"/>
              </a:rPr>
              <a:t>original </a:t>
            </a:r>
            <a:r>
              <a:rPr lang="en-US" sz="2090" b="0" u="none" strike="noStrike">
                <a:solidFill>
                  <a:srgbClr val="172333"/>
                </a:solidFill>
                <a:effectLst/>
                <a:uFillTx/>
                <a:latin typeface="Calibri"/>
                <a:ea typeface="Calibri"/>
              </a:rPr>
              <a:t>claim.</a:t>
            </a:r>
            <a:endParaRPr lang="en-US" sz="2090" b="0" u="none" strike="noStrike">
              <a:solidFill>
                <a:srgbClr val="000000"/>
              </a:solidFill>
              <a:effectLst/>
              <a:uFillTx/>
              <a:latin typeface="Arial"/>
            </a:endParaRPr>
          </a:p>
        </p:txBody>
      </p:sp>
      <p:sp>
        <p:nvSpPr>
          <p:cNvPr id="535" name="Shape 10"/>
          <p:cNvSpPr/>
          <p:nvPr/>
        </p:nvSpPr>
        <p:spPr>
          <a:xfrm>
            <a:off x="548640" y="4148640"/>
            <a:ext cx="11091240" cy="530640"/>
          </a:xfrm>
          <a:prstGeom prst="roundRect">
            <a:avLst>
              <a:gd name="adj" fmla="val 13780"/>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6" name="Shape 11"/>
          <p:cNvSpPr/>
          <p:nvPr/>
        </p:nvSpPr>
        <p:spPr>
          <a:xfrm>
            <a:off x="786240" y="433152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7" name="Text 12"/>
          <p:cNvSpPr/>
          <p:nvPr/>
        </p:nvSpPr>
        <p:spPr>
          <a:xfrm>
            <a:off x="1234440" y="4148640"/>
            <a:ext cx="10222560" cy="530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90" b="1" u="none" strike="noStrike">
                <a:solidFill>
                  <a:srgbClr val="172333"/>
                </a:solidFill>
                <a:effectLst/>
                <a:uFillTx/>
                <a:latin typeface="Calibri"/>
                <a:ea typeface="Calibri"/>
              </a:rPr>
              <a:t>Auditor:</a:t>
            </a:r>
            <a:r>
              <a:rPr lang="en-US" sz="2090" b="0" u="none" strike="noStrike">
                <a:solidFill>
                  <a:srgbClr val="172333"/>
                </a:solidFill>
                <a:effectLst/>
                <a:uFillTx/>
                <a:latin typeface="Calibri"/>
                <a:ea typeface="Calibri"/>
              </a:rPr>
              <a:t> identifies the estimand and the dependence problem.</a:t>
            </a:r>
            <a:endParaRPr lang="en-US" sz="2090" b="0" u="none" strike="noStrike">
              <a:solidFill>
                <a:srgbClr val="000000"/>
              </a:solidFill>
              <a:effectLst/>
              <a:uFillTx/>
              <a:latin typeface="Arial"/>
            </a:endParaRPr>
          </a:p>
        </p:txBody>
      </p:sp>
      <p:sp>
        <p:nvSpPr>
          <p:cNvPr id="538" name="Shape 13"/>
          <p:cNvSpPr/>
          <p:nvPr/>
        </p:nvSpPr>
        <p:spPr>
          <a:xfrm>
            <a:off x="548640" y="4766400"/>
            <a:ext cx="11091240" cy="530640"/>
          </a:xfrm>
          <a:prstGeom prst="roundRect">
            <a:avLst>
              <a:gd name="adj" fmla="val 13780"/>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9" name="Shape 14"/>
          <p:cNvSpPr/>
          <p:nvPr/>
        </p:nvSpPr>
        <p:spPr>
          <a:xfrm>
            <a:off x="786240" y="49492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0" name="Text 15"/>
          <p:cNvSpPr/>
          <p:nvPr/>
        </p:nvSpPr>
        <p:spPr>
          <a:xfrm>
            <a:off x="1234440" y="4766400"/>
            <a:ext cx="10222560" cy="530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90" b="1" u="none" strike="noStrike">
                <a:solidFill>
                  <a:srgbClr val="172333"/>
                </a:solidFill>
                <a:effectLst/>
                <a:uFillTx/>
                <a:latin typeface="Calibri"/>
                <a:ea typeface="Calibri"/>
              </a:rPr>
              <a:t>Reviewer:</a:t>
            </a:r>
            <a:r>
              <a:rPr lang="en-US" sz="2090" b="0" u="none" strike="noStrike">
                <a:solidFill>
                  <a:srgbClr val="172333"/>
                </a:solidFill>
                <a:effectLst/>
                <a:uFillTx/>
                <a:latin typeface="Calibri"/>
                <a:ea typeface="Calibri"/>
              </a:rPr>
              <a:t> decides which claim survives.</a:t>
            </a:r>
            <a:endParaRPr lang="en-US" sz="2090" b="0" u="none" strike="noStrike">
              <a:solidFill>
                <a:srgbClr val="000000"/>
              </a:solidFill>
              <a:effectLst/>
              <a:uFillTx/>
              <a:latin typeface="Arial"/>
            </a:endParaRPr>
          </a:p>
        </p:txBody>
      </p:sp>
      <p:sp>
        <p:nvSpPr>
          <p:cNvPr id="541" name="Text 16"/>
          <p:cNvSpPr/>
          <p:nvPr/>
        </p:nvSpPr>
        <p:spPr>
          <a:xfrm>
            <a:off x="548640" y="5511960"/>
            <a:ext cx="11091240" cy="479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0" u="none" strike="noStrike">
                <a:solidFill>
                  <a:srgbClr val="172333"/>
                </a:solidFill>
                <a:effectLst/>
                <a:uFillTx/>
                <a:latin typeface="Calibri"/>
                <a:ea typeface="Calibri"/>
              </a:rPr>
              <a:t>Materials: </a:t>
            </a:r>
            <a:r>
              <a:rPr lang="en-US" sz="2280" b="0" u="none" strike="noStrike">
                <a:solidFill>
                  <a:srgbClr val="172333"/>
                </a:solidFill>
                <a:effectLst/>
                <a:uFillTx/>
                <a:latin typeface="Courier New"/>
                <a:ea typeface="Courier New"/>
              </a:rPr>
              <a:t>evidence_pack.md</a:t>
            </a:r>
            <a:r>
              <a:rPr lang="en-US" sz="2280" b="0" u="none" strike="noStrike">
                <a:solidFill>
                  <a:srgbClr val="172333"/>
                </a:solidFill>
                <a:effectLst/>
                <a:uFillTx/>
                <a:latin typeface="Calibri"/>
                <a:ea typeface="Calibri"/>
              </a:rPr>
              <a:t>. Team names stay hidden until the end.</a:t>
            </a:r>
            <a:endParaRPr lang="en-US" sz="2280" b="0" u="none" strike="noStrike">
              <a:solidFill>
                <a:srgbClr val="000000"/>
              </a:solidFill>
              <a:effectLst/>
              <a:uFillTx/>
              <a:latin typeface="Arial"/>
            </a:endParaRPr>
          </a:p>
        </p:txBody>
      </p:sp>
      <p:sp>
        <p:nvSpPr>
          <p:cNvPr id="542" name="PlaceHolder 1"/>
          <p:cNvSpPr>
            <a:spLocks noGrp="1"/>
          </p:cNvSpPr>
          <p:nvPr>
            <p:ph type="sldNum" idx="56"/>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62979A98-D126-48B0-8185-B89BD300206B}"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3"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544"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The analyst's claim</a:t>
            </a:r>
            <a:endParaRPr lang="en-US" sz="3200" b="0" u="none" strike="noStrike">
              <a:solidFill>
                <a:srgbClr val="000000"/>
              </a:solidFill>
              <a:effectLst/>
              <a:uFillTx/>
              <a:latin typeface="Arial"/>
            </a:endParaRPr>
          </a:p>
        </p:txBody>
      </p:sp>
      <p:sp>
        <p:nvSpPr>
          <p:cNvPr id="545"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546" name="Shape 3"/>
          <p:cNvSpPr/>
          <p:nvPr/>
        </p:nvSpPr>
        <p:spPr>
          <a:xfrm>
            <a:off x="548640" y="1463040"/>
            <a:ext cx="11091240" cy="3510000"/>
          </a:xfrm>
          <a:prstGeom prst="roundRect">
            <a:avLst>
              <a:gd name="adj" fmla="val 2605"/>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7" name="Text 4"/>
          <p:cNvSpPr/>
          <p:nvPr/>
        </p:nvSpPr>
        <p:spPr>
          <a:xfrm>
            <a:off x="731520" y="1417320"/>
            <a:ext cx="7311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6400" b="1" u="none" strike="noStrike">
                <a:solidFill>
                  <a:srgbClr val="D97706"/>
                </a:solidFill>
                <a:effectLst/>
                <a:uFillTx/>
                <a:latin typeface="Cambria"/>
                <a:ea typeface="Cambria"/>
              </a:rPr>
              <a:t>“</a:t>
            </a:r>
            <a:endParaRPr lang="en-US" sz="6400" b="0" u="none" strike="noStrike">
              <a:solidFill>
                <a:srgbClr val="000000"/>
              </a:solidFill>
              <a:effectLst/>
              <a:uFillTx/>
              <a:latin typeface="Arial"/>
            </a:endParaRPr>
          </a:p>
        </p:txBody>
      </p:sp>
      <p:sp>
        <p:nvSpPr>
          <p:cNvPr id="548" name="Text 5"/>
          <p:cNvSpPr/>
          <p:nvPr/>
        </p:nvSpPr>
        <p:spPr>
          <a:xfrm>
            <a:off x="1508760" y="1463040"/>
            <a:ext cx="9719640" cy="351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90" b="0" i="1" u="none" strike="noStrike">
                <a:solidFill>
                  <a:srgbClr val="143E59"/>
                </a:solidFill>
                <a:effectLst/>
                <a:uFillTx/>
                <a:latin typeface="Calibri"/>
                <a:ea typeface="Calibri"/>
              </a:rPr>
              <a:t>Group A and Group B have almost equal means, but Group A has a much stronger upper tail. Its 15-plus rate is 25.0% versus 8.1%, and an over-level bootstrap interval is +2.0 to +32.8 percentage points. Group A therefore has a reliably more explosive death-over strategy.</a:t>
            </a:r>
            <a:endParaRPr lang="en-US" sz="2990" b="0" u="none" strike="noStrike">
              <a:solidFill>
                <a:srgbClr val="000000"/>
              </a:solidFill>
              <a:effectLst/>
              <a:uFillTx/>
              <a:latin typeface="Arial"/>
            </a:endParaRPr>
          </a:p>
        </p:txBody>
      </p:sp>
      <p:sp>
        <p:nvSpPr>
          <p:cNvPr id="549" name="PlaceHolder 1"/>
          <p:cNvSpPr>
            <a:spLocks noGrp="1"/>
          </p:cNvSpPr>
          <p:nvPr>
            <p:ph type="sldNum" idx="57"/>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7436C689-5231-4AD8-9698-0129DC5DCAC4}"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0"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551"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Phase 1 · Audit (6 min)</a:t>
            </a:r>
            <a:endParaRPr lang="en-US" sz="3200" b="0" u="none" strike="noStrike">
              <a:solidFill>
                <a:srgbClr val="000000"/>
              </a:solidFill>
              <a:effectLst/>
              <a:uFillTx/>
              <a:latin typeface="Arial"/>
            </a:endParaRPr>
          </a:p>
        </p:txBody>
      </p:sp>
      <p:sp>
        <p:nvSpPr>
          <p:cNvPr id="552"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553" name="Shape 3"/>
          <p:cNvSpPr/>
          <p:nvPr/>
        </p:nvSpPr>
        <p:spPr>
          <a:xfrm>
            <a:off x="9939600" y="347400"/>
            <a:ext cx="1700280" cy="32868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4" name="Text 4"/>
          <p:cNvSpPr/>
          <p:nvPr/>
        </p:nvSpPr>
        <p:spPr>
          <a:xfrm>
            <a:off x="9939600" y="347400"/>
            <a:ext cx="17002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CLASS ACTIVITY</a:t>
            </a:r>
            <a:endParaRPr lang="en-US" sz="1100" b="0" u="none" strike="noStrike">
              <a:solidFill>
                <a:srgbClr val="000000"/>
              </a:solidFill>
              <a:effectLst/>
              <a:uFillTx/>
              <a:latin typeface="Arial"/>
            </a:endParaRPr>
          </a:p>
        </p:txBody>
      </p:sp>
      <p:sp>
        <p:nvSpPr>
          <p:cNvPr id="555" name="Text 5"/>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Mark on the exhibits:</a:t>
            </a:r>
            <a:endParaRPr lang="en-US" sz="2760" b="0" u="none" strike="noStrike">
              <a:solidFill>
                <a:srgbClr val="000000"/>
              </a:solidFill>
              <a:effectLst/>
              <a:uFillTx/>
              <a:latin typeface="Arial"/>
            </a:endParaRPr>
          </a:p>
        </p:txBody>
      </p:sp>
      <p:sp>
        <p:nvSpPr>
          <p:cNvPr id="556" name="Shape 6"/>
          <p:cNvSpPr/>
          <p:nvPr/>
        </p:nvSpPr>
        <p:spPr>
          <a:xfrm>
            <a:off x="548640" y="22042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7" name="Shape 7"/>
          <p:cNvSpPr/>
          <p:nvPr/>
        </p:nvSpPr>
        <p:spPr>
          <a:xfrm>
            <a:off x="685800" y="235188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8" name="Text 8"/>
          <p:cNvSpPr/>
          <p:nvPr/>
        </p:nvSpPr>
        <p:spPr>
          <a:xfrm>
            <a:off x="685800" y="23518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US" sz="1500" b="0" u="none" strike="noStrike">
              <a:solidFill>
                <a:srgbClr val="000000"/>
              </a:solidFill>
              <a:effectLst/>
              <a:uFillTx/>
              <a:latin typeface="Arial"/>
            </a:endParaRPr>
          </a:p>
        </p:txBody>
      </p:sp>
      <p:sp>
        <p:nvSpPr>
          <p:cNvPr id="559" name="Text 9"/>
          <p:cNvSpPr/>
          <p:nvPr/>
        </p:nvSpPr>
        <p:spPr>
          <a:xfrm>
            <a:off x="1234440" y="22042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exact archive fact;</a:t>
            </a:r>
            <a:endParaRPr lang="en-US" sz="2530" b="0" u="none" strike="noStrike">
              <a:solidFill>
                <a:srgbClr val="000000"/>
              </a:solidFill>
              <a:effectLst/>
              <a:uFillTx/>
              <a:latin typeface="Arial"/>
            </a:endParaRPr>
          </a:p>
        </p:txBody>
      </p:sp>
      <p:sp>
        <p:nvSpPr>
          <p:cNvPr id="560" name="Shape 10"/>
          <p:cNvSpPr/>
          <p:nvPr/>
        </p:nvSpPr>
        <p:spPr>
          <a:xfrm>
            <a:off x="548640" y="29520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1" name="Shape 11"/>
          <p:cNvSpPr/>
          <p:nvPr/>
        </p:nvSpPr>
        <p:spPr>
          <a:xfrm>
            <a:off x="685800" y="309960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2" name="Text 12"/>
          <p:cNvSpPr/>
          <p:nvPr/>
        </p:nvSpPr>
        <p:spPr>
          <a:xfrm>
            <a:off x="685800" y="309960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US" sz="1500" b="0" u="none" strike="noStrike">
              <a:solidFill>
                <a:srgbClr val="000000"/>
              </a:solidFill>
              <a:effectLst/>
              <a:uFillTx/>
              <a:latin typeface="Arial"/>
            </a:endParaRPr>
          </a:p>
        </p:txBody>
      </p:sp>
      <p:sp>
        <p:nvSpPr>
          <p:cNvPr id="563" name="Text 13"/>
          <p:cNvSpPr/>
          <p:nvPr/>
        </p:nvSpPr>
        <p:spPr>
          <a:xfrm>
            <a:off x="1234440" y="29520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estimand implied by the headline;</a:t>
            </a:r>
            <a:endParaRPr lang="en-US" sz="2530" b="0" u="none" strike="noStrike">
              <a:solidFill>
                <a:srgbClr val="000000"/>
              </a:solidFill>
              <a:effectLst/>
              <a:uFillTx/>
              <a:latin typeface="Arial"/>
            </a:endParaRPr>
          </a:p>
        </p:txBody>
      </p:sp>
      <p:sp>
        <p:nvSpPr>
          <p:cNvPr id="564" name="Shape 14"/>
          <p:cNvSpPr/>
          <p:nvPr/>
        </p:nvSpPr>
        <p:spPr>
          <a:xfrm>
            <a:off x="548640" y="36997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5" name="Shape 15"/>
          <p:cNvSpPr/>
          <p:nvPr/>
        </p:nvSpPr>
        <p:spPr>
          <a:xfrm>
            <a:off x="685800" y="384732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6" name="Text 16"/>
          <p:cNvSpPr/>
          <p:nvPr/>
        </p:nvSpPr>
        <p:spPr>
          <a:xfrm>
            <a:off x="685800" y="384732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US" sz="1500" b="0" u="none" strike="noStrike">
              <a:solidFill>
                <a:srgbClr val="000000"/>
              </a:solidFill>
              <a:effectLst/>
              <a:uFillTx/>
              <a:latin typeface="Arial"/>
            </a:endParaRPr>
          </a:p>
        </p:txBody>
      </p:sp>
      <p:sp>
        <p:nvSpPr>
          <p:cNvPr id="567" name="Text 17"/>
          <p:cNvSpPr/>
          <p:nvPr/>
        </p:nvSpPr>
        <p:spPr>
          <a:xfrm>
            <a:off x="1234440" y="36997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hidden weighting rule;</a:t>
            </a:r>
            <a:endParaRPr lang="en-US" sz="2530" b="0" u="none" strike="noStrike">
              <a:solidFill>
                <a:srgbClr val="000000"/>
              </a:solidFill>
              <a:effectLst/>
              <a:uFillTx/>
              <a:latin typeface="Arial"/>
            </a:endParaRPr>
          </a:p>
        </p:txBody>
      </p:sp>
      <p:sp>
        <p:nvSpPr>
          <p:cNvPr id="568" name="Shape 18"/>
          <p:cNvSpPr/>
          <p:nvPr/>
        </p:nvSpPr>
        <p:spPr>
          <a:xfrm>
            <a:off x="548640" y="44478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9" name="Shape 19"/>
          <p:cNvSpPr/>
          <p:nvPr/>
        </p:nvSpPr>
        <p:spPr>
          <a:xfrm>
            <a:off x="685800" y="459504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0" name="Text 20"/>
          <p:cNvSpPr/>
          <p:nvPr/>
        </p:nvSpPr>
        <p:spPr>
          <a:xfrm>
            <a:off x="685800" y="45950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US" sz="1500" b="0" u="none" strike="noStrike">
              <a:solidFill>
                <a:srgbClr val="000000"/>
              </a:solidFill>
              <a:effectLst/>
              <a:uFillTx/>
              <a:latin typeface="Arial"/>
            </a:endParaRPr>
          </a:p>
        </p:txBody>
      </p:sp>
      <p:sp>
        <p:nvSpPr>
          <p:cNvPr id="571" name="Text 21"/>
          <p:cNvSpPr/>
          <p:nvPr/>
        </p:nvSpPr>
        <p:spPr>
          <a:xfrm>
            <a:off x="1234440" y="44478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independence assumption behind the first interval;</a:t>
            </a:r>
            <a:endParaRPr lang="en-US" sz="2530" b="0" u="none" strike="noStrike">
              <a:solidFill>
                <a:srgbClr val="000000"/>
              </a:solidFill>
              <a:effectLst/>
              <a:uFillTx/>
              <a:latin typeface="Arial"/>
            </a:endParaRPr>
          </a:p>
        </p:txBody>
      </p:sp>
      <p:sp>
        <p:nvSpPr>
          <p:cNvPr id="572" name="Shape 22"/>
          <p:cNvSpPr/>
          <p:nvPr/>
        </p:nvSpPr>
        <p:spPr>
          <a:xfrm>
            <a:off x="548640" y="51955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3" name="Shape 23"/>
          <p:cNvSpPr/>
          <p:nvPr/>
        </p:nvSpPr>
        <p:spPr>
          <a:xfrm>
            <a:off x="685800" y="534312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4" name="Text 24"/>
          <p:cNvSpPr/>
          <p:nvPr/>
        </p:nvSpPr>
        <p:spPr>
          <a:xfrm>
            <a:off x="685800" y="534312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5</a:t>
            </a:r>
            <a:endParaRPr lang="en-US" sz="1500" b="0" u="none" strike="noStrike">
              <a:solidFill>
                <a:srgbClr val="000000"/>
              </a:solidFill>
              <a:effectLst/>
              <a:uFillTx/>
              <a:latin typeface="Arial"/>
            </a:endParaRPr>
          </a:p>
        </p:txBody>
      </p:sp>
      <p:sp>
        <p:nvSpPr>
          <p:cNvPr id="575" name="Text 25"/>
          <p:cNvSpPr/>
          <p:nvPr/>
        </p:nvSpPr>
        <p:spPr>
          <a:xfrm>
            <a:off x="1234440" y="51955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strongest unsupported phrase.</a:t>
            </a:r>
            <a:endParaRPr lang="en-US" sz="2530" b="0" u="none" strike="noStrike">
              <a:solidFill>
                <a:srgbClr val="000000"/>
              </a:solidFill>
              <a:effectLst/>
              <a:uFillTx/>
              <a:latin typeface="Arial"/>
            </a:endParaRPr>
          </a:p>
        </p:txBody>
      </p:sp>
      <p:sp>
        <p:nvSpPr>
          <p:cNvPr id="576" name="PlaceHolder 1"/>
          <p:cNvSpPr>
            <a:spLocks noGrp="1"/>
          </p:cNvSpPr>
          <p:nvPr>
            <p:ph type="sldNum" idx="58"/>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033A28E6-042D-4B37-B15C-56E9F32218F3}"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7"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578"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Phase 2 · Redesign (8 min)</a:t>
            </a:r>
            <a:endParaRPr lang="en-US" sz="3200" b="0" u="none" strike="noStrike">
              <a:solidFill>
                <a:srgbClr val="000000"/>
              </a:solidFill>
              <a:effectLst/>
              <a:uFillTx/>
              <a:latin typeface="Arial"/>
            </a:endParaRPr>
          </a:p>
        </p:txBody>
      </p:sp>
      <p:sp>
        <p:nvSpPr>
          <p:cNvPr id="579"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580" name="Shape 3"/>
          <p:cNvSpPr/>
          <p:nvPr/>
        </p:nvSpPr>
        <p:spPr>
          <a:xfrm>
            <a:off x="9939600" y="347400"/>
            <a:ext cx="1700280" cy="32868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1" name="Text 4"/>
          <p:cNvSpPr/>
          <p:nvPr/>
        </p:nvSpPr>
        <p:spPr>
          <a:xfrm>
            <a:off x="9939600" y="347400"/>
            <a:ext cx="17002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CLASS ACTIVITY</a:t>
            </a:r>
            <a:endParaRPr lang="en-US" sz="1100" b="0" u="none" strike="noStrike">
              <a:solidFill>
                <a:srgbClr val="000000"/>
              </a:solidFill>
              <a:effectLst/>
              <a:uFillTx/>
              <a:latin typeface="Arial"/>
            </a:endParaRPr>
          </a:p>
        </p:txBody>
      </p:sp>
      <p:sp>
        <p:nvSpPr>
          <p:cNvPr id="582" name="Text 5"/>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Choose and justify:</a:t>
            </a:r>
            <a:endParaRPr lang="en-US" sz="2760" b="0" u="none" strike="noStrike">
              <a:solidFill>
                <a:srgbClr val="000000"/>
              </a:solidFill>
              <a:effectLst/>
              <a:uFillTx/>
              <a:latin typeface="Arial"/>
            </a:endParaRPr>
          </a:p>
        </p:txBody>
      </p:sp>
      <p:sp>
        <p:nvSpPr>
          <p:cNvPr id="583" name="Shape 6"/>
          <p:cNvSpPr/>
          <p:nvPr/>
        </p:nvSpPr>
        <p:spPr>
          <a:xfrm>
            <a:off x="548640" y="22042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4" name="Shape 7"/>
          <p:cNvSpPr/>
          <p:nvPr/>
        </p:nvSpPr>
        <p:spPr>
          <a:xfrm>
            <a:off x="685800" y="235188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5" name="Text 8"/>
          <p:cNvSpPr/>
          <p:nvPr/>
        </p:nvSpPr>
        <p:spPr>
          <a:xfrm>
            <a:off x="685800" y="23518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US" sz="1500" b="0" u="none" strike="noStrike">
              <a:solidFill>
                <a:srgbClr val="000000"/>
              </a:solidFill>
              <a:effectLst/>
              <a:uFillTx/>
              <a:latin typeface="Arial"/>
            </a:endParaRPr>
          </a:p>
        </p:txBody>
      </p:sp>
      <p:sp>
        <p:nvSpPr>
          <p:cNvPr id="586" name="Text 9"/>
          <p:cNvSpPr/>
          <p:nvPr/>
        </p:nvSpPr>
        <p:spPr>
          <a:xfrm>
            <a:off x="1234440" y="22042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equal-over or equal-match target;</a:t>
            </a:r>
            <a:endParaRPr lang="en-US" sz="2530" b="0" u="none" strike="noStrike">
              <a:solidFill>
                <a:srgbClr val="000000"/>
              </a:solidFill>
              <a:effectLst/>
              <a:uFillTx/>
              <a:latin typeface="Arial"/>
            </a:endParaRPr>
          </a:p>
        </p:txBody>
      </p:sp>
      <p:sp>
        <p:nvSpPr>
          <p:cNvPr id="587" name="Shape 10"/>
          <p:cNvSpPr/>
          <p:nvPr/>
        </p:nvSpPr>
        <p:spPr>
          <a:xfrm>
            <a:off x="548640" y="29520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8" name="Shape 11"/>
          <p:cNvSpPr/>
          <p:nvPr/>
        </p:nvSpPr>
        <p:spPr>
          <a:xfrm>
            <a:off x="685800" y="309960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9" name="Text 12"/>
          <p:cNvSpPr/>
          <p:nvPr/>
        </p:nvSpPr>
        <p:spPr>
          <a:xfrm>
            <a:off x="685800" y="309960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US" sz="1500" b="0" u="none" strike="noStrike">
              <a:solidFill>
                <a:srgbClr val="000000"/>
              </a:solidFill>
              <a:effectLst/>
              <a:uFillTx/>
              <a:latin typeface="Arial"/>
            </a:endParaRPr>
          </a:p>
        </p:txBody>
      </p:sp>
      <p:sp>
        <p:nvSpPr>
          <p:cNvPr id="590" name="Text 13"/>
          <p:cNvSpPr/>
          <p:nvPr/>
        </p:nvSpPr>
        <p:spPr>
          <a:xfrm>
            <a:off x="1234440" y="29520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IID or match-cluster resampling;</a:t>
            </a:r>
            <a:endParaRPr lang="en-US" sz="2530" b="0" u="none" strike="noStrike">
              <a:solidFill>
                <a:srgbClr val="000000"/>
              </a:solidFill>
              <a:effectLst/>
              <a:uFillTx/>
              <a:latin typeface="Arial"/>
            </a:endParaRPr>
          </a:p>
        </p:txBody>
      </p:sp>
      <p:sp>
        <p:nvSpPr>
          <p:cNvPr id="591" name="Shape 14"/>
          <p:cNvSpPr/>
          <p:nvPr/>
        </p:nvSpPr>
        <p:spPr>
          <a:xfrm>
            <a:off x="548640" y="36997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2" name="Shape 15"/>
          <p:cNvSpPr/>
          <p:nvPr/>
        </p:nvSpPr>
        <p:spPr>
          <a:xfrm>
            <a:off x="685800" y="384732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3" name="Text 16"/>
          <p:cNvSpPr/>
          <p:nvPr/>
        </p:nvSpPr>
        <p:spPr>
          <a:xfrm>
            <a:off x="685800" y="384732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US" sz="1500" b="0" u="none" strike="noStrike">
              <a:solidFill>
                <a:srgbClr val="000000"/>
              </a:solidFill>
              <a:effectLst/>
              <a:uFillTx/>
              <a:latin typeface="Arial"/>
            </a:endParaRPr>
          </a:p>
        </p:txBody>
      </p:sp>
      <p:sp>
        <p:nvSpPr>
          <p:cNvPr id="594" name="Text 17"/>
          <p:cNvSpPr/>
          <p:nvPr/>
        </p:nvSpPr>
        <p:spPr>
          <a:xfrm>
            <a:off x="1234440" y="36997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a tail threshold policy;</a:t>
            </a:r>
            <a:endParaRPr lang="en-US" sz="2530" b="0" u="none" strike="noStrike">
              <a:solidFill>
                <a:srgbClr val="000000"/>
              </a:solidFill>
              <a:effectLst/>
              <a:uFillTx/>
              <a:latin typeface="Arial"/>
            </a:endParaRPr>
          </a:p>
        </p:txBody>
      </p:sp>
      <p:sp>
        <p:nvSpPr>
          <p:cNvPr id="595" name="Shape 18"/>
          <p:cNvSpPr/>
          <p:nvPr/>
        </p:nvSpPr>
        <p:spPr>
          <a:xfrm>
            <a:off x="548640" y="44478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6" name="Shape 19"/>
          <p:cNvSpPr/>
          <p:nvPr/>
        </p:nvSpPr>
        <p:spPr>
          <a:xfrm>
            <a:off x="685800" y="459504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7" name="Text 20"/>
          <p:cNvSpPr/>
          <p:nvPr/>
        </p:nvSpPr>
        <p:spPr>
          <a:xfrm>
            <a:off x="685800" y="45950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US" sz="1500" b="0" u="none" strike="noStrike">
              <a:solidFill>
                <a:srgbClr val="000000"/>
              </a:solidFill>
              <a:effectLst/>
              <a:uFillTx/>
              <a:latin typeface="Arial"/>
            </a:endParaRPr>
          </a:p>
        </p:txBody>
      </p:sp>
      <p:sp>
        <p:nvSpPr>
          <p:cNvPr id="598" name="Text 21"/>
          <p:cNvSpPr/>
          <p:nvPr/>
        </p:nvSpPr>
        <p:spPr>
          <a:xfrm>
            <a:off x="1234440" y="44478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one global effect (for example θ);</a:t>
            </a:r>
            <a:endParaRPr lang="en-US" sz="2530" b="0" u="none" strike="noStrike">
              <a:solidFill>
                <a:srgbClr val="000000"/>
              </a:solidFill>
              <a:effectLst/>
              <a:uFillTx/>
              <a:latin typeface="Arial"/>
            </a:endParaRPr>
          </a:p>
        </p:txBody>
      </p:sp>
      <p:sp>
        <p:nvSpPr>
          <p:cNvPr id="599" name="Shape 22"/>
          <p:cNvSpPr/>
          <p:nvPr/>
        </p:nvSpPr>
        <p:spPr>
          <a:xfrm>
            <a:off x="548640" y="51955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0" name="Shape 23"/>
          <p:cNvSpPr/>
          <p:nvPr/>
        </p:nvSpPr>
        <p:spPr>
          <a:xfrm>
            <a:off x="685800" y="534312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1" name="Text 24"/>
          <p:cNvSpPr/>
          <p:nvPr/>
        </p:nvSpPr>
        <p:spPr>
          <a:xfrm>
            <a:off x="685800" y="534312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5</a:t>
            </a:r>
            <a:endParaRPr lang="en-US" sz="1500" b="0" u="none" strike="noStrike">
              <a:solidFill>
                <a:srgbClr val="000000"/>
              </a:solidFill>
              <a:effectLst/>
              <a:uFillTx/>
              <a:latin typeface="Arial"/>
            </a:endParaRPr>
          </a:p>
        </p:txBody>
      </p:sp>
      <p:sp>
        <p:nvSpPr>
          <p:cNvPr id="602" name="Text 25"/>
          <p:cNvSpPr/>
          <p:nvPr/>
        </p:nvSpPr>
        <p:spPr>
          <a:xfrm>
            <a:off x="1234440" y="51955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two sensitivity checks.</a:t>
            </a:r>
            <a:endParaRPr lang="en-US" sz="2530" b="0" u="none" strike="noStrike">
              <a:solidFill>
                <a:srgbClr val="000000"/>
              </a:solidFill>
              <a:effectLst/>
              <a:uFillTx/>
              <a:latin typeface="Arial"/>
            </a:endParaRPr>
          </a:p>
        </p:txBody>
      </p:sp>
      <p:sp>
        <p:nvSpPr>
          <p:cNvPr id="603" name="PlaceHolder 1"/>
          <p:cNvSpPr>
            <a:spLocks noGrp="1"/>
          </p:cNvSpPr>
          <p:nvPr>
            <p:ph type="sldNum" idx="59"/>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750A51BC-2299-4D0F-8E20-5576A033777C}"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4"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605"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Phase 3 · Rewrite (5 min)</a:t>
            </a:r>
            <a:endParaRPr lang="en-US" sz="3200" b="0" u="none" strike="noStrike">
              <a:solidFill>
                <a:srgbClr val="000000"/>
              </a:solidFill>
              <a:effectLst/>
              <a:uFillTx/>
              <a:latin typeface="Arial"/>
            </a:endParaRPr>
          </a:p>
        </p:txBody>
      </p:sp>
      <p:sp>
        <p:nvSpPr>
          <p:cNvPr id="606"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607" name="Shape 3"/>
          <p:cNvSpPr/>
          <p:nvPr/>
        </p:nvSpPr>
        <p:spPr>
          <a:xfrm>
            <a:off x="9939600" y="347400"/>
            <a:ext cx="1700280" cy="32868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8" name="Text 4"/>
          <p:cNvSpPr/>
          <p:nvPr/>
        </p:nvSpPr>
        <p:spPr>
          <a:xfrm>
            <a:off x="9939600" y="347400"/>
            <a:ext cx="17002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CLASS ACTIVITY</a:t>
            </a:r>
            <a:endParaRPr lang="en-US" sz="1100" b="0" u="none" strike="noStrike">
              <a:solidFill>
                <a:srgbClr val="000000"/>
              </a:solidFill>
              <a:effectLst/>
              <a:uFillTx/>
              <a:latin typeface="Arial"/>
            </a:endParaRPr>
          </a:p>
        </p:txBody>
      </p:sp>
      <p:sp>
        <p:nvSpPr>
          <p:cNvPr id="609" name="Text 5"/>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Three sentences:</a:t>
            </a:r>
            <a:endParaRPr lang="en-US" sz="2760" b="0" u="none" strike="noStrike">
              <a:solidFill>
                <a:srgbClr val="000000"/>
              </a:solidFill>
              <a:effectLst/>
              <a:uFillTx/>
              <a:latin typeface="Arial"/>
            </a:endParaRPr>
          </a:p>
        </p:txBody>
      </p:sp>
      <p:sp>
        <p:nvSpPr>
          <p:cNvPr id="610" name="Shape 6"/>
          <p:cNvSpPr/>
          <p:nvPr/>
        </p:nvSpPr>
        <p:spPr>
          <a:xfrm>
            <a:off x="548640" y="22042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1" name="Shape 7"/>
          <p:cNvSpPr/>
          <p:nvPr/>
        </p:nvSpPr>
        <p:spPr>
          <a:xfrm>
            <a:off x="685800" y="235188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2" name="Text 8"/>
          <p:cNvSpPr/>
          <p:nvPr/>
        </p:nvSpPr>
        <p:spPr>
          <a:xfrm>
            <a:off x="685800" y="23518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US" sz="1500" b="0" u="none" strike="noStrike">
              <a:solidFill>
                <a:srgbClr val="000000"/>
              </a:solidFill>
              <a:effectLst/>
              <a:uFillTx/>
              <a:latin typeface="Arial"/>
            </a:endParaRPr>
          </a:p>
        </p:txBody>
      </p:sp>
      <p:sp>
        <p:nvSpPr>
          <p:cNvPr id="613" name="Text 9"/>
          <p:cNvSpPr/>
          <p:nvPr/>
        </p:nvSpPr>
        <p:spPr>
          <a:xfrm>
            <a:off x="1234440" y="22042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exact archive description;</a:t>
            </a:r>
            <a:endParaRPr lang="en-US" sz="2530" b="0" u="none" strike="noStrike">
              <a:solidFill>
                <a:srgbClr val="000000"/>
              </a:solidFill>
              <a:effectLst/>
              <a:uFillTx/>
              <a:latin typeface="Arial"/>
            </a:endParaRPr>
          </a:p>
        </p:txBody>
      </p:sp>
      <p:sp>
        <p:nvSpPr>
          <p:cNvPr id="614" name="Shape 10"/>
          <p:cNvSpPr/>
          <p:nvPr/>
        </p:nvSpPr>
        <p:spPr>
          <a:xfrm>
            <a:off x="548640" y="29520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5" name="Shape 11"/>
          <p:cNvSpPr/>
          <p:nvPr/>
        </p:nvSpPr>
        <p:spPr>
          <a:xfrm>
            <a:off x="685800" y="309960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6" name="Text 12"/>
          <p:cNvSpPr/>
          <p:nvPr/>
        </p:nvSpPr>
        <p:spPr>
          <a:xfrm>
            <a:off x="685800" y="309960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US" sz="1500" b="0" u="none" strike="noStrike">
              <a:solidFill>
                <a:srgbClr val="000000"/>
              </a:solidFill>
              <a:effectLst/>
              <a:uFillTx/>
              <a:latin typeface="Arial"/>
            </a:endParaRPr>
          </a:p>
        </p:txBody>
      </p:sp>
      <p:sp>
        <p:nvSpPr>
          <p:cNvPr id="617" name="Text 13"/>
          <p:cNvSpPr/>
          <p:nvPr/>
        </p:nvSpPr>
        <p:spPr>
          <a:xfrm>
            <a:off x="1234440" y="29520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unit-aware process inference;</a:t>
            </a:r>
            <a:endParaRPr lang="en-US" sz="2530" b="0" u="none" strike="noStrike">
              <a:solidFill>
                <a:srgbClr val="000000"/>
              </a:solidFill>
              <a:effectLst/>
              <a:uFillTx/>
              <a:latin typeface="Arial"/>
            </a:endParaRPr>
          </a:p>
        </p:txBody>
      </p:sp>
      <p:sp>
        <p:nvSpPr>
          <p:cNvPr id="618" name="Shape 14"/>
          <p:cNvSpPr/>
          <p:nvPr/>
        </p:nvSpPr>
        <p:spPr>
          <a:xfrm>
            <a:off x="548640" y="36997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9" name="Shape 15"/>
          <p:cNvSpPr/>
          <p:nvPr/>
        </p:nvSpPr>
        <p:spPr>
          <a:xfrm>
            <a:off x="685800" y="384732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0" name="Text 16"/>
          <p:cNvSpPr/>
          <p:nvPr/>
        </p:nvSpPr>
        <p:spPr>
          <a:xfrm>
            <a:off x="685800" y="384732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US" sz="1500" b="0" u="none" strike="noStrike">
              <a:solidFill>
                <a:srgbClr val="000000"/>
              </a:solidFill>
              <a:effectLst/>
              <a:uFillTx/>
              <a:latin typeface="Arial"/>
            </a:endParaRPr>
          </a:p>
        </p:txBody>
      </p:sp>
      <p:sp>
        <p:nvSpPr>
          <p:cNvPr id="621" name="Text 17"/>
          <p:cNvSpPr/>
          <p:nvPr/>
        </p:nvSpPr>
        <p:spPr>
          <a:xfrm>
            <a:off x="1234440" y="36997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the limitation that blocks a causal strategy claim.</a:t>
            </a:r>
            <a:endParaRPr lang="en-US" sz="2530" b="0" u="none" strike="noStrike">
              <a:solidFill>
                <a:srgbClr val="000000"/>
              </a:solidFill>
              <a:effectLst/>
              <a:uFillTx/>
              <a:latin typeface="Arial"/>
            </a:endParaRPr>
          </a:p>
        </p:txBody>
      </p:sp>
      <p:sp>
        <p:nvSpPr>
          <p:cNvPr id="622" name="Text 18"/>
          <p:cNvSpPr/>
          <p:nvPr/>
        </p:nvSpPr>
        <p:spPr>
          <a:xfrm>
            <a:off x="548640" y="457560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Then two groups defend their weighting rule for six minutes.</a:t>
            </a:r>
            <a:endParaRPr lang="en-US" sz="2760" b="0" u="none" strike="noStrike">
              <a:solidFill>
                <a:srgbClr val="000000"/>
              </a:solidFill>
              <a:effectLst/>
              <a:uFillTx/>
              <a:latin typeface="Arial"/>
            </a:endParaRPr>
          </a:p>
        </p:txBody>
      </p:sp>
      <p:sp>
        <p:nvSpPr>
          <p:cNvPr id="623" name="PlaceHolder 1"/>
          <p:cNvSpPr>
            <a:spLocks noGrp="1"/>
          </p:cNvSpPr>
          <p:nvPr>
            <p:ph type="sldNum" idx="60"/>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6B88A189-B78C-41E6-8B87-40634F969E07}"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4"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625"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Teams revealed</a:t>
            </a:r>
            <a:endParaRPr lang="en-US" sz="3200" b="0" u="none" strike="noStrike">
              <a:solidFill>
                <a:srgbClr val="000000"/>
              </a:solidFill>
              <a:effectLst/>
              <a:uFillTx/>
              <a:latin typeface="Arial"/>
            </a:endParaRPr>
          </a:p>
        </p:txBody>
      </p:sp>
      <p:sp>
        <p:nvSpPr>
          <p:cNvPr id="626"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627" name="Shape 3"/>
          <p:cNvSpPr/>
          <p:nvPr/>
        </p:nvSpPr>
        <p:spPr>
          <a:xfrm>
            <a:off x="548640" y="146304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8" name="Shape 4"/>
          <p:cNvSpPr/>
          <p:nvPr/>
        </p:nvSpPr>
        <p:spPr>
          <a:xfrm>
            <a:off x="786240" y="17020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9" name="Text 5"/>
          <p:cNvSpPr/>
          <p:nvPr/>
        </p:nvSpPr>
        <p:spPr>
          <a:xfrm>
            <a:off x="1234440" y="146304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Group A: Peshawar Zalmi</a:t>
            </a:r>
            <a:endParaRPr lang="en-US" sz="2530" b="0" u="none" strike="noStrike">
              <a:solidFill>
                <a:srgbClr val="000000"/>
              </a:solidFill>
              <a:effectLst/>
              <a:uFillTx/>
              <a:latin typeface="Arial"/>
            </a:endParaRPr>
          </a:p>
        </p:txBody>
      </p:sp>
      <p:sp>
        <p:nvSpPr>
          <p:cNvPr id="630" name="Shape 6"/>
          <p:cNvSpPr/>
          <p:nvPr/>
        </p:nvSpPr>
        <p:spPr>
          <a:xfrm>
            <a:off x="548640" y="221076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1" name="Shape 7"/>
          <p:cNvSpPr/>
          <p:nvPr/>
        </p:nvSpPr>
        <p:spPr>
          <a:xfrm>
            <a:off x="786240" y="244980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2" name="Text 8"/>
          <p:cNvSpPr/>
          <p:nvPr/>
        </p:nvSpPr>
        <p:spPr>
          <a:xfrm>
            <a:off x="1234440" y="221076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Group B: Quetta Gladiators</a:t>
            </a:r>
            <a:endParaRPr lang="en-US" sz="2530" b="0" u="none" strike="noStrike">
              <a:solidFill>
                <a:srgbClr val="000000"/>
              </a:solidFill>
              <a:effectLst/>
              <a:uFillTx/>
              <a:latin typeface="Arial"/>
            </a:endParaRPr>
          </a:p>
        </p:txBody>
      </p:sp>
      <p:sp>
        <p:nvSpPr>
          <p:cNvPr id="633" name="Text 9"/>
          <p:cNvSpPr/>
          <p:nvPr/>
        </p:nvSpPr>
        <p:spPr>
          <a:xfrm>
            <a:off x="548640" y="3086640"/>
            <a:ext cx="1109124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conclusion should not depend on reputation, memory or team preference.</a:t>
            </a:r>
            <a:endParaRPr lang="en-US" sz="2760" b="0" u="none" strike="noStrike">
              <a:solidFill>
                <a:srgbClr val="000000"/>
              </a:solidFill>
              <a:effectLst/>
              <a:uFillTx/>
              <a:latin typeface="Arial"/>
            </a:endParaRPr>
          </a:p>
        </p:txBody>
      </p:sp>
      <p:sp>
        <p:nvSpPr>
          <p:cNvPr id="634" name="PlaceHolder 1"/>
          <p:cNvSpPr>
            <a:spLocks noGrp="1"/>
          </p:cNvSpPr>
          <p:nvPr>
            <p:ph type="sldNum" idx="61"/>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987DDBC2-B224-4D30-84EC-B32AF8647B4E}"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5"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636"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Model answer</a:t>
            </a:r>
            <a:endParaRPr lang="en-US" sz="3200" b="0" u="none" strike="noStrike">
              <a:solidFill>
                <a:srgbClr val="000000"/>
              </a:solidFill>
              <a:effectLst/>
              <a:uFillTx/>
              <a:latin typeface="Arial"/>
            </a:endParaRPr>
          </a:p>
        </p:txBody>
      </p:sp>
      <p:sp>
        <p:nvSpPr>
          <p:cNvPr id="637"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638" name="Text 3"/>
          <p:cNvSpPr/>
          <p:nvPr/>
        </p:nvSpPr>
        <p:spPr>
          <a:xfrm>
            <a:off x="548640" y="1463040"/>
            <a:ext cx="8777880" cy="1591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1" u="none" strike="noStrike">
                <a:solidFill>
                  <a:srgbClr val="172333"/>
                </a:solidFill>
                <a:effectLst/>
                <a:uFillTx/>
                <a:latin typeface="Calibri"/>
                <a:ea typeface="Calibri"/>
              </a:rPr>
              <a:t>Archive.</a:t>
            </a:r>
            <a:r>
              <a:rPr lang="en-US" sz="2280" b="0" u="none" strike="noStrike">
                <a:solidFill>
                  <a:srgbClr val="172333"/>
                </a:solidFill>
                <a:effectLst/>
                <a:uFillTx/>
                <a:latin typeface="Calibri"/>
                <a:ea typeface="Calibri"/>
              </a:rPr>
              <a:t> In the 2017 complete overs 16 to 20, 11 of 44 Peshawar overs and 3 of 37 Quetta overs reached 15 runs, a gap of 16.9 percentage points, with equal medians and θ= 0.49.</a:t>
            </a:r>
            <a:endParaRPr lang="en-US" sz="2280" b="0" u="none" strike="noStrike">
              <a:solidFill>
                <a:srgbClr val="000000"/>
              </a:solidFill>
              <a:effectLst/>
              <a:uFillTx/>
              <a:latin typeface="Arial"/>
            </a:endParaRPr>
          </a:p>
        </p:txBody>
      </p:sp>
      <p:sp>
        <p:nvSpPr>
          <p:cNvPr id="639" name="Text 4"/>
          <p:cNvSpPr/>
          <p:nvPr/>
        </p:nvSpPr>
        <p:spPr>
          <a:xfrm>
            <a:off x="548640" y="3238200"/>
            <a:ext cx="8777880" cy="122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1" u="none" strike="noStrike">
                <a:solidFill>
                  <a:srgbClr val="172333"/>
                </a:solidFill>
                <a:effectLst/>
                <a:uFillTx/>
                <a:latin typeface="Calibri"/>
                <a:ea typeface="Calibri"/>
              </a:rPr>
              <a:t>Inference.</a:t>
            </a:r>
            <a:r>
              <a:rPr lang="en-US" sz="2280" b="0" u="none" strike="noStrike">
                <a:solidFill>
                  <a:srgbClr val="172333"/>
                </a:solidFill>
                <a:effectLst/>
                <a:uFillTx/>
                <a:latin typeface="Calibri"/>
                <a:ea typeface="Calibri"/>
              </a:rPr>
              <a:t> The 17 matches lean toward a Peshawar tail gap, but the match-cluster interval (-5.2 to +32.7 pp) is wide and the evidence for a repeatable difference is weak.</a:t>
            </a:r>
            <a:endParaRPr lang="en-US" sz="2280" b="0" u="none" strike="noStrike">
              <a:solidFill>
                <a:srgbClr val="000000"/>
              </a:solidFill>
              <a:effectLst/>
              <a:uFillTx/>
              <a:latin typeface="Arial"/>
            </a:endParaRPr>
          </a:p>
        </p:txBody>
      </p:sp>
      <p:sp>
        <p:nvSpPr>
          <p:cNvPr id="640" name="Text 5"/>
          <p:cNvSpPr/>
          <p:nvPr/>
        </p:nvSpPr>
        <p:spPr>
          <a:xfrm>
            <a:off x="548640" y="4642560"/>
            <a:ext cx="8777880" cy="85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80" b="1" u="none" strike="noStrike">
                <a:solidFill>
                  <a:srgbClr val="172333"/>
                </a:solidFill>
                <a:effectLst/>
                <a:uFillTx/>
                <a:latin typeface="Calibri"/>
                <a:ea typeface="Calibri"/>
              </a:rPr>
              <a:t>Boundary.</a:t>
            </a:r>
            <a:r>
              <a:rPr lang="en-US" sz="2280" b="0" u="none" strike="noStrike">
                <a:solidFill>
                  <a:srgbClr val="172333"/>
                </a:solidFill>
                <a:effectLst/>
                <a:uFillTx/>
                <a:latin typeface="Calibri"/>
                <a:ea typeface="Calibri"/>
              </a:rPr>
              <a:t> Opponent, venue, wickets, target and personnel are uncontrolled, so no causal strategy claim follows.</a:t>
            </a:r>
            <a:endParaRPr lang="en-US" sz="2280" b="0" u="none" strike="noStrike">
              <a:solidFill>
                <a:srgbClr val="000000"/>
              </a:solidFill>
              <a:effectLst/>
              <a:uFillTx/>
              <a:latin typeface="Arial"/>
            </a:endParaRPr>
          </a:p>
        </p:txBody>
      </p:sp>
      <p:sp>
        <p:nvSpPr>
          <p:cNvPr id="641" name="Shape 6"/>
          <p:cNvSpPr/>
          <p:nvPr/>
        </p:nvSpPr>
        <p:spPr>
          <a:xfrm>
            <a:off x="9692640" y="4846320"/>
            <a:ext cx="1188360" cy="11883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2" name="Shape 7"/>
          <p:cNvSpPr/>
          <p:nvPr/>
        </p:nvSpPr>
        <p:spPr>
          <a:xfrm>
            <a:off x="10429560" y="5179320"/>
            <a:ext cx="950760" cy="950760"/>
          </a:xfrm>
          <a:prstGeom prst="ellipse">
            <a:avLst/>
          </a:prstGeom>
          <a:solidFill>
            <a:srgbClr val="D97706">
              <a:alpha val="8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3" name="PlaceHolder 1"/>
          <p:cNvSpPr>
            <a:spLocks noGrp="1"/>
          </p:cNvSpPr>
          <p:nvPr>
            <p:ph type="sldNum" idx="62"/>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E9C006FA-CC45-4372-88E5-7A8F801DA268}"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4"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645"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Causal boundary</a:t>
            </a:r>
            <a:endParaRPr lang="en-US" sz="3200" b="0" u="none" strike="noStrike">
              <a:solidFill>
                <a:srgbClr val="000000"/>
              </a:solidFill>
              <a:effectLst/>
              <a:uFillTx/>
              <a:latin typeface="Arial"/>
            </a:endParaRPr>
          </a:p>
        </p:txBody>
      </p:sp>
      <p:sp>
        <p:nvSpPr>
          <p:cNvPr id="646"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647" name="Text 3"/>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The comparison does not control:</a:t>
            </a:r>
            <a:endParaRPr lang="en-US" sz="2760" b="0" u="none" strike="noStrike">
              <a:solidFill>
                <a:srgbClr val="000000"/>
              </a:solidFill>
              <a:effectLst/>
              <a:uFillTx/>
              <a:latin typeface="Arial"/>
            </a:endParaRPr>
          </a:p>
        </p:txBody>
      </p:sp>
      <p:sp>
        <p:nvSpPr>
          <p:cNvPr id="648" name="Shape 4"/>
          <p:cNvSpPr/>
          <p:nvPr/>
        </p:nvSpPr>
        <p:spPr>
          <a:xfrm>
            <a:off x="548640" y="2204280"/>
            <a:ext cx="540828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9" name="Shape 5"/>
          <p:cNvSpPr/>
          <p:nvPr/>
        </p:nvSpPr>
        <p:spPr>
          <a:xfrm>
            <a:off x="786240" y="244332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0" name="Text 6"/>
          <p:cNvSpPr/>
          <p:nvPr/>
        </p:nvSpPr>
        <p:spPr>
          <a:xfrm>
            <a:off x="1234440" y="2204280"/>
            <a:ext cx="453960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opposing bowlers;</a:t>
            </a:r>
            <a:endParaRPr lang="en-US" sz="2530" b="0" u="none" strike="noStrike">
              <a:solidFill>
                <a:srgbClr val="000000"/>
              </a:solidFill>
              <a:effectLst/>
              <a:uFillTx/>
              <a:latin typeface="Arial"/>
            </a:endParaRPr>
          </a:p>
        </p:txBody>
      </p:sp>
      <p:sp>
        <p:nvSpPr>
          <p:cNvPr id="651" name="Shape 7"/>
          <p:cNvSpPr/>
          <p:nvPr/>
        </p:nvSpPr>
        <p:spPr>
          <a:xfrm>
            <a:off x="548640" y="2952000"/>
            <a:ext cx="540828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2" name="Shape 8"/>
          <p:cNvSpPr/>
          <p:nvPr/>
        </p:nvSpPr>
        <p:spPr>
          <a:xfrm>
            <a:off x="786240" y="31910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3" name="Text 9"/>
          <p:cNvSpPr/>
          <p:nvPr/>
        </p:nvSpPr>
        <p:spPr>
          <a:xfrm>
            <a:off x="1234440" y="2952000"/>
            <a:ext cx="453960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venue and pitch;</a:t>
            </a:r>
            <a:endParaRPr lang="en-US" sz="2530" b="0" u="none" strike="noStrike">
              <a:solidFill>
                <a:srgbClr val="000000"/>
              </a:solidFill>
              <a:effectLst/>
              <a:uFillTx/>
              <a:latin typeface="Arial"/>
            </a:endParaRPr>
          </a:p>
        </p:txBody>
      </p:sp>
      <p:sp>
        <p:nvSpPr>
          <p:cNvPr id="654" name="Shape 10"/>
          <p:cNvSpPr/>
          <p:nvPr/>
        </p:nvSpPr>
        <p:spPr>
          <a:xfrm>
            <a:off x="548640" y="3699720"/>
            <a:ext cx="540828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5" name="Shape 11"/>
          <p:cNvSpPr/>
          <p:nvPr/>
        </p:nvSpPr>
        <p:spPr>
          <a:xfrm>
            <a:off x="786240" y="393876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6" name="Text 12"/>
          <p:cNvSpPr/>
          <p:nvPr/>
        </p:nvSpPr>
        <p:spPr>
          <a:xfrm>
            <a:off x="1234440" y="3699720"/>
            <a:ext cx="453960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wickets remaining;</a:t>
            </a:r>
            <a:endParaRPr lang="en-US" sz="2530" b="0" u="none" strike="noStrike">
              <a:solidFill>
                <a:srgbClr val="000000"/>
              </a:solidFill>
              <a:effectLst/>
              <a:uFillTx/>
              <a:latin typeface="Arial"/>
            </a:endParaRPr>
          </a:p>
        </p:txBody>
      </p:sp>
      <p:sp>
        <p:nvSpPr>
          <p:cNvPr id="657" name="Shape 13"/>
          <p:cNvSpPr/>
          <p:nvPr/>
        </p:nvSpPr>
        <p:spPr>
          <a:xfrm>
            <a:off x="548640" y="4447800"/>
            <a:ext cx="540828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8" name="Shape 14"/>
          <p:cNvSpPr/>
          <p:nvPr/>
        </p:nvSpPr>
        <p:spPr>
          <a:xfrm>
            <a:off x="786240" y="46864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9" name="Text 15"/>
          <p:cNvSpPr/>
          <p:nvPr/>
        </p:nvSpPr>
        <p:spPr>
          <a:xfrm>
            <a:off x="1234440" y="4447800"/>
            <a:ext cx="453960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chase target;</a:t>
            </a:r>
            <a:endParaRPr lang="en-US" sz="2530" b="0" u="none" strike="noStrike">
              <a:solidFill>
                <a:srgbClr val="000000"/>
              </a:solidFill>
              <a:effectLst/>
              <a:uFillTx/>
              <a:latin typeface="Arial"/>
            </a:endParaRPr>
          </a:p>
        </p:txBody>
      </p:sp>
      <p:sp>
        <p:nvSpPr>
          <p:cNvPr id="660" name="Shape 16"/>
          <p:cNvSpPr/>
          <p:nvPr/>
        </p:nvSpPr>
        <p:spPr>
          <a:xfrm>
            <a:off x="6231600" y="2204280"/>
            <a:ext cx="540828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1" name="Shape 17"/>
          <p:cNvSpPr/>
          <p:nvPr/>
        </p:nvSpPr>
        <p:spPr>
          <a:xfrm>
            <a:off x="6469560" y="244332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2" name="Text 18"/>
          <p:cNvSpPr/>
          <p:nvPr/>
        </p:nvSpPr>
        <p:spPr>
          <a:xfrm>
            <a:off x="6917400" y="2204280"/>
            <a:ext cx="453960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batter quality;</a:t>
            </a:r>
            <a:endParaRPr lang="en-US" sz="2530" b="0" u="none" strike="noStrike">
              <a:solidFill>
                <a:srgbClr val="000000"/>
              </a:solidFill>
              <a:effectLst/>
              <a:uFillTx/>
              <a:latin typeface="Arial"/>
            </a:endParaRPr>
          </a:p>
        </p:txBody>
      </p:sp>
      <p:sp>
        <p:nvSpPr>
          <p:cNvPr id="663" name="Shape 19"/>
          <p:cNvSpPr/>
          <p:nvPr/>
        </p:nvSpPr>
        <p:spPr>
          <a:xfrm>
            <a:off x="6231600" y="2952000"/>
            <a:ext cx="540828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4" name="Shape 20"/>
          <p:cNvSpPr/>
          <p:nvPr/>
        </p:nvSpPr>
        <p:spPr>
          <a:xfrm>
            <a:off x="6469560" y="31910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5" name="Text 21"/>
          <p:cNvSpPr/>
          <p:nvPr/>
        </p:nvSpPr>
        <p:spPr>
          <a:xfrm>
            <a:off x="6917400" y="2952000"/>
            <a:ext cx="453960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team selection;</a:t>
            </a:r>
            <a:endParaRPr lang="en-US" sz="2530" b="0" u="none" strike="noStrike">
              <a:solidFill>
                <a:srgbClr val="000000"/>
              </a:solidFill>
              <a:effectLst/>
              <a:uFillTx/>
              <a:latin typeface="Arial"/>
            </a:endParaRPr>
          </a:p>
        </p:txBody>
      </p:sp>
      <p:sp>
        <p:nvSpPr>
          <p:cNvPr id="666" name="Shape 22"/>
          <p:cNvSpPr/>
          <p:nvPr/>
        </p:nvSpPr>
        <p:spPr>
          <a:xfrm>
            <a:off x="6231600" y="3699720"/>
            <a:ext cx="540828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7" name="Shape 23"/>
          <p:cNvSpPr/>
          <p:nvPr/>
        </p:nvSpPr>
        <p:spPr>
          <a:xfrm>
            <a:off x="6469560" y="393876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8" name="Text 24"/>
          <p:cNvSpPr/>
          <p:nvPr/>
        </p:nvSpPr>
        <p:spPr>
          <a:xfrm>
            <a:off x="6917400" y="3699720"/>
            <a:ext cx="453960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strategic intent.</a:t>
            </a:r>
            <a:endParaRPr lang="en-US" sz="2530" b="0" u="none" strike="noStrike">
              <a:solidFill>
                <a:srgbClr val="000000"/>
              </a:solidFill>
              <a:effectLst/>
              <a:uFillTx/>
              <a:latin typeface="Arial"/>
            </a:endParaRPr>
          </a:p>
        </p:txBody>
      </p:sp>
      <p:sp>
        <p:nvSpPr>
          <p:cNvPr id="669" name="Text 25"/>
          <p:cNvSpPr/>
          <p:nvPr/>
        </p:nvSpPr>
        <p:spPr>
          <a:xfrm>
            <a:off x="548640" y="532332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A team label is not a treatment assignment.</a:t>
            </a:r>
            <a:endParaRPr lang="en-US" sz="2760" b="0" u="none" strike="noStrike">
              <a:solidFill>
                <a:srgbClr val="000000"/>
              </a:solidFill>
              <a:effectLst/>
              <a:uFillTx/>
              <a:latin typeface="Arial"/>
            </a:endParaRPr>
          </a:p>
        </p:txBody>
      </p:sp>
      <p:sp>
        <p:nvSpPr>
          <p:cNvPr id="670" name="PlaceHolder 1"/>
          <p:cNvSpPr>
            <a:spLocks noGrp="1"/>
          </p:cNvSpPr>
          <p:nvPr>
            <p:ph type="sldNum" idx="63"/>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FE75CB6B-10E1-4C31-B9E8-D16047F8E11E}"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1"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672"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Answer to the case</a:t>
            </a:r>
            <a:endParaRPr lang="en-US" sz="3200" b="0" u="none" strike="noStrike">
              <a:solidFill>
                <a:srgbClr val="000000"/>
              </a:solidFill>
              <a:effectLst/>
              <a:uFillTx/>
              <a:latin typeface="Arial"/>
            </a:endParaRPr>
          </a:p>
        </p:txBody>
      </p:sp>
      <p:sp>
        <p:nvSpPr>
          <p:cNvPr id="673"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674" name="Text 3"/>
          <p:cNvSpPr/>
          <p:nvPr/>
        </p:nvSpPr>
        <p:spPr>
          <a:xfrm>
            <a:off x="548640" y="1463040"/>
            <a:ext cx="8777880" cy="100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1" u="none" strike="noStrike">
                <a:solidFill>
                  <a:srgbClr val="172333"/>
                </a:solidFill>
                <a:effectLst/>
                <a:uFillTx/>
                <a:latin typeface="Calibri"/>
                <a:ea typeface="Calibri"/>
              </a:rPr>
              <a:t>Do two teams with the same average score the same way?</a:t>
            </a:r>
            <a:endParaRPr lang="en-US" sz="2760" b="0" u="none" strike="noStrike">
              <a:solidFill>
                <a:srgbClr val="000000"/>
              </a:solidFill>
              <a:effectLst/>
              <a:uFillTx/>
              <a:latin typeface="Arial"/>
            </a:endParaRPr>
          </a:p>
        </p:txBody>
      </p:sp>
      <p:sp>
        <p:nvSpPr>
          <p:cNvPr id="675" name="Text 4"/>
          <p:cNvSpPr/>
          <p:nvPr/>
        </p:nvSpPr>
        <p:spPr>
          <a:xfrm>
            <a:off x="548640" y="2652840"/>
            <a:ext cx="8777880" cy="190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Not necessarily. Here they share a mean and a median but differ in the tails. Whether that difference is a stable team property is a separate question that these 17 matches answer weakly.</a:t>
            </a:r>
            <a:endParaRPr lang="en-US" sz="2760" b="0" u="none" strike="noStrike">
              <a:solidFill>
                <a:srgbClr val="000000"/>
              </a:solidFill>
              <a:effectLst/>
              <a:uFillTx/>
              <a:latin typeface="Arial"/>
            </a:endParaRPr>
          </a:p>
        </p:txBody>
      </p:sp>
      <p:sp>
        <p:nvSpPr>
          <p:cNvPr id="676" name="Shape 5"/>
          <p:cNvSpPr/>
          <p:nvPr/>
        </p:nvSpPr>
        <p:spPr>
          <a:xfrm>
            <a:off x="9692640" y="4846320"/>
            <a:ext cx="1188360" cy="11883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7" name="Shape 6"/>
          <p:cNvSpPr/>
          <p:nvPr/>
        </p:nvSpPr>
        <p:spPr>
          <a:xfrm>
            <a:off x="10429560" y="5179320"/>
            <a:ext cx="950760" cy="950760"/>
          </a:xfrm>
          <a:prstGeom prst="ellipse">
            <a:avLst/>
          </a:prstGeom>
          <a:solidFill>
            <a:srgbClr val="D97706">
              <a:alpha val="8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8" name="PlaceHolder 1"/>
          <p:cNvSpPr>
            <a:spLocks noGrp="1"/>
          </p:cNvSpPr>
          <p:nvPr>
            <p:ph type="sldNum" idx="64"/>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82D102BF-8597-4ACC-BC0D-F37AE1AB486A}"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9"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680"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Exit ticket</a:t>
            </a:r>
            <a:endParaRPr lang="en-US" sz="3200" b="0" u="none" strike="noStrike">
              <a:solidFill>
                <a:srgbClr val="000000"/>
              </a:solidFill>
              <a:effectLst/>
              <a:uFillTx/>
              <a:latin typeface="Arial"/>
            </a:endParaRPr>
          </a:p>
        </p:txBody>
      </p:sp>
      <p:sp>
        <p:nvSpPr>
          <p:cNvPr id="681"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682" name="Shape 3"/>
          <p:cNvSpPr/>
          <p:nvPr/>
        </p:nvSpPr>
        <p:spPr>
          <a:xfrm>
            <a:off x="9939600" y="347400"/>
            <a:ext cx="1700280" cy="32868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3" name="Text 4"/>
          <p:cNvSpPr/>
          <p:nvPr/>
        </p:nvSpPr>
        <p:spPr>
          <a:xfrm>
            <a:off x="9939600" y="347400"/>
            <a:ext cx="17002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99" strike="noStrike">
                <a:solidFill>
                  <a:srgbClr val="FFFFFF"/>
                </a:solidFill>
                <a:effectLst/>
                <a:uFillTx/>
                <a:latin typeface="Calibri"/>
                <a:ea typeface="Calibri"/>
              </a:rPr>
              <a:t>CLASS ACTIVITY</a:t>
            </a:r>
            <a:endParaRPr lang="en-US" sz="1100" b="0" u="none" strike="noStrike">
              <a:solidFill>
                <a:srgbClr val="000000"/>
              </a:solidFill>
              <a:effectLst/>
              <a:uFillTx/>
              <a:latin typeface="Arial"/>
            </a:endParaRPr>
          </a:p>
        </p:txBody>
      </p:sp>
      <p:sp>
        <p:nvSpPr>
          <p:cNvPr id="684" name="Text 5"/>
          <p:cNvSpPr/>
          <p:nvPr/>
        </p:nvSpPr>
        <p:spPr>
          <a:xfrm>
            <a:off x="548640" y="1463040"/>
            <a:ext cx="11091240" cy="558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760" b="0" u="none" strike="noStrike">
                <a:solidFill>
                  <a:srgbClr val="172333"/>
                </a:solidFill>
                <a:effectLst/>
                <a:uFillTx/>
                <a:latin typeface="Calibri"/>
                <a:ea typeface="Calibri"/>
              </a:rPr>
              <a:t>Complete all five statements:</a:t>
            </a:r>
            <a:endParaRPr lang="en-US" sz="2760" b="0" u="none" strike="noStrike">
              <a:solidFill>
                <a:srgbClr val="000000"/>
              </a:solidFill>
              <a:effectLst/>
              <a:uFillTx/>
              <a:latin typeface="Arial"/>
            </a:endParaRPr>
          </a:p>
        </p:txBody>
      </p:sp>
      <p:sp>
        <p:nvSpPr>
          <p:cNvPr id="685" name="Shape 6"/>
          <p:cNvSpPr/>
          <p:nvPr/>
        </p:nvSpPr>
        <p:spPr>
          <a:xfrm>
            <a:off x="548640" y="220428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6" name="Shape 7"/>
          <p:cNvSpPr/>
          <p:nvPr/>
        </p:nvSpPr>
        <p:spPr>
          <a:xfrm>
            <a:off x="685800" y="235188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7" name="Text 8"/>
          <p:cNvSpPr/>
          <p:nvPr/>
        </p:nvSpPr>
        <p:spPr>
          <a:xfrm>
            <a:off x="685800" y="23518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US" sz="1500" b="0" u="none" strike="noStrike">
              <a:solidFill>
                <a:srgbClr val="000000"/>
              </a:solidFill>
              <a:effectLst/>
              <a:uFillTx/>
              <a:latin typeface="Arial"/>
            </a:endParaRPr>
          </a:p>
        </p:txBody>
      </p:sp>
      <p:sp>
        <p:nvSpPr>
          <p:cNvPr id="688" name="Text 9"/>
          <p:cNvSpPr/>
          <p:nvPr/>
        </p:nvSpPr>
        <p:spPr>
          <a:xfrm>
            <a:off x="1234440" y="220428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My estimand is ...</a:t>
            </a:r>
            <a:endParaRPr lang="en-US" sz="2530" b="0" u="none" strike="noStrike">
              <a:solidFill>
                <a:srgbClr val="000000"/>
              </a:solidFill>
              <a:effectLst/>
              <a:uFillTx/>
              <a:latin typeface="Arial"/>
            </a:endParaRPr>
          </a:p>
        </p:txBody>
      </p:sp>
      <p:sp>
        <p:nvSpPr>
          <p:cNvPr id="689" name="Shape 10"/>
          <p:cNvSpPr/>
          <p:nvPr/>
        </p:nvSpPr>
        <p:spPr>
          <a:xfrm>
            <a:off x="548640" y="29520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0" name="Shape 11"/>
          <p:cNvSpPr/>
          <p:nvPr/>
        </p:nvSpPr>
        <p:spPr>
          <a:xfrm>
            <a:off x="685800" y="309960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1" name="Text 12"/>
          <p:cNvSpPr/>
          <p:nvPr/>
        </p:nvSpPr>
        <p:spPr>
          <a:xfrm>
            <a:off x="685800" y="309960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US" sz="1500" b="0" u="none" strike="noStrike">
              <a:solidFill>
                <a:srgbClr val="000000"/>
              </a:solidFill>
              <a:effectLst/>
              <a:uFillTx/>
              <a:latin typeface="Arial"/>
            </a:endParaRPr>
          </a:p>
        </p:txBody>
      </p:sp>
      <p:sp>
        <p:nvSpPr>
          <p:cNvPr id="692" name="Text 13"/>
          <p:cNvSpPr/>
          <p:nvPr/>
        </p:nvSpPr>
        <p:spPr>
          <a:xfrm>
            <a:off x="1234440" y="29520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My independent unit is ...</a:t>
            </a:r>
            <a:endParaRPr lang="en-US" sz="2530" b="0" u="none" strike="noStrike">
              <a:solidFill>
                <a:srgbClr val="000000"/>
              </a:solidFill>
              <a:effectLst/>
              <a:uFillTx/>
              <a:latin typeface="Arial"/>
            </a:endParaRPr>
          </a:p>
        </p:txBody>
      </p:sp>
      <p:sp>
        <p:nvSpPr>
          <p:cNvPr id="693" name="Shape 14"/>
          <p:cNvSpPr/>
          <p:nvPr/>
        </p:nvSpPr>
        <p:spPr>
          <a:xfrm>
            <a:off x="548640" y="36997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4" name="Shape 15"/>
          <p:cNvSpPr/>
          <p:nvPr/>
        </p:nvSpPr>
        <p:spPr>
          <a:xfrm>
            <a:off x="685800" y="384732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5" name="Text 16"/>
          <p:cNvSpPr/>
          <p:nvPr/>
        </p:nvSpPr>
        <p:spPr>
          <a:xfrm>
            <a:off x="685800" y="384732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US" sz="1500" b="0" u="none" strike="noStrike">
              <a:solidFill>
                <a:srgbClr val="000000"/>
              </a:solidFill>
              <a:effectLst/>
              <a:uFillTx/>
              <a:latin typeface="Arial"/>
            </a:endParaRPr>
          </a:p>
        </p:txBody>
      </p:sp>
      <p:sp>
        <p:nvSpPr>
          <p:cNvPr id="696" name="Text 17"/>
          <p:cNvSpPr/>
          <p:nvPr/>
        </p:nvSpPr>
        <p:spPr>
          <a:xfrm>
            <a:off x="1234440" y="36997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My interval assumes ...</a:t>
            </a:r>
            <a:endParaRPr lang="en-US" sz="2530" b="0" u="none" strike="noStrike">
              <a:solidFill>
                <a:srgbClr val="000000"/>
              </a:solidFill>
              <a:effectLst/>
              <a:uFillTx/>
              <a:latin typeface="Arial"/>
            </a:endParaRPr>
          </a:p>
        </p:txBody>
      </p:sp>
      <p:sp>
        <p:nvSpPr>
          <p:cNvPr id="697" name="Shape 18"/>
          <p:cNvSpPr/>
          <p:nvPr/>
        </p:nvSpPr>
        <p:spPr>
          <a:xfrm>
            <a:off x="548640" y="444780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8" name="Shape 19"/>
          <p:cNvSpPr/>
          <p:nvPr/>
        </p:nvSpPr>
        <p:spPr>
          <a:xfrm>
            <a:off x="685800" y="459504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9" name="Text 20"/>
          <p:cNvSpPr/>
          <p:nvPr/>
        </p:nvSpPr>
        <p:spPr>
          <a:xfrm>
            <a:off x="685800" y="45950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US" sz="1500" b="0" u="none" strike="noStrike">
              <a:solidFill>
                <a:srgbClr val="000000"/>
              </a:solidFill>
              <a:effectLst/>
              <a:uFillTx/>
              <a:latin typeface="Arial"/>
            </a:endParaRPr>
          </a:p>
        </p:txBody>
      </p:sp>
      <p:sp>
        <p:nvSpPr>
          <p:cNvPr id="700" name="Text 21"/>
          <p:cNvSpPr/>
          <p:nvPr/>
        </p:nvSpPr>
        <p:spPr>
          <a:xfrm>
            <a:off x="1234440" y="444780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My strongest defensible claim is ...</a:t>
            </a:r>
            <a:endParaRPr lang="en-US" sz="2530" b="0" u="none" strike="noStrike">
              <a:solidFill>
                <a:srgbClr val="000000"/>
              </a:solidFill>
              <a:effectLst/>
              <a:uFillTx/>
              <a:latin typeface="Arial"/>
            </a:endParaRPr>
          </a:p>
        </p:txBody>
      </p:sp>
      <p:sp>
        <p:nvSpPr>
          <p:cNvPr id="701" name="Shape 22"/>
          <p:cNvSpPr/>
          <p:nvPr/>
        </p:nvSpPr>
        <p:spPr>
          <a:xfrm>
            <a:off x="548640" y="5195520"/>
            <a:ext cx="11091240" cy="642240"/>
          </a:xfrm>
          <a:prstGeom prst="roundRect">
            <a:avLst>
              <a:gd name="adj" fmla="val 1138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2" name="Shape 23"/>
          <p:cNvSpPr/>
          <p:nvPr/>
        </p:nvSpPr>
        <p:spPr>
          <a:xfrm>
            <a:off x="685800" y="5343120"/>
            <a:ext cx="347040" cy="34704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03" name="Text 24"/>
          <p:cNvSpPr/>
          <p:nvPr/>
        </p:nvSpPr>
        <p:spPr>
          <a:xfrm>
            <a:off x="685800" y="534312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5</a:t>
            </a:r>
            <a:endParaRPr lang="en-US" sz="1500" b="0" u="none" strike="noStrike">
              <a:solidFill>
                <a:srgbClr val="000000"/>
              </a:solidFill>
              <a:effectLst/>
              <a:uFillTx/>
              <a:latin typeface="Arial"/>
            </a:endParaRPr>
          </a:p>
        </p:txBody>
      </p:sp>
      <p:sp>
        <p:nvSpPr>
          <p:cNvPr id="704" name="Text 25"/>
          <p:cNvSpPr/>
          <p:nvPr/>
        </p:nvSpPr>
        <p:spPr>
          <a:xfrm>
            <a:off x="1234440" y="5195520"/>
            <a:ext cx="10222560" cy="64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30" b="0" u="none" strike="noStrike">
                <a:solidFill>
                  <a:srgbClr val="172333"/>
                </a:solidFill>
                <a:effectLst/>
                <a:uFillTx/>
                <a:latin typeface="Calibri"/>
                <a:ea typeface="Calibri"/>
              </a:rPr>
              <a:t>One analyst choice that could change it is ...</a:t>
            </a:r>
            <a:endParaRPr lang="en-US" sz="2530" b="0" u="none" strike="noStrike">
              <a:solidFill>
                <a:srgbClr val="000000"/>
              </a:solidFill>
              <a:effectLst/>
              <a:uFillTx/>
              <a:latin typeface="Arial"/>
            </a:endParaRPr>
          </a:p>
        </p:txBody>
      </p:sp>
      <p:sp>
        <p:nvSpPr>
          <p:cNvPr id="705" name="PlaceHolder 1"/>
          <p:cNvSpPr>
            <a:spLocks noGrp="1"/>
          </p:cNvSpPr>
          <p:nvPr>
            <p:ph type="sldNum" idx="65"/>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C46A3D16-1FCB-4E58-8C1A-C29E8F085356}"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6" name="Text 0"/>
          <p:cNvSpPr/>
          <p:nvPr/>
        </p:nvSpPr>
        <p:spPr>
          <a:xfrm>
            <a:off x="548640" y="31104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F6F8B"/>
                </a:solidFill>
                <a:effectLst/>
                <a:uFillTx/>
                <a:latin typeface="Calibri"/>
                <a:ea typeface="Calibri"/>
              </a:rPr>
              <a:t>ACT 5 · WHAT CAN WE DEFEND?</a:t>
            </a:r>
            <a:endParaRPr lang="en-US" sz="1100" b="0" u="none" strike="noStrike">
              <a:solidFill>
                <a:srgbClr val="000000"/>
              </a:solidFill>
              <a:effectLst/>
              <a:uFillTx/>
              <a:latin typeface="Arial"/>
            </a:endParaRPr>
          </a:p>
        </p:txBody>
      </p:sp>
      <p:sp>
        <p:nvSpPr>
          <p:cNvPr id="707" name="Text 1"/>
          <p:cNvSpPr/>
          <p:nvPr/>
        </p:nvSpPr>
        <p:spPr>
          <a:xfrm>
            <a:off x="548640" y="603360"/>
            <a:ext cx="969228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43E59"/>
                </a:solidFill>
                <a:effectLst/>
                <a:uFillTx/>
                <a:latin typeface="Cambria"/>
                <a:ea typeface="Cambria"/>
              </a:rPr>
              <a:t>After class</a:t>
            </a:r>
            <a:endParaRPr lang="en-US" sz="3200" b="0" u="none" strike="noStrike">
              <a:solidFill>
                <a:srgbClr val="000000"/>
              </a:solidFill>
              <a:effectLst/>
              <a:uFillTx/>
              <a:latin typeface="Arial"/>
            </a:endParaRPr>
          </a:p>
        </p:txBody>
      </p:sp>
      <p:sp>
        <p:nvSpPr>
          <p:cNvPr id="708" name="Text 2"/>
          <p:cNvSpPr/>
          <p:nvPr/>
        </p:nvSpPr>
        <p:spPr>
          <a:xfrm>
            <a:off x="548640" y="6446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67786"/>
                </a:solidFill>
                <a:effectLst/>
                <a:uFillTx/>
                <a:latin typeface="Calibri"/>
                <a:ea typeface="Calibri"/>
              </a:rPr>
              <a:t>AI 854 · Lecture 4</a:t>
            </a:r>
            <a:endParaRPr lang="en-US" sz="1000" b="0" u="none" strike="noStrike">
              <a:solidFill>
                <a:srgbClr val="000000"/>
              </a:solidFill>
              <a:effectLst/>
              <a:uFillTx/>
              <a:latin typeface="Arial"/>
            </a:endParaRPr>
          </a:p>
        </p:txBody>
      </p:sp>
      <p:sp>
        <p:nvSpPr>
          <p:cNvPr id="709" name="Shape 3"/>
          <p:cNvSpPr/>
          <p:nvPr/>
        </p:nvSpPr>
        <p:spPr>
          <a:xfrm>
            <a:off x="548640" y="1463040"/>
            <a:ext cx="11091240" cy="1017000"/>
          </a:xfrm>
          <a:prstGeom prst="roundRect">
            <a:avLst>
              <a:gd name="adj" fmla="val 7191"/>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0" name="Shape 4"/>
          <p:cNvSpPr/>
          <p:nvPr/>
        </p:nvSpPr>
        <p:spPr>
          <a:xfrm>
            <a:off x="786240" y="188928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1" name="Text 5"/>
          <p:cNvSpPr/>
          <p:nvPr/>
        </p:nvSpPr>
        <p:spPr>
          <a:xfrm>
            <a:off x="1234440" y="1463040"/>
            <a:ext cx="10222560" cy="101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40" b="0" u="none" strike="noStrike">
                <a:solidFill>
                  <a:srgbClr val="172333"/>
                </a:solidFill>
                <a:effectLst/>
                <a:uFillTx/>
                <a:latin typeface="Calibri"/>
                <a:ea typeface="Calibri"/>
              </a:rPr>
              <a:t>Read the executed notebook </a:t>
            </a:r>
            <a:r>
              <a:rPr lang="en-US" sz="2440" b="0" u="none" strike="noStrike">
                <a:solidFill>
                  <a:srgbClr val="172333"/>
                </a:solidFill>
                <a:effectLst/>
                <a:uFillTx/>
                <a:latin typeface="Courier New"/>
                <a:ea typeface="Courier New"/>
              </a:rPr>
              <a:t>notebook.ipynb</a:t>
            </a:r>
            <a:r>
              <a:rPr lang="en-US" sz="2440" b="0" u="none" strike="noStrike">
                <a:solidFill>
                  <a:srgbClr val="172333"/>
                </a:solidFill>
                <a:effectLst/>
                <a:uFillTx/>
                <a:latin typeface="Calibri"/>
                <a:ea typeface="Calibri"/>
              </a:rPr>
              <a:t> from top to bottom. Every number on these slides is computed there.</a:t>
            </a:r>
            <a:endParaRPr lang="en-US" sz="2440" b="0" u="none" strike="noStrike">
              <a:solidFill>
                <a:srgbClr val="000000"/>
              </a:solidFill>
              <a:effectLst/>
              <a:uFillTx/>
              <a:latin typeface="Arial"/>
            </a:endParaRPr>
          </a:p>
        </p:txBody>
      </p:sp>
      <p:sp>
        <p:nvSpPr>
          <p:cNvPr id="712" name="Shape 6"/>
          <p:cNvSpPr/>
          <p:nvPr/>
        </p:nvSpPr>
        <p:spPr>
          <a:xfrm>
            <a:off x="548640" y="2581920"/>
            <a:ext cx="11091240" cy="1810800"/>
          </a:xfrm>
          <a:prstGeom prst="roundRect">
            <a:avLst>
              <a:gd name="adj" fmla="val 4039"/>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3" name="Shape 7"/>
          <p:cNvSpPr/>
          <p:nvPr/>
        </p:nvSpPr>
        <p:spPr>
          <a:xfrm>
            <a:off x="786240" y="340524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4" name="Text 8"/>
          <p:cNvSpPr/>
          <p:nvPr/>
        </p:nvSpPr>
        <p:spPr>
          <a:xfrm>
            <a:off x="1234440" y="2581920"/>
            <a:ext cx="10222560" cy="1810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40" b="0" u="none" strike="noStrike">
                <a:solidFill>
                  <a:srgbClr val="172333"/>
                </a:solidFill>
                <a:effectLst/>
                <a:uFillTx/>
                <a:latin typeface="Calibri"/>
                <a:ea typeface="Calibri"/>
              </a:rPr>
              <a:t>Post-class task: choose one comparison from </a:t>
            </a:r>
            <a:r>
              <a:rPr lang="en-US" sz="2440" b="0" u="none" strike="noStrike">
                <a:solidFill>
                  <a:srgbClr val="172333"/>
                </a:solidFill>
                <a:effectLst/>
                <a:uFillTx/>
                <a:latin typeface="Courier New"/>
                <a:ea typeface="Courier New"/>
              </a:rPr>
              <a:t>team_phase_summary.csv</a:t>
            </a:r>
            <a:r>
              <a:rPr lang="en-US" sz="2440" b="0" u="none" strike="noStrike">
                <a:solidFill>
                  <a:srgbClr val="172333"/>
                </a:solidFill>
                <a:effectLst/>
                <a:uFillTx/>
                <a:latin typeface="Calibri"/>
                <a:ea typeface="Calibri"/>
              </a:rPr>
              <a:t> or </a:t>
            </a:r>
            <a:r>
              <a:rPr lang="en-US" sz="2440" b="0" u="none" strike="noStrike">
                <a:solidFill>
                  <a:srgbClr val="172333"/>
                </a:solidFill>
                <a:effectLst/>
                <a:uFillTx/>
                <a:latin typeface="Courier New"/>
                <a:ea typeface="Courier New"/>
              </a:rPr>
              <a:t>team_season_summary.csv</a:t>
            </a:r>
            <a:r>
              <a:rPr lang="en-US" sz="2440" b="0" u="none" strike="noStrike">
                <a:solidFill>
                  <a:srgbClr val="172333"/>
                </a:solidFill>
                <a:effectLst/>
                <a:uFillTx/>
                <a:latin typeface="Calibri"/>
                <a:ea typeface="Calibri"/>
              </a:rPr>
              <a:t>. Report one center effect, one tail or quantile effect, one unit-aware interval and a claim ladder with a causal boundary. Use at most two figures.</a:t>
            </a:r>
            <a:endParaRPr lang="en-US" sz="2440" b="0" u="none" strike="noStrike">
              <a:solidFill>
                <a:srgbClr val="000000"/>
              </a:solidFill>
              <a:effectLst/>
              <a:uFillTx/>
              <a:latin typeface="Arial"/>
            </a:endParaRPr>
          </a:p>
        </p:txBody>
      </p:sp>
      <p:sp>
        <p:nvSpPr>
          <p:cNvPr id="715" name="Shape 9"/>
          <p:cNvSpPr/>
          <p:nvPr/>
        </p:nvSpPr>
        <p:spPr>
          <a:xfrm>
            <a:off x="548640" y="4494600"/>
            <a:ext cx="11091240" cy="1413720"/>
          </a:xfrm>
          <a:prstGeom prst="roundRect">
            <a:avLst>
              <a:gd name="adj" fmla="val 5173"/>
            </a:avLst>
          </a:prstGeom>
          <a:solidFill>
            <a:srgbClr val="EEF5F8"/>
          </a:solidFill>
          <a:ln w="12700">
            <a:solidFill>
              <a:srgbClr val="EEF5F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6" name="Shape 10"/>
          <p:cNvSpPr/>
          <p:nvPr/>
        </p:nvSpPr>
        <p:spPr>
          <a:xfrm>
            <a:off x="786240" y="5119200"/>
            <a:ext cx="164160" cy="164160"/>
          </a:xfrm>
          <a:prstGeom prst="ellipse">
            <a:avLst/>
          </a:prstGeom>
          <a:solidFill>
            <a:srgbClr val="1F6F8B"/>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7" name="Text 11"/>
          <p:cNvSpPr/>
          <p:nvPr/>
        </p:nvSpPr>
        <p:spPr>
          <a:xfrm>
            <a:off x="1234440" y="4494600"/>
            <a:ext cx="10222560" cy="1413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40" b="0" u="none" strike="noStrike">
                <a:solidFill>
                  <a:srgbClr val="172333"/>
                </a:solidFill>
                <a:effectLst/>
                <a:uFillTx/>
                <a:latin typeface="Calibri"/>
                <a:ea typeface="Calibri"/>
              </a:rPr>
              <a:t>Project checkpoint for next week: a broad domain, two candidate datasets, your unit of observation, the likely dependence structure and one primary estimand.</a:t>
            </a:r>
            <a:endParaRPr lang="en-US" sz="2440" b="0" u="none" strike="noStrike">
              <a:solidFill>
                <a:srgbClr val="000000"/>
              </a:solidFill>
              <a:effectLst/>
              <a:uFillTx/>
              <a:latin typeface="Arial"/>
            </a:endParaRPr>
          </a:p>
        </p:txBody>
      </p:sp>
      <p:sp>
        <p:nvSpPr>
          <p:cNvPr id="718" name="PlaceHolder 1"/>
          <p:cNvSpPr>
            <a:spLocks noGrp="1"/>
          </p:cNvSpPr>
          <p:nvPr>
            <p:ph type="sldNum" idx="66"/>
          </p:nvPr>
        </p:nvSpPr>
        <p:spPr>
          <a:xfrm>
            <a:off x="11064240" y="6446520"/>
            <a:ext cx="5756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667786"/>
                </a:solidFill>
                <a:effectLst/>
                <a:uFillTx/>
                <a:latin typeface="Calibri"/>
                <a:ea typeface="Calibri"/>
              </a:defRPr>
            </a:lvl1pPr>
          </a:lstStyle>
          <a:p>
            <a:pPr indent="0" algn="r" defTabSz="914400">
              <a:lnSpc>
                <a:spcPct val="100000"/>
              </a:lnSpc>
              <a:buNone/>
            </a:pPr>
            <a:fld id="{B819B323-973B-4785-B4D0-16727F198B32}" type="slidenum">
              <a:rPr lang="en-US" sz="1000" b="0" u="none" strike="noStrike">
                <a:solidFill>
                  <a:srgbClr val="667786"/>
                </a:solidFill>
                <a:effectLst/>
                <a:uFillTx/>
                <a:latin typeface="Calibri"/>
                <a:ea typeface="Calibri"/>
              </a:rPr>
              <a:t>1</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3E59"/>
        </a:solidFill>
      </p:bgPr>
    </p:bg>
    <p:spTree>
      <p:nvGrpSpPr>
        <p:cNvPr id="1" name=""/>
        <p:cNvGrpSpPr/>
        <p:nvPr/>
      </p:nvGrpSpPr>
      <p:grpSpPr>
        <a:xfrm>
          <a:off x="0" y="0"/>
          <a:ext cx="0" cy="0"/>
          <a:chOff x="0" y="0"/>
          <a:chExt cx="0" cy="0"/>
        </a:xfrm>
      </p:grpSpPr>
      <p:sp>
        <p:nvSpPr>
          <p:cNvPr id="719" name="Shape 0"/>
          <p:cNvSpPr/>
          <p:nvPr/>
        </p:nvSpPr>
        <p:spPr>
          <a:xfrm>
            <a:off x="8778240" y="3566160"/>
            <a:ext cx="2559960" cy="2559960"/>
          </a:xfrm>
          <a:prstGeom prst="ellipse">
            <a:avLst/>
          </a:prstGeom>
          <a:solidFill>
            <a:srgbClr val="1F6F8B">
              <a:alpha val="75000"/>
            </a:srgbClr>
          </a:solidFill>
          <a:ln w="12700">
            <a:solidFill>
              <a:srgbClr val="1F6F8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20" name="Shape 1"/>
          <p:cNvSpPr/>
          <p:nvPr/>
        </p:nvSpPr>
        <p:spPr>
          <a:xfrm>
            <a:off x="10365480" y="4282920"/>
            <a:ext cx="2048040" cy="2048040"/>
          </a:xfrm>
          <a:prstGeom prst="ellipse">
            <a:avLst/>
          </a:prstGeom>
          <a:solidFill>
            <a:srgbClr val="D97706">
              <a:alpha val="65000"/>
            </a:srgbClr>
          </a:solidFill>
          <a:ln w="12700">
            <a:solidFill>
              <a:srgbClr val="D9770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21" name="Text 2"/>
          <p:cNvSpPr/>
          <p:nvPr/>
        </p:nvSpPr>
        <p:spPr>
          <a:xfrm>
            <a:off x="731520" y="731520"/>
            <a:ext cx="7314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400" strike="noStrike">
                <a:solidFill>
                  <a:srgbClr val="D97706"/>
                </a:solidFill>
                <a:effectLst/>
                <a:uFillTx/>
                <a:latin typeface="Calibri"/>
                <a:ea typeface="Calibri"/>
              </a:rPr>
              <a:t>FINAL SYNTHESIS</a:t>
            </a:r>
            <a:endParaRPr lang="en-US" sz="1400" b="0" u="none" strike="noStrike">
              <a:solidFill>
                <a:srgbClr val="FFFFFF"/>
              </a:solidFill>
              <a:effectLst/>
              <a:uFillTx/>
              <a:latin typeface="Arial"/>
            </a:endParaRPr>
          </a:p>
        </p:txBody>
      </p:sp>
      <p:sp>
        <p:nvSpPr>
          <p:cNvPr id="722" name="Text 3"/>
          <p:cNvSpPr/>
          <p:nvPr/>
        </p:nvSpPr>
        <p:spPr>
          <a:xfrm>
            <a:off x="731520" y="1280160"/>
            <a:ext cx="914364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200" b="1" u="none" strike="noStrike">
                <a:solidFill>
                  <a:srgbClr val="FFFFFF"/>
                </a:solidFill>
                <a:effectLst/>
                <a:uFillTx/>
                <a:latin typeface="Calibri"/>
                <a:ea typeface="Calibri"/>
              </a:rPr>
              <a:t>The average was only the first clue.</a:t>
            </a:r>
            <a:endParaRPr lang="en-US" sz="4200" b="0" u="none" strike="noStrike">
              <a:solidFill>
                <a:srgbClr val="FFFFFF"/>
              </a:solidFill>
              <a:effectLst/>
              <a:uFillTx/>
              <a:latin typeface="Arial"/>
            </a:endParaRPr>
          </a:p>
        </p:txBody>
      </p:sp>
      <p:sp>
        <p:nvSpPr>
          <p:cNvPr id="723" name="Text 4"/>
          <p:cNvSpPr/>
          <p:nvPr/>
        </p:nvSpPr>
        <p:spPr>
          <a:xfrm>
            <a:off x="731520" y="2651760"/>
            <a:ext cx="8412120" cy="2011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rgbClr val="CADCFC"/>
                </a:solidFill>
                <a:effectLst/>
                <a:uFillTx/>
                <a:latin typeface="Calibri"/>
                <a:ea typeface="Calibri"/>
              </a:rPr>
              <a:t>It told us what the two teams shared. The dots showed where they differed. The estimand said what we meant by "differ." The match count said how much evidence we had. The interval said how sure we could be.</a:t>
            </a:r>
            <a:endParaRPr lang="en-US" sz="2200" b="0" u="none" strike="noStrike">
              <a:solidFill>
                <a:srgbClr val="FFFFFF"/>
              </a:solidFill>
              <a:effectLst/>
              <a:uFillTx/>
              <a:latin typeface="Arial"/>
            </a:endParaRPr>
          </a:p>
        </p:txBody>
      </p:sp>
      <p:sp>
        <p:nvSpPr>
          <p:cNvPr id="724" name="Text 5"/>
          <p:cNvSpPr/>
          <p:nvPr/>
        </p:nvSpPr>
        <p:spPr>
          <a:xfrm>
            <a:off x="731520" y="5029200"/>
            <a:ext cx="78634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rgbClr val="D97706"/>
                </a:solidFill>
                <a:effectLst/>
                <a:uFillTx/>
                <a:latin typeface="Calibri"/>
                <a:ea typeface="Calibri"/>
              </a:rPr>
              <a:t>Next week: can a mathematically correct chart still mislead?</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56</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2026-09-30T10:18:18Z</dcterms:created>
  <dc:creator>AI 854 Data Analysis and Visualization</dc:creator>
  <dc:description/>
  <dc:language>en-US</dc:language>
  <cp:lastModifiedBy/>
  <dcterms:modified xsi:type="dcterms:W3CDTF">2026-09-30T18:18:54Z</dcterms:modified>
  <cp:revision>4</cp:revision>
  <dc:subject>PptxGenJS Presentation</dc:subject>
  <dc:title>AI 854 Lecture 4: What does an average hide?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69</vt:i4>
  </property>
  <property fmtid="{D5CDD505-2E9C-101B-9397-08002B2CF9AE}" pid="3" name="PresentationFormat">
    <vt:lpwstr>On-screen Show (16:9)</vt:lpwstr>
  </property>
  <property fmtid="{D5CDD505-2E9C-101B-9397-08002B2CF9AE}" pid="4" name="Slides">
    <vt:i4>69</vt:i4>
  </property>
</Properties>
</file>